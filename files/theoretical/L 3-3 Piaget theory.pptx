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1" r:id="rId2"/>
  </p:sldMasterIdLst>
  <p:notesMasterIdLst>
    <p:notesMasterId r:id="rId41"/>
  </p:notesMasterIdLst>
  <p:sldIdLst>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A537"/>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43" y="6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8A023-F9AE-49D0-AE33-D4D783278626}" type="datetimeFigureOut">
              <a:rPr lang="en-US" smtClean="0"/>
              <a:t>10/4/2023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1CB1F-06F2-410B-B091-268B4B9663F0}" type="slidenum">
              <a:rPr lang="en-US" smtClean="0"/>
              <a:t>‹#›</a:t>
            </a:fld>
            <a:endParaRPr lang="en-US"/>
          </a:p>
        </p:txBody>
      </p:sp>
    </p:spTree>
    <p:extLst>
      <p:ext uri="{BB962C8B-B14F-4D97-AF65-F5344CB8AC3E}">
        <p14:creationId xmlns:p14="http://schemas.microsoft.com/office/powerpoint/2010/main" val="1936878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885154-1C45-4C5D-8B1E-2416BECCE5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2819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9E9D40D-FA30-43BB-8EC3-4C9FC161507D}" type="slidenum">
              <a:rPr lang="en-US" smtClean="0"/>
              <a:t>2</a:t>
            </a:fld>
            <a:endParaRPr lang="en-US"/>
          </a:p>
        </p:txBody>
      </p:sp>
    </p:spTree>
    <p:extLst>
      <p:ext uri="{BB962C8B-B14F-4D97-AF65-F5344CB8AC3E}">
        <p14:creationId xmlns:p14="http://schemas.microsoft.com/office/powerpoint/2010/main" val="1198356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885154-1C45-4C5D-8B1E-2416BECCE5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8160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38</a:t>
            </a:fld>
            <a:endParaRPr lang="en-US"/>
          </a:p>
        </p:txBody>
      </p:sp>
    </p:spTree>
    <p:extLst>
      <p:ext uri="{BB962C8B-B14F-4D97-AF65-F5344CB8AC3E}">
        <p14:creationId xmlns:p14="http://schemas.microsoft.com/office/powerpoint/2010/main" val="22886803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73492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053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3676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9251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965901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951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08005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7100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751307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10/4/2023</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1196518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1309063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02832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2792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0059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807843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97680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2458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4013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1052743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10/4/2023</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2420430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10/4/2023</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959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10/4/2023</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80310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39151" y="252538"/>
            <a:ext cx="11704320" cy="637266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t>Theories of Child Personality Development:</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dirty="0"/>
              <a:t>Piaget Theory of Cognitive Development</a:t>
            </a:r>
          </a:p>
          <a:p>
            <a:endParaRPr lang="en-US" dirty="0"/>
          </a:p>
        </p:txBody>
      </p:sp>
      <p:pic>
        <p:nvPicPr>
          <p:cNvPr id="7"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t="-307" r="-943" b="-1096"/>
          <a:stretch/>
        </p:blipFill>
        <p:spPr>
          <a:xfrm>
            <a:off x="487680" y="5530243"/>
            <a:ext cx="11704320" cy="3084052"/>
          </a:xfrm>
          <a:prstGeom prst="rect">
            <a:avLst/>
          </a:prstGeom>
        </p:spPr>
      </p:pic>
      <p:sp>
        <p:nvSpPr>
          <p:cNvPr id="4" name="Subtitle 2">
            <a:extLst>
              <a:ext uri="{FF2B5EF4-FFF2-40B4-BE49-F238E27FC236}">
                <a16:creationId xmlns:a16="http://schemas.microsoft.com/office/drawing/2014/main" id="{77CDE837-AC8F-6838-B3E0-C1803D541723}"/>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fontAlgn="base">
              <a:lnSpc>
                <a:spcPct val="100000"/>
              </a:lnSpc>
              <a:spcBef>
                <a:spcPts val="563"/>
              </a:spcBef>
              <a:spcAft>
                <a:spcPct val="0"/>
              </a:spcAft>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Third Stage</a:t>
            </a:r>
          </a:p>
          <a:p>
            <a:pPr fontAlgn="base">
              <a:lnSpc>
                <a:spcPct val="100000"/>
              </a:lnSpc>
              <a:spcBef>
                <a:spcPts val="563"/>
              </a:spcBef>
              <a:spcAft>
                <a:spcPct val="0"/>
              </a:spcAft>
              <a:buFont typeface="Arial" panose="020B0604020202020204" pitchFamily="34" charset="0"/>
              <a:buNone/>
            </a:pPr>
            <a:r>
              <a:rPr lang="en-US" altLang="ar-IQ" sz="1200" dirty="0">
                <a:solidFill>
                  <a:srgbClr val="FFFFFF"/>
                </a:solidFill>
                <a:latin typeface="Segoe UI Variable Small Semibol" pitchFamily="2" charset="0"/>
                <a:cs typeface="Segoe UI Light" panose="020B0502040204020203" pitchFamily="34" charset="0"/>
              </a:rPr>
              <a:t>Dr. Moustafa Alshammari</a:t>
            </a:r>
          </a:p>
          <a:p>
            <a:pPr fontAlgn="base">
              <a:lnSpc>
                <a:spcPct val="100000"/>
              </a:lnSpc>
              <a:spcBef>
                <a:spcPts val="563"/>
              </a:spcBef>
              <a:spcAft>
                <a:spcPct val="0"/>
              </a:spcAft>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Growth and Developments </a:t>
            </a:r>
          </a:p>
        </p:txBody>
      </p:sp>
    </p:spTree>
    <p:extLst>
      <p:ext uri="{BB962C8B-B14F-4D97-AF65-F5344CB8AC3E}">
        <p14:creationId xmlns:p14="http://schemas.microsoft.com/office/powerpoint/2010/main" val="537208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604211"/>
            <a:ext cx="9704690" cy="4572752"/>
          </a:xfrm>
        </p:spPr>
        <p:txBody>
          <a:bodyPr>
            <a:normAutofit/>
          </a:bodyPr>
          <a:lstStyle/>
          <a:p>
            <a:r>
              <a:rPr lang="en-US" sz="2800" dirty="0">
                <a:solidFill>
                  <a:schemeClr val="tx1">
                    <a:lumMod val="85000"/>
                    <a:lumOff val="15000"/>
                  </a:schemeClr>
                </a:solidFill>
                <a:latin typeface="Segoe UI Semibold" panose="020B0702040204020203" pitchFamily="34" charset="0"/>
                <a:cs typeface="Segoe UI Semibold" panose="020B0702040204020203" pitchFamily="34" charset="0"/>
              </a:rPr>
              <a:t>After mastering the contents of this lecture, you should be able to:</a:t>
            </a:r>
          </a:p>
          <a:p>
            <a:endParaRPr lang="en-US" sz="2800" dirty="0">
              <a:solidFill>
                <a:schemeClr val="tx1">
                  <a:lumMod val="85000"/>
                  <a:lumOff val="15000"/>
                </a:schemeClr>
              </a:solidFill>
              <a:latin typeface="Segoe UI Semibold" panose="020B0702040204020203" pitchFamily="34" charset="0"/>
              <a:cs typeface="Segoe UI Semibold" panose="020B0702040204020203" pitchFamily="34" charset="0"/>
            </a:endParaRPr>
          </a:p>
        </p:txBody>
      </p:sp>
      <p:sp>
        <p:nvSpPr>
          <p:cNvPr id="3" name="Title 2"/>
          <p:cNvSpPr>
            <a:spLocks noGrp="1"/>
          </p:cNvSpPr>
          <p:nvPr>
            <p:ph type="title"/>
          </p:nvPr>
        </p:nvSpPr>
        <p:spPr/>
        <p:txBody>
          <a:bodyPr>
            <a:normAutofit/>
          </a:bodyPr>
          <a:lstStyle/>
          <a:p>
            <a:r>
              <a:rPr lang="pt-BR" sz="3600" dirty="0"/>
              <a:t>O B J E C T I V E S</a:t>
            </a:r>
            <a:endParaRPr lang="en-US" sz="3600" dirty="0"/>
          </a:p>
        </p:txBody>
      </p:sp>
      <p:cxnSp>
        <p:nvCxnSpPr>
          <p:cNvPr id="4"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309124" y="1196391"/>
            <a:ext cx="1425185" cy="1425185"/>
          </a:xfrm>
          <a:prstGeom prst="rect">
            <a:avLst/>
          </a:prstGeom>
        </p:spPr>
      </p:pic>
      <p:sp>
        <p:nvSpPr>
          <p:cNvPr id="6" name="Content Placeholder 4"/>
          <p:cNvSpPr txBox="1">
            <a:spLocks/>
          </p:cNvSpPr>
          <p:nvPr/>
        </p:nvSpPr>
        <p:spPr>
          <a:xfrm>
            <a:off x="1186020" y="2587104"/>
            <a:ext cx="9123104" cy="39290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spcAft>
                <a:spcPts val="1200"/>
              </a:spcAft>
              <a:buSzPct val="25000"/>
              <a:buFont typeface="Segoe UI" panose="020B0502040204020203" pitchFamily="34" charset="0"/>
              <a:buChar char=" "/>
              <a:defRPr sz="1200" kern="1200">
                <a:solidFill>
                  <a:schemeClr val="tx1"/>
                </a:solidFill>
                <a:latin typeface="+mn-lt"/>
                <a:ea typeface="+mn-ea"/>
                <a:cs typeface="+mn-cs"/>
              </a:defRPr>
            </a:lvl1pPr>
            <a:lvl2pPr marL="401638" indent="7938" algn="l" defTabSz="914400" rtl="0" eaLnBrk="1" latinLnBrk="0" hangingPunct="1">
              <a:lnSpc>
                <a:spcPct val="90000"/>
              </a:lnSpc>
              <a:spcBef>
                <a:spcPts val="600"/>
              </a:spcBef>
              <a:spcAft>
                <a:spcPts val="1200"/>
              </a:spcAft>
              <a:buFont typeface="Segoe UI" panose="020B0502040204020203" pitchFamily="34" charset="0"/>
              <a:buChar char=" "/>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egoe UI" panose="020B0502040204020203" pitchFamily="34" charset="0"/>
              <a:buChar char=" "/>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egoe UI" panose="020B0502040204020203" pitchFamily="34" charset="0"/>
              <a:buChar char=" "/>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Identify the major concepts of selected theories of development.</a:t>
            </a:r>
          </a:p>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Compare the major points of view related to the formulation of selected developmental theories.</a:t>
            </a:r>
          </a:p>
          <a:p>
            <a:pPr>
              <a:lnSpc>
                <a:spcPct val="100000"/>
              </a:lnSpc>
            </a:pPr>
            <a:r>
              <a:rPr lang="en-US" sz="2400" dirty="0">
                <a:solidFill>
                  <a:prstClr val="black">
                    <a:lumMod val="75000"/>
                    <a:lumOff val="25000"/>
                  </a:prstClr>
                </a:solidFill>
                <a:latin typeface="Segoe UI" panose="020B0502040204020203" pitchFamily="34" charset="0"/>
                <a:cs typeface="Segoe UI" panose="020B0502040204020203" pitchFamily="34" charset="0"/>
              </a:rPr>
              <a:t>Assess the relevance of selected theories of development to nursing care of children, adults, and old age.</a:t>
            </a:r>
          </a:p>
          <a:p>
            <a:pPr marL="342900" indent="-342900">
              <a:buSzPct val="100000"/>
              <a:buFont typeface="Arial" panose="020B0604020202020204" pitchFamily="34" charset="0"/>
              <a:buChar char="•"/>
            </a:pPr>
            <a:endParaRPr lang="en-US" sz="2400" dirty="0"/>
          </a:p>
        </p:txBody>
      </p:sp>
      <p:sp>
        <p:nvSpPr>
          <p:cNvPr id="7" name="Oval 6">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776760" y="2545371"/>
            <a:ext cx="447360" cy="45141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8" name="Oval 7">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776760" y="3381541"/>
            <a:ext cx="447360" cy="45141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sp>
        <p:nvSpPr>
          <p:cNvPr id="9" name="Oval 8">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776760" y="4325928"/>
            <a:ext cx="447360" cy="45141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spTree>
    <p:extLst>
      <p:ext uri="{BB962C8B-B14F-4D97-AF65-F5344CB8AC3E}">
        <p14:creationId xmlns:p14="http://schemas.microsoft.com/office/powerpoint/2010/main" val="3168641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7484" y="0"/>
            <a:ext cx="12044516" cy="6725265"/>
          </a:xfrm>
          <a:prstGeom prst="rect">
            <a:avLst/>
          </a:prstGeom>
          <a:noFill/>
          <a:ln w="2476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 name="Text Placeholder 1"/>
          <p:cNvSpPr txBox="1">
            <a:spLocks/>
          </p:cNvSpPr>
          <p:nvPr/>
        </p:nvSpPr>
        <p:spPr>
          <a:xfrm>
            <a:off x="720803" y="1203158"/>
            <a:ext cx="4607312" cy="232182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en-US" altLang="ko-KR" sz="4266" b="1" u="sng" dirty="0">
                <a:solidFill>
                  <a:srgbClr val="E7E6E6">
                    <a:lumMod val="50000"/>
                  </a:srgbClr>
                </a:solidFill>
                <a:uFill>
                  <a:solidFill>
                    <a:schemeClr val="accent1"/>
                  </a:solidFill>
                </a:uFill>
                <a:latin typeface="Segoe UI Light"/>
                <a:cs typeface="Arial" pitchFamily="34" charset="0"/>
              </a:rPr>
              <a:t>JEAN PIAGET </a:t>
            </a:r>
            <a:endParaRPr kumimoji="0" lang="ko-KR" altLang="en-US" sz="4266" b="1" i="0" u="sng" strike="noStrike" kern="1200" cap="none" spc="0" normalizeH="0" noProof="0" dirty="0">
              <a:ln>
                <a:noFill/>
              </a:ln>
              <a:solidFill>
                <a:srgbClr val="E7E6E6">
                  <a:lumMod val="50000"/>
                </a:srgbClr>
              </a:solidFill>
              <a:effectLst/>
              <a:uLnTx/>
              <a:uFill>
                <a:solidFill>
                  <a:schemeClr val="accent1"/>
                </a:solidFill>
              </a:uFill>
              <a:latin typeface="Segoe UI Light"/>
              <a:cs typeface="Arial" pitchFamily="34" charset="0"/>
            </a:endParaRPr>
          </a:p>
        </p:txBody>
      </p:sp>
      <p:sp>
        <p:nvSpPr>
          <p:cNvPr id="7" name="TextBox 6"/>
          <p:cNvSpPr txBox="1"/>
          <p:nvPr/>
        </p:nvSpPr>
        <p:spPr>
          <a:xfrm>
            <a:off x="1127448" y="3524986"/>
            <a:ext cx="4896544" cy="1569660"/>
          </a:xfrm>
          <a:prstGeom prst="rect">
            <a:avLst/>
          </a:prstGeom>
          <a:noFill/>
        </p:spPr>
        <p:txBody>
          <a:bodyPr wrap="square" rtlCol="0">
            <a:spAutoFit/>
          </a:bodyPr>
          <a:lstStyle/>
          <a:p>
            <a:pPr lvl="0"/>
            <a:r>
              <a:rPr lang="en-US" altLang="ko-KR" sz="2400" dirty="0">
                <a:solidFill>
                  <a:srgbClr val="404040"/>
                </a:solidFill>
              </a:rPr>
              <a:t>Born in (Switzerland) on August 9, 1896. </a:t>
            </a:r>
          </a:p>
          <a:p>
            <a:pPr lvl="0"/>
            <a:r>
              <a:rPr lang="en-US" altLang="ko-KR" sz="2400" dirty="0">
                <a:solidFill>
                  <a:srgbClr val="404040"/>
                </a:solidFill>
              </a:rPr>
              <a:t>He died in Geneva on September 16, 1980. </a:t>
            </a:r>
          </a:p>
        </p:txBody>
      </p:sp>
      <p:cxnSp>
        <p:nvCxnSpPr>
          <p:cNvPr id="10" name="Straight Connector 9"/>
          <p:cNvCxnSpPr/>
          <p:nvPr/>
        </p:nvCxnSpPr>
        <p:spPr>
          <a:xfrm flipH="1">
            <a:off x="618501" y="1196391"/>
            <a:ext cx="10972800" cy="0"/>
          </a:xfrm>
          <a:prstGeom prst="line">
            <a:avLst/>
          </a:prstGeom>
          <a:ln w="38100">
            <a:solidFill>
              <a:srgbClr val="F5F5F5"/>
            </a:solidFill>
          </a:ln>
        </p:spPr>
        <p:style>
          <a:lnRef idx="1">
            <a:schemeClr val="accent1"/>
          </a:lnRef>
          <a:fillRef idx="0">
            <a:schemeClr val="accent1"/>
          </a:fillRef>
          <a:effectRef idx="0">
            <a:schemeClr val="accent1"/>
          </a:effectRef>
          <a:fontRef idx="minor">
            <a:schemeClr val="tx1"/>
          </a:fontRef>
        </p:style>
      </p:cxnSp>
      <p:pic>
        <p:nvPicPr>
          <p:cNvPr id="9" name="Picture 4" descr="Jean Piaget"/>
          <p:cNvPicPr>
            <a:picLocks noGrp="1" noChangeAspect="1" noChangeArrowheads="1"/>
          </p:cNvPicPr>
          <p:nvPr>
            <p:ph type="pic" idx="13"/>
          </p:nvPr>
        </p:nvPicPr>
        <p:blipFill>
          <a:blip r:embed="rId3">
            <a:extLst>
              <a:ext uri="{28A0092B-C50C-407E-A947-70E740481C1C}">
                <a14:useLocalDpi xmlns:a14="http://schemas.microsoft.com/office/drawing/2010/main" val="0"/>
              </a:ext>
            </a:extLst>
          </a:blip>
          <a:srcRect l="6234" r="6234"/>
          <a:stretch>
            <a:fillRect/>
          </a:stretch>
        </p:blipFill>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862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457200" indent="-457200">
              <a:lnSpc>
                <a:spcPct val="150000"/>
              </a:lnSpc>
              <a:buClr>
                <a:schemeClr val="accent2"/>
              </a:buClr>
              <a:buSzPct val="100000"/>
              <a:buFont typeface="Wingdings 2" panose="05020102010507070707" pitchFamily="18" charset="2"/>
              <a:buChar char=""/>
            </a:pPr>
            <a:r>
              <a:rPr lang="en-US" sz="2800" dirty="0">
                <a:solidFill>
                  <a:srgbClr val="404040"/>
                </a:solidFill>
              </a:rPr>
              <a:t>Cognitive development represents  a progression of mental abilities: Illogical to logical thinking, from simple to complex problem solving, and from understanding concrete ideas to understanding abstract concepts. </a:t>
            </a:r>
          </a:p>
          <a:p>
            <a:pPr>
              <a:lnSpc>
                <a:spcPct val="150000"/>
              </a:lnSpc>
              <a:buNone/>
            </a:pPr>
            <a:endParaRPr lang="en-US" sz="2800" dirty="0"/>
          </a:p>
        </p:txBody>
      </p:sp>
      <p:sp>
        <p:nvSpPr>
          <p:cNvPr id="3" name="Title 2"/>
          <p:cNvSpPr>
            <a:spLocks noGrp="1"/>
          </p:cNvSpPr>
          <p:nvPr>
            <p:ph type="title"/>
          </p:nvPr>
        </p:nvSpPr>
        <p:spPr/>
        <p:txBody>
          <a:bodyPr>
            <a:normAutofit/>
          </a:bodyPr>
          <a:lstStyle/>
          <a:p>
            <a:r>
              <a:rPr lang="en-US" sz="3600" dirty="0"/>
              <a:t>Cognitive development</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5971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457200" indent="-457200">
              <a:lnSpc>
                <a:spcPct val="150000"/>
              </a:lnSpc>
              <a:buClr>
                <a:schemeClr val="accent2"/>
              </a:buClr>
              <a:buSzPct val="100000"/>
              <a:buFont typeface="Wingdings 2" panose="05020102010507070707" pitchFamily="18" charset="2"/>
              <a:buChar char=""/>
            </a:pPr>
            <a:r>
              <a:rPr lang="en-US" sz="2800" dirty="0">
                <a:solidFill>
                  <a:srgbClr val="404040"/>
                </a:solidFill>
              </a:rPr>
              <a:t>Piaget believed that cognitive development begins with an inborn ability to adapt to the environment. By rooting for nipple</a:t>
            </a:r>
            <a:r>
              <a:rPr lang="en-US" sz="3200" b="1" dirty="0">
                <a:solidFill>
                  <a:schemeClr val="accent2"/>
                </a:solidFill>
                <a:latin typeface="Segoe UI Semibold" panose="020B0702040204020203" pitchFamily="34" charset="0"/>
                <a:cs typeface="Segoe UI Semibold" panose="020B0702040204020203" pitchFamily="34" charset="0"/>
              </a:rPr>
              <a:t>→</a:t>
            </a:r>
            <a:r>
              <a:rPr lang="en-US" sz="2800" dirty="0">
                <a:solidFill>
                  <a:srgbClr val="404040"/>
                </a:solidFill>
              </a:rPr>
              <a:t> exploring the boundaries of the room, young children develop a more accurate picture of their surrounding and greater competence in dealing with them. </a:t>
            </a:r>
            <a:endParaRPr lang="en-US" sz="2800" dirty="0"/>
          </a:p>
        </p:txBody>
      </p:sp>
      <p:sp>
        <p:nvSpPr>
          <p:cNvPr id="3" name="Title 2"/>
          <p:cNvSpPr>
            <a:spLocks noGrp="1"/>
          </p:cNvSpPr>
          <p:nvPr>
            <p:ph type="title"/>
          </p:nvPr>
        </p:nvSpPr>
        <p:spPr/>
        <p:txBody>
          <a:bodyPr>
            <a:normAutofit/>
          </a:bodyPr>
          <a:lstStyle/>
          <a:p>
            <a:r>
              <a:rPr lang="en-US" sz="3600" dirty="0"/>
              <a:t>Cognitive development</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090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14350" indent="-514350">
              <a:lnSpc>
                <a:spcPct val="150000"/>
              </a:lnSpc>
              <a:buClr>
                <a:schemeClr val="accent2"/>
              </a:buClr>
              <a:buSzPct val="100000"/>
              <a:buFont typeface="+mj-lt"/>
              <a:buAutoNum type="arabicPeriod"/>
            </a:pPr>
            <a:r>
              <a:rPr lang="en-US" sz="2800" dirty="0">
                <a:solidFill>
                  <a:srgbClr val="404040"/>
                </a:solidFill>
                <a:latin typeface="Segoe UI Semibold" panose="020B0702040204020203" pitchFamily="34" charset="0"/>
                <a:cs typeface="Segoe UI Semibold" panose="020B0702040204020203" pitchFamily="34" charset="0"/>
              </a:rPr>
              <a:t>Organization</a:t>
            </a:r>
          </a:p>
          <a:p>
            <a:pPr marL="514350" indent="-514350">
              <a:lnSpc>
                <a:spcPct val="150000"/>
              </a:lnSpc>
              <a:buClr>
                <a:schemeClr val="accent2"/>
              </a:buClr>
              <a:buSzPct val="100000"/>
              <a:buFont typeface="+mj-lt"/>
              <a:buAutoNum type="arabicPeriod"/>
            </a:pPr>
            <a:r>
              <a:rPr lang="en-US" sz="2800" dirty="0">
                <a:solidFill>
                  <a:srgbClr val="404040"/>
                </a:solidFill>
                <a:latin typeface="Segoe UI Semibold" panose="020B0702040204020203" pitchFamily="34" charset="0"/>
                <a:cs typeface="Segoe UI Semibold" panose="020B0702040204020203" pitchFamily="34" charset="0"/>
              </a:rPr>
              <a:t> Adaptation </a:t>
            </a:r>
          </a:p>
          <a:p>
            <a:pPr marL="514350" indent="-514350">
              <a:lnSpc>
                <a:spcPct val="150000"/>
              </a:lnSpc>
              <a:buClr>
                <a:schemeClr val="accent2"/>
              </a:buClr>
              <a:buSzPct val="100000"/>
              <a:buFont typeface="+mj-lt"/>
              <a:buAutoNum type="arabicPeriod"/>
            </a:pPr>
            <a:r>
              <a:rPr lang="en-US" sz="2800" dirty="0">
                <a:solidFill>
                  <a:srgbClr val="404040"/>
                </a:solidFill>
                <a:latin typeface="Segoe UI Semibold" panose="020B0702040204020203" pitchFamily="34" charset="0"/>
                <a:cs typeface="Segoe UI Semibold" panose="020B0702040204020203" pitchFamily="34" charset="0"/>
              </a:rPr>
              <a:t> Equilibration</a:t>
            </a:r>
          </a:p>
        </p:txBody>
      </p:sp>
      <p:sp>
        <p:nvSpPr>
          <p:cNvPr id="3" name="Title 2"/>
          <p:cNvSpPr>
            <a:spLocks noGrp="1"/>
          </p:cNvSpPr>
          <p:nvPr>
            <p:ph type="title"/>
          </p:nvPr>
        </p:nvSpPr>
        <p:spPr/>
        <p:txBody>
          <a:bodyPr>
            <a:normAutofit/>
          </a:bodyPr>
          <a:lstStyle/>
          <a:p>
            <a:r>
              <a:rPr lang="en-US" dirty="0"/>
              <a:t>The gradual development occurs through three interrelated principles:</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6349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85000" lnSpcReduction="20000"/>
          </a:bodyPr>
          <a:lstStyle/>
          <a:p>
            <a:pPr marL="514350" indent="-514350">
              <a:lnSpc>
                <a:spcPct val="150000"/>
              </a:lnSpc>
              <a:buClr>
                <a:schemeClr val="accent2"/>
              </a:buClr>
              <a:buSzPct val="100000"/>
              <a:buFont typeface="+mj-lt"/>
              <a:buAutoNum type="arabicPeriod"/>
            </a:pPr>
            <a:r>
              <a:rPr lang="en-US" sz="3800" dirty="0">
                <a:solidFill>
                  <a:srgbClr val="404040"/>
                </a:solidFill>
                <a:latin typeface="Segoe UI Semibold" panose="020B0702040204020203" pitchFamily="34" charset="0"/>
                <a:cs typeface="Segoe UI Semibold" panose="020B0702040204020203" pitchFamily="34" charset="0"/>
              </a:rPr>
              <a:t>Organization</a:t>
            </a:r>
          </a:p>
          <a:p>
            <a:pPr marL="914400" indent="-457200">
              <a:lnSpc>
                <a:spcPct val="150000"/>
              </a:lnSpc>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is the tendency to create increasingly complex cognitive structure, systems of knowledge or ways of thinking that incorporate more and more accurate image of reality. </a:t>
            </a:r>
          </a:p>
          <a:p>
            <a:pPr marL="914400" indent="-457200">
              <a:lnSpc>
                <a:spcPct val="150000"/>
              </a:lnSpc>
              <a:buClr>
                <a:schemeClr val="accent2"/>
              </a:buClr>
              <a:buSzPct val="100000"/>
              <a:buFont typeface="Vladimir Script" panose="03050402040407070305" pitchFamily="66" charset="0"/>
              <a:buChar char="-"/>
            </a:pPr>
            <a:r>
              <a:rPr lang="en-US" sz="2800" dirty="0">
                <a:solidFill>
                  <a:srgbClr val="404040"/>
                </a:solidFill>
                <a:latin typeface="Segoe UI Semibold" panose="020B0702040204020203" pitchFamily="34" charset="0"/>
                <a:cs typeface="Segoe UI Semibold" panose="020B0702040204020203" pitchFamily="34" charset="0"/>
              </a:rPr>
              <a:t>(Integration of knowledge into a system to make sense of the environment). These structures, called </a:t>
            </a:r>
            <a:r>
              <a:rPr lang="en-US" sz="3000" dirty="0">
                <a:solidFill>
                  <a:schemeClr val="accent2"/>
                </a:solidFill>
                <a:latin typeface="Segoe UI Semibold" panose="020B0702040204020203" pitchFamily="34" charset="0"/>
                <a:cs typeface="Segoe UI Semibold" panose="020B0702040204020203" pitchFamily="34" charset="0"/>
              </a:rPr>
              <a:t>schemes</a:t>
            </a:r>
            <a:r>
              <a:rPr lang="en-US" sz="2800" dirty="0">
                <a:solidFill>
                  <a:srgbClr val="404040"/>
                </a:solidFill>
                <a:latin typeface="Segoe UI Semibold" panose="020B0702040204020203" pitchFamily="34" charset="0"/>
                <a:cs typeface="Segoe UI Semibold" panose="020B0702040204020203" pitchFamily="34" charset="0"/>
              </a:rPr>
              <a:t>, </a:t>
            </a:r>
            <a:r>
              <a:rPr lang="en-US" sz="2800" dirty="0">
                <a:solidFill>
                  <a:srgbClr val="404040"/>
                </a:solidFill>
                <a:cs typeface="Segoe UI Semibold" panose="020B0702040204020203" pitchFamily="34" charset="0"/>
              </a:rPr>
              <a:t>are organized pattern of behavior that a person uses to think in different kinds of situations. </a:t>
            </a:r>
          </a:p>
          <a:p>
            <a:pPr>
              <a:lnSpc>
                <a:spcPct val="150000"/>
              </a:lnSpc>
              <a:buClr>
                <a:schemeClr val="accent2"/>
              </a:buClr>
              <a:buSzPct val="100000"/>
              <a:buNone/>
            </a:pPr>
            <a:endParaRPr lang="en-US" sz="2800" dirty="0">
              <a:solidFill>
                <a:srgbClr val="404040"/>
              </a:solidFill>
              <a:latin typeface="Segoe UI Semibold" panose="020B0702040204020203" pitchFamily="34" charset="0"/>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The gradual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961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14350" indent="-514350">
              <a:lnSpc>
                <a:spcPct val="150000"/>
              </a:lnSpc>
              <a:buClr>
                <a:schemeClr val="accent2"/>
              </a:buClr>
              <a:buSzPct val="100000"/>
              <a:buFont typeface="+mj-lt"/>
              <a:buAutoNum type="arabicPeriod"/>
            </a:pPr>
            <a:r>
              <a:rPr lang="en-US" sz="3200" dirty="0">
                <a:solidFill>
                  <a:srgbClr val="404040"/>
                </a:solidFill>
                <a:latin typeface="Segoe UI Semibold" panose="020B0702040204020203" pitchFamily="34" charset="0"/>
                <a:cs typeface="Segoe UI Semibold" panose="020B0702040204020203" pitchFamily="34" charset="0"/>
              </a:rPr>
              <a:t>Organization</a:t>
            </a:r>
            <a:endParaRPr lang="en-US" sz="2800" dirty="0">
              <a:solidFill>
                <a:srgbClr val="404040"/>
              </a:solidFill>
              <a:latin typeface="Segoe UI Semibold" panose="020B0702040204020203" pitchFamily="34" charset="0"/>
              <a:cs typeface="Segoe UI Semibold" panose="020B0702040204020203" pitchFamily="34" charset="0"/>
            </a:endParaRPr>
          </a:p>
          <a:p>
            <a:pPr marL="914400" indent="-457200">
              <a:lnSpc>
                <a:spcPct val="150000"/>
              </a:lnSpc>
              <a:buClr>
                <a:schemeClr val="accent2"/>
              </a:buClr>
              <a:buSzPct val="100000"/>
              <a:buFont typeface="Vladimir Script" panose="03050402040407070305" pitchFamily="66" charset="0"/>
              <a:buChar char="-"/>
            </a:pPr>
            <a:r>
              <a:rPr lang="en-US" sz="2800" dirty="0">
                <a:solidFill>
                  <a:schemeClr val="accent2"/>
                </a:solidFill>
                <a:latin typeface="Segoe UI Semibold" panose="020B0702040204020203" pitchFamily="34" charset="0"/>
                <a:cs typeface="Segoe UI Semibold" panose="020B0702040204020203" pitchFamily="34" charset="0"/>
              </a:rPr>
              <a:t>They are cognitive structures that represent a certain aspect of the world, and can be seen as categories which have certain pre-conceived ideas in them.</a:t>
            </a:r>
          </a:p>
          <a:p>
            <a:pPr>
              <a:lnSpc>
                <a:spcPct val="150000"/>
              </a:lnSpc>
              <a:buClr>
                <a:schemeClr val="accent2"/>
              </a:buClr>
              <a:buSzPct val="100000"/>
              <a:buNone/>
            </a:pPr>
            <a:endParaRPr lang="en-US" sz="2800" dirty="0">
              <a:solidFill>
                <a:srgbClr val="404040"/>
              </a:solidFill>
              <a:latin typeface="Segoe UI Semibold" panose="020B0702040204020203" pitchFamily="34" charset="0"/>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The gradual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3190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14350" indent="-514350">
              <a:lnSpc>
                <a:spcPct val="150000"/>
              </a:lnSpc>
              <a:buClr>
                <a:schemeClr val="accent2"/>
              </a:buClr>
              <a:buSzPct val="100000"/>
              <a:buFont typeface="+mj-lt"/>
              <a:buAutoNum type="arabicPeriod"/>
            </a:pPr>
            <a:r>
              <a:rPr lang="en-US" sz="3600" dirty="0">
                <a:solidFill>
                  <a:srgbClr val="404040"/>
                </a:solidFill>
                <a:latin typeface="Segoe UI Semibold" panose="020B0702040204020203" pitchFamily="34" charset="0"/>
                <a:cs typeface="Segoe UI Semibold" panose="020B0702040204020203" pitchFamily="34" charset="0"/>
              </a:rPr>
              <a:t>Organization</a:t>
            </a:r>
            <a:endParaRPr lang="en-US" sz="2800" dirty="0">
              <a:solidFill>
                <a:srgbClr val="404040"/>
              </a:solidFill>
              <a:latin typeface="Segoe UI Semibold" panose="020B0702040204020203" pitchFamily="34" charset="0"/>
              <a:cs typeface="Segoe UI Semibold" panose="020B0702040204020203" pitchFamily="34" charset="0"/>
            </a:endParaRPr>
          </a:p>
          <a:p>
            <a:pPr marL="914400" indent="-457200">
              <a:lnSpc>
                <a:spcPct val="150000"/>
              </a:lnSpc>
              <a:buClr>
                <a:schemeClr val="accent2"/>
              </a:buClr>
              <a:buSzPct val="100000"/>
              <a:buFont typeface="Vladimir Script" panose="03050402040407070305" pitchFamily="66" charset="0"/>
              <a:buChar char="-"/>
            </a:pPr>
            <a:r>
              <a:rPr lang="en-US" sz="2800" dirty="0">
                <a:solidFill>
                  <a:schemeClr val="accent2"/>
                </a:solidFill>
                <a:latin typeface="Segoe UI Semibold" panose="020B0702040204020203" pitchFamily="34" charset="0"/>
                <a:cs typeface="Segoe UI Semibold" panose="020B0702040204020203" pitchFamily="34" charset="0"/>
              </a:rPr>
              <a:t>For example:</a:t>
            </a:r>
          </a:p>
          <a:p>
            <a:pPr marL="1371600" indent="-457200">
              <a:lnSpc>
                <a:spcPct val="150000"/>
              </a:lnSpc>
              <a:buClr>
                <a:schemeClr val="accent2"/>
              </a:buClr>
              <a:buSzPct val="100000"/>
              <a:buFont typeface="Vladimir Script" panose="03050402040407070305" pitchFamily="66" charset="0"/>
              <a:buChar char="-"/>
            </a:pPr>
            <a:r>
              <a:rPr lang="en-US" sz="2400" dirty="0">
                <a:solidFill>
                  <a:srgbClr val="404040"/>
                </a:solidFill>
                <a:cs typeface="Segoe UI Semibold" panose="020B0702040204020203" pitchFamily="34" charset="0"/>
              </a:rPr>
              <a:t>An infant has a simple scheme for sucking but soon develops varied schemes for how to suck at the breast, a bottle, or a thumb.</a:t>
            </a:r>
          </a:p>
          <a:p>
            <a:pPr>
              <a:lnSpc>
                <a:spcPct val="150000"/>
              </a:lnSpc>
              <a:buClr>
                <a:schemeClr val="accent2"/>
              </a:buClr>
              <a:buSzPct val="100000"/>
              <a:buNone/>
            </a:pPr>
            <a:endParaRPr lang="en-US" sz="2800" dirty="0">
              <a:solidFill>
                <a:srgbClr val="404040"/>
              </a:solidFill>
              <a:latin typeface="Segoe UI Semibold" panose="020B0702040204020203" pitchFamily="34" charset="0"/>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The gradual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64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pPr marL="742950" indent="-742950">
              <a:lnSpc>
                <a:spcPct val="120000"/>
              </a:lnSpc>
              <a:spcBef>
                <a:spcPts val="600"/>
              </a:spcBef>
              <a:buClr>
                <a:schemeClr val="accent2"/>
              </a:buClr>
              <a:buSzPct val="100000"/>
              <a:buFont typeface="+mj-lt"/>
              <a:buAutoNum type="arabicPeriod" startAt="2"/>
            </a:pPr>
            <a:r>
              <a:rPr lang="en-US" sz="3600" dirty="0">
                <a:solidFill>
                  <a:srgbClr val="404040"/>
                </a:solidFill>
                <a:latin typeface="Segoe UI Semibold" panose="020B0702040204020203" pitchFamily="34" charset="0"/>
                <a:cs typeface="Segoe UI Semibold" panose="020B0702040204020203" pitchFamily="34" charset="0"/>
              </a:rPr>
              <a:t>Adaptation</a:t>
            </a:r>
            <a:endParaRPr lang="en-US" sz="2800" dirty="0">
              <a:solidFill>
                <a:srgbClr val="404040"/>
              </a:solidFill>
              <a:latin typeface="Segoe UI Semibold" panose="020B0702040204020203" pitchFamily="34" charset="0"/>
              <a:cs typeface="Segoe UI Semibold" panose="020B0702040204020203" pitchFamily="34" charset="0"/>
            </a:endParaRPr>
          </a:p>
          <a:p>
            <a:pPr marL="914400" indent="-457200">
              <a:lnSpc>
                <a:spcPct val="120000"/>
              </a:lnSpc>
              <a:spcBef>
                <a:spcPts val="600"/>
              </a:spcBef>
              <a:buClr>
                <a:schemeClr val="accent2"/>
              </a:buClr>
              <a:buSzPct val="100000"/>
              <a:buFont typeface="Vladimir Script" panose="03050402040407070305" pitchFamily="66" charset="0"/>
              <a:buChar char="-"/>
            </a:pPr>
            <a:r>
              <a:rPr lang="en-US" sz="3300" dirty="0">
                <a:solidFill>
                  <a:srgbClr val="404040"/>
                </a:solidFill>
                <a:cs typeface="Segoe UI Semibold" panose="020B0702040204020203" pitchFamily="34" charset="0"/>
              </a:rPr>
              <a:t>Adjustment to new information about the environment  through two steps:</a:t>
            </a:r>
          </a:p>
          <a:p>
            <a:pPr marL="1371600" indent="-514350">
              <a:lnSpc>
                <a:spcPct val="120000"/>
              </a:lnSpc>
              <a:spcBef>
                <a:spcPts val="600"/>
              </a:spcBef>
              <a:buClr>
                <a:schemeClr val="accent2"/>
              </a:buClr>
              <a:buSzPct val="100000"/>
              <a:buFont typeface="+mj-lt"/>
              <a:buAutoNum type="arabicPeriod"/>
            </a:pPr>
            <a:r>
              <a:rPr lang="en-US" sz="3300" dirty="0">
                <a:solidFill>
                  <a:schemeClr val="accent2"/>
                </a:solidFill>
                <a:latin typeface="Segoe UI Semibold" panose="020B0702040204020203" pitchFamily="34" charset="0"/>
                <a:cs typeface="Segoe UI Semibold" panose="020B0702040204020203" pitchFamily="34" charset="0"/>
              </a:rPr>
              <a:t>Assimilation</a:t>
            </a:r>
            <a:r>
              <a:rPr lang="en-US" sz="2800" dirty="0">
                <a:solidFill>
                  <a:srgbClr val="404040"/>
                </a:solidFill>
                <a:cs typeface="Segoe UI Semibold" panose="020B0702040204020203" pitchFamily="34" charset="0"/>
              </a:rPr>
              <a:t>, taking in information and incorporating it into existing cognitive structure.  </a:t>
            </a:r>
          </a:p>
          <a:p>
            <a:pPr marL="1371600" indent="-514350">
              <a:lnSpc>
                <a:spcPct val="120000"/>
              </a:lnSpc>
              <a:spcBef>
                <a:spcPts val="600"/>
              </a:spcBef>
              <a:buClr>
                <a:schemeClr val="accent2"/>
              </a:buClr>
              <a:buSzPct val="100000"/>
              <a:buFont typeface="+mj-lt"/>
              <a:buAutoNum type="arabicPeriod"/>
            </a:pPr>
            <a:r>
              <a:rPr lang="en-US" sz="3300" dirty="0">
                <a:solidFill>
                  <a:schemeClr val="accent2"/>
                </a:solidFill>
                <a:latin typeface="Segoe UI Semibold" panose="020B0702040204020203" pitchFamily="34" charset="0"/>
                <a:cs typeface="Segoe UI Semibold" panose="020B0702040204020203" pitchFamily="34" charset="0"/>
              </a:rPr>
              <a:t>Accommodation</a:t>
            </a:r>
            <a:r>
              <a:rPr lang="en-US" sz="2800" dirty="0">
                <a:solidFill>
                  <a:srgbClr val="404040"/>
                </a:solidFill>
                <a:cs typeface="Segoe UI Semibold" panose="020B0702040204020203" pitchFamily="34" charset="0"/>
              </a:rPr>
              <a:t>, changing one's cognitive structures to include the new knowledge. </a:t>
            </a:r>
          </a:p>
        </p:txBody>
      </p:sp>
      <p:sp>
        <p:nvSpPr>
          <p:cNvPr id="3" name="Title 2"/>
          <p:cNvSpPr>
            <a:spLocks noGrp="1"/>
          </p:cNvSpPr>
          <p:nvPr>
            <p:ph type="title"/>
          </p:nvPr>
        </p:nvSpPr>
        <p:spPr/>
        <p:txBody>
          <a:bodyPr>
            <a:normAutofit/>
          </a:bodyPr>
          <a:lstStyle/>
          <a:p>
            <a:r>
              <a:rPr lang="en-US" sz="3600" dirty="0"/>
              <a:t>The gradual development</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3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742950" indent="-742950">
              <a:lnSpc>
                <a:spcPct val="120000"/>
              </a:lnSpc>
              <a:spcBef>
                <a:spcPts val="600"/>
              </a:spcBef>
              <a:buClr>
                <a:schemeClr val="accent2"/>
              </a:buClr>
              <a:buSzPct val="100000"/>
              <a:buFont typeface="+mj-lt"/>
              <a:buAutoNum type="arabicPeriod" startAt="3"/>
            </a:pPr>
            <a:r>
              <a:rPr lang="en-US" sz="3600" dirty="0">
                <a:solidFill>
                  <a:srgbClr val="404040"/>
                </a:solidFill>
                <a:latin typeface="Segoe UI Semibold" panose="020B0702040204020203" pitchFamily="34" charset="0"/>
                <a:cs typeface="Segoe UI Semibold" panose="020B0702040204020203" pitchFamily="34" charset="0"/>
              </a:rPr>
              <a:t>Equilibration</a:t>
            </a:r>
            <a:endParaRPr lang="en-US" sz="2800" dirty="0">
              <a:solidFill>
                <a:srgbClr val="404040"/>
              </a:solidFill>
              <a:latin typeface="Segoe UI Semibold" panose="020B0702040204020203" pitchFamily="34" charset="0"/>
              <a:cs typeface="Segoe UI Semibold" panose="020B0702040204020203" pitchFamily="34" charset="0"/>
            </a:endParaRPr>
          </a:p>
          <a:p>
            <a:pPr marL="914400" indent="-457200">
              <a:lnSpc>
                <a:spcPct val="120000"/>
              </a:lnSpc>
              <a:spcBef>
                <a:spcPts val="600"/>
              </a:spcBef>
              <a:buClr>
                <a:schemeClr val="accent2"/>
              </a:buClr>
              <a:buSzPct val="100000"/>
              <a:buFont typeface="Vladimir Script" panose="03050402040407070305" pitchFamily="66" charset="0"/>
              <a:buChar char="-"/>
            </a:pPr>
            <a:r>
              <a:rPr lang="en-US" sz="3200" dirty="0">
                <a:solidFill>
                  <a:srgbClr val="404040"/>
                </a:solidFill>
                <a:cs typeface="Segoe UI Semibold" panose="020B0702040204020203" pitchFamily="34" charset="0"/>
              </a:rPr>
              <a:t>The tendency to strive for equilibrium  (balance) among cognitive elements  within the organism and between the organism and the outside world.</a:t>
            </a:r>
          </a:p>
        </p:txBody>
      </p:sp>
      <p:sp>
        <p:nvSpPr>
          <p:cNvPr id="3" name="Title 2"/>
          <p:cNvSpPr>
            <a:spLocks noGrp="1"/>
          </p:cNvSpPr>
          <p:nvPr>
            <p:ph type="title"/>
          </p:nvPr>
        </p:nvSpPr>
        <p:spPr/>
        <p:txBody>
          <a:bodyPr>
            <a:normAutofit/>
          </a:bodyPr>
          <a:lstStyle/>
          <a:p>
            <a:r>
              <a:rPr lang="en-US" sz="3600" dirty="0"/>
              <a:t>The gradual development</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94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742950" indent="-742950">
              <a:lnSpc>
                <a:spcPct val="120000"/>
              </a:lnSpc>
              <a:spcBef>
                <a:spcPts val="600"/>
              </a:spcBef>
              <a:buClr>
                <a:schemeClr val="accent2"/>
              </a:buClr>
              <a:buSzPct val="100000"/>
              <a:buFont typeface="+mj-lt"/>
              <a:buAutoNum type="arabicPeriod"/>
            </a:pPr>
            <a:r>
              <a:rPr lang="en-US" sz="3600" dirty="0">
                <a:solidFill>
                  <a:schemeClr val="accent2"/>
                </a:solidFill>
                <a:latin typeface="Segoe UI Semibold" panose="020B0702040204020203" pitchFamily="34" charset="0"/>
                <a:cs typeface="Segoe UI Semibold" panose="020B0702040204020203" pitchFamily="34" charset="0"/>
              </a:rPr>
              <a:t>Sensory –Motor Period </a:t>
            </a:r>
            <a:r>
              <a:rPr lang="en-US" sz="3600" dirty="0">
                <a:solidFill>
                  <a:srgbClr val="404040"/>
                </a:solidFill>
                <a:cs typeface="Segoe UI Semibold" panose="020B0702040204020203" pitchFamily="34" charset="0"/>
              </a:rPr>
              <a:t>(Birth to 2 years).</a:t>
            </a:r>
          </a:p>
          <a:p>
            <a:pPr marL="742950" indent="-742950">
              <a:lnSpc>
                <a:spcPct val="120000"/>
              </a:lnSpc>
              <a:spcBef>
                <a:spcPts val="600"/>
              </a:spcBef>
              <a:buClr>
                <a:schemeClr val="accent2"/>
              </a:buClr>
              <a:buSzPct val="100000"/>
              <a:buFont typeface="+mj-lt"/>
              <a:buAutoNum type="arabicPeriod"/>
            </a:pPr>
            <a:r>
              <a:rPr lang="en-US" sz="3600" dirty="0">
                <a:solidFill>
                  <a:schemeClr val="accent2"/>
                </a:solidFill>
                <a:latin typeface="Segoe UI Semibold" panose="020B0702040204020203" pitchFamily="34" charset="0"/>
                <a:cs typeface="Segoe UI Semibold" panose="020B0702040204020203" pitchFamily="34" charset="0"/>
              </a:rPr>
              <a:t>Preoperational Phase</a:t>
            </a:r>
            <a:r>
              <a:rPr lang="en-US" sz="3600" dirty="0">
                <a:solidFill>
                  <a:srgbClr val="404040"/>
                </a:solidFill>
                <a:cs typeface="Segoe UI Semibold" panose="020B0702040204020203" pitchFamily="34" charset="0"/>
              </a:rPr>
              <a:t>. 3-5 years old. </a:t>
            </a:r>
          </a:p>
          <a:p>
            <a:pPr marL="742950" indent="-742950">
              <a:lnSpc>
                <a:spcPct val="120000"/>
              </a:lnSpc>
              <a:spcBef>
                <a:spcPts val="600"/>
              </a:spcBef>
              <a:buClr>
                <a:schemeClr val="accent2"/>
              </a:buClr>
              <a:buSzPct val="100000"/>
              <a:buFont typeface="+mj-lt"/>
              <a:buAutoNum type="arabicPeriod"/>
            </a:pPr>
            <a:r>
              <a:rPr lang="en-US" sz="3600" dirty="0">
                <a:solidFill>
                  <a:srgbClr val="404040"/>
                </a:solidFill>
                <a:cs typeface="Segoe UI Semibold" panose="020B0702040204020203" pitchFamily="34" charset="0"/>
              </a:rPr>
              <a:t> </a:t>
            </a:r>
            <a:r>
              <a:rPr lang="en-US" sz="3600" dirty="0">
                <a:solidFill>
                  <a:schemeClr val="accent2"/>
                </a:solidFill>
                <a:latin typeface="Segoe UI Semibold" panose="020B0702040204020203" pitchFamily="34" charset="0"/>
                <a:cs typeface="Segoe UI Semibold" panose="020B0702040204020203" pitchFamily="34" charset="0"/>
              </a:rPr>
              <a:t>Concrete operations</a:t>
            </a:r>
            <a:r>
              <a:rPr lang="en-US" sz="3600" dirty="0">
                <a:solidFill>
                  <a:srgbClr val="404040"/>
                </a:solidFill>
                <a:cs typeface="Segoe UI Semibold" panose="020B0702040204020203" pitchFamily="34" charset="0"/>
              </a:rPr>
              <a:t>:  7-11 years of age</a:t>
            </a:r>
          </a:p>
          <a:p>
            <a:pPr marL="742950" indent="-742950">
              <a:lnSpc>
                <a:spcPct val="120000"/>
              </a:lnSpc>
              <a:spcBef>
                <a:spcPts val="600"/>
              </a:spcBef>
              <a:buClr>
                <a:schemeClr val="accent2"/>
              </a:buClr>
              <a:buSzPct val="100000"/>
              <a:buFont typeface="+mj-lt"/>
              <a:buAutoNum type="arabicPeriod"/>
            </a:pPr>
            <a:r>
              <a:rPr lang="en-US" sz="3600" dirty="0">
                <a:solidFill>
                  <a:srgbClr val="404040"/>
                </a:solidFill>
                <a:cs typeface="Segoe UI Semibold" panose="020B0702040204020203" pitchFamily="34" charset="0"/>
              </a:rPr>
              <a:t> </a:t>
            </a:r>
            <a:r>
              <a:rPr lang="en-US" sz="3600" dirty="0">
                <a:solidFill>
                  <a:schemeClr val="accent2"/>
                </a:solidFill>
                <a:latin typeface="Segoe UI Semibold" panose="020B0702040204020203" pitchFamily="34" charset="0"/>
                <a:cs typeface="Segoe UI Semibold" panose="020B0702040204020203" pitchFamily="34" charset="0"/>
              </a:rPr>
              <a:t>Formal Operational Period </a:t>
            </a:r>
            <a:r>
              <a:rPr lang="en-US" sz="3600" dirty="0">
                <a:solidFill>
                  <a:srgbClr val="404040"/>
                </a:solidFill>
                <a:cs typeface="Segoe UI Semibold" panose="020B0702040204020203" pitchFamily="34" charset="0"/>
              </a:rPr>
              <a:t>: 11 - 15/16 years</a:t>
            </a:r>
          </a:p>
        </p:txBody>
      </p:sp>
      <p:sp>
        <p:nvSpPr>
          <p:cNvPr id="3" name="Title 2"/>
          <p:cNvSpPr>
            <a:spLocks noGrp="1"/>
          </p:cNvSpPr>
          <p:nvPr>
            <p:ph type="title"/>
          </p:nvPr>
        </p:nvSpPr>
        <p:spPr/>
        <p:txBody>
          <a:bodyPr>
            <a:normAutofit/>
          </a:bodyPr>
          <a:lstStyle/>
          <a:p>
            <a:r>
              <a:rPr lang="en-US" sz="3600" dirty="0"/>
              <a:t>Phases of Piaget’s cognitive developmental theory:</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0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In this stage infants </a:t>
            </a:r>
            <a:r>
              <a:rPr lang="en-US" sz="3200" dirty="0">
                <a:solidFill>
                  <a:srgbClr val="404040"/>
                </a:solidFill>
                <a:latin typeface="Segoe UI Semibold" panose="020B0702040204020203" pitchFamily="34" charset="0"/>
                <a:cs typeface="Segoe UI Semibold" panose="020B0702040204020203" pitchFamily="34" charset="0"/>
              </a:rPr>
              <a:t>explore the world only by senses like touch-putting his fingers in the mouth.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 child does not recognize himself as a separate organism.</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Infants </a:t>
            </a:r>
            <a:r>
              <a:rPr lang="en-US" sz="3200" dirty="0">
                <a:solidFill>
                  <a:srgbClr val="404040"/>
                </a:solidFill>
                <a:latin typeface="Segoe UI Semibold" panose="020B0702040204020203" pitchFamily="34" charset="0"/>
                <a:cs typeface="Segoe UI Semibold" panose="020B0702040204020203" pitchFamily="34" charset="0"/>
              </a:rPr>
              <a:t>cannot distinguish themselves from their environment. </a:t>
            </a:r>
            <a:r>
              <a:rPr lang="en-US" sz="2800" dirty="0">
                <a:solidFill>
                  <a:srgbClr val="404040"/>
                </a:solidFill>
                <a:cs typeface="Segoe UI Semibold" panose="020B0702040204020203" pitchFamily="34" charset="0"/>
              </a:rPr>
              <a:t>We can divide this period into several sub-periods.</a:t>
            </a:r>
          </a:p>
        </p:txBody>
      </p:sp>
      <p:sp>
        <p:nvSpPr>
          <p:cNvPr id="3" name="Title 2"/>
          <p:cNvSpPr>
            <a:spLocks noGrp="1"/>
          </p:cNvSpPr>
          <p:nvPr>
            <p:ph type="title"/>
          </p:nvPr>
        </p:nvSpPr>
        <p:spPr/>
        <p:txBody>
          <a:bodyPr>
            <a:normAutofit/>
          </a:bodyPr>
          <a:lstStyle/>
          <a:p>
            <a:r>
              <a:rPr lang="en-US" sz="3600" dirty="0"/>
              <a:t>1. Sensory –Motor Period (Birth to 2 years).</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510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This stage of cognitive development start at birth and lasts up to 2 years of age and is divided into </a:t>
            </a:r>
            <a:r>
              <a:rPr lang="en-US" sz="3200" dirty="0">
                <a:solidFill>
                  <a:srgbClr val="404040"/>
                </a:solidFill>
                <a:latin typeface="Segoe UI Semibold" panose="020B0702040204020203" pitchFamily="34" charset="0"/>
                <a:cs typeface="Segoe UI Semibold" panose="020B0702040204020203" pitchFamily="34" charset="0"/>
              </a:rPr>
              <a:t>6 sub-stages</a:t>
            </a:r>
            <a:r>
              <a:rPr lang="en-US" sz="2800" dirty="0">
                <a:solidFill>
                  <a:srgbClr val="404040"/>
                </a:solidFill>
                <a:cs typeface="Segoe UI Semibold" panose="020B0702040204020203" pitchFamily="34" charset="0"/>
              </a:rPr>
              <a:t>:</a:t>
            </a:r>
          </a:p>
          <a:p>
            <a:pPr marL="571500" indent="-571500">
              <a:lnSpc>
                <a:spcPct val="120000"/>
              </a:lnSpc>
              <a:spcBef>
                <a:spcPts val="600"/>
              </a:spcBef>
              <a:buClr>
                <a:schemeClr val="accent2"/>
              </a:buClr>
              <a:buSzPct val="150000"/>
              <a:buFont typeface="+mj-lt"/>
              <a:buAutoNum type="arabicPeriod"/>
            </a:pPr>
            <a:r>
              <a:rPr lang="en-US" sz="3200" dirty="0">
                <a:solidFill>
                  <a:schemeClr val="accent2"/>
                </a:solidFill>
                <a:latin typeface="Segoe UI Semibold" panose="020B0702040204020203" pitchFamily="34" charset="0"/>
                <a:cs typeface="Segoe UI Semibold" panose="020B0702040204020203" pitchFamily="34" charset="0"/>
              </a:rPr>
              <a:t>Use of reflexes stage (0-1 month).  </a:t>
            </a:r>
            <a:r>
              <a:rPr lang="en-US" sz="2800" dirty="0">
                <a:solidFill>
                  <a:srgbClr val="404040"/>
                </a:solidFill>
                <a:cs typeface="Segoe UI Semibold" panose="020B0702040204020203" pitchFamily="34" charset="0"/>
              </a:rPr>
              <a:t>Characterized by repetition of body movement due to reflexes and the infant is totally autistic (not responding to external stimuli)</a:t>
            </a:r>
          </a:p>
        </p:txBody>
      </p:sp>
      <p:sp>
        <p:nvSpPr>
          <p:cNvPr id="3" name="Title 2"/>
          <p:cNvSpPr>
            <a:spLocks noGrp="1"/>
          </p:cNvSpPr>
          <p:nvPr>
            <p:ph type="title"/>
          </p:nvPr>
        </p:nvSpPr>
        <p:spPr/>
        <p:txBody>
          <a:bodyPr>
            <a:normAutofit/>
          </a:bodyPr>
          <a:lstStyle/>
          <a:p>
            <a:r>
              <a:rPr lang="en-US" sz="3600" dirty="0"/>
              <a:t>1. Sensorimotor stage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275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10000"/>
          </a:bodyPr>
          <a:lstStyle/>
          <a:p>
            <a:pPr marL="571500" indent="-571500">
              <a:lnSpc>
                <a:spcPct val="120000"/>
              </a:lnSpc>
              <a:spcBef>
                <a:spcPts val="600"/>
              </a:spcBef>
              <a:buClr>
                <a:schemeClr val="accent2"/>
              </a:buClr>
              <a:buSzPct val="150000"/>
              <a:buFont typeface="+mj-lt"/>
              <a:buAutoNum type="arabicPeriod" startAt="2"/>
            </a:pPr>
            <a:r>
              <a:rPr lang="en-US" sz="3500" dirty="0">
                <a:solidFill>
                  <a:schemeClr val="accent2"/>
                </a:solidFill>
                <a:latin typeface="Segoe UI Semibold" panose="020B0702040204020203" pitchFamily="34" charset="0"/>
                <a:cs typeface="Segoe UI Semibold" panose="020B0702040204020203" pitchFamily="34" charset="0"/>
              </a:rPr>
              <a:t>Primary Circular reactions (1-4 months). </a:t>
            </a:r>
            <a:r>
              <a:rPr lang="en-US" sz="2800" dirty="0">
                <a:solidFill>
                  <a:srgbClr val="404040"/>
                </a:solidFill>
                <a:cs typeface="Segoe UI Semibold" panose="020B0702040204020203" pitchFamily="34" charset="0"/>
              </a:rPr>
              <a:t>Characterized by the following behaviors:</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Recognize familiar faces and objects (e.g. mother and bottle)</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Shows anticipation before feeding</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Discover part of own body through touching</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Awareness of strange surroundings indicates memory</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Becomes bored when left </a:t>
            </a:r>
            <a:r>
              <a:rPr lang="en-US" sz="2600" dirty="0" err="1">
                <a:solidFill>
                  <a:srgbClr val="404040"/>
                </a:solidFill>
                <a:cs typeface="Segoe UI Semibold" panose="020B0702040204020203" pitchFamily="34" charset="0"/>
              </a:rPr>
              <a:t>alon</a:t>
            </a:r>
            <a:r>
              <a:rPr lang="en-US" sz="2600" dirty="0">
                <a:solidFill>
                  <a:srgbClr val="404040"/>
                </a:solidFill>
                <a:cs typeface="Segoe UI Semibold" panose="020B0702040204020203" pitchFamily="34" charset="0"/>
              </a:rPr>
              <a:t>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Accept anybody and no stranger anxiety is observed</a:t>
            </a:r>
          </a:p>
          <a:p>
            <a:pPr marL="571500" indent="-571500">
              <a:lnSpc>
                <a:spcPct val="120000"/>
              </a:lnSpc>
              <a:spcBef>
                <a:spcPts val="600"/>
              </a:spcBef>
              <a:buClr>
                <a:schemeClr val="accent2"/>
              </a:buClr>
              <a:buSzPct val="150000"/>
              <a:buFont typeface="+mj-lt"/>
              <a:buAutoNum type="arabicPeriod"/>
            </a:pPr>
            <a:endParaRPr lang="en-US" sz="2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1. Sensorimotor stage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768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50000"/>
              <a:buFont typeface="+mj-lt"/>
              <a:buAutoNum type="arabicPeriod" startAt="3"/>
            </a:pPr>
            <a:r>
              <a:rPr lang="en-US" sz="3500" dirty="0">
                <a:solidFill>
                  <a:schemeClr val="accent2"/>
                </a:solidFill>
                <a:latin typeface="Segoe UI Semibold" panose="020B0702040204020203" pitchFamily="34" charset="0"/>
                <a:cs typeface="Segoe UI Semibold" panose="020B0702040204020203" pitchFamily="34" charset="0"/>
              </a:rPr>
              <a:t>Secondary Circular Reactions (4-8 months). </a:t>
            </a:r>
            <a:r>
              <a:rPr lang="en-US" sz="2800" dirty="0">
                <a:solidFill>
                  <a:srgbClr val="404040"/>
                </a:solidFill>
                <a:cs typeface="Segoe UI Semibold" panose="020B0702040204020203" pitchFamily="34" charset="0"/>
              </a:rPr>
              <a:t>Characterized by the following behaviors:</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Search for object that had fallen from him (object permanency)</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Able to tolerate some frustration and delayed gratification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Imitates sounds and simple gesture</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Actions are deliberate but not goal-directed</a:t>
            </a:r>
          </a:p>
        </p:txBody>
      </p:sp>
      <p:sp>
        <p:nvSpPr>
          <p:cNvPr id="3" name="Title 2"/>
          <p:cNvSpPr>
            <a:spLocks noGrp="1"/>
          </p:cNvSpPr>
          <p:nvPr>
            <p:ph type="title"/>
          </p:nvPr>
        </p:nvSpPr>
        <p:spPr/>
        <p:txBody>
          <a:bodyPr>
            <a:normAutofit/>
          </a:bodyPr>
          <a:lstStyle/>
          <a:p>
            <a:r>
              <a:rPr lang="en-US" sz="3600" dirty="0"/>
              <a:t>1. Sensorimotor stage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904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50000"/>
              <a:buFont typeface="+mj-lt"/>
              <a:buAutoNum type="arabicPeriod" startAt="3"/>
            </a:pPr>
            <a:r>
              <a:rPr lang="en-US" sz="3500" dirty="0">
                <a:solidFill>
                  <a:schemeClr val="accent2"/>
                </a:solidFill>
                <a:latin typeface="Segoe UI Semibold" panose="020B0702040204020203" pitchFamily="34" charset="0"/>
                <a:cs typeface="Segoe UI Semibold" panose="020B0702040204020203" pitchFamily="34" charset="0"/>
              </a:rPr>
              <a:t>Secondary Circular Reactions (4-8 months).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Great interest in mirror image of himself</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Beginning of independence (self-feeding)</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Language development (few words) which is the beginning of recognition of symbols as type of communication</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600" dirty="0">
                <a:solidFill>
                  <a:srgbClr val="404040"/>
                </a:solidFill>
                <a:cs typeface="Segoe UI Semibold" panose="020B0702040204020203" pitchFamily="34" charset="0"/>
              </a:rPr>
              <a:t>Realizes that parents are present even if not in visual field</a:t>
            </a:r>
          </a:p>
        </p:txBody>
      </p:sp>
      <p:sp>
        <p:nvSpPr>
          <p:cNvPr id="3" name="Title 2"/>
          <p:cNvSpPr>
            <a:spLocks noGrp="1"/>
          </p:cNvSpPr>
          <p:nvPr>
            <p:ph type="title"/>
          </p:nvPr>
        </p:nvSpPr>
        <p:spPr/>
        <p:txBody>
          <a:bodyPr>
            <a:normAutofit/>
          </a:bodyPr>
          <a:lstStyle/>
          <a:p>
            <a:r>
              <a:rPr lang="en-US" sz="3600" dirty="0"/>
              <a:t>1. Sensorimotor stage</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215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pPr marL="571500" indent="-571500">
              <a:lnSpc>
                <a:spcPct val="120000"/>
              </a:lnSpc>
              <a:spcBef>
                <a:spcPts val="600"/>
              </a:spcBef>
              <a:buClr>
                <a:schemeClr val="accent2"/>
              </a:buClr>
              <a:buSzPct val="150000"/>
              <a:buFont typeface="+mj-lt"/>
              <a:buAutoNum type="arabicPeriod" startAt="4"/>
            </a:pPr>
            <a:r>
              <a:rPr lang="en-US" sz="3200" dirty="0">
                <a:solidFill>
                  <a:schemeClr val="accent2"/>
                </a:solidFill>
                <a:latin typeface="Segoe UI Semibold" panose="020B0702040204020203" pitchFamily="34" charset="0"/>
                <a:cs typeface="Segoe UI Semibold" panose="020B0702040204020203" pitchFamily="34" charset="0"/>
              </a:rPr>
              <a:t>Coordination of secondary Schemata and the Application to  new situations (8-12 months).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Beginning of intellectual reasoning manifested by active searches for a hidden object (</a:t>
            </a:r>
            <a:r>
              <a:rPr lang="en-US" sz="3200" dirty="0">
                <a:solidFill>
                  <a:srgbClr val="404040"/>
                </a:solidFill>
                <a:latin typeface="Segoe UI Semibold" panose="020B0702040204020203" pitchFamily="34" charset="0"/>
                <a:cs typeface="Segoe UI Semibold" panose="020B0702040204020203" pitchFamily="34" charset="0"/>
              </a:rPr>
              <a:t>Object Permanence</a:t>
            </a:r>
            <a:r>
              <a:rPr lang="en-US" sz="2800" dirty="0">
                <a:solidFill>
                  <a:srgbClr val="404040"/>
                </a:solidFill>
                <a:cs typeface="Segoe UI Semibold" panose="020B0702040204020203" pitchFamily="34" charset="0"/>
              </a:rPr>
              <a:t>:  Concept that objects still exist when they are out of sight)</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Associate symbols with events by comprehending meanings of  words and simple commands and knowing the meaning of gestures (e.g. bye- bye)</a:t>
            </a:r>
          </a:p>
        </p:txBody>
      </p:sp>
      <p:sp>
        <p:nvSpPr>
          <p:cNvPr id="3" name="Title 2"/>
          <p:cNvSpPr>
            <a:spLocks noGrp="1"/>
          </p:cNvSpPr>
          <p:nvPr>
            <p:ph type="title"/>
          </p:nvPr>
        </p:nvSpPr>
        <p:spPr/>
        <p:txBody>
          <a:bodyPr>
            <a:normAutofit/>
          </a:bodyPr>
          <a:lstStyle/>
          <a:p>
            <a:r>
              <a:rPr lang="en-US" sz="3600" dirty="0"/>
              <a:t>1. Sensorimotor stage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233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50000"/>
              <a:buFont typeface="+mj-lt"/>
              <a:buAutoNum type="arabicPeriod" startAt="4"/>
            </a:pPr>
            <a:r>
              <a:rPr lang="en-US" sz="3200" dirty="0">
                <a:solidFill>
                  <a:schemeClr val="accent2"/>
                </a:solidFill>
                <a:latin typeface="Segoe UI Semibold" panose="020B0702040204020203" pitchFamily="34" charset="0"/>
                <a:cs typeface="Segoe UI Semibold" panose="020B0702040204020203" pitchFamily="34" charset="0"/>
              </a:rPr>
              <a:t>Coordination of secondary Schemata and the Application to  new situations (8-12 months).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Is able to put objects in container</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Works to get toy that is out of reach</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Get away from mother to explore surrounding</a:t>
            </a:r>
          </a:p>
        </p:txBody>
      </p:sp>
      <p:sp>
        <p:nvSpPr>
          <p:cNvPr id="3" name="Title 2"/>
          <p:cNvSpPr>
            <a:spLocks noGrp="1"/>
          </p:cNvSpPr>
          <p:nvPr>
            <p:ph type="title"/>
          </p:nvPr>
        </p:nvSpPr>
        <p:spPr/>
        <p:txBody>
          <a:bodyPr>
            <a:normAutofit/>
          </a:bodyPr>
          <a:lstStyle/>
          <a:p>
            <a:r>
              <a:rPr lang="en-US" sz="3600" dirty="0"/>
              <a:t>1. Sensorimotor stage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170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85000" lnSpcReduction="20000"/>
          </a:bodyPr>
          <a:lstStyle/>
          <a:p>
            <a:pPr marL="571500" indent="-571500">
              <a:lnSpc>
                <a:spcPct val="120000"/>
              </a:lnSpc>
              <a:spcBef>
                <a:spcPts val="600"/>
              </a:spcBef>
              <a:buClr>
                <a:schemeClr val="accent2"/>
              </a:buClr>
              <a:buSzPct val="150000"/>
              <a:buFont typeface="+mj-lt"/>
              <a:buAutoNum type="arabicPeriod" startAt="5"/>
            </a:pPr>
            <a:r>
              <a:rPr lang="en-US" sz="3300" dirty="0">
                <a:solidFill>
                  <a:schemeClr val="accent2"/>
                </a:solidFill>
                <a:latin typeface="Segoe UI Semibold" panose="020B0702040204020203" pitchFamily="34" charset="0"/>
                <a:cs typeface="Segoe UI Semibold" panose="020B0702040204020203" pitchFamily="34" charset="0"/>
              </a:rPr>
              <a:t>Tertiary circular reactions. (After 12 months of age up to 18 months)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Children begin to find a variety of ways of producing an outcome other than the process by which the event has occurred in the child’s own past experience. </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Experimenting and deliberate manipulation are taken up. </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Exploring distance</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They try new activities and use trial and error in solving problems</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Rituals are important</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endParaRPr lang="en-US" sz="28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1. Sensorimotor stage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010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85000" lnSpcReduction="20000"/>
          </a:bodyPr>
          <a:lstStyle/>
          <a:p>
            <a:pPr marL="571500" indent="-571500">
              <a:lnSpc>
                <a:spcPct val="120000"/>
              </a:lnSpc>
              <a:spcBef>
                <a:spcPts val="600"/>
              </a:spcBef>
              <a:buClr>
                <a:schemeClr val="accent2"/>
              </a:buClr>
              <a:buSzPct val="150000"/>
              <a:buFont typeface="+mj-lt"/>
              <a:buAutoNum type="arabicPeriod" startAt="5"/>
            </a:pPr>
            <a:r>
              <a:rPr lang="en-US" sz="3300" dirty="0">
                <a:solidFill>
                  <a:schemeClr val="accent2"/>
                </a:solidFill>
                <a:latin typeface="Segoe UI Semibold" panose="020B0702040204020203" pitchFamily="34" charset="0"/>
                <a:cs typeface="Segoe UI Semibold" panose="020B0702040204020203" pitchFamily="34" charset="0"/>
              </a:rPr>
              <a:t>Tertiary circular reactions. (After 12 months of age up to 18 months)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Children begin to find a variety of ways of producing an outcome other than the process by which the event has occurred in the child’s own past experience. </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Experimenting and deliberate manipulation are taken up. </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Exploring distance</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They try new activities and use trial and error in solving problems</a:t>
            </a:r>
          </a:p>
          <a:p>
            <a:pPr marL="1419225"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Rituals are important</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endParaRPr lang="en-US" sz="28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1. Sensorimotor stage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7671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20000"/>
          </a:bodyPr>
          <a:lstStyle/>
          <a:p>
            <a:pPr marL="571500" indent="-571500">
              <a:lnSpc>
                <a:spcPct val="120000"/>
              </a:lnSpc>
              <a:spcBef>
                <a:spcPts val="600"/>
              </a:spcBef>
              <a:buClr>
                <a:schemeClr val="accent2"/>
              </a:buClr>
              <a:buSzPct val="150000"/>
              <a:buFont typeface="+mj-lt"/>
              <a:buAutoNum type="arabicPeriod" startAt="6"/>
            </a:pPr>
            <a:r>
              <a:rPr lang="en-US" sz="3300" dirty="0">
                <a:solidFill>
                  <a:schemeClr val="accent2"/>
                </a:solidFill>
                <a:latin typeface="Segoe UI Semibold" panose="020B0702040204020203" pitchFamily="34" charset="0"/>
                <a:cs typeface="Segoe UI Semibold" panose="020B0702040204020203" pitchFamily="34" charset="0"/>
              </a:rPr>
              <a:t>Mental combinations ( Inventions of new means). 18-24 Months. </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Children at this stage can mentally represent events - they no longer confined to trial and error to solve problems</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Symbolic thought allows toddlers to begin to think about events and anticipate their consequences without always resorting to action</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They can begin to demonstrate insight. Can use symbols as gestures and words, and can pretend</a:t>
            </a:r>
          </a:p>
          <a:p>
            <a:pPr marL="914400" indent="-457200">
              <a:lnSpc>
                <a:spcPct val="120000"/>
              </a:lnSpc>
              <a:spcBef>
                <a:spcPts val="600"/>
              </a:spcBef>
              <a:spcAft>
                <a:spcPts val="600"/>
              </a:spcAft>
              <a:buClr>
                <a:schemeClr val="accent2"/>
              </a:buClr>
              <a:buSzPct val="100000"/>
              <a:buFont typeface="Vladimir Script" panose="03050402040407070305" pitchFamily="66" charset="0"/>
              <a:buChar char="-"/>
            </a:pPr>
            <a:endParaRPr lang="en-US" sz="28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r>
              <a:rPr lang="en-US" sz="3600" dirty="0"/>
              <a:t>1. Sensorimotor stage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227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Piaget's cognitive theory actually does not include a period specifically for children 3-5 years old.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 preoperational phase comprises the age span from 2-7 years and is divided into </a:t>
            </a:r>
            <a:r>
              <a:rPr lang="en-US" sz="3200" dirty="0">
                <a:solidFill>
                  <a:srgbClr val="404040"/>
                </a:solidFill>
                <a:latin typeface="Segoe UI Semibold" panose="020B0702040204020203" pitchFamily="34" charset="0"/>
                <a:cs typeface="Segoe UI Semibold" panose="020B0702040204020203" pitchFamily="34" charset="0"/>
              </a:rPr>
              <a:t>two stages:</a:t>
            </a:r>
          </a:p>
          <a:p>
            <a:pPr marL="1371600"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The </a:t>
            </a:r>
            <a:r>
              <a:rPr lang="en-US" sz="2800" dirty="0" err="1">
                <a:solidFill>
                  <a:srgbClr val="404040"/>
                </a:solidFill>
                <a:cs typeface="Segoe UI Semibold" panose="020B0702040204020203" pitchFamily="34" charset="0"/>
              </a:rPr>
              <a:t>preconceptual</a:t>
            </a:r>
            <a:r>
              <a:rPr lang="en-US" sz="2800" dirty="0">
                <a:solidFill>
                  <a:srgbClr val="404040"/>
                </a:solidFill>
                <a:cs typeface="Segoe UI Semibold" panose="020B0702040204020203" pitchFamily="34" charset="0"/>
              </a:rPr>
              <a:t> phase, ages 2-4 </a:t>
            </a:r>
          </a:p>
          <a:p>
            <a:pPr marL="1371600" indent="-514350">
              <a:lnSpc>
                <a:spcPct val="120000"/>
              </a:lnSpc>
              <a:spcBef>
                <a:spcPts val="600"/>
              </a:spcBef>
              <a:spcAft>
                <a:spcPts val="600"/>
              </a:spcAft>
              <a:buClr>
                <a:schemeClr val="accent2"/>
              </a:buClr>
              <a:buSzPct val="100000"/>
              <a:buFont typeface="+mj-lt"/>
              <a:buAutoNum type="arabicPeriod"/>
            </a:pPr>
            <a:r>
              <a:rPr lang="en-US" sz="2800" dirty="0">
                <a:solidFill>
                  <a:srgbClr val="404040"/>
                </a:solidFill>
                <a:cs typeface="Segoe UI Semibold" panose="020B0702040204020203" pitchFamily="34" charset="0"/>
              </a:rPr>
              <a:t>The phase of intuitive thought, ages 4-7. </a:t>
            </a: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cxnSp>
        <p:nvCxnSpPr>
          <p:cNvPr id="5"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463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During the </a:t>
            </a:r>
            <a:r>
              <a:rPr lang="en-US" sz="2800" dirty="0" err="1">
                <a:solidFill>
                  <a:srgbClr val="404040"/>
                </a:solidFill>
                <a:cs typeface="Segoe UI Semibold" panose="020B0702040204020203" pitchFamily="34" charset="0"/>
              </a:rPr>
              <a:t>preconceptual</a:t>
            </a:r>
            <a:r>
              <a:rPr lang="en-US" sz="2800" dirty="0">
                <a:solidFill>
                  <a:srgbClr val="404040"/>
                </a:solidFill>
                <a:cs typeface="Segoe UI Semibold" panose="020B0702040204020203" pitchFamily="34" charset="0"/>
              </a:rPr>
              <a:t> phase children are </a:t>
            </a:r>
            <a:r>
              <a:rPr lang="en-US" sz="3200" dirty="0">
                <a:solidFill>
                  <a:schemeClr val="accent2"/>
                </a:solidFill>
                <a:latin typeface="Segoe UI Semibold" panose="020B0702040204020203" pitchFamily="34" charset="0"/>
                <a:cs typeface="Segoe UI Semibold" panose="020B0702040204020203" pitchFamily="34" charset="0"/>
              </a:rPr>
              <a:t>egocentric</a:t>
            </a:r>
            <a:r>
              <a:rPr lang="en-US" sz="2800" dirty="0">
                <a:solidFill>
                  <a:srgbClr val="404040"/>
                </a:solidFill>
                <a:cs typeface="Segoe UI Semibold" panose="020B0702040204020203" pitchFamily="34" charset="0"/>
              </a:rPr>
              <a:t> (e.g.. Can’t take others point of view).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While during the intuitive phase, there is a shift from totally egocentric thought to </a:t>
            </a:r>
            <a:r>
              <a:rPr lang="en-US" sz="3200" dirty="0">
                <a:solidFill>
                  <a:schemeClr val="accent2"/>
                </a:solidFill>
                <a:latin typeface="Segoe UI Semibold" panose="020B0702040204020203" pitchFamily="34" charset="0"/>
                <a:cs typeface="Segoe UI Semibold" panose="020B0702040204020203" pitchFamily="34" charset="0"/>
              </a:rPr>
              <a:t>social awareness </a:t>
            </a:r>
            <a:r>
              <a:rPr lang="en-US" sz="2800" dirty="0">
                <a:solidFill>
                  <a:srgbClr val="404040"/>
                </a:solidFill>
                <a:cs typeface="Segoe UI Semibold" panose="020B0702040204020203" pitchFamily="34" charset="0"/>
              </a:rPr>
              <a:t>and the ability to consider other viewpoints.  This transition is very closely associated with the development of </a:t>
            </a:r>
            <a:r>
              <a:rPr lang="en-US" sz="3200" dirty="0">
                <a:solidFill>
                  <a:schemeClr val="accent2"/>
                </a:solidFill>
                <a:latin typeface="Segoe UI Semibold" panose="020B0702040204020203" pitchFamily="34" charset="0"/>
                <a:cs typeface="Segoe UI Semibold" panose="020B0702040204020203" pitchFamily="34" charset="0"/>
              </a:rPr>
              <a:t>the superego</a:t>
            </a:r>
            <a:r>
              <a:rPr lang="en-US" sz="2800" dirty="0">
                <a:solidFill>
                  <a:srgbClr val="404040"/>
                </a:solidFill>
                <a:cs typeface="Segoe UI Semibold" panose="020B0702040204020203" pitchFamily="34" charset="0"/>
              </a:rPr>
              <a:t>. </a:t>
            </a: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364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 child is able to think and verbalize his mental processes without having to act out his thinking.  However, </a:t>
            </a:r>
            <a:r>
              <a:rPr lang="en-US" sz="3200" dirty="0">
                <a:solidFill>
                  <a:schemeClr val="accent2"/>
                </a:solidFill>
                <a:latin typeface="Segoe UI Semibold" panose="020B0702040204020203" pitchFamily="34" charset="0"/>
                <a:cs typeface="Segoe UI Semibold" panose="020B0702040204020203" pitchFamily="34" charset="0"/>
              </a:rPr>
              <a:t>he can only think of one idea at a time</a:t>
            </a:r>
            <a:r>
              <a:rPr lang="en-US" sz="2800" dirty="0">
                <a:solidFill>
                  <a:srgbClr val="404040"/>
                </a:solidFill>
                <a:cs typeface="Segoe UI Semibold" panose="020B0702040204020203" pitchFamily="34" charset="0"/>
              </a:rPr>
              <a:t>, a concept known as centration (inability to think of all parts in terms of the whole).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Preschoolers judge what they see by the immediate perceptual clues given to them. </a:t>
            </a: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66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3200" dirty="0">
                <a:solidFill>
                  <a:srgbClr val="404040"/>
                </a:solidFill>
                <a:latin typeface="Segoe UI Semibold" panose="020B0702040204020203" pitchFamily="34" charset="0"/>
                <a:cs typeface="Segoe UI Semibold" panose="020B0702040204020203" pitchFamily="34" charset="0"/>
              </a:rPr>
              <a:t>For example </a:t>
            </a:r>
          </a:p>
          <a:p>
            <a:pPr marL="1155700" indent="-571500">
              <a:lnSpc>
                <a:spcPct val="120000"/>
              </a:lnSpc>
              <a:spcBef>
                <a:spcPts val="600"/>
              </a:spcBef>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if two lines are equal length are presented in such a way that one appears longer than the other, the child will state that one line is longer, even if he measures the lines with a ruler and finds that each has the same length.  The child therefore judges experiences by outside appearance and results, not by intrinsic, logical thinking. </a:t>
            </a: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3474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For the nurse to understand that children assimilators in their thinking and with verbal communication she will be able to understand the child.</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For better communication it's important to use "</a:t>
            </a:r>
            <a:r>
              <a:rPr lang="en-US" sz="3200" dirty="0">
                <a:solidFill>
                  <a:schemeClr val="accent2"/>
                </a:solidFill>
                <a:latin typeface="Segoe UI Semibold" panose="020B0702040204020203" pitchFamily="34" charset="0"/>
                <a:cs typeface="Segoe UI Semibold" panose="020B0702040204020203" pitchFamily="34" charset="0"/>
              </a:rPr>
              <a:t>play</a:t>
            </a:r>
            <a:r>
              <a:rPr lang="en-US" sz="2800" dirty="0">
                <a:solidFill>
                  <a:srgbClr val="404040"/>
                </a:solidFill>
                <a:cs typeface="Segoe UI Semibold" panose="020B0702040204020203" pitchFamily="34" charset="0"/>
              </a:rPr>
              <a:t>" as a vehicle to understand children of this age group.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 Play becomes the child's work of understanding, adjusting to, and working out his life's experiences. </a:t>
            </a: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369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Because of the child's rich imagination and unlimited ability to invent and imitate, all kinds of play hold therapeutic and communicative value.</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 Therefore, to know what a child is really thinking demands skill, time, and patience of those willing to learn to look beyond the words and into the hearts and minds of children. </a:t>
            </a:r>
          </a:p>
          <a:p>
            <a:pPr>
              <a:lnSpc>
                <a:spcPct val="120000"/>
              </a:lnSpc>
              <a:spcBef>
                <a:spcPts val="600"/>
              </a:spcBef>
              <a:buClr>
                <a:schemeClr val="accent2"/>
              </a:buClr>
              <a:buSzPct val="100000"/>
              <a:buNone/>
            </a:pPr>
            <a:endParaRPr lang="en-US" sz="28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689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Preschoolers increasingly use language without comprehending the meaning of words, particularly concepts of </a:t>
            </a:r>
            <a:r>
              <a:rPr lang="en-US" sz="3200" dirty="0">
                <a:solidFill>
                  <a:schemeClr val="accent2"/>
                </a:solidFill>
                <a:latin typeface="Segoe UI Semibold" panose="020B0702040204020203" pitchFamily="34" charset="0"/>
                <a:cs typeface="Segoe UI Semibold" panose="020B0702040204020203" pitchFamily="34" charset="0"/>
              </a:rPr>
              <a:t>right or left, time, </a:t>
            </a:r>
            <a:r>
              <a:rPr lang="en-US" sz="2800" dirty="0">
                <a:solidFill>
                  <a:srgbClr val="404040"/>
                </a:solidFill>
                <a:cs typeface="Segoe UI Semibold" panose="020B0702040204020203" pitchFamily="34" charset="0"/>
              </a:rPr>
              <a:t>and</a:t>
            </a:r>
            <a:r>
              <a:rPr lang="en-US" sz="3200" dirty="0">
                <a:solidFill>
                  <a:schemeClr val="accent2"/>
                </a:solidFill>
                <a:latin typeface="Segoe UI Semibold" panose="020B0702040204020203" pitchFamily="34" charset="0"/>
                <a:cs typeface="Segoe UI Semibold" panose="020B0702040204020203" pitchFamily="34" charset="0"/>
              </a:rPr>
              <a:t> causality.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 </a:t>
            </a:r>
            <a:r>
              <a:rPr lang="en-US" sz="3200" dirty="0">
                <a:solidFill>
                  <a:schemeClr val="accent2"/>
                </a:solidFill>
                <a:latin typeface="Segoe UI Semibold" panose="020B0702040204020203" pitchFamily="34" charset="0"/>
                <a:cs typeface="Segoe UI Semibold" panose="020B0702040204020203" pitchFamily="34" charset="0"/>
              </a:rPr>
              <a:t>Superficially causality </a:t>
            </a:r>
            <a:r>
              <a:rPr lang="en-US" sz="2800" dirty="0">
                <a:solidFill>
                  <a:srgbClr val="404040"/>
                </a:solidFill>
                <a:cs typeface="Segoe UI Semibold" panose="020B0702040204020203" pitchFamily="34" charset="0"/>
              </a:rPr>
              <a:t>resembles logical thought. The child explains a concept as he heard it described by others, but his understanding is limited. </a:t>
            </a:r>
          </a:p>
          <a:p>
            <a:pPr marL="571500" indent="-571500">
              <a:lnSpc>
                <a:spcPct val="12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Their concept of death is, that it is being reversible. </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28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398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2400" dirty="0">
                <a:solidFill>
                  <a:srgbClr val="404040"/>
                </a:solidFill>
                <a:cs typeface="Segoe UI Semibold" panose="020B0702040204020203" pitchFamily="34" charset="0"/>
              </a:rPr>
              <a:t>Nurses must understand that time as a concept is best explained in relationship to an event, such as </a:t>
            </a:r>
          </a:p>
          <a:p>
            <a:pPr>
              <a:lnSpc>
                <a:spcPct val="100000"/>
              </a:lnSpc>
              <a:spcBef>
                <a:spcPts val="600"/>
              </a:spcBef>
              <a:buClr>
                <a:schemeClr val="accent2"/>
              </a:buClr>
              <a:buSzPct val="100000"/>
              <a:buNone/>
            </a:pPr>
            <a:r>
              <a:rPr lang="en-US" sz="2400" dirty="0">
                <a:solidFill>
                  <a:srgbClr val="404040"/>
                </a:solidFill>
                <a:cs typeface="Segoe UI Semibold" panose="020B0702040204020203" pitchFamily="34" charset="0"/>
              </a:rPr>
              <a:t>" Your mother will visit you after you finish your lunch". </a:t>
            </a:r>
          </a:p>
          <a:p>
            <a:pPr marL="571500" indent="-571500">
              <a:lnSpc>
                <a:spcPct val="100000"/>
              </a:lnSpc>
              <a:spcBef>
                <a:spcPts val="600"/>
              </a:spcBef>
              <a:buClr>
                <a:schemeClr val="accent2"/>
              </a:buClr>
              <a:buSzPct val="100000"/>
              <a:buFont typeface="Wingdings 2" panose="05020102010507070707" pitchFamily="18" charset="2"/>
              <a:buChar char="â"/>
            </a:pPr>
            <a:r>
              <a:rPr lang="en-US" sz="2400" dirty="0">
                <a:solidFill>
                  <a:srgbClr val="404040"/>
                </a:solidFill>
                <a:cs typeface="Segoe UI Semibold" panose="020B0702040204020203" pitchFamily="34" charset="0"/>
              </a:rPr>
              <a:t>Avoiding terms such as yesterday, tomorrow, next week, to express when an event is expected to occur and associating time with usual expected daily occurrences  help children learn about temporal relationship and increase their trust in others. </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chemeClr val="accent2"/>
                </a:solidFill>
                <a:latin typeface="Segoe UI Semibold" panose="020B0702040204020203" pitchFamily="34" charset="0"/>
                <a:cs typeface="Segoe UI Semibold" panose="020B0702040204020203" pitchFamily="34" charset="0"/>
              </a:rPr>
              <a:t>Children are usually not able to tell about the time in a clock until 7 or 8 years of age.</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28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618501"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075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Preschoolers thinking is often described as </a:t>
            </a:r>
            <a:r>
              <a:rPr lang="en-US" sz="3200" dirty="0">
                <a:solidFill>
                  <a:schemeClr val="accent2"/>
                </a:solidFill>
                <a:latin typeface="Segoe UI Semibold" panose="020B0702040204020203" pitchFamily="34" charset="0"/>
                <a:cs typeface="Segoe UI Semibold" panose="020B0702040204020203" pitchFamily="34" charset="0"/>
              </a:rPr>
              <a:t>magical</a:t>
            </a:r>
            <a:r>
              <a:rPr lang="en-US" sz="2800" dirty="0">
                <a:solidFill>
                  <a:srgbClr val="404040"/>
                </a:solidFill>
                <a:cs typeface="Segoe UI Semibold" panose="020B0702040204020203" pitchFamily="34" charset="0"/>
              </a:rPr>
              <a:t>.  Because of their egocentrism, they believe that thoughts are all-powerful. A typical example is wishing a new sibling dead. If that sibling does die, young children think their wish caused the death.  </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Preschoolers believe in the power of words and accept their meaning literally. </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3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570375"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53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A significant example of this type of thinking is calling the child "bad" because he did something wrong.  In the child's mind telling him that he is bad means that he is bad. For this reason it is better to relate such words to the act by saying, for example, "That was a bad thing to do".</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3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2"/>
            </a:pPr>
            <a:r>
              <a:rPr lang="en-US" sz="3600" dirty="0"/>
              <a:t>Preoperational Phase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570375"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043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Masters the concept of reversibility.</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 concept of </a:t>
            </a:r>
            <a:r>
              <a:rPr lang="en-US" sz="3200" dirty="0">
                <a:solidFill>
                  <a:schemeClr val="accent2"/>
                </a:solidFill>
                <a:latin typeface="Segoe UI Semibold" panose="020B0702040204020203" pitchFamily="34" charset="0"/>
                <a:cs typeface="Segoe UI Semibold" panose="020B0702040204020203" pitchFamily="34" charset="0"/>
              </a:rPr>
              <a:t>conservation</a:t>
            </a:r>
            <a:r>
              <a:rPr lang="en-US" sz="2800" dirty="0">
                <a:solidFill>
                  <a:srgbClr val="404040"/>
                </a:solidFill>
                <a:cs typeface="Segoe UI Semibold" panose="020B0702040204020203" pitchFamily="34" charset="0"/>
              </a:rPr>
              <a:t>, or the idea that a mass can be changed in size, shape, volume, or length  without losing or adding to the original mass, </a:t>
            </a:r>
            <a:r>
              <a:rPr lang="en-US" sz="3200" dirty="0">
                <a:solidFill>
                  <a:schemeClr val="accent2"/>
                </a:solidFill>
                <a:latin typeface="Segoe UI Semibold" panose="020B0702040204020203" pitchFamily="34" charset="0"/>
                <a:cs typeface="Segoe UI Semibold" panose="020B0702040204020203" pitchFamily="34" charset="0"/>
              </a:rPr>
              <a:t>is not understood</a:t>
            </a:r>
            <a:r>
              <a:rPr lang="en-US" sz="2800" dirty="0">
                <a:solidFill>
                  <a:srgbClr val="404040"/>
                </a:solidFill>
                <a:cs typeface="Segoe UI Semibold" panose="020B0702040204020203" pitchFamily="34" charset="0"/>
              </a:rPr>
              <a:t>.</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 child is able to classify things.</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3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3"/>
            </a:pPr>
            <a:r>
              <a:rPr lang="en-US" sz="3600" dirty="0"/>
              <a:t>Concrete operations:  from 7-11 years of age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570375"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030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3200" dirty="0">
                <a:solidFill>
                  <a:schemeClr val="accent2"/>
                </a:solidFill>
                <a:latin typeface="Segoe UI Semibold" panose="020B0702040204020203" pitchFamily="34" charset="0"/>
                <a:cs typeface="Segoe UI Semibold" panose="020B0702040204020203" pitchFamily="34" charset="0"/>
              </a:rPr>
              <a:t>Piaget calls </a:t>
            </a:r>
            <a:r>
              <a:rPr lang="en-US" sz="2800" dirty="0">
                <a:solidFill>
                  <a:srgbClr val="404040"/>
                </a:solidFill>
                <a:cs typeface="Segoe UI Semibold" panose="020B0702040204020203" pitchFamily="34" charset="0"/>
              </a:rPr>
              <a:t>it concrete operational period, because children in this age are able to deal with concrete </a:t>
            </a:r>
            <a:r>
              <a:rPr lang="en-US" sz="3200" dirty="0">
                <a:solidFill>
                  <a:srgbClr val="404040"/>
                </a:solidFill>
                <a:latin typeface="Segoe UI Semibold" panose="020B0702040204020203" pitchFamily="34" charset="0"/>
                <a:cs typeface="Segoe UI Semibold" panose="020B0702040204020203" pitchFamily="34" charset="0"/>
              </a:rPr>
              <a:t>facts logically, but can not think abstractly.</a:t>
            </a:r>
            <a:endParaRPr lang="en-US" sz="2800" dirty="0">
              <a:solidFill>
                <a:srgbClr val="404040"/>
              </a:solidFill>
              <a:latin typeface="Segoe UI Semibold" panose="020B0702040204020203" pitchFamily="34" charset="0"/>
              <a:cs typeface="Segoe UI Semibold" panose="020B0702040204020203" pitchFamily="34" charset="0"/>
            </a:endParaRP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Now if you give them the little problem </a:t>
            </a:r>
            <a:r>
              <a:rPr lang="en-US" sz="3200" dirty="0">
                <a:solidFill>
                  <a:srgbClr val="404040"/>
                </a:solidFill>
                <a:latin typeface="Segoe UI Semibold" panose="020B0702040204020203" pitchFamily="34" charset="0"/>
                <a:cs typeface="Segoe UI Semibold" panose="020B0702040204020203" pitchFamily="34" charset="0"/>
              </a:rPr>
              <a:t>of the short broad glass and tall thin glass,</a:t>
            </a:r>
            <a:r>
              <a:rPr lang="en-US" sz="2800" dirty="0">
                <a:solidFill>
                  <a:srgbClr val="404040"/>
                </a:solidFill>
                <a:cs typeface="Segoe UI Semibold" panose="020B0702040204020203" pitchFamily="34" charset="0"/>
              </a:rPr>
              <a:t> they realize immediately that the quantity of the water does not change.</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3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3"/>
            </a:pPr>
            <a:r>
              <a:rPr lang="en-US" sz="3600" dirty="0"/>
              <a:t>Concrete operations:  from 7-11 years of age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570375"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265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Because children in concrete operation </a:t>
            </a:r>
            <a:r>
              <a:rPr lang="en-US" sz="3200" dirty="0">
                <a:solidFill>
                  <a:schemeClr val="accent2"/>
                </a:solidFill>
                <a:latin typeface="Segoe UI Semibold" panose="020B0702040204020203" pitchFamily="34" charset="0"/>
                <a:cs typeface="Segoe UI Semibold" panose="020B0702040204020203" pitchFamily="34" charset="0"/>
              </a:rPr>
              <a:t>cannot reason </a:t>
            </a:r>
            <a:r>
              <a:rPr lang="en-US" sz="2800" dirty="0">
                <a:solidFill>
                  <a:srgbClr val="404040"/>
                </a:solidFill>
                <a:cs typeface="Segoe UI Semibold" panose="020B0702040204020203" pitchFamily="34" charset="0"/>
              </a:rPr>
              <a:t>abstractly they can solve </a:t>
            </a:r>
            <a:r>
              <a:rPr lang="en-US" sz="3200" dirty="0">
                <a:solidFill>
                  <a:schemeClr val="accent2"/>
                </a:solidFill>
                <a:latin typeface="Segoe UI Semibold" panose="020B0702040204020203" pitchFamily="34" charset="0"/>
                <a:cs typeface="Segoe UI Semibold" panose="020B0702040204020203" pitchFamily="34" charset="0"/>
              </a:rPr>
              <a:t>visual</a:t>
            </a:r>
            <a:r>
              <a:rPr lang="en-US" sz="2800" dirty="0">
                <a:solidFill>
                  <a:srgbClr val="404040"/>
                </a:solidFill>
                <a:cs typeface="Segoe UI Semibold" panose="020B0702040204020203" pitchFamily="34" charset="0"/>
              </a:rPr>
              <a:t> problems better than verbal problems.</a:t>
            </a:r>
          </a:p>
          <a:p>
            <a:pPr marL="571500" indent="-571500">
              <a:lnSpc>
                <a:spcPct val="100000"/>
              </a:lnSpc>
              <a:spcBef>
                <a:spcPts val="600"/>
              </a:spcBef>
              <a:buClr>
                <a:schemeClr val="accent2"/>
              </a:buClr>
              <a:buSzPct val="100000"/>
              <a:buFont typeface="Wingdings 2" panose="05020102010507070707" pitchFamily="18" charset="2"/>
              <a:buChar char="â"/>
            </a:pPr>
            <a:r>
              <a:rPr lang="en-US" sz="3200" dirty="0">
                <a:solidFill>
                  <a:schemeClr val="accent2"/>
                </a:solidFill>
                <a:latin typeface="Segoe UI Semibold" panose="020B0702040204020203" pitchFamily="34" charset="0"/>
                <a:cs typeface="Segoe UI Semibold" panose="020B0702040204020203" pitchFamily="34" charset="0"/>
              </a:rPr>
              <a:t>Example: </a:t>
            </a:r>
          </a:p>
          <a:p>
            <a:pPr marL="914400" indent="-457200">
              <a:lnSpc>
                <a:spcPct val="100000"/>
              </a:lnSpc>
              <a:spcBef>
                <a:spcPts val="600"/>
              </a:spcBef>
              <a:buClr>
                <a:schemeClr val="accent2"/>
              </a:buClr>
              <a:buSzPct val="100000"/>
              <a:buFont typeface="Vladimir Script" panose="03050402040407070305" pitchFamily="66" charset="0"/>
              <a:buChar char="-"/>
            </a:pPr>
            <a:r>
              <a:rPr lang="en-US" sz="2800" dirty="0">
                <a:solidFill>
                  <a:srgbClr val="404040"/>
                </a:solidFill>
                <a:cs typeface="Segoe UI Semibold" panose="020B0702040204020203" pitchFamily="34" charset="0"/>
              </a:rPr>
              <a:t>I have three trees in the garden, A, B, &amp; C. A is taller than C but smaller than B. Which tree is the tallest?</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3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3"/>
            </a:pPr>
            <a:r>
              <a:rPr lang="en-US" sz="3600" dirty="0"/>
              <a:t>Concrete operations:  from 7-11 years of age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570375"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310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4" name="Picture 2" descr="031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1996" y="408485"/>
            <a:ext cx="7098630" cy="60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6954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Students become able to think abstractly as well as logically. </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They think about their future and parts they will play in society as adults.</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They also think about other people's thinking  often critically. </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Consider possibilities, hypotheses. </a:t>
            </a:r>
          </a:p>
          <a:p>
            <a:pPr marL="571500" indent="-571500">
              <a:lnSpc>
                <a:spcPct val="100000"/>
              </a:lnSpc>
              <a:spcBef>
                <a:spcPts val="600"/>
              </a:spcBef>
              <a:buClr>
                <a:schemeClr val="accent2"/>
              </a:buClr>
              <a:buSzPct val="100000"/>
              <a:buFont typeface="Wingdings 2" panose="05020102010507070707" pitchFamily="18" charset="2"/>
              <a:buChar char="â"/>
            </a:pPr>
            <a:r>
              <a:rPr lang="en-US" sz="2800" dirty="0">
                <a:solidFill>
                  <a:srgbClr val="404040"/>
                </a:solidFill>
                <a:cs typeface="Segoe UI Semibold" panose="020B0702040204020203" pitchFamily="34" charset="0"/>
              </a:rPr>
              <a:t>Can use </a:t>
            </a:r>
            <a:r>
              <a:rPr lang="en-US" sz="3200" dirty="0">
                <a:solidFill>
                  <a:srgbClr val="63A537"/>
                </a:solidFill>
                <a:latin typeface="Segoe UI Semibold" panose="020B0702040204020203" pitchFamily="34" charset="0"/>
                <a:cs typeface="Segoe UI Semibold" panose="020B0702040204020203" pitchFamily="34" charset="0"/>
              </a:rPr>
              <a:t>deductive</a:t>
            </a:r>
            <a:r>
              <a:rPr lang="en-US" sz="2800" dirty="0">
                <a:solidFill>
                  <a:srgbClr val="404040"/>
                </a:solidFill>
                <a:cs typeface="Segoe UI Semibold" panose="020B0702040204020203" pitchFamily="34" charset="0"/>
              </a:rPr>
              <a:t> (general to specific) and  </a:t>
            </a:r>
            <a:r>
              <a:rPr lang="en-US" sz="3200" dirty="0">
                <a:solidFill>
                  <a:schemeClr val="accent2"/>
                </a:solidFill>
                <a:latin typeface="Segoe UI Semibold" panose="020B0702040204020203" pitchFamily="34" charset="0"/>
                <a:cs typeface="Segoe UI Semibold" panose="020B0702040204020203" pitchFamily="34" charset="0"/>
              </a:rPr>
              <a:t>inductive</a:t>
            </a:r>
            <a:r>
              <a:rPr lang="en-US" sz="2800" dirty="0">
                <a:solidFill>
                  <a:srgbClr val="404040"/>
                </a:solidFill>
                <a:cs typeface="Segoe UI Semibold" panose="020B0702040204020203" pitchFamily="34" charset="0"/>
              </a:rPr>
              <a:t> (specific to general) reasoning.</a:t>
            </a:r>
          </a:p>
          <a:p>
            <a:pPr marL="571500" indent="-571500">
              <a:lnSpc>
                <a:spcPct val="120000"/>
              </a:lnSpc>
              <a:spcBef>
                <a:spcPts val="600"/>
              </a:spcBef>
              <a:buClr>
                <a:schemeClr val="accent2"/>
              </a:buClr>
              <a:buSzPct val="100000"/>
              <a:buFont typeface="Wingdings 2" panose="05020102010507070707" pitchFamily="18" charset="2"/>
              <a:buChar char="â"/>
            </a:pPr>
            <a:endParaRPr lang="en-US" sz="3200" dirty="0">
              <a:solidFill>
                <a:srgbClr val="404040"/>
              </a:solidFill>
              <a:cs typeface="Segoe UI Semibold" panose="020B0702040204020203" pitchFamily="34" charset="0"/>
            </a:endParaRPr>
          </a:p>
        </p:txBody>
      </p:sp>
      <p:sp>
        <p:nvSpPr>
          <p:cNvPr id="3" name="Title 2"/>
          <p:cNvSpPr>
            <a:spLocks noGrp="1"/>
          </p:cNvSpPr>
          <p:nvPr>
            <p:ph type="title"/>
          </p:nvPr>
        </p:nvSpPr>
        <p:spPr/>
        <p:txBody>
          <a:bodyPr>
            <a:normAutofit/>
          </a:bodyPr>
          <a:lstStyle/>
          <a:p>
            <a:pPr marL="742950" indent="-742950">
              <a:buFont typeface="+mj-lt"/>
              <a:buAutoNum type="arabicPeriod" startAt="4"/>
            </a:pPr>
            <a:r>
              <a:rPr lang="en-US" sz="3600" dirty="0"/>
              <a:t>Formal Operational Period  (11 to 15/16 years)</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eaLnBrk="0" fontAlgn="base" hangingPunct="0">
              <a:spcBef>
                <a:spcPct val="0"/>
              </a:spcBef>
              <a:spcAft>
                <a:spcPct val="0"/>
              </a:spcAft>
            </a:pPr>
            <a:r>
              <a:rPr lang="en-US" altLang="en-US" sz="2000" i="1" u="none" dirty="0">
                <a:solidFill>
                  <a:srgbClr val="404040"/>
                </a:solidFill>
                <a:latin typeface="Segoe UI"/>
                <a:cs typeface="Times New Roman" panose="02020603050405020304" pitchFamily="18" charset="0"/>
              </a:rPr>
              <a:t>(continued)</a:t>
            </a:r>
          </a:p>
        </p:txBody>
      </p:sp>
      <p:cxnSp>
        <p:nvCxnSpPr>
          <p:cNvPr id="6" name="Straight Connector 3"/>
          <p:cNvCxnSpPr/>
          <p:nvPr/>
        </p:nvCxnSpPr>
        <p:spPr>
          <a:xfrm flipH="1">
            <a:off x="570375" y="1196391"/>
            <a:ext cx="109728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954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4929" y="261258"/>
            <a:ext cx="11691257" cy="2127100"/>
          </a:xfrm>
          <a:prstGeom prst="rect">
            <a:avLst/>
          </a:prstGeom>
          <a:solidFill>
            <a:srgbClr val="63A537"/>
          </a:solidFill>
          <a:ln>
            <a:solidFill>
              <a:srgbClr val="63A537"/>
            </a:solidFill>
          </a:ln>
        </p:spPr>
        <p:txBody>
          <a:bodyPr vert="horz" wrap="square" lIns="91440" tIns="45720" rIns="91440" bIns="45720" rtlCol="0">
            <a:noAutofit/>
          </a:bodyPr>
          <a:lstStyle/>
          <a:p>
            <a:pPr marL="0" indent="0" algn="l">
              <a:lnSpc>
                <a:spcPts val="1800"/>
              </a:lnSpc>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7" name="Text Placeholder 1"/>
          <p:cNvSpPr txBox="1">
            <a:spLocks/>
          </p:cNvSpPr>
          <p:nvPr/>
        </p:nvSpPr>
        <p:spPr>
          <a:xfrm>
            <a:off x="3959352" y="1088148"/>
            <a:ext cx="4415341" cy="768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4800" dirty="0">
                <a:solidFill>
                  <a:schemeClr val="bg1"/>
                </a:solidFill>
                <a:latin typeface="+mj-lt"/>
              </a:rPr>
              <a:t>Thank</a:t>
            </a:r>
            <a:r>
              <a:rPr lang="en-US" altLang="ko-KR" sz="4800" dirty="0">
                <a:solidFill>
                  <a:schemeClr val="bg1"/>
                </a:solidFill>
              </a:rPr>
              <a:t> </a:t>
            </a:r>
            <a:r>
              <a:rPr lang="en-US" altLang="ko-KR" sz="4800" dirty="0">
                <a:solidFill>
                  <a:schemeClr val="bg1"/>
                </a:solidFill>
                <a:latin typeface="+mj-lt"/>
              </a:rPr>
              <a:t>you</a:t>
            </a:r>
            <a:endParaRPr lang="ko-KR" altLang="en-US" sz="4800" dirty="0">
              <a:solidFill>
                <a:schemeClr val="bg1"/>
              </a:solidFill>
              <a:latin typeface="+mj-lt"/>
            </a:endParaRPr>
          </a:p>
        </p:txBody>
      </p:sp>
    </p:spTree>
    <p:extLst>
      <p:ext uri="{BB962C8B-B14F-4D97-AF65-F5344CB8AC3E}">
        <p14:creationId xmlns:p14="http://schemas.microsoft.com/office/powerpoint/2010/main" val="28411601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1_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2024</Words>
  <Application>Microsoft Office PowerPoint</Application>
  <PresentationFormat>شاشة عريضة</PresentationFormat>
  <Paragraphs>176</Paragraphs>
  <Slides>38</Slides>
  <Notes>4</Notes>
  <HiddenSlides>0</HiddenSlides>
  <MMClips>0</MMClips>
  <ScaleCrop>false</ScaleCrop>
  <HeadingPairs>
    <vt:vector size="6" baseType="variant">
      <vt:variant>
        <vt:lpstr>الخطوط المستخدمة</vt:lpstr>
      </vt:variant>
      <vt:variant>
        <vt:i4>8</vt:i4>
      </vt:variant>
      <vt:variant>
        <vt:lpstr>نسق</vt:lpstr>
      </vt:variant>
      <vt:variant>
        <vt:i4>2</vt:i4>
      </vt:variant>
      <vt:variant>
        <vt:lpstr>عناوين الشرائح</vt:lpstr>
      </vt:variant>
      <vt:variant>
        <vt:i4>38</vt:i4>
      </vt:variant>
    </vt:vector>
  </HeadingPairs>
  <TitlesOfParts>
    <vt:vector size="48" baseType="lpstr">
      <vt:lpstr>Arial</vt:lpstr>
      <vt:lpstr>Calibri</vt:lpstr>
      <vt:lpstr>Segoe UI</vt:lpstr>
      <vt:lpstr>Segoe UI Light</vt:lpstr>
      <vt:lpstr>Segoe UI Semibold</vt:lpstr>
      <vt:lpstr>Segoe UI Variable Small Semibol</vt:lpstr>
      <vt:lpstr>Vladimir Script</vt:lpstr>
      <vt:lpstr>Wingdings 2</vt:lpstr>
      <vt:lpstr>Get Started with 3D</vt:lpstr>
      <vt:lpstr>1_Get Started with 3D</vt:lpstr>
      <vt:lpstr>Theories of Child Personality Development:</vt:lpstr>
      <vt:lpstr>O B J E C T I V E S</vt:lpstr>
      <vt:lpstr>عرض تقديمي في PowerPoint</vt:lpstr>
      <vt:lpstr>Cognitive development</vt:lpstr>
      <vt:lpstr>Cognitive development</vt:lpstr>
      <vt:lpstr>The gradual development occurs through three interrelated principles:</vt:lpstr>
      <vt:lpstr>The gradual development</vt:lpstr>
      <vt:lpstr>The gradual development</vt:lpstr>
      <vt:lpstr>The gradual development</vt:lpstr>
      <vt:lpstr>The gradual development</vt:lpstr>
      <vt:lpstr>The gradual development</vt:lpstr>
      <vt:lpstr>Phases of Piaget’s cognitive developmental theory:</vt:lpstr>
      <vt:lpstr>1. Sensory –Motor Period (Birth to 2 years).</vt:lpstr>
      <vt:lpstr>1. Sensorimotor stage</vt:lpstr>
      <vt:lpstr>1. Sensorimotor stage</vt:lpstr>
      <vt:lpstr>1. Sensorimotor stage</vt:lpstr>
      <vt:lpstr>1. Sensorimotor stage</vt:lpstr>
      <vt:lpstr>1. Sensorimotor stage</vt:lpstr>
      <vt:lpstr>1. Sensorimotor stage</vt:lpstr>
      <vt:lpstr>1. Sensorimotor stage</vt:lpstr>
      <vt:lpstr>1. Sensorimotor stage</vt:lpstr>
      <vt:lpstr>1. Sensorimotor stage</vt:lpstr>
      <vt:lpstr>Preoperational Phase</vt:lpstr>
      <vt:lpstr>Preoperational Phase</vt:lpstr>
      <vt:lpstr>Preoperational Phase</vt:lpstr>
      <vt:lpstr>Preoperational Phase</vt:lpstr>
      <vt:lpstr>Preoperational Phase</vt:lpstr>
      <vt:lpstr>Preoperational Phase</vt:lpstr>
      <vt:lpstr>Preoperational Phase</vt:lpstr>
      <vt:lpstr>Preoperational Phase</vt:lpstr>
      <vt:lpstr>Preoperational Phase</vt:lpstr>
      <vt:lpstr>Preoperational Phase</vt:lpstr>
      <vt:lpstr>Concrete operations:  from 7-11 years of age</vt:lpstr>
      <vt:lpstr>Concrete operations:  from 7-11 years of age</vt:lpstr>
      <vt:lpstr>Concrete operations:  from 7-11 years of age</vt:lpstr>
      <vt:lpstr>عرض تقديمي في PowerPoint</vt:lpstr>
      <vt:lpstr>Formal Operational Period  (11 to 15/16 years)</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green lanter</dc:creator>
  <cp:lastModifiedBy>green lanter</cp:lastModifiedBy>
  <cp:revision>76</cp:revision>
  <dcterms:created xsi:type="dcterms:W3CDTF">2018-09-29T14:38:43Z</dcterms:created>
  <dcterms:modified xsi:type="dcterms:W3CDTF">2023-10-04T19:46:59Z</dcterms:modified>
</cp:coreProperties>
</file>