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5"/>
    <p:sldMasterId id="2147483674" r:id="rId6"/>
    <p:sldMasterId id="214748367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</p:sldIdLst>
  <p:sldSz cy="6858000" cx="12192000"/>
  <p:notesSz cx="9144000" cy="6858000"/>
  <p:embeddedFontLst>
    <p:embeddedFont>
      <p:font typeface="Quattrocento Sans"/>
      <p:regular r:id="rId40"/>
      <p:bold r:id="rId41"/>
      <p:italic r:id="rId42"/>
      <p:boldItalic r:id="rId43"/>
    </p:embeddedFont>
    <p:embeddedFont>
      <p:font typeface="Noto Sans Symbols"/>
      <p:regular r:id="rId44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A63EA94-1036-460E-B2A2-E67D1F1C1013}">
  <a:tblStyle styleId="{AA63EA94-1036-460E-B2A2-E67D1F1C101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QuattrocentoSans-regular.fntdata"/><Relationship Id="rId20" Type="http://schemas.openxmlformats.org/officeDocument/2006/relationships/slide" Target="slides/slide12.xml"/><Relationship Id="rId42" Type="http://schemas.openxmlformats.org/officeDocument/2006/relationships/font" Target="fonts/QuattrocentoSans-italic.fntdata"/><Relationship Id="rId41" Type="http://schemas.openxmlformats.org/officeDocument/2006/relationships/font" Target="fonts/QuattrocentoSans-bold.fntdata"/><Relationship Id="rId22" Type="http://schemas.openxmlformats.org/officeDocument/2006/relationships/slide" Target="slides/slide14.xml"/><Relationship Id="rId44" Type="http://schemas.openxmlformats.org/officeDocument/2006/relationships/font" Target="fonts/NotoSansSymbols-regular.fntdata"/><Relationship Id="rId21" Type="http://schemas.openxmlformats.org/officeDocument/2006/relationships/slide" Target="slides/slide13.xml"/><Relationship Id="rId43" Type="http://schemas.openxmlformats.org/officeDocument/2006/relationships/font" Target="fonts/QuattrocentoSans-boldItalic.fntdata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45" Type="http://schemas.openxmlformats.org/officeDocument/2006/relationships/font" Target="fonts/NotoSansSymbol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slide" Target="slides/slide27.xml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slide" Target="slides/slide29.xml"/><Relationship Id="rId14" Type="http://schemas.openxmlformats.org/officeDocument/2006/relationships/slide" Target="slides/slide6.xml"/><Relationship Id="rId36" Type="http://schemas.openxmlformats.org/officeDocument/2006/relationships/slide" Target="slides/slide28.xml"/><Relationship Id="rId17" Type="http://schemas.openxmlformats.org/officeDocument/2006/relationships/slide" Target="slides/slide9.xml"/><Relationship Id="rId39" Type="http://schemas.openxmlformats.org/officeDocument/2006/relationships/slide" Target="slides/slide31.xml"/><Relationship Id="rId16" Type="http://schemas.openxmlformats.org/officeDocument/2006/relationships/slide" Target="slides/slide8.xml"/><Relationship Id="rId38" Type="http://schemas.openxmlformats.org/officeDocument/2006/relationships/slide" Target="slides/slide30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518160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588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518160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588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:notes"/>
          <p:cNvSpPr txBox="1"/>
          <p:nvPr>
            <p:ph idx="12" type="sldNum"/>
          </p:nvPr>
        </p:nvSpPr>
        <p:spPr>
          <a:xfrm>
            <a:off x="1588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3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5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6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7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7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8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9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0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1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2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3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4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5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6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7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7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8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9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0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3" name="Google Shape;383;p3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1:notes"/>
          <p:cNvSpPr txBox="1"/>
          <p:nvPr>
            <p:ph idx="12" type="sldNum"/>
          </p:nvPr>
        </p:nvSpPr>
        <p:spPr>
          <a:xfrm>
            <a:off x="1588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/>
          <p:nvPr/>
        </p:nvSpPr>
        <p:spPr>
          <a:xfrm>
            <a:off x="254951" y="262786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</a:endParaRPr>
          </a:p>
        </p:txBody>
      </p:sp>
      <p:sp>
        <p:nvSpPr>
          <p:cNvPr id="19" name="Google Shape;19;p2"/>
          <p:cNvSpPr txBox="1"/>
          <p:nvPr>
            <p:ph type="ctrTitle"/>
          </p:nvPr>
        </p:nvSpPr>
        <p:spPr>
          <a:xfrm>
            <a:off x="1524000" y="1333500"/>
            <a:ext cx="9144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1524000" y="3128010"/>
            <a:ext cx="9144000" cy="128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 b="71478" l="1648" r="13926" t="0"/>
          <a:stretch/>
        </p:blipFill>
        <p:spPr>
          <a:xfrm>
            <a:off x="342901" y="4546601"/>
            <a:ext cx="11715751" cy="202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>
            <p:ph idx="1" type="body"/>
          </p:nvPr>
        </p:nvSpPr>
        <p:spPr>
          <a:xfrm>
            <a:off x="604433" y="1604211"/>
            <a:ext cx="10983131" cy="4572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42887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25"/>
              <a:buFont typeface="Quattrocento Sans"/>
              <a:buChar char=" "/>
              <a:defRPr sz="900"/>
            </a:lvl1pPr>
            <a:lvl2pPr indent="-28575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 "/>
              <a:defRPr sz="900"/>
            </a:lvl2pPr>
            <a:lvl3pPr indent="-323850" lvl="2" marL="1371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Quattrocento Sans"/>
              <a:buChar char=" "/>
              <a:defRPr/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Quattrocento Sans"/>
              <a:buChar char=" "/>
              <a:defRPr/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Quattrocento Sans"/>
              <a:buChar char=" 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title"/>
          </p:nvPr>
        </p:nvSpPr>
        <p:spPr>
          <a:xfrm>
            <a:off x="604435" y="448630"/>
            <a:ext cx="10983132" cy="747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showMasterSp="0">
  <p:cSld name="Title and 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4"/>
          <p:cNvPicPr preferRelativeResize="0"/>
          <p:nvPr/>
        </p:nvPicPr>
        <p:blipFill rotWithShape="1">
          <a:blip r:embed="rId2">
            <a:alphaModFix/>
          </a:blip>
          <a:srcRect b="0" l="0" r="0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idx="1" type="body"/>
          </p:nvPr>
        </p:nvSpPr>
        <p:spPr>
          <a:xfrm>
            <a:off x="604433" y="1604211"/>
            <a:ext cx="10983131" cy="4572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42887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25"/>
              <a:buFont typeface="Quattrocento Sans"/>
              <a:buChar char=" "/>
              <a:defRPr sz="900"/>
            </a:lvl1pPr>
            <a:lvl2pPr indent="-28575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 "/>
              <a:defRPr sz="900"/>
            </a:lvl2pPr>
            <a:lvl3pPr indent="-323850" lvl="2" marL="1371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Quattrocento Sans"/>
              <a:buChar char=" "/>
              <a:defRPr/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Quattrocento Sans"/>
              <a:buChar char=" "/>
              <a:defRPr/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Quattrocento Sans"/>
              <a:buChar char=" 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type="title"/>
          </p:nvPr>
        </p:nvSpPr>
        <p:spPr>
          <a:xfrm>
            <a:off x="604435" y="448630"/>
            <a:ext cx="10983132" cy="747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5"/>
          <p:cNvPicPr preferRelativeResize="0"/>
          <p:nvPr/>
        </p:nvPicPr>
        <p:blipFill rotWithShape="1">
          <a:blip r:embed="rId2">
            <a:alphaModFix/>
          </a:blip>
          <a:srcRect b="0" l="0" r="0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 txBox="1"/>
          <p:nvPr>
            <p:ph idx="1" type="body"/>
          </p:nvPr>
        </p:nvSpPr>
        <p:spPr>
          <a:xfrm>
            <a:off x="1090863" y="1507068"/>
            <a:ext cx="3192379" cy="4669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42887" lvl="0" marL="457200" algn="l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25"/>
              <a:buFont typeface="Quattrocento Sans"/>
              <a:buChar char=" "/>
              <a:defRPr sz="900"/>
            </a:lvl1pPr>
            <a:lvl2pPr indent="-28575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 "/>
              <a:defRPr sz="900"/>
            </a:lvl2pPr>
            <a:lvl3pPr indent="-323850" lvl="2" marL="1371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Quattrocento Sans"/>
              <a:buChar char=" "/>
              <a:defRPr/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Quattrocento Sans"/>
              <a:buChar char=" "/>
              <a:defRPr/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Quattrocento Sans"/>
              <a:buChar char=" 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395538" y="1507068"/>
            <a:ext cx="7143905" cy="4669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42887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25"/>
              <a:buFont typeface="Quattrocento Sans"/>
              <a:buChar char=" "/>
              <a:defRPr sz="900"/>
            </a:lvl1pPr>
            <a:lvl2pPr indent="-28575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 "/>
              <a:defRPr sz="900"/>
            </a:lvl2pPr>
            <a:lvl3pPr indent="-323850" lvl="2" marL="1371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Quattrocento Sans"/>
              <a:buChar char=" "/>
              <a:defRPr/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Quattrocento Sans"/>
              <a:buChar char=" "/>
              <a:defRPr/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Quattrocento Sans"/>
              <a:buChar char=" 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604435" y="448630"/>
            <a:ext cx="10983132" cy="747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>
            <a:off x="254953" y="26278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254951" y="262786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</a:endParaRPr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521208" y="1536192"/>
            <a:ext cx="68762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Quattrocento Sans"/>
              <a:buNone/>
              <a:defRPr sz="2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539496" y="2560320"/>
            <a:ext cx="9445752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857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F3F3F"/>
              </a:buClr>
              <a:buSzPts val="900"/>
              <a:buChar char="•"/>
              <a:defRPr sz="900">
                <a:solidFill>
                  <a:srgbClr val="3F3F3F"/>
                </a:solidFill>
              </a:defRPr>
            </a:lvl2pPr>
            <a:lvl3pPr indent="-28575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F3F3F"/>
              </a:buClr>
              <a:buSzPts val="900"/>
              <a:buChar char="•"/>
              <a:defRPr sz="900">
                <a:solidFill>
                  <a:srgbClr val="3F3F3F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F3F3F"/>
              </a:buClr>
              <a:buSzPts val="900"/>
              <a:buChar char="•"/>
              <a:defRPr sz="900">
                <a:solidFill>
                  <a:srgbClr val="3F3F3F"/>
                </a:solidFill>
              </a:defRPr>
            </a:lvl4pPr>
            <a:lvl5pPr indent="-2857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F3F3F"/>
              </a:buClr>
              <a:buSzPts val="900"/>
              <a:buChar char="•"/>
              <a:defRPr sz="9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/>
          <p:nvPr/>
        </p:nvSpPr>
        <p:spPr>
          <a:xfrm>
            <a:off x="256033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</a:endParaRPr>
          </a:p>
        </p:txBody>
      </p:sp>
      <p:cxnSp>
        <p:nvCxnSpPr>
          <p:cNvPr id="42" name="Google Shape;42;p7"/>
          <p:cNvCxnSpPr/>
          <p:nvPr/>
        </p:nvCxnSpPr>
        <p:spPr>
          <a:xfrm>
            <a:off x="604435" y="1196392"/>
            <a:ext cx="10983132" cy="0"/>
          </a:xfrm>
          <a:prstGeom prst="straightConnector1">
            <a:avLst/>
          </a:prstGeom>
          <a:noFill/>
          <a:ln cap="flat" cmpd="sng" w="25400">
            <a:solidFill>
              <a:srgbClr val="D2472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" name="Google Shape;43;p7"/>
          <p:cNvSpPr txBox="1"/>
          <p:nvPr>
            <p:ph type="title"/>
          </p:nvPr>
        </p:nvSpPr>
        <p:spPr>
          <a:xfrm>
            <a:off x="604435" y="448630"/>
            <a:ext cx="10983132" cy="747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" showMasterSp="0">
  <p:cSld name="Standard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/>
          <p:nvPr/>
        </p:nvSpPr>
        <p:spPr>
          <a:xfrm>
            <a:off x="256033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</a:endParaRPr>
          </a:p>
        </p:txBody>
      </p:sp>
      <p:cxnSp>
        <p:nvCxnSpPr>
          <p:cNvPr id="46" name="Google Shape;46;p8"/>
          <p:cNvCxnSpPr/>
          <p:nvPr/>
        </p:nvCxnSpPr>
        <p:spPr>
          <a:xfrm>
            <a:off x="604435" y="1196392"/>
            <a:ext cx="10983132" cy="0"/>
          </a:xfrm>
          <a:prstGeom prst="straightConnector1">
            <a:avLst/>
          </a:prstGeom>
          <a:noFill/>
          <a:ln cap="flat" cmpd="sng" w="25400">
            <a:solidFill>
              <a:srgbClr val="D2472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7" name="Google Shape;47;p8"/>
          <p:cNvPicPr preferRelativeResize="0"/>
          <p:nvPr/>
        </p:nvPicPr>
        <p:blipFill rotWithShape="1">
          <a:blip r:embed="rId2">
            <a:alphaModFix/>
          </a:blip>
          <a:srcRect b="0" l="-41783" r="0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8"/>
          <p:cNvSpPr txBox="1"/>
          <p:nvPr>
            <p:ph type="title"/>
          </p:nvPr>
        </p:nvSpPr>
        <p:spPr>
          <a:xfrm>
            <a:off x="604435" y="448630"/>
            <a:ext cx="10983132" cy="747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Basic Layout" showMasterSp="0">
  <p:cSld name="6_Basic Layou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 flipH="1">
            <a:off x="6480044" y="1508790"/>
            <a:ext cx="5711957" cy="3840427"/>
          </a:xfrm>
          <a:prstGeom prst="rect">
            <a:avLst/>
          </a:prstGeom>
          <a:solidFill>
            <a:schemeClr val="accent3">
              <a:alpha val="8588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9">
              <a:solidFill>
                <a:schemeClr val="lt1"/>
              </a:solidFill>
            </a:endParaRPr>
          </a:p>
        </p:txBody>
      </p:sp>
      <p:sp>
        <p:nvSpPr>
          <p:cNvPr id="52" name="Google Shape;52;p10"/>
          <p:cNvSpPr/>
          <p:nvPr>
            <p:ph idx="2" type="pic"/>
          </p:nvPr>
        </p:nvSpPr>
        <p:spPr>
          <a:xfrm>
            <a:off x="7110273" y="0"/>
            <a:ext cx="4451499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showMasterSp="0" type="tbl">
  <p:cSld name="TAB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609600" y="277816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obj">
  <p:cSld name="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title"/>
          </p:nvPr>
        </p:nvSpPr>
        <p:spPr>
          <a:xfrm>
            <a:off x="602150" y="397205"/>
            <a:ext cx="109877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sng">
                <a:solidFill>
                  <a:srgbClr val="6A407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1" type="ftr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0" type="dt"/>
          </p:nvPr>
        </p:nvSpPr>
        <p:spPr>
          <a:xfrm>
            <a:off x="1654590" y="6428856"/>
            <a:ext cx="125560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2" type="sldNum"/>
          </p:nvPr>
        </p:nvSpPr>
        <p:spPr>
          <a:xfrm>
            <a:off x="11538711" y="6442785"/>
            <a:ext cx="336972" cy="204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type="title"/>
          </p:nvPr>
        </p:nvSpPr>
        <p:spPr>
          <a:xfrm>
            <a:off x="602150" y="397205"/>
            <a:ext cx="109877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sng">
                <a:solidFill>
                  <a:srgbClr val="6A407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" type="body"/>
          </p:nvPr>
        </p:nvSpPr>
        <p:spPr>
          <a:xfrm>
            <a:off x="415037" y="1964259"/>
            <a:ext cx="1136192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1" type="ftr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0" type="dt"/>
          </p:nvPr>
        </p:nvSpPr>
        <p:spPr>
          <a:xfrm>
            <a:off x="1654590" y="6428856"/>
            <a:ext cx="125560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11538711" y="6442785"/>
            <a:ext cx="336972" cy="204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idx="11" type="ftr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0" type="dt"/>
          </p:nvPr>
        </p:nvSpPr>
        <p:spPr>
          <a:xfrm>
            <a:off x="1654590" y="6428856"/>
            <a:ext cx="125560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11538711" y="6442785"/>
            <a:ext cx="336972" cy="204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556683" y="1098613"/>
            <a:ext cx="510540" cy="474980"/>
          </a:xfrm>
          <a:custGeom>
            <a:rect b="b" l="l" r="r" t="t"/>
            <a:pathLst>
              <a:path extrusionOk="0" h="474980" w="382905">
                <a:moveTo>
                  <a:pt x="382587" y="0"/>
                </a:moveTo>
                <a:lnTo>
                  <a:pt x="0" y="0"/>
                </a:lnTo>
                <a:lnTo>
                  <a:pt x="0" y="349186"/>
                </a:lnTo>
                <a:lnTo>
                  <a:pt x="0" y="474662"/>
                </a:lnTo>
                <a:lnTo>
                  <a:pt x="382587" y="474662"/>
                </a:lnTo>
                <a:lnTo>
                  <a:pt x="382587" y="349186"/>
                </a:lnTo>
                <a:lnTo>
                  <a:pt x="382587" y="0"/>
                </a:lnTo>
                <a:close/>
              </a:path>
            </a:pathLst>
          </a:custGeom>
          <a:solidFill>
            <a:srgbClr val="E0BE9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6800" y="1098613"/>
            <a:ext cx="438149" cy="47466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/>
          <p:nvPr/>
        </p:nvSpPr>
        <p:spPr>
          <a:xfrm>
            <a:off x="721783" y="1520888"/>
            <a:ext cx="493607" cy="474980"/>
          </a:xfrm>
          <a:custGeom>
            <a:rect b="b" l="l" r="r" t="t"/>
            <a:pathLst>
              <a:path extrusionOk="0" h="474980" w="370205">
                <a:moveTo>
                  <a:pt x="369887" y="0"/>
                </a:moveTo>
                <a:lnTo>
                  <a:pt x="0" y="0"/>
                </a:lnTo>
                <a:lnTo>
                  <a:pt x="0" y="349186"/>
                </a:lnTo>
                <a:lnTo>
                  <a:pt x="0" y="474662"/>
                </a:lnTo>
                <a:lnTo>
                  <a:pt x="369887" y="474662"/>
                </a:lnTo>
                <a:lnTo>
                  <a:pt x="369887" y="349186"/>
                </a:lnTo>
                <a:lnTo>
                  <a:pt x="369887" y="0"/>
                </a:lnTo>
                <a:close/>
              </a:path>
            </a:pathLst>
          </a:custGeom>
          <a:solidFill>
            <a:srgbClr val="B8AC4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90" name="Google Shape;9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4967" y="1520888"/>
            <a:ext cx="491067" cy="474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334" y="1447800"/>
            <a:ext cx="747183" cy="4222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/>
          <p:nvPr/>
        </p:nvSpPr>
        <p:spPr>
          <a:xfrm>
            <a:off x="1016000" y="990663"/>
            <a:ext cx="42333" cy="1052830"/>
          </a:xfrm>
          <a:custGeom>
            <a:rect b="b" l="l" r="r" t="t"/>
            <a:pathLst>
              <a:path extrusionOk="0" h="1052830" w="31750">
                <a:moveTo>
                  <a:pt x="31750" y="822261"/>
                </a:moveTo>
                <a:lnTo>
                  <a:pt x="0" y="822261"/>
                </a:lnTo>
                <a:lnTo>
                  <a:pt x="0" y="1052512"/>
                </a:lnTo>
                <a:lnTo>
                  <a:pt x="31750" y="1052512"/>
                </a:lnTo>
                <a:lnTo>
                  <a:pt x="31750" y="822261"/>
                </a:lnTo>
                <a:close/>
              </a:path>
              <a:path extrusionOk="0" h="1052830" w="31750">
                <a:moveTo>
                  <a:pt x="31750" y="0"/>
                </a:moveTo>
                <a:lnTo>
                  <a:pt x="0" y="0"/>
                </a:lnTo>
                <a:lnTo>
                  <a:pt x="0" y="790511"/>
                </a:lnTo>
                <a:lnTo>
                  <a:pt x="31750" y="790511"/>
                </a:lnTo>
                <a:lnTo>
                  <a:pt x="31750" y="0"/>
                </a:lnTo>
                <a:close/>
              </a:path>
            </a:pathLst>
          </a:custGeom>
          <a:solidFill>
            <a:srgbClr val="9595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93" name="Google Shape;9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1781174"/>
            <a:ext cx="10968567" cy="317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/>
          <p:nvPr/>
        </p:nvSpPr>
        <p:spPr>
          <a:xfrm>
            <a:off x="2192867" y="319150"/>
            <a:ext cx="5181600" cy="6219825"/>
          </a:xfrm>
          <a:custGeom>
            <a:rect b="b" l="l" r="r" t="t"/>
            <a:pathLst>
              <a:path extrusionOk="0" h="6219825" w="3886200">
                <a:moveTo>
                  <a:pt x="3886200" y="0"/>
                </a:moveTo>
                <a:lnTo>
                  <a:pt x="3886200" y="6219761"/>
                </a:lnTo>
              </a:path>
              <a:path extrusionOk="0" h="6219825" w="3886200">
                <a:moveTo>
                  <a:pt x="0" y="0"/>
                </a:moveTo>
                <a:lnTo>
                  <a:pt x="0" y="6219761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5" name="Google Shape;95;p16"/>
          <p:cNvSpPr/>
          <p:nvPr/>
        </p:nvSpPr>
        <p:spPr>
          <a:xfrm>
            <a:off x="315384" y="319150"/>
            <a:ext cx="11855873" cy="6219825"/>
          </a:xfrm>
          <a:custGeom>
            <a:rect b="b" l="l" r="r" t="t"/>
            <a:pathLst>
              <a:path extrusionOk="0" h="6219825" w="8891905">
                <a:moveTo>
                  <a:pt x="8877363" y="0"/>
                </a:moveTo>
                <a:lnTo>
                  <a:pt x="8877363" y="6219761"/>
                </a:lnTo>
              </a:path>
              <a:path extrusionOk="0" h="6219825" w="8891905">
                <a:moveTo>
                  <a:pt x="14287" y="0"/>
                </a:moveTo>
                <a:lnTo>
                  <a:pt x="14287" y="6219761"/>
                </a:lnTo>
              </a:path>
              <a:path extrusionOk="0" h="6219825" w="8891905">
                <a:moveTo>
                  <a:pt x="0" y="14224"/>
                </a:moveTo>
                <a:lnTo>
                  <a:pt x="8891587" y="14224"/>
                </a:lnTo>
              </a:path>
              <a:path extrusionOk="0" h="6219825" w="8891905">
                <a:moveTo>
                  <a:pt x="0" y="6205474"/>
                </a:moveTo>
                <a:lnTo>
                  <a:pt x="8891587" y="6205474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6" name="Google Shape;96;p16"/>
          <p:cNvSpPr txBox="1"/>
          <p:nvPr>
            <p:ph type="title"/>
          </p:nvPr>
        </p:nvSpPr>
        <p:spPr>
          <a:xfrm>
            <a:off x="602150" y="397205"/>
            <a:ext cx="109877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sng">
                <a:solidFill>
                  <a:srgbClr val="6A407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1" type="body"/>
          </p:nvPr>
        </p:nvSpPr>
        <p:spPr>
          <a:xfrm>
            <a:off x="609600" y="1577340"/>
            <a:ext cx="530352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2" type="body"/>
          </p:nvPr>
        </p:nvSpPr>
        <p:spPr>
          <a:xfrm>
            <a:off x="7479454" y="1974534"/>
            <a:ext cx="40445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1" type="ftr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0" type="dt"/>
          </p:nvPr>
        </p:nvSpPr>
        <p:spPr>
          <a:xfrm>
            <a:off x="1654590" y="6428856"/>
            <a:ext cx="125560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11538711" y="6442785"/>
            <a:ext cx="336972" cy="204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ctrTitle"/>
          </p:nvPr>
        </p:nvSpPr>
        <p:spPr>
          <a:xfrm>
            <a:off x="914400" y="2125980"/>
            <a:ext cx="103632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subTitle"/>
          </p:nvPr>
        </p:nvSpPr>
        <p:spPr>
          <a:xfrm>
            <a:off x="1828800" y="3840480"/>
            <a:ext cx="85344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7"/>
          <p:cNvSpPr txBox="1"/>
          <p:nvPr>
            <p:ph idx="11" type="ftr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0" type="dt"/>
          </p:nvPr>
        </p:nvSpPr>
        <p:spPr>
          <a:xfrm>
            <a:off x="1654590" y="6428856"/>
            <a:ext cx="125560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11538711" y="6442785"/>
            <a:ext cx="336972" cy="204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/>
          <p:nvPr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19" name="Google Shape;119;p19"/>
          <p:cNvSpPr txBox="1"/>
          <p:nvPr>
            <p:ph type="title"/>
          </p:nvPr>
        </p:nvSpPr>
        <p:spPr>
          <a:xfrm>
            <a:off x="521208" y="1536192"/>
            <a:ext cx="68762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539496" y="2560320"/>
            <a:ext cx="9445752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/>
          <p:nvPr/>
        </p:nvSpPr>
        <p:spPr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23" name="Google Shape;123;p20"/>
          <p:cNvSpPr txBox="1"/>
          <p:nvPr>
            <p:ph type="ctrTitle"/>
          </p:nvPr>
        </p:nvSpPr>
        <p:spPr>
          <a:xfrm>
            <a:off x="1524000" y="1333500"/>
            <a:ext cx="9144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0"/>
          <p:cNvSpPr txBox="1"/>
          <p:nvPr>
            <p:ph idx="1" type="subTitle"/>
          </p:nvPr>
        </p:nvSpPr>
        <p:spPr>
          <a:xfrm>
            <a:off x="1524000" y="3128009"/>
            <a:ext cx="9144000" cy="128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25" name="Google Shape;125;p20"/>
          <p:cNvPicPr preferRelativeResize="0"/>
          <p:nvPr/>
        </p:nvPicPr>
        <p:blipFill rotWithShape="1">
          <a:blip r:embed="rId2">
            <a:alphaModFix/>
          </a:blip>
          <a:srcRect b="71478" l="1648" r="13926" t="0"/>
          <a:stretch/>
        </p:blipFill>
        <p:spPr>
          <a:xfrm>
            <a:off x="342899" y="4546601"/>
            <a:ext cx="11715751" cy="202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1"/>
          <p:cNvPicPr preferRelativeResize="0"/>
          <p:nvPr/>
        </p:nvPicPr>
        <p:blipFill rotWithShape="1">
          <a:blip r:embed="rId2">
            <a:alphaModFix/>
          </a:blip>
          <a:srcRect b="0" l="0" r="0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604433" y="1604211"/>
            <a:ext cx="10983131" cy="4572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4765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Quattrocento Sans"/>
              <a:buChar char=" "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attrocento Sans"/>
              <a:buChar char=" "/>
              <a:defRPr sz="1200"/>
            </a:lvl2pPr>
            <a:lvl3pPr indent="-355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 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 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442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Title and 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2"/>
          <p:cNvPicPr preferRelativeResize="0"/>
          <p:nvPr/>
        </p:nvPicPr>
        <p:blipFill rotWithShape="1">
          <a:blip r:embed="rId2">
            <a:alphaModFix/>
          </a:blip>
          <a:srcRect b="0" l="0" r="0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604433" y="1604211"/>
            <a:ext cx="10983131" cy="4572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4765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Quattrocento Sans"/>
              <a:buChar char=" "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attrocento Sans"/>
              <a:buChar char=" "/>
              <a:defRPr sz="1200"/>
            </a:lvl2pPr>
            <a:lvl3pPr indent="-355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 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 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442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3"/>
          <p:cNvPicPr preferRelativeResize="0"/>
          <p:nvPr/>
        </p:nvPicPr>
        <p:blipFill rotWithShape="1">
          <a:blip r:embed="rId2">
            <a:alphaModFix/>
          </a:blip>
          <a:srcRect b="0" l="0" r="0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1090862" y="1507068"/>
            <a:ext cx="3192379" cy="4669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4765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Quattrocento Sans"/>
              <a:buChar char=" "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attrocento Sans"/>
              <a:buChar char=" "/>
              <a:defRPr sz="1200"/>
            </a:lvl2pPr>
            <a:lvl3pPr indent="-355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 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 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idx="2" type="body"/>
          </p:nvPr>
        </p:nvSpPr>
        <p:spPr>
          <a:xfrm>
            <a:off x="4395537" y="1507068"/>
            <a:ext cx="7143905" cy="4669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4765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"/>
              <a:buFont typeface="Quattrocento Sans"/>
              <a:buChar char=" "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attrocento Sans"/>
              <a:buChar char=" "/>
              <a:defRPr sz="1200"/>
            </a:lvl2pPr>
            <a:lvl3pPr indent="-355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 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 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442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/>
          <p:nvPr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cxnSp>
        <p:nvCxnSpPr>
          <p:cNvPr id="141" name="Google Shape;141;p24"/>
          <p:cNvCxnSpPr/>
          <p:nvPr/>
        </p:nvCxnSpPr>
        <p:spPr>
          <a:xfrm>
            <a:off x="604434" y="1196392"/>
            <a:ext cx="10983132" cy="0"/>
          </a:xfrm>
          <a:prstGeom prst="straightConnector1">
            <a:avLst/>
          </a:prstGeom>
          <a:noFill/>
          <a:ln cap="flat" cmpd="sng" w="25400">
            <a:solidFill>
              <a:srgbClr val="D2472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2" name="Google Shape;142;p24"/>
          <p:cNvSpPr txBox="1"/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442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">
  <p:cSld name="Standard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/>
          <p:nvPr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cxnSp>
        <p:nvCxnSpPr>
          <p:cNvPr id="145" name="Google Shape;145;p25"/>
          <p:cNvCxnSpPr/>
          <p:nvPr/>
        </p:nvCxnSpPr>
        <p:spPr>
          <a:xfrm>
            <a:off x="604434" y="1196392"/>
            <a:ext cx="10983132" cy="0"/>
          </a:xfrm>
          <a:prstGeom prst="straightConnector1">
            <a:avLst/>
          </a:prstGeom>
          <a:noFill/>
          <a:ln cap="flat" cmpd="sng" w="25400">
            <a:solidFill>
              <a:srgbClr val="D2472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6" name="Google Shape;146;p25"/>
          <p:cNvPicPr preferRelativeResize="0"/>
          <p:nvPr/>
        </p:nvPicPr>
        <p:blipFill rotWithShape="1">
          <a:blip r:embed="rId2">
            <a:alphaModFix/>
          </a:blip>
          <a:srcRect b="0" l="-41783" r="0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5"/>
          <p:cNvSpPr txBox="1"/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442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Basic Layout">
  <p:cSld name="6_Basic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/>
          <p:nvPr/>
        </p:nvSpPr>
        <p:spPr>
          <a:xfrm flipH="1">
            <a:off x="6480043" y="1508788"/>
            <a:ext cx="5711957" cy="3840427"/>
          </a:xfrm>
          <a:prstGeom prst="rect">
            <a:avLst/>
          </a:prstGeom>
          <a:solidFill>
            <a:schemeClr val="accent3">
              <a:alpha val="8588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9">
              <a:solidFill>
                <a:schemeClr val="lt1"/>
              </a:solidFill>
            </a:endParaRPr>
          </a:p>
        </p:txBody>
      </p:sp>
      <p:sp>
        <p:nvSpPr>
          <p:cNvPr id="151" name="Google Shape;151;p27"/>
          <p:cNvSpPr/>
          <p:nvPr>
            <p:ph idx="2" type="pic"/>
          </p:nvPr>
        </p:nvSpPr>
        <p:spPr>
          <a:xfrm>
            <a:off x="7110273" y="0"/>
            <a:ext cx="445149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442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2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2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2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2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2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2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2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1.png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10" Type="http://schemas.openxmlformats.org/officeDocument/2006/relationships/theme" Target="../theme/theme3.xml"/><Relationship Id="rId9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256033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604435" y="448630"/>
            <a:ext cx="10983132" cy="747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100"/>
              <a:buFont typeface="Quattrocento Sans"/>
              <a:buNone/>
              <a:defRPr b="0" i="0" sz="2100" u="none" cap="none" strike="noStrike">
                <a:solidFill>
                  <a:srgbClr val="1F394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1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" name="Google Shape;16;p1"/>
          <p:cNvCxnSpPr/>
          <p:nvPr/>
        </p:nvCxnSpPr>
        <p:spPr>
          <a:xfrm>
            <a:off x="604435" y="1196392"/>
            <a:ext cx="10983132" cy="0"/>
          </a:xfrm>
          <a:prstGeom prst="straightConnector1">
            <a:avLst/>
          </a:prstGeom>
          <a:noFill/>
          <a:ln cap="flat" cmpd="sng" w="25400">
            <a:solidFill>
              <a:srgbClr val="D2472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/>
          <p:nvPr/>
        </p:nvSpPr>
        <p:spPr>
          <a:xfrm>
            <a:off x="556683" y="1098613"/>
            <a:ext cx="510540" cy="474980"/>
          </a:xfrm>
          <a:custGeom>
            <a:rect b="b" l="l" r="r" t="t"/>
            <a:pathLst>
              <a:path extrusionOk="0" h="474980" w="382905">
                <a:moveTo>
                  <a:pt x="382587" y="0"/>
                </a:moveTo>
                <a:lnTo>
                  <a:pt x="0" y="0"/>
                </a:lnTo>
                <a:lnTo>
                  <a:pt x="0" y="349186"/>
                </a:lnTo>
                <a:lnTo>
                  <a:pt x="0" y="474662"/>
                </a:lnTo>
                <a:lnTo>
                  <a:pt x="382587" y="474662"/>
                </a:lnTo>
                <a:lnTo>
                  <a:pt x="382587" y="349186"/>
                </a:lnTo>
                <a:lnTo>
                  <a:pt x="382587" y="0"/>
                </a:lnTo>
                <a:close/>
              </a:path>
            </a:pathLst>
          </a:custGeom>
          <a:solidFill>
            <a:srgbClr val="E0BE9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60" name="Google Shape;60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66800" y="1098613"/>
            <a:ext cx="438149" cy="47466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2"/>
          <p:cNvSpPr/>
          <p:nvPr/>
        </p:nvSpPr>
        <p:spPr>
          <a:xfrm>
            <a:off x="721783" y="1520888"/>
            <a:ext cx="493607" cy="474980"/>
          </a:xfrm>
          <a:custGeom>
            <a:rect b="b" l="l" r="r" t="t"/>
            <a:pathLst>
              <a:path extrusionOk="0" h="474980" w="370205">
                <a:moveTo>
                  <a:pt x="369887" y="0"/>
                </a:moveTo>
                <a:lnTo>
                  <a:pt x="0" y="0"/>
                </a:lnTo>
                <a:lnTo>
                  <a:pt x="0" y="349186"/>
                </a:lnTo>
                <a:lnTo>
                  <a:pt x="0" y="474662"/>
                </a:lnTo>
                <a:lnTo>
                  <a:pt x="369887" y="474662"/>
                </a:lnTo>
                <a:lnTo>
                  <a:pt x="369887" y="349186"/>
                </a:lnTo>
                <a:lnTo>
                  <a:pt x="369887" y="0"/>
                </a:lnTo>
                <a:close/>
              </a:path>
            </a:pathLst>
          </a:custGeom>
          <a:solidFill>
            <a:srgbClr val="B8AC4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62" name="Google Shape;62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14967" y="1520888"/>
            <a:ext cx="491067" cy="474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334" y="1447800"/>
            <a:ext cx="747183" cy="4222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2"/>
          <p:cNvSpPr/>
          <p:nvPr/>
        </p:nvSpPr>
        <p:spPr>
          <a:xfrm>
            <a:off x="1016000" y="990663"/>
            <a:ext cx="42333" cy="1052830"/>
          </a:xfrm>
          <a:custGeom>
            <a:rect b="b" l="l" r="r" t="t"/>
            <a:pathLst>
              <a:path extrusionOk="0" h="1052830" w="31750">
                <a:moveTo>
                  <a:pt x="31750" y="822261"/>
                </a:moveTo>
                <a:lnTo>
                  <a:pt x="0" y="822261"/>
                </a:lnTo>
                <a:lnTo>
                  <a:pt x="0" y="1052512"/>
                </a:lnTo>
                <a:lnTo>
                  <a:pt x="31750" y="1052512"/>
                </a:lnTo>
                <a:lnTo>
                  <a:pt x="31750" y="822261"/>
                </a:lnTo>
                <a:close/>
              </a:path>
              <a:path extrusionOk="0" h="1052830" w="31750">
                <a:moveTo>
                  <a:pt x="31750" y="0"/>
                </a:moveTo>
                <a:lnTo>
                  <a:pt x="0" y="0"/>
                </a:lnTo>
                <a:lnTo>
                  <a:pt x="0" y="790511"/>
                </a:lnTo>
                <a:lnTo>
                  <a:pt x="31750" y="790511"/>
                </a:lnTo>
                <a:lnTo>
                  <a:pt x="31750" y="0"/>
                </a:lnTo>
                <a:close/>
              </a:path>
            </a:pathLst>
          </a:custGeom>
          <a:solidFill>
            <a:srgbClr val="9595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65" name="Google Shape;6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1781174"/>
            <a:ext cx="10968567" cy="317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2"/>
          <p:cNvSpPr txBox="1"/>
          <p:nvPr>
            <p:ph type="title"/>
          </p:nvPr>
        </p:nvSpPr>
        <p:spPr>
          <a:xfrm>
            <a:off x="602150" y="397205"/>
            <a:ext cx="109877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sng" cap="none" strike="noStrike">
                <a:solidFill>
                  <a:srgbClr val="6A407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7" name="Google Shape;67;p12"/>
          <p:cNvSpPr txBox="1"/>
          <p:nvPr>
            <p:ph idx="1" type="body"/>
          </p:nvPr>
        </p:nvSpPr>
        <p:spPr>
          <a:xfrm>
            <a:off x="415037" y="1964259"/>
            <a:ext cx="1136192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2"/>
          <p:cNvSpPr txBox="1"/>
          <p:nvPr>
            <p:ph idx="11" type="ftr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1654590" y="6428856"/>
            <a:ext cx="125560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0" name="Google Shape;70;p12"/>
          <p:cNvSpPr txBox="1"/>
          <p:nvPr>
            <p:ph idx="12" type="sldNum"/>
          </p:nvPr>
        </p:nvSpPr>
        <p:spPr>
          <a:xfrm>
            <a:off x="11538711" y="6442785"/>
            <a:ext cx="336972" cy="204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>
              <a:lnSpc>
                <a:spcPct val="117857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5"/>
    <p:sldLayoutId id="2147483659" r:id="rId6"/>
    <p:sldLayoutId id="2147483660" r:id="rId7"/>
    <p:sldLayoutId id="2147483661" r:id="rId8"/>
    <p:sldLayoutId id="2147483662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/>
          <p:nvPr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10" name="Google Shape;110;p18"/>
          <p:cNvSpPr txBox="1"/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4429"/>
              </a:buClr>
              <a:buSzPts val="2800"/>
              <a:buFont typeface="Quattrocento Sans"/>
              <a:buNone/>
              <a:defRPr b="0" i="0" sz="2800" u="none" cap="none" strike="noStrike">
                <a:solidFill>
                  <a:srgbClr val="49442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12" name="Google Shape;11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3" name="Google Shape;11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2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2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2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2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2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2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2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5" name="Google Shape;115;p18"/>
          <p:cNvCxnSpPr/>
          <p:nvPr/>
        </p:nvCxnSpPr>
        <p:spPr>
          <a:xfrm>
            <a:off x="604434" y="1196392"/>
            <a:ext cx="10983132" cy="0"/>
          </a:xfrm>
          <a:prstGeom prst="straightConnector1">
            <a:avLst/>
          </a:prstGeom>
          <a:noFill/>
          <a:ln cap="flat" cmpd="sng" w="25400">
            <a:solidFill>
              <a:srgbClr val="D2472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jpg"/><Relationship Id="rId4" Type="http://schemas.openxmlformats.org/officeDocument/2006/relationships/image" Target="../media/image19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/>
          <p:nvPr/>
        </p:nvSpPr>
        <p:spPr>
          <a:xfrm>
            <a:off x="228600" y="228600"/>
            <a:ext cx="11734800" cy="6400800"/>
          </a:xfrm>
          <a:prstGeom prst="rect">
            <a:avLst/>
          </a:prstGeom>
          <a:solidFill>
            <a:srgbClr val="6F7B63"/>
          </a:solidFill>
          <a:ln cap="flat" cmpd="sng" w="12700">
            <a:solidFill>
              <a:srgbClr val="6F7B6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3" name="Google Shape;163;p29"/>
          <p:cNvSpPr txBox="1"/>
          <p:nvPr>
            <p:ph type="ctrTitle"/>
          </p:nvPr>
        </p:nvSpPr>
        <p:spPr>
          <a:xfrm>
            <a:off x="1524000" y="1333500"/>
            <a:ext cx="9144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Growth and Development of  the Toddler: 1 to 3 Years</a:t>
            </a:r>
            <a:endParaRPr sz="135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4" name="Google Shape;164;p29"/>
          <p:cNvSpPr txBox="1"/>
          <p:nvPr>
            <p:ph idx="1" type="subTitle"/>
          </p:nvPr>
        </p:nvSpPr>
        <p:spPr>
          <a:xfrm>
            <a:off x="1524000" y="3089963"/>
            <a:ext cx="9144000" cy="128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Early Childhood</a:t>
            </a:r>
            <a:endParaRPr/>
          </a:p>
        </p:txBody>
      </p:sp>
      <p:pic>
        <p:nvPicPr>
          <p:cNvPr descr="grid plane" id="165" name="Google Shape;165;p29"/>
          <p:cNvPicPr preferRelativeResize="0"/>
          <p:nvPr/>
        </p:nvPicPr>
        <p:blipFill rotWithShape="1">
          <a:blip r:embed="rId3">
            <a:alphaModFix/>
          </a:blip>
          <a:srcRect b="64944" l="0" r="-943" t="-307"/>
          <a:stretch/>
        </p:blipFill>
        <p:spPr>
          <a:xfrm>
            <a:off x="381000" y="5578330"/>
            <a:ext cx="11734801" cy="105107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9"/>
          <p:cNvSpPr txBox="1"/>
          <p:nvPr/>
        </p:nvSpPr>
        <p:spPr>
          <a:xfrm>
            <a:off x="7716441" y="4149329"/>
            <a:ext cx="2014538" cy="922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Third Stage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Dr. Moustafa Alshammari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Growth and Developments 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>
            <a:off x="2483650" y="685800"/>
            <a:ext cx="7224700" cy="1243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u="none">
                <a:solidFill>
                  <a:srgbClr val="000066"/>
                </a:solidFill>
              </a:rPr>
              <a:t>Growth and Development of  the Toddler: 1 to 3 Years</a:t>
            </a:r>
            <a:endParaRPr sz="4000"/>
          </a:p>
        </p:txBody>
      </p:sp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0" y="3124200"/>
            <a:ext cx="2286000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0"/>
          <p:cNvSpPr txBox="1"/>
          <p:nvPr/>
        </p:nvSpPr>
        <p:spPr>
          <a:xfrm>
            <a:off x="10088371" y="6447663"/>
            <a:ext cx="119380" cy="204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2755493" y="397205"/>
            <a:ext cx="289433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u="none"/>
              <a:t>Objectives:</a:t>
            </a:r>
            <a:endParaRPr sz="4000"/>
          </a:p>
        </p:txBody>
      </p:sp>
      <p:sp>
        <p:nvSpPr>
          <p:cNvPr id="179" name="Google Shape;179;p31"/>
          <p:cNvSpPr txBox="1"/>
          <p:nvPr/>
        </p:nvSpPr>
        <p:spPr>
          <a:xfrm>
            <a:off x="10247121" y="6442786"/>
            <a:ext cx="182880" cy="204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2142541" y="1160145"/>
            <a:ext cx="8444865" cy="4422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275">
            <a:spAutoFit/>
          </a:bodyPr>
          <a:lstStyle/>
          <a:p>
            <a:pPr indent="-457200" lvl="0" marL="469265" marR="41910" rtl="0" algn="l">
              <a:lnSpc>
                <a:spcPct val="108055"/>
              </a:lnSpc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2150"/>
              <a:buFont typeface="Times New Roman"/>
              <a:buAutoNum type="arabicPeriod"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Identify	the gross motor development in  the toddler.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69265" marR="5080" rtl="0" algn="l">
              <a:lnSpc>
                <a:spcPct val="108055"/>
              </a:lnSpc>
              <a:spcBef>
                <a:spcPts val="865"/>
              </a:spcBef>
              <a:spcAft>
                <a:spcPts val="0"/>
              </a:spcAft>
              <a:buClr>
                <a:srgbClr val="B8AC47"/>
              </a:buClr>
              <a:buSzPts val="2150"/>
              <a:buFont typeface="Times New Roman"/>
              <a:buAutoNum type="arabicPeriod"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Recognize the fine motor development in  the toddler.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69265" marR="2468245" rtl="0" algn="l">
              <a:lnSpc>
                <a:spcPct val="108055"/>
              </a:lnSpc>
              <a:spcBef>
                <a:spcPts val="860"/>
              </a:spcBef>
              <a:spcAft>
                <a:spcPts val="0"/>
              </a:spcAft>
              <a:buClr>
                <a:srgbClr val="B8AC47"/>
              </a:buClr>
              <a:buSzPts val="2150"/>
              <a:buFont typeface="Times New Roman"/>
              <a:buAutoNum type="arabicPeriod"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Recognize the language skill  development in the toddler.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69265" marR="410209" rtl="0" algn="l">
              <a:lnSpc>
                <a:spcPct val="108055"/>
              </a:lnSpc>
              <a:spcBef>
                <a:spcPts val="865"/>
              </a:spcBef>
              <a:spcAft>
                <a:spcPts val="0"/>
              </a:spcAft>
              <a:buClr>
                <a:srgbClr val="B8AC47"/>
              </a:buClr>
              <a:buSzPts val="2150"/>
              <a:buFont typeface="Times New Roman"/>
              <a:buAutoNum type="arabicPeriod"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Explain the psycho-social development  in the toddler.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>
            <p:ph type="title"/>
          </p:nvPr>
        </p:nvSpPr>
        <p:spPr>
          <a:xfrm>
            <a:off x="2755494" y="167131"/>
            <a:ext cx="360616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 u="none"/>
              <a:t>Cont. objectives</a:t>
            </a:r>
            <a:endParaRPr sz="4000"/>
          </a:p>
        </p:txBody>
      </p:sp>
      <p:sp>
        <p:nvSpPr>
          <p:cNvPr id="186" name="Google Shape;186;p32"/>
          <p:cNvSpPr txBox="1"/>
          <p:nvPr/>
        </p:nvSpPr>
        <p:spPr>
          <a:xfrm>
            <a:off x="10247121" y="6442786"/>
            <a:ext cx="182880" cy="204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2"/>
          <p:cNvSpPr txBox="1"/>
          <p:nvPr/>
        </p:nvSpPr>
        <p:spPr>
          <a:xfrm>
            <a:off x="2214168" y="1952626"/>
            <a:ext cx="8342630" cy="3806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275">
            <a:spAutoFit/>
          </a:bodyPr>
          <a:lstStyle/>
          <a:p>
            <a:pPr indent="-609600" lvl="0" marL="621665" marR="499109" rtl="0" algn="l">
              <a:lnSpc>
                <a:spcPct val="108055"/>
              </a:lnSpc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2150"/>
              <a:buFont typeface="Times New Roman"/>
              <a:buAutoNum type="arabicPeriod" startAt="5"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Explain the cognitive development in  the toddler child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9600" lvl="0" marL="621665" marR="1081405" rtl="0" algn="l">
              <a:lnSpc>
                <a:spcPct val="108055"/>
              </a:lnSpc>
              <a:spcBef>
                <a:spcPts val="865"/>
              </a:spcBef>
              <a:spcAft>
                <a:spcPts val="0"/>
              </a:spcAft>
              <a:buClr>
                <a:srgbClr val="B8AC47"/>
              </a:buClr>
              <a:buSzPts val="2150"/>
              <a:buFont typeface="Times New Roman"/>
              <a:buAutoNum type="arabicPeriod" startAt="5"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Identify the health promotion and  health maintenance of the toddler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9600" lvl="0" marL="621665" marR="5080" rtl="0" algn="l">
              <a:lnSpc>
                <a:spcPct val="108055"/>
              </a:lnSpc>
              <a:spcBef>
                <a:spcPts val="860"/>
              </a:spcBef>
              <a:spcAft>
                <a:spcPts val="0"/>
              </a:spcAft>
              <a:buClr>
                <a:srgbClr val="B8AC47"/>
              </a:buClr>
              <a:buSzPts val="2150"/>
              <a:buFont typeface="Times New Roman"/>
              <a:buAutoNum type="arabicPeriod" startAt="5"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Recognize the health problems in the  toddler age period and the nurse's  roles/actions in dealing with the toddler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/>
          <p:nvPr>
            <p:ph type="title"/>
          </p:nvPr>
        </p:nvSpPr>
        <p:spPr>
          <a:xfrm>
            <a:off x="838200" y="345694"/>
            <a:ext cx="8714841" cy="581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none"/>
              <a:t>Normal Toddler (1 to 3 years)</a:t>
            </a:r>
            <a:endParaRPr sz="3600"/>
          </a:p>
        </p:txBody>
      </p:sp>
      <p:sp>
        <p:nvSpPr>
          <p:cNvPr id="193" name="Google Shape;193;p33"/>
          <p:cNvSpPr txBox="1"/>
          <p:nvPr/>
        </p:nvSpPr>
        <p:spPr>
          <a:xfrm>
            <a:off x="10247121" y="6442786"/>
            <a:ext cx="182880" cy="204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3"/>
          <p:cNvSpPr txBox="1"/>
          <p:nvPr/>
        </p:nvSpPr>
        <p:spPr>
          <a:xfrm>
            <a:off x="838200" y="1219200"/>
            <a:ext cx="10363200" cy="4668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latin typeface="Arial"/>
                <a:ea typeface="Arial"/>
                <a:cs typeface="Arial"/>
                <a:sym typeface="Arial"/>
              </a:rPr>
              <a:t>Normal toddler: (</a:t>
            </a: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1 to 3 years of age).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rtl="0" algn="l">
              <a:lnSpc>
                <a:spcPct val="108035"/>
              </a:lnSpc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During this period, </a:t>
            </a: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growth slows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355600" rtl="0" algn="l">
              <a:lnSpc>
                <a:spcPct val="108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considerably.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133985" rtl="0" algn="l">
              <a:lnSpc>
                <a:spcPct val="77100"/>
              </a:lnSpc>
              <a:spcBef>
                <a:spcPts val="77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During these years, children begin the long  process toward </a:t>
            </a:r>
            <a:r>
              <a:rPr b="1" lang="en-US" sz="2800">
                <a:latin typeface="Comic Sans MS"/>
                <a:ea typeface="Comic Sans MS"/>
                <a:cs typeface="Comic Sans MS"/>
                <a:sym typeface="Comic Sans MS"/>
              </a:rPr>
              <a:t>independence</a:t>
            </a: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154940" rtl="0" algn="l">
              <a:lnSpc>
                <a:spcPct val="80000"/>
              </a:lnSpc>
              <a:spcBef>
                <a:spcPts val="77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Toddler develops from having no voluntary  control </a:t>
            </a:r>
            <a:r>
              <a:rPr b="1" lang="en-US" sz="2800" u="sng"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>
                <a:latin typeface="Arial"/>
                <a:ea typeface="Arial"/>
                <a:cs typeface="Arial"/>
                <a:sym typeface="Arial"/>
              </a:rPr>
              <a:t>being able both, </a:t>
            </a: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to walk and  speak</a:t>
            </a:r>
            <a:r>
              <a:rPr lang="en-US" sz="2800">
                <a:latin typeface="Arial"/>
                <a:ea typeface="Arial"/>
                <a:cs typeface="Arial"/>
                <a:sym typeface="Arial"/>
              </a:rPr>
              <a:t>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28575" rtl="0" algn="l">
              <a:lnSpc>
                <a:spcPct val="96071"/>
              </a:lnSpc>
              <a:spcBef>
                <a:spcPts val="645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They </a:t>
            </a: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also learn to control their bladder  and bowels</a:t>
            </a:r>
            <a:r>
              <a:rPr lang="en-US" sz="2800">
                <a:latin typeface="Arial"/>
                <a:ea typeface="Arial"/>
                <a:cs typeface="Arial"/>
                <a:sym typeface="Arial"/>
              </a:rPr>
              <a:t>, and they acquire all kinds of  information about their environment.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5080" rtl="0" algn="just">
              <a:lnSpc>
                <a:spcPct val="96071"/>
              </a:lnSpc>
              <a:spcBef>
                <a:spcPts val="67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Gaining self-control mastering tasks such as  walking, jumping, dressing, and eating, and  learning to use language to express needs.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>
            <p:ph type="title"/>
          </p:nvPr>
        </p:nvSpPr>
        <p:spPr>
          <a:xfrm>
            <a:off x="854863" y="381000"/>
            <a:ext cx="932378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u="none"/>
              <a:t>Physical Development of the Toddler</a:t>
            </a:r>
            <a:endParaRPr sz="3600"/>
          </a:p>
        </p:txBody>
      </p:sp>
      <p:sp>
        <p:nvSpPr>
          <p:cNvPr id="200" name="Google Shape;200;p34"/>
          <p:cNvSpPr txBox="1"/>
          <p:nvPr/>
        </p:nvSpPr>
        <p:spPr>
          <a:xfrm>
            <a:off x="10247121" y="6442786"/>
            <a:ext cx="182880" cy="204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4"/>
          <p:cNvSpPr txBox="1"/>
          <p:nvPr/>
        </p:nvSpPr>
        <p:spPr>
          <a:xfrm>
            <a:off x="854863" y="1066800"/>
            <a:ext cx="9462364" cy="39946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-342900" lvl="0" marL="355600" rtl="0" algn="l"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Time of slowed growth and rapid development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224154" rtl="0" algn="l">
              <a:spcBef>
                <a:spcPts val="675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Learns to chew food with continued eruption of  teeth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98425" rtl="0" algn="l">
              <a:spcBef>
                <a:spcPts val="67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Masters tasks such as walking, jumping,  dressing, eating, use language to express needs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5080" rtl="0" algn="l">
              <a:spcBef>
                <a:spcPts val="675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Learns to stand alone and walk between 1 and 2  years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631190" rtl="0" algn="l">
              <a:spcBef>
                <a:spcPts val="675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Most toddlers say their first words and refine  language skills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rtl="0" algn="l">
              <a:spcBef>
                <a:spcPts val="675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By end of this period, may be toilet trained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type="title"/>
          </p:nvPr>
        </p:nvSpPr>
        <p:spPr>
          <a:xfrm>
            <a:off x="1143001" y="381001"/>
            <a:ext cx="6393788" cy="709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Physical Growth:</a:t>
            </a:r>
            <a:endParaRPr sz="4400"/>
          </a:p>
        </p:txBody>
      </p:sp>
      <p:sp>
        <p:nvSpPr>
          <p:cNvPr id="207" name="Google Shape;207;p35"/>
          <p:cNvSpPr txBox="1"/>
          <p:nvPr/>
        </p:nvSpPr>
        <p:spPr>
          <a:xfrm>
            <a:off x="10247121" y="6442786"/>
            <a:ext cx="182880" cy="204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5"/>
          <p:cNvSpPr txBox="1"/>
          <p:nvPr/>
        </p:nvSpPr>
        <p:spPr>
          <a:xfrm>
            <a:off x="1143001" y="1090168"/>
            <a:ext cx="9048370" cy="4662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75">
            <a:spAutoFit/>
          </a:bodyPr>
          <a:lstStyle/>
          <a:p>
            <a:pPr indent="-342900" lvl="0" marL="355600" marR="18542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900"/>
              <a:buFont typeface="Noto Sans Symbols"/>
              <a:buChar char="❑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		A</a:t>
            </a:r>
            <a:r>
              <a:rPr lang="en-US" sz="2800">
                <a:latin typeface="Arial"/>
                <a:ea typeface="Arial"/>
                <a:cs typeface="Arial"/>
                <a:sym typeface="Arial"/>
              </a:rPr>
              <a:t>verage weight gain is 1.8 to 2.7 Kg/year.  Formula to calculate normal weight of children  over 1 years of age: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536575" rtl="0" algn="l"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(Age in years x 2) + 8 = ---- Kg)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213359" lvl="0" marL="355600" marR="5080" rtl="0" algn="l"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E.g. 2 years old child weight = 2 x 2 + 8 = 12  Kg.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20955" rtl="0" algn="l">
              <a:spcBef>
                <a:spcPts val="675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❑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*Toddlers are usually chubby, with relatively  </a:t>
            </a:r>
            <a:r>
              <a:rPr b="1" lang="en-US" sz="2800" u="sng">
                <a:latin typeface="Arial"/>
                <a:ea typeface="Arial"/>
                <a:cs typeface="Arial"/>
                <a:sym typeface="Arial"/>
              </a:rPr>
              <a:t>short legs and large head</a:t>
            </a:r>
            <a:r>
              <a:rPr lang="en-US" sz="2800">
                <a:latin typeface="Arial"/>
                <a:ea typeface="Arial"/>
                <a:cs typeface="Arial"/>
                <a:sym typeface="Arial"/>
              </a:rPr>
              <a:t>. The face appears  small when compared to the skull, but as the  toddler grows. These proportions gradually  change to that of the adult size.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6"/>
          <p:cNvSpPr txBox="1"/>
          <p:nvPr>
            <p:ph type="title"/>
          </p:nvPr>
        </p:nvSpPr>
        <p:spPr>
          <a:xfrm>
            <a:off x="1066800" y="609601"/>
            <a:ext cx="3940277" cy="75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Height:</a:t>
            </a:r>
            <a:endParaRPr sz="4800"/>
          </a:p>
        </p:txBody>
      </p:sp>
      <p:sp>
        <p:nvSpPr>
          <p:cNvPr id="214" name="Google Shape;214;p36"/>
          <p:cNvSpPr txBox="1"/>
          <p:nvPr/>
        </p:nvSpPr>
        <p:spPr>
          <a:xfrm>
            <a:off x="10247121" y="6442786"/>
            <a:ext cx="182880" cy="204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6"/>
          <p:cNvSpPr txBox="1"/>
          <p:nvPr/>
        </p:nvSpPr>
        <p:spPr>
          <a:xfrm>
            <a:off x="914401" y="1600200"/>
            <a:ext cx="8991372" cy="3799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4965" marR="5080" rtl="0" algn="l"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900"/>
              <a:buFont typeface="Noto Sans Symbols"/>
              <a:buChar char="■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It increases about 10 to 12.5 cm/year.1-2  years increases 1 cm /month.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342900" lvl="0" marL="354965" marR="770255" rtl="0" algn="l">
              <a:spcBef>
                <a:spcPts val="770"/>
              </a:spcBef>
              <a:spcAft>
                <a:spcPts val="0"/>
              </a:spcAft>
              <a:buClr>
                <a:srgbClr val="B8AC47"/>
              </a:buClr>
              <a:buSzPts val="1900"/>
              <a:buFont typeface="Noto Sans Symbols"/>
              <a:buChar char="■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Formula to calculate normal height of  children over 1 year of age:</a:t>
            </a:r>
            <a:endParaRPr/>
          </a:p>
          <a:p>
            <a:pPr indent="0" lvl="0" marL="393065" rtl="0" algn="l">
              <a:spcBef>
                <a:spcPts val="770"/>
              </a:spcBef>
              <a:spcAft>
                <a:spcPts val="0"/>
              </a:spcAft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(Age in years x 5 + 80 = -----cm)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507999" lvl="0" marL="901064" marR="155448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E.g. length of 2 years old child =  (2 x 5)+ 80 = 90 cm.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7"/>
          <p:cNvSpPr txBox="1"/>
          <p:nvPr>
            <p:ph type="title"/>
          </p:nvPr>
        </p:nvSpPr>
        <p:spPr>
          <a:xfrm>
            <a:off x="1066800" y="228600"/>
            <a:ext cx="6277839" cy="141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Head and Chest </a:t>
            </a:r>
            <a:r>
              <a:rPr lang="en-US" sz="4400" u="none"/>
              <a:t> Circumferences:</a:t>
            </a:r>
            <a:endParaRPr sz="4400"/>
          </a:p>
        </p:txBody>
      </p:sp>
      <p:sp>
        <p:nvSpPr>
          <p:cNvPr id="221" name="Google Shape;221;p37"/>
          <p:cNvSpPr/>
          <p:nvPr/>
        </p:nvSpPr>
        <p:spPr>
          <a:xfrm>
            <a:off x="2766377" y="1556003"/>
            <a:ext cx="4569460" cy="55244"/>
          </a:xfrm>
          <a:custGeom>
            <a:rect b="b" l="l" r="r" t="t"/>
            <a:pathLst>
              <a:path extrusionOk="0" h="55244" w="4569460">
                <a:moveTo>
                  <a:pt x="4569015" y="0"/>
                </a:moveTo>
                <a:lnTo>
                  <a:pt x="0" y="0"/>
                </a:lnTo>
                <a:lnTo>
                  <a:pt x="0" y="54863"/>
                </a:lnTo>
                <a:lnTo>
                  <a:pt x="4569015" y="54863"/>
                </a:lnTo>
                <a:lnTo>
                  <a:pt x="4569015" y="0"/>
                </a:lnTo>
                <a:close/>
              </a:path>
            </a:pathLst>
          </a:custGeom>
          <a:solidFill>
            <a:srgbClr val="6A407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2" name="Google Shape;222;p37"/>
          <p:cNvSpPr txBox="1"/>
          <p:nvPr/>
        </p:nvSpPr>
        <p:spPr>
          <a:xfrm>
            <a:off x="1066800" y="1981200"/>
            <a:ext cx="9249257" cy="3674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4965" marR="5080" rtl="0" algn="l"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069"/>
              <a:buFont typeface="Noto Sans Symbols"/>
              <a:buChar char="■"/>
            </a:pPr>
            <a:r>
              <a:rPr lang="en-US" sz="1800"/>
              <a:t>	</a:t>
            </a:r>
            <a:r>
              <a:rPr lang="en-US" sz="3200">
                <a:latin typeface="Arial"/>
                <a:ea typeface="Arial"/>
                <a:cs typeface="Arial"/>
                <a:sym typeface="Arial"/>
              </a:rPr>
              <a:t>From 1 year to adult the head increases 10  cm only.</a:t>
            </a:r>
            <a:endParaRPr/>
          </a:p>
          <a:p>
            <a:pPr indent="-342900" lvl="0" marL="354965" marR="248920" rtl="0" algn="l">
              <a:spcBef>
                <a:spcPts val="770"/>
              </a:spcBef>
              <a:spcAft>
                <a:spcPts val="0"/>
              </a:spcAft>
              <a:buClr>
                <a:srgbClr val="B8AC47"/>
              </a:buClr>
              <a:buSzPts val="1069"/>
              <a:buFont typeface="Noto Sans Symbols"/>
              <a:buChar char="■"/>
            </a:pPr>
            <a:r>
              <a:rPr lang="en-US" sz="1800"/>
              <a:t>	</a:t>
            </a:r>
            <a:r>
              <a:rPr lang="en-US" sz="3200">
                <a:latin typeface="Arial"/>
                <a:ea typeface="Arial"/>
                <a:cs typeface="Arial"/>
                <a:sym typeface="Arial"/>
              </a:rPr>
              <a:t>During toddler years, chest circumference  continues to increase in size and exceeds  head circumference.</a:t>
            </a:r>
            <a:endParaRPr/>
          </a:p>
          <a:p>
            <a:pPr indent="-342900" lvl="0" marL="354965" marR="578485" rtl="0" algn="l">
              <a:spcBef>
                <a:spcPts val="770"/>
              </a:spcBef>
              <a:spcAft>
                <a:spcPts val="0"/>
              </a:spcAft>
              <a:buClr>
                <a:srgbClr val="B8AC47"/>
              </a:buClr>
              <a:buSzPts val="1900"/>
              <a:buFont typeface="Noto Sans Symbols"/>
              <a:buChar char="■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Anterior fontanel closes between 12 - 18  months of age.</a:t>
            </a:r>
            <a:endParaRPr/>
          </a:p>
        </p:txBody>
      </p:sp>
      <p:sp>
        <p:nvSpPr>
          <p:cNvPr id="223" name="Google Shape;223;p37"/>
          <p:cNvSpPr txBox="1"/>
          <p:nvPr/>
        </p:nvSpPr>
        <p:spPr>
          <a:xfrm>
            <a:off x="10247121" y="6442785"/>
            <a:ext cx="182880" cy="42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/>
          <p:nvPr/>
        </p:nvSpPr>
        <p:spPr>
          <a:xfrm>
            <a:off x="990600" y="609600"/>
            <a:ext cx="9223693" cy="4849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0" lvl="0" marL="123825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latin typeface="Arial"/>
                <a:ea typeface="Arial"/>
                <a:cs typeface="Arial"/>
                <a:sym typeface="Arial"/>
              </a:rPr>
              <a:t>Teething: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346710" marR="24574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By 2 years primary dentition of 16 teeth and  20 teeth by 30 months (2 1/2 years).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spcBef>
                <a:spcPts val="675"/>
              </a:spcBef>
              <a:spcAft>
                <a:spcPts val="0"/>
              </a:spcAft>
              <a:buNone/>
            </a:pPr>
            <a:r>
              <a:rPr b="1" lang="en-US" sz="2800" u="sng">
                <a:latin typeface="Arial"/>
                <a:ea typeface="Arial"/>
                <a:cs typeface="Arial"/>
                <a:sym typeface="Arial"/>
              </a:rPr>
              <a:t> Abdomen: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5080" rtl="0" algn="l">
              <a:spcBef>
                <a:spcPts val="67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It is a protruded and toddler appears pot-  belled because of the immature abdominal  musculature. Abdomen flattening results from  development of abdominal muscles.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231140" rtl="0" algn="just">
              <a:spcBef>
                <a:spcPts val="675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Bow-legs typically persist along toddlerhood  since they must bear the weight of the large  trunk.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8"/>
          <p:cNvSpPr txBox="1"/>
          <p:nvPr/>
        </p:nvSpPr>
        <p:spPr>
          <a:xfrm>
            <a:off x="10178034" y="6442786"/>
            <a:ext cx="214629" cy="204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10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/>
          <p:nvPr/>
        </p:nvSpPr>
        <p:spPr>
          <a:xfrm>
            <a:off x="990600" y="609600"/>
            <a:ext cx="9261347" cy="4583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latin typeface="Arial"/>
                <a:ea typeface="Arial"/>
                <a:cs typeface="Arial"/>
                <a:sym typeface="Arial"/>
              </a:rPr>
              <a:t>Bowel and bladder control: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34010" lvl="0" marL="346075" marR="508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Daytime control of bladder and bowel control  by 24 - 30 months.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spcBef>
                <a:spcPts val="675"/>
              </a:spcBef>
              <a:spcAft>
                <a:spcPts val="0"/>
              </a:spcAft>
              <a:buNone/>
            </a:pPr>
            <a:r>
              <a:rPr b="1" lang="en-US" sz="2800" u="sng">
                <a:latin typeface="Arial"/>
                <a:ea typeface="Arial"/>
                <a:cs typeface="Arial"/>
                <a:sym typeface="Arial"/>
              </a:rPr>
              <a:t>Senses: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344170" rtl="0" algn="l">
              <a:lnSpc>
                <a:spcPct val="118214"/>
              </a:lnSpc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Visual acuity of </a:t>
            </a:r>
            <a:r>
              <a:rPr b="1" lang="en-US" sz="2800">
                <a:solidFill>
                  <a:srgbClr val="B3CE82"/>
                </a:solidFill>
                <a:latin typeface="Arial"/>
                <a:ea typeface="Arial"/>
                <a:cs typeface="Arial"/>
                <a:sym typeface="Arial"/>
              </a:rPr>
              <a:t>6/6 </a:t>
            </a:r>
            <a:r>
              <a:rPr lang="en-US" sz="2800">
                <a:latin typeface="Arial"/>
                <a:ea typeface="Arial"/>
                <a:cs typeface="Arial"/>
                <a:sym typeface="Arial"/>
              </a:rPr>
              <a:t>is achieved during this  period.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511809" rtl="0" algn="l">
              <a:spcBef>
                <a:spcPts val="62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Senses of smell, hearing, touch, and taste  increasingly well developed.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rtl="0" algn="l">
              <a:spcBef>
                <a:spcPts val="675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Accommodation well developed.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/>
          <p:nvPr>
            <p:ph type="title"/>
          </p:nvPr>
        </p:nvSpPr>
        <p:spPr>
          <a:xfrm>
            <a:off x="990601" y="838201"/>
            <a:ext cx="8097774" cy="690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Physiological Growth:</a:t>
            </a:r>
            <a:endParaRPr sz="4400"/>
          </a:p>
        </p:txBody>
      </p:sp>
      <p:sp>
        <p:nvSpPr>
          <p:cNvPr id="240" name="Google Shape;240;p40"/>
          <p:cNvSpPr txBox="1"/>
          <p:nvPr/>
        </p:nvSpPr>
        <p:spPr>
          <a:xfrm>
            <a:off x="990600" y="1905001"/>
            <a:ext cx="9359137" cy="2711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5600" marR="1631950" rtl="0" algn="l"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900"/>
              <a:buFont typeface="Noto Sans Symbols"/>
              <a:buChar char="■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* Pulse: 80-130 beats / minute  (average 110 / min)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rtl="0" algn="l">
              <a:spcBef>
                <a:spcPts val="770"/>
              </a:spcBef>
              <a:spcAft>
                <a:spcPts val="0"/>
              </a:spcAft>
              <a:buClr>
                <a:srgbClr val="B8AC47"/>
              </a:buClr>
              <a:buSzPts val="1900"/>
              <a:buFont typeface="Noto Sans Symbols"/>
              <a:buChar char="■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* Respiration: 20-30 breath / min.</a:t>
            </a:r>
            <a:endParaRPr/>
          </a:p>
          <a:p>
            <a:pPr indent="-354965" lvl="0" marL="354965" marR="508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900"/>
              <a:buFont typeface="Noto Sans Symbols"/>
              <a:buChar char="■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*Blood pressure: Systolic 95-105mm Hg  Diastolic 53-66 mm Hg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1"/>
          <p:cNvSpPr txBox="1"/>
          <p:nvPr>
            <p:ph type="title"/>
          </p:nvPr>
        </p:nvSpPr>
        <p:spPr>
          <a:xfrm>
            <a:off x="2755494" y="320497"/>
            <a:ext cx="578548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Motor Development:</a:t>
            </a:r>
            <a:endParaRPr sz="4400"/>
          </a:p>
        </p:txBody>
      </p:sp>
      <p:grpSp>
        <p:nvGrpSpPr>
          <p:cNvPr id="246" name="Google Shape;246;p41"/>
          <p:cNvGrpSpPr/>
          <p:nvPr/>
        </p:nvGrpSpPr>
        <p:grpSpPr>
          <a:xfrm>
            <a:off x="1905001" y="1111250"/>
            <a:ext cx="8669655" cy="5149850"/>
            <a:chOff x="381000" y="1111250"/>
            <a:chExt cx="8669655" cy="5149850"/>
          </a:xfrm>
        </p:grpSpPr>
        <p:sp>
          <p:nvSpPr>
            <p:cNvPr id="247" name="Google Shape;247;p41"/>
            <p:cNvSpPr/>
            <p:nvPr/>
          </p:nvSpPr>
          <p:spPr>
            <a:xfrm>
              <a:off x="4932426" y="1111250"/>
              <a:ext cx="0" cy="5149850"/>
            </a:xfrm>
            <a:custGeom>
              <a:rect b="b" l="l" r="r" t="t"/>
              <a:pathLst>
                <a:path extrusionOk="0" h="5149850" w="120000">
                  <a:moveTo>
                    <a:pt x="0" y="0"/>
                  </a:moveTo>
                  <a:lnTo>
                    <a:pt x="0" y="514985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8" name="Google Shape;248;p41"/>
            <p:cNvSpPr/>
            <p:nvPr/>
          </p:nvSpPr>
          <p:spPr>
            <a:xfrm>
              <a:off x="1908175" y="1111250"/>
              <a:ext cx="0" cy="5149850"/>
            </a:xfrm>
            <a:custGeom>
              <a:rect b="b" l="l" r="r" t="t"/>
              <a:pathLst>
                <a:path extrusionOk="0" h="5149850" w="120000">
                  <a:moveTo>
                    <a:pt x="0" y="0"/>
                  </a:moveTo>
                  <a:lnTo>
                    <a:pt x="0" y="514985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9" name="Google Shape;249;p41"/>
            <p:cNvSpPr/>
            <p:nvPr/>
          </p:nvSpPr>
          <p:spPr>
            <a:xfrm>
              <a:off x="381000" y="2314575"/>
              <a:ext cx="8669655" cy="0"/>
            </a:xfrm>
            <a:custGeom>
              <a:rect b="b" l="l" r="r" t="t"/>
              <a:pathLst>
                <a:path extrusionOk="0" h="120000" w="8669655">
                  <a:moveTo>
                    <a:pt x="0" y="0"/>
                  </a:moveTo>
                  <a:lnTo>
                    <a:pt x="8669274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0" name="Google Shape;250;p41"/>
            <p:cNvSpPr/>
            <p:nvPr/>
          </p:nvSpPr>
          <p:spPr>
            <a:xfrm>
              <a:off x="381000" y="1111250"/>
              <a:ext cx="8669655" cy="5149850"/>
            </a:xfrm>
            <a:custGeom>
              <a:rect b="b" l="l" r="r" t="t"/>
              <a:pathLst>
                <a:path extrusionOk="0" h="5149850" w="8669655">
                  <a:moveTo>
                    <a:pt x="8655050" y="0"/>
                  </a:moveTo>
                  <a:lnTo>
                    <a:pt x="8655050" y="5149850"/>
                  </a:lnTo>
                </a:path>
                <a:path extrusionOk="0" h="5149850" w="8669655">
                  <a:moveTo>
                    <a:pt x="14287" y="0"/>
                  </a:moveTo>
                  <a:lnTo>
                    <a:pt x="14287" y="5149850"/>
                  </a:lnTo>
                </a:path>
                <a:path extrusionOk="0" h="5149850" w="8669655">
                  <a:moveTo>
                    <a:pt x="0" y="14350"/>
                  </a:moveTo>
                  <a:lnTo>
                    <a:pt x="8669274" y="14350"/>
                  </a:lnTo>
                </a:path>
                <a:path extrusionOk="0" h="5149850" w="8669655">
                  <a:moveTo>
                    <a:pt x="0" y="5135562"/>
                  </a:moveTo>
                  <a:lnTo>
                    <a:pt x="8669274" y="5135562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51" name="Google Shape;251;p41"/>
          <p:cNvSpPr txBox="1"/>
          <p:nvPr/>
        </p:nvSpPr>
        <p:spPr>
          <a:xfrm>
            <a:off x="1998066" y="1143761"/>
            <a:ext cx="6786245" cy="112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Age in	Gross Motor	Fine Motor  month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41"/>
          <p:cNvSpPr txBox="1"/>
          <p:nvPr/>
        </p:nvSpPr>
        <p:spPr>
          <a:xfrm>
            <a:off x="6535928" y="2336037"/>
            <a:ext cx="3629660" cy="3387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98424" lvl="0" marL="12700" marR="675005" rtl="0" algn="l"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550"/>
              <a:buFont typeface="Noto Sans Symbols"/>
              <a:buChar char="■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Builds tower of 2-3  blocks.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0020" lvl="0" marL="172085" rtl="0" algn="l">
              <a:spcBef>
                <a:spcPts val="675"/>
              </a:spcBef>
              <a:spcAft>
                <a:spcPts val="0"/>
              </a:spcAft>
              <a:buClr>
                <a:srgbClr val="B8AC47"/>
              </a:buClr>
              <a:buSzPts val="1550"/>
              <a:buFont typeface="Noto Sans Symbols"/>
              <a:buChar char="■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Open boxes.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8424" lvl="0" marL="12700" marR="264160" rtl="0" algn="l">
              <a:spcBef>
                <a:spcPts val="670"/>
              </a:spcBef>
              <a:spcAft>
                <a:spcPts val="0"/>
              </a:spcAft>
              <a:buClr>
                <a:srgbClr val="B8AC47"/>
              </a:buClr>
              <a:buSzPts val="1550"/>
              <a:buFont typeface="Noto Sans Symbols"/>
              <a:buChar char="■"/>
            </a:pPr>
            <a:r>
              <a:rPr lang="en-US" sz="2800" u="sng">
                <a:latin typeface="Times New Roman"/>
                <a:ea typeface="Times New Roman"/>
                <a:cs typeface="Times New Roman"/>
                <a:sym typeface="Times New Roman"/>
              </a:rPr>
              <a:t>Holds a cup with all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u="sng">
                <a:latin typeface="Times New Roman"/>
                <a:ea typeface="Times New Roman"/>
                <a:cs typeface="Times New Roman"/>
                <a:sym typeface="Times New Roman"/>
              </a:rPr>
              <a:t>fingers grasped about it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0655" lvl="0" marL="172720" rtl="0" algn="l">
              <a:spcBef>
                <a:spcPts val="675"/>
              </a:spcBef>
              <a:spcAft>
                <a:spcPts val="0"/>
              </a:spcAft>
              <a:buClr>
                <a:srgbClr val="B8AC47"/>
              </a:buClr>
              <a:buSzPts val="1550"/>
              <a:buFont typeface="Noto Sans Symbols"/>
              <a:buChar char="■"/>
            </a:pPr>
            <a:r>
              <a:rPr lang="en-US" sz="2800" u="sng">
                <a:latin typeface="Times New Roman"/>
                <a:ea typeface="Times New Roman"/>
                <a:cs typeface="Times New Roman"/>
                <a:sym typeface="Times New Roman"/>
              </a:rPr>
              <a:t>Make line with crayon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0020" lvl="0" marL="172085" rtl="0" algn="l">
              <a:spcBef>
                <a:spcPts val="675"/>
              </a:spcBef>
              <a:spcAft>
                <a:spcPts val="0"/>
              </a:spcAft>
              <a:buClr>
                <a:srgbClr val="B8AC47"/>
              </a:buClr>
              <a:buSzPts val="1550"/>
              <a:buFont typeface="Noto Sans Symbols"/>
              <a:buChar char="■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Scribbles spontaneously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41"/>
          <p:cNvSpPr txBox="1"/>
          <p:nvPr/>
        </p:nvSpPr>
        <p:spPr>
          <a:xfrm>
            <a:off x="3511423" y="2250084"/>
            <a:ext cx="2839720" cy="3354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-160020" lvl="0" marL="172085" rtl="0" algn="l"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550"/>
              <a:buFont typeface="Noto Sans Symbols"/>
              <a:buChar char="■"/>
            </a:pPr>
            <a:r>
              <a:rPr lang="en-US" sz="2800" u="sng">
                <a:latin typeface="Times New Roman"/>
                <a:ea typeface="Times New Roman"/>
                <a:cs typeface="Times New Roman"/>
                <a:sym typeface="Times New Roman"/>
              </a:rPr>
              <a:t>Walks alone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0020" lvl="0" marL="172085" rtl="0" algn="l">
              <a:spcBef>
                <a:spcPts val="675"/>
              </a:spcBef>
              <a:spcAft>
                <a:spcPts val="0"/>
              </a:spcAft>
              <a:buClr>
                <a:srgbClr val="B8AC47"/>
              </a:buClr>
              <a:buSzPts val="1550"/>
              <a:buFont typeface="Noto Sans Symbols"/>
              <a:buChar char="■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Creeps upstairs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8424" lvl="0" marL="12700" marR="83185" rtl="0" algn="l">
              <a:spcBef>
                <a:spcPts val="675"/>
              </a:spcBef>
              <a:spcAft>
                <a:spcPts val="0"/>
              </a:spcAft>
              <a:buClr>
                <a:srgbClr val="B8AC47"/>
              </a:buClr>
              <a:buSzPts val="1550"/>
              <a:buFont typeface="Noto Sans Symbols"/>
              <a:buChar char="■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Assumes standing  position without  support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8424" lvl="0" marL="12700" marR="5080" rtl="0" algn="l">
              <a:spcBef>
                <a:spcPts val="670"/>
              </a:spcBef>
              <a:spcAft>
                <a:spcPts val="0"/>
              </a:spcAft>
              <a:buClr>
                <a:srgbClr val="B8AC47"/>
              </a:buClr>
              <a:buSzPts val="1550"/>
              <a:buFont typeface="Noto Sans Symbols"/>
              <a:buChar char="■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Can not throw ball  without falling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41"/>
          <p:cNvSpPr txBox="1"/>
          <p:nvPr/>
        </p:nvSpPr>
        <p:spPr>
          <a:xfrm>
            <a:off x="1972666" y="2229357"/>
            <a:ext cx="64452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n-US" sz="42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b="1" lang="en-US" sz="185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42"/>
          <p:cNvGrpSpPr/>
          <p:nvPr/>
        </p:nvGrpSpPr>
        <p:grpSpPr>
          <a:xfrm>
            <a:off x="1689100" y="822326"/>
            <a:ext cx="8742680" cy="5460365"/>
            <a:chOff x="165100" y="822325"/>
            <a:chExt cx="8742680" cy="5460365"/>
          </a:xfrm>
        </p:grpSpPr>
        <p:sp>
          <p:nvSpPr>
            <p:cNvPr id="260" name="Google Shape;260;p42"/>
            <p:cNvSpPr/>
            <p:nvPr/>
          </p:nvSpPr>
          <p:spPr>
            <a:xfrm>
              <a:off x="1619250" y="822325"/>
              <a:ext cx="3670300" cy="5460365"/>
            </a:xfrm>
            <a:custGeom>
              <a:rect b="b" l="l" r="r" t="t"/>
              <a:pathLst>
                <a:path extrusionOk="0" h="5460365" w="3670300">
                  <a:moveTo>
                    <a:pt x="3670300" y="0"/>
                  </a:moveTo>
                  <a:lnTo>
                    <a:pt x="3670300" y="5460060"/>
                  </a:lnTo>
                </a:path>
                <a:path extrusionOk="0" h="5460365" w="3670300">
                  <a:moveTo>
                    <a:pt x="0" y="0"/>
                  </a:moveTo>
                  <a:lnTo>
                    <a:pt x="0" y="546006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1" name="Google Shape;261;p42"/>
            <p:cNvSpPr/>
            <p:nvPr/>
          </p:nvSpPr>
          <p:spPr>
            <a:xfrm>
              <a:off x="165100" y="822325"/>
              <a:ext cx="8742680" cy="5460365"/>
            </a:xfrm>
            <a:custGeom>
              <a:rect b="b" l="l" r="r" t="t"/>
              <a:pathLst>
                <a:path extrusionOk="0" h="5460365" w="8742680">
                  <a:moveTo>
                    <a:pt x="8728075" y="0"/>
                  </a:moveTo>
                  <a:lnTo>
                    <a:pt x="8728075" y="5460060"/>
                  </a:lnTo>
                </a:path>
                <a:path extrusionOk="0" h="5460365" w="8742680">
                  <a:moveTo>
                    <a:pt x="14287" y="0"/>
                  </a:moveTo>
                  <a:lnTo>
                    <a:pt x="14287" y="5460060"/>
                  </a:lnTo>
                </a:path>
                <a:path extrusionOk="0" h="5460365" w="8742680">
                  <a:moveTo>
                    <a:pt x="0" y="14350"/>
                  </a:moveTo>
                  <a:lnTo>
                    <a:pt x="8742299" y="14350"/>
                  </a:lnTo>
                </a:path>
                <a:path extrusionOk="0" h="5460365" w="8742680">
                  <a:moveTo>
                    <a:pt x="0" y="5445772"/>
                  </a:moveTo>
                  <a:lnTo>
                    <a:pt x="8742299" y="5445772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62" name="Google Shape;262;p42"/>
          <p:cNvSpPr txBox="1"/>
          <p:nvPr/>
        </p:nvSpPr>
        <p:spPr>
          <a:xfrm>
            <a:off x="6893179" y="868122"/>
            <a:ext cx="3286125" cy="75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37795" lvl="0" marL="149860" rtl="0" algn="l"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350"/>
              <a:buFont typeface="Noto Sans Symbols"/>
              <a:buChar char="■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Build a tower of 3 to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4 blocks.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42"/>
          <p:cNvSpPr txBox="1"/>
          <p:nvPr/>
        </p:nvSpPr>
        <p:spPr>
          <a:xfrm>
            <a:off x="6893179" y="2112086"/>
            <a:ext cx="3408045" cy="3977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37795" lvl="0" marL="149860" rtl="0" algn="l"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350"/>
              <a:buFont typeface="Noto Sans Symbols"/>
              <a:buChar char="■"/>
            </a:pPr>
            <a:r>
              <a:rPr b="1" lang="en-US" sz="2400" u="sng">
                <a:latin typeface="Arial"/>
                <a:ea typeface="Arial"/>
                <a:cs typeface="Arial"/>
                <a:sym typeface="Arial"/>
              </a:rPr>
              <a:t>Removes simple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latin typeface="Arial"/>
                <a:ea typeface="Arial"/>
                <a:cs typeface="Arial"/>
                <a:sym typeface="Arial"/>
              </a:rPr>
              <a:t>clothes, e.g. shoes.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85725" lvl="0" marL="12700" marR="699135" rtl="0" algn="l">
              <a:spcBef>
                <a:spcPts val="575"/>
              </a:spcBef>
              <a:spcAft>
                <a:spcPts val="0"/>
              </a:spcAft>
              <a:buClr>
                <a:srgbClr val="B8AC47"/>
              </a:buClr>
              <a:buSzPts val="1350"/>
              <a:buFont typeface="Noto Sans Symbols"/>
              <a:buChar char="■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Hold cup with both  hands.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85725" lvl="0" marL="12700" marR="436880" rtl="0" algn="l">
              <a:spcBef>
                <a:spcPts val="580"/>
              </a:spcBef>
              <a:spcAft>
                <a:spcPts val="0"/>
              </a:spcAft>
              <a:buClr>
                <a:srgbClr val="B8AC47"/>
              </a:buClr>
              <a:buSzPts val="1350"/>
              <a:buFont typeface="Noto Sans Symbols"/>
              <a:buChar char="■"/>
            </a:pPr>
            <a:r>
              <a:rPr b="1" lang="en-US" sz="2400" u="sng">
                <a:latin typeface="Arial"/>
                <a:ea typeface="Arial"/>
                <a:cs typeface="Arial"/>
                <a:sym typeface="Arial"/>
              </a:rPr>
              <a:t>Imitates a vertical 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2400" u="sng">
                <a:latin typeface="Arial"/>
                <a:ea typeface="Arial"/>
                <a:cs typeface="Arial"/>
                <a:sym typeface="Arial"/>
              </a:rPr>
              <a:t>line.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85725" lvl="0" marL="12700" marR="5080" rtl="0" algn="l">
              <a:spcBef>
                <a:spcPts val="575"/>
              </a:spcBef>
              <a:spcAft>
                <a:spcPts val="0"/>
              </a:spcAft>
              <a:buClr>
                <a:srgbClr val="B8AC47"/>
              </a:buClr>
              <a:buSzPts val="1350"/>
              <a:buFont typeface="Noto Sans Symbols"/>
              <a:buChar char="■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Eats with spoon, turns  spoon in mouth but spills  frequently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37795" lvl="0" marL="149860" rtl="0" algn="l">
              <a:spcBef>
                <a:spcPts val="580"/>
              </a:spcBef>
              <a:spcAft>
                <a:spcPts val="0"/>
              </a:spcAft>
              <a:buClr>
                <a:srgbClr val="B8AC47"/>
              </a:buClr>
              <a:buSzPts val="1350"/>
              <a:buFont typeface="Noto Sans Symbols"/>
              <a:buChar char="■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May play with food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2"/>
          <p:cNvSpPr txBox="1"/>
          <p:nvPr/>
        </p:nvSpPr>
        <p:spPr>
          <a:xfrm>
            <a:off x="3222498" y="868122"/>
            <a:ext cx="3153410" cy="75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37795" lvl="0" marL="149860" rtl="0" algn="l"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350"/>
              <a:buFont typeface="Noto Sans Symbols"/>
              <a:buChar char="■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Run clumsily (often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falls).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2"/>
          <p:cNvSpPr txBox="1"/>
          <p:nvPr/>
        </p:nvSpPr>
        <p:spPr>
          <a:xfrm>
            <a:off x="3222498" y="2112086"/>
            <a:ext cx="3187700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37795" lvl="0" marL="149860" rtl="0" algn="l"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350"/>
              <a:buFont typeface="Noto Sans Symbols"/>
              <a:buChar char="■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Walks backward and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sideways.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85725" lvl="0" marL="12700" marR="5080" rtl="0" algn="l">
              <a:spcBef>
                <a:spcPts val="575"/>
              </a:spcBef>
              <a:spcAft>
                <a:spcPts val="0"/>
              </a:spcAft>
              <a:buClr>
                <a:srgbClr val="B8AC47"/>
              </a:buClr>
              <a:buSzPts val="1350"/>
              <a:buFont typeface="Noto Sans Symbols"/>
              <a:buChar char="■"/>
            </a:pPr>
            <a:r>
              <a:rPr b="1" lang="en-US" sz="2400" u="sng">
                <a:latin typeface="Arial"/>
                <a:ea typeface="Arial"/>
                <a:cs typeface="Arial"/>
                <a:sym typeface="Arial"/>
              </a:rPr>
              <a:t>Walks upstairs with 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2400" u="sng">
                <a:latin typeface="Arial"/>
                <a:ea typeface="Arial"/>
                <a:cs typeface="Arial"/>
                <a:sym typeface="Arial"/>
              </a:rPr>
              <a:t>one hand held.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85725" lvl="0" marL="12700" marR="377190" rtl="0" algn="l">
              <a:spcBef>
                <a:spcPts val="580"/>
              </a:spcBef>
              <a:spcAft>
                <a:spcPts val="0"/>
              </a:spcAft>
              <a:buClr>
                <a:srgbClr val="B8AC47"/>
              </a:buClr>
              <a:buSzPts val="1350"/>
              <a:buFont typeface="Noto Sans Symbols"/>
              <a:buChar char="■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Jumps in place with  both feet.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85725" lvl="0" marL="12700" marR="132715" rtl="0" algn="l">
              <a:spcBef>
                <a:spcPts val="575"/>
              </a:spcBef>
              <a:spcAft>
                <a:spcPts val="0"/>
              </a:spcAft>
              <a:buClr>
                <a:srgbClr val="B8AC47"/>
              </a:buClr>
              <a:buSzPts val="1350"/>
              <a:buFont typeface="Noto Sans Symbols"/>
              <a:buChar char="■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Throws ball overhand  without falling.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37795" lvl="0" marL="149860" rtl="0" algn="l">
              <a:spcBef>
                <a:spcPts val="580"/>
              </a:spcBef>
              <a:spcAft>
                <a:spcPts val="0"/>
              </a:spcAft>
              <a:buClr>
                <a:srgbClr val="B8AC47"/>
              </a:buClr>
              <a:buSzPts val="1350"/>
              <a:buFont typeface="Noto Sans Symbols"/>
              <a:buChar char="■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Climbs on furniture.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37795" lvl="0" marL="149860" rtl="0" algn="l">
              <a:spcBef>
                <a:spcPts val="1070"/>
              </a:spcBef>
              <a:spcAft>
                <a:spcPts val="0"/>
              </a:spcAft>
              <a:buClr>
                <a:srgbClr val="B8AC47"/>
              </a:buClr>
              <a:buSzPts val="1350"/>
              <a:buFont typeface="Noto Sans Symbols"/>
              <a:buChar char="■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Seats self on chair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2"/>
          <p:cNvSpPr txBox="1"/>
          <p:nvPr/>
        </p:nvSpPr>
        <p:spPr>
          <a:xfrm>
            <a:off x="1782268" y="817840"/>
            <a:ext cx="1179195" cy="857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85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18th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months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/>
          <p:nvPr/>
        </p:nvSpPr>
        <p:spPr>
          <a:xfrm>
            <a:off x="7134605" y="364998"/>
            <a:ext cx="3316604" cy="163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85725" lvl="0" marL="12700" marR="5080" rtl="0" algn="l"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350"/>
              <a:buFont typeface="Noto Sans Symbols"/>
              <a:buChar char="■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Builds a tower of 6 to 7  blocks.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0495" lvl="0" marL="150495" marR="58293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350"/>
              <a:buFont typeface="Noto Sans Symbols"/>
              <a:buChar char="■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Holds cup with one  hand.</a:t>
            </a:r>
            <a:endParaRPr/>
          </a:p>
        </p:txBody>
      </p:sp>
      <p:sp>
        <p:nvSpPr>
          <p:cNvPr id="272" name="Google Shape;272;p43"/>
          <p:cNvSpPr txBox="1"/>
          <p:nvPr>
            <p:ph idx="2" type="body"/>
          </p:nvPr>
        </p:nvSpPr>
        <p:spPr>
          <a:xfrm>
            <a:off x="7134605" y="2000123"/>
            <a:ext cx="4044527" cy="4446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25">
            <a:spAutoFit/>
          </a:bodyPr>
          <a:lstStyle/>
          <a:p>
            <a:pPr indent="-137160" lvl="0" marL="137160" marR="377190" rtl="0" algn="l"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350"/>
              <a:buFont typeface="Noto Sans Symbols"/>
              <a:buChar char="■"/>
            </a:pPr>
            <a:r>
              <a:rPr lang="en-US"/>
              <a:t>Opens the door by</a:t>
            </a:r>
            <a:endParaRPr/>
          </a:p>
          <a:p>
            <a:pPr indent="0" lvl="0" marL="0" marR="314960" rtl="0" algn="l">
              <a:spcBef>
                <a:spcPts val="580"/>
              </a:spcBef>
              <a:spcAft>
                <a:spcPts val="0"/>
              </a:spcAft>
              <a:buNone/>
            </a:pPr>
            <a:r>
              <a:rPr lang="en-US"/>
              <a:t>turning doorknob.</a:t>
            </a:r>
            <a:endParaRPr/>
          </a:p>
          <a:p>
            <a:pPr indent="-137795" lvl="0" marL="150495" rtl="0" algn="l">
              <a:spcBef>
                <a:spcPts val="575"/>
              </a:spcBef>
              <a:spcAft>
                <a:spcPts val="0"/>
              </a:spcAft>
              <a:buClr>
                <a:srgbClr val="B8AC47"/>
              </a:buClr>
              <a:buSzPts val="1350"/>
              <a:buFont typeface="Noto Sans Symbols"/>
              <a:buChar char="■"/>
            </a:pPr>
            <a:r>
              <a:rPr b="1" lang="en-US" u="sng"/>
              <a:t>Imitates circle </a:t>
            </a:r>
            <a:r>
              <a:rPr b="1" lang="en-US" u="sng">
                <a:latin typeface="Arial"/>
                <a:ea typeface="Arial"/>
                <a:cs typeface="Arial"/>
                <a:sym typeface="Arial"/>
              </a:rPr>
              <a:t>and</a:t>
            </a:r>
            <a:endParaRPr/>
          </a:p>
          <a:p>
            <a:pPr indent="0" lvl="0" marL="12700" rtl="0" algn="l">
              <a:spcBef>
                <a:spcPts val="580"/>
              </a:spcBef>
              <a:spcAft>
                <a:spcPts val="0"/>
              </a:spcAft>
              <a:buNone/>
            </a:pPr>
            <a:r>
              <a:rPr b="1" lang="en-US" u="sng">
                <a:latin typeface="Arial"/>
                <a:ea typeface="Arial"/>
                <a:cs typeface="Arial"/>
                <a:sym typeface="Arial"/>
              </a:rPr>
              <a:t> 	</a:t>
            </a:r>
            <a:r>
              <a:rPr b="1" lang="en-US" u="sng"/>
              <a:t>horizontal stroke.</a:t>
            </a:r>
            <a:endParaRPr/>
          </a:p>
          <a:p>
            <a:pPr indent="-137795" lvl="0" marL="150495" rtl="0" algn="l">
              <a:spcBef>
                <a:spcPts val="575"/>
              </a:spcBef>
              <a:spcAft>
                <a:spcPts val="0"/>
              </a:spcAft>
              <a:buClr>
                <a:srgbClr val="B8AC47"/>
              </a:buClr>
              <a:buSzPts val="1350"/>
              <a:buFont typeface="Noto Sans Symbols"/>
              <a:buChar char="■"/>
            </a:pPr>
            <a:r>
              <a:rPr lang="en-US"/>
              <a:t>Unscrews lid of a jar.</a:t>
            </a:r>
            <a:endParaRPr/>
          </a:p>
          <a:p>
            <a:pPr indent="-151130" lvl="0" marL="151130" marR="552450" rtl="0" algn="l">
              <a:lnSpc>
                <a:spcPct val="144166"/>
              </a:lnSpc>
              <a:spcBef>
                <a:spcPts val="204"/>
              </a:spcBef>
              <a:spcAft>
                <a:spcPts val="0"/>
              </a:spcAft>
              <a:buClr>
                <a:srgbClr val="B8AC47"/>
              </a:buClr>
              <a:buSzPts val="1350"/>
              <a:buFont typeface="Noto Sans Symbols"/>
              <a:buChar char="■"/>
            </a:pPr>
            <a:r>
              <a:rPr lang="en-US"/>
              <a:t>Removes most of  own clothes.</a:t>
            </a:r>
            <a:endParaRPr/>
          </a:p>
          <a:p>
            <a:pPr indent="-137795" lvl="0" marL="150495" rtl="0" algn="l">
              <a:spcBef>
                <a:spcPts val="365"/>
              </a:spcBef>
              <a:spcAft>
                <a:spcPts val="0"/>
              </a:spcAft>
              <a:buClr>
                <a:srgbClr val="B8AC47"/>
              </a:buClr>
              <a:buSzPts val="1350"/>
              <a:buFont typeface="Noto Sans Symbols"/>
              <a:buChar char="■"/>
            </a:pPr>
            <a:r>
              <a:rPr lang="en-US"/>
              <a:t>Drinks well from</a:t>
            </a:r>
            <a:endParaRPr/>
          </a:p>
          <a:p>
            <a:pPr indent="0" lvl="0" marL="203834" marR="361315" rtl="0" algn="l">
              <a:lnSpc>
                <a:spcPct val="144166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/>
              <a:t>small glass held in  one hand.</a:t>
            </a:r>
            <a:endParaRPr/>
          </a:p>
        </p:txBody>
      </p:sp>
      <p:sp>
        <p:nvSpPr>
          <p:cNvPr id="273" name="Google Shape;273;p43"/>
          <p:cNvSpPr txBox="1"/>
          <p:nvPr/>
        </p:nvSpPr>
        <p:spPr>
          <a:xfrm>
            <a:off x="3247390" y="291970"/>
            <a:ext cx="3609975" cy="1781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25">
            <a:spAutoFit/>
          </a:bodyPr>
          <a:lstStyle/>
          <a:p>
            <a:pPr indent="-137795" lvl="0" marL="149860" rtl="0" algn="l"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350"/>
              <a:buFont typeface="Noto Sans Symbols"/>
              <a:buChar char="■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Runs well.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37795" lvl="0" marL="149860" rtl="0" algn="l">
              <a:spcBef>
                <a:spcPts val="575"/>
              </a:spcBef>
              <a:spcAft>
                <a:spcPts val="0"/>
              </a:spcAft>
              <a:buClr>
                <a:srgbClr val="B8AC47"/>
              </a:buClr>
              <a:buSzPts val="1350"/>
              <a:buFont typeface="Noto Sans Symbols"/>
              <a:buChar char="■"/>
            </a:pPr>
            <a:r>
              <a:rPr b="1" lang="en-US" sz="2400" u="sng">
                <a:latin typeface="Arial"/>
                <a:ea typeface="Arial"/>
                <a:cs typeface="Arial"/>
                <a:sym typeface="Arial"/>
              </a:rPr>
              <a:t>Goes up and down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spcBef>
                <a:spcPts val="580"/>
              </a:spcBef>
              <a:spcAft>
                <a:spcPts val="0"/>
              </a:spcAft>
              <a:buNone/>
            </a:pPr>
            <a:r>
              <a:rPr b="1" lang="en-US" sz="2400" u="sng">
                <a:latin typeface="Arial"/>
                <a:ea typeface="Arial"/>
                <a:cs typeface="Arial"/>
                <a:sym typeface="Arial"/>
              </a:rPr>
              <a:t> 	stairs alone with two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spcBef>
                <a:spcPts val="575"/>
              </a:spcBef>
              <a:spcAft>
                <a:spcPts val="0"/>
              </a:spcAft>
              <a:buNone/>
            </a:pPr>
            <a:r>
              <a:rPr b="1" lang="en-US" sz="2400" u="sng">
                <a:latin typeface="Arial"/>
                <a:ea typeface="Arial"/>
                <a:cs typeface="Arial"/>
                <a:sym typeface="Arial"/>
              </a:rPr>
              <a:t> 	feet on each step.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3"/>
          <p:cNvSpPr txBox="1"/>
          <p:nvPr/>
        </p:nvSpPr>
        <p:spPr>
          <a:xfrm>
            <a:off x="3247771" y="2047684"/>
            <a:ext cx="3237865" cy="2692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25">
            <a:spAutoFit/>
          </a:bodyPr>
          <a:lstStyle/>
          <a:p>
            <a:pPr indent="-137795" lvl="0" marL="149860" rtl="0" algn="l"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350"/>
              <a:buFont typeface="Noto Sans Symbols"/>
              <a:buChar char="■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Can walk with heel-toe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203200" rtl="0" algn="l"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gait</a:t>
            </a:r>
            <a:endParaRPr/>
          </a:p>
          <a:p>
            <a:pPr indent="-150495" lvl="0" marL="150495" marR="493394" rtl="0" algn="l">
              <a:lnSpc>
                <a:spcPct val="144166"/>
              </a:lnSpc>
              <a:spcBef>
                <a:spcPts val="204"/>
              </a:spcBef>
              <a:spcAft>
                <a:spcPts val="0"/>
              </a:spcAft>
              <a:buClr>
                <a:srgbClr val="B8AC47"/>
              </a:buClr>
              <a:buSzPts val="1350"/>
              <a:buFont typeface="Noto Sans Symbols"/>
              <a:buChar char="■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Jumps crudely with  both feet in place.</a:t>
            </a:r>
            <a:endParaRPr/>
          </a:p>
          <a:p>
            <a:pPr indent="-137795" lvl="0" marL="149860" rtl="0" algn="l">
              <a:spcBef>
                <a:spcPts val="365"/>
              </a:spcBef>
              <a:spcAft>
                <a:spcPts val="0"/>
              </a:spcAft>
              <a:buClr>
                <a:srgbClr val="B8AC47"/>
              </a:buClr>
              <a:buSzPts val="1350"/>
              <a:buFont typeface="Noto Sans Symbols"/>
              <a:buChar char="■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Kicks large ball</a:t>
            </a:r>
            <a:endParaRPr/>
          </a:p>
          <a:p>
            <a:pPr indent="0" lvl="0" marL="203200" rtl="0" algn="l"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without falling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3"/>
          <p:cNvSpPr txBox="1"/>
          <p:nvPr>
            <p:ph type="title"/>
          </p:nvPr>
        </p:nvSpPr>
        <p:spPr>
          <a:xfrm>
            <a:off x="1853591" y="364998"/>
            <a:ext cx="1179195" cy="75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none">
                <a:solidFill>
                  <a:srgbClr val="000000"/>
                </a:solidFill>
              </a:rPr>
              <a:t>24th  months</a:t>
            </a:r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6913" y="1781175"/>
            <a:ext cx="8226425" cy="31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1" name="Google Shape;281;p44"/>
          <p:cNvGraphicFramePr/>
          <p:nvPr/>
        </p:nvGraphicFramePr>
        <p:xfrm>
          <a:off x="1978026" y="6064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{AA63EA94-1036-460E-B2A2-E67D1F1C1013}</a:tableStyleId>
              </a:tblPr>
              <a:tblGrid>
                <a:gridCol w="575300"/>
                <a:gridCol w="1057900"/>
                <a:gridCol w="3242300"/>
                <a:gridCol w="3593475"/>
                <a:gridCol w="287025"/>
              </a:tblGrid>
              <a:tr h="369575">
                <a:tc gridSpan="2"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27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30th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82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-137795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8AC47"/>
                        </a:buClr>
                        <a:buSzPts val="1350"/>
                        <a:buFont typeface="Noto Sans Symbols"/>
                        <a:buChar char="■"/>
                      </a:pPr>
                      <a:r>
                        <a:rPr b="1"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Jumps from chair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269875" marR="0" rtl="0" algn="l">
                        <a:lnSpc>
                          <a:spcPct val="100000"/>
                        </a:lnSpc>
                        <a:spcBef>
                          <a:spcPts val="5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or step.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8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-137795" lvl="0" marL="22923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8AC47"/>
                        </a:buClr>
                        <a:buSzPts val="1350"/>
                        <a:buFont typeface="Noto Sans Symbols"/>
                        <a:buChar char="■"/>
                      </a:pPr>
                      <a:r>
                        <a:rPr b="1"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Builds a tower of 8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270510" marR="0" rtl="0" algn="l">
                        <a:lnSpc>
                          <a:spcPct val="100000"/>
                        </a:lnSpc>
                        <a:spcBef>
                          <a:spcPts val="5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blocks.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37795" lvl="0" marL="229234" marR="0" rtl="0" algn="l">
                        <a:lnSpc>
                          <a:spcPct val="79166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  <a:buClr>
                          <a:srgbClr val="B8AC47"/>
                        </a:buClr>
                        <a:buSzPts val="1350"/>
                        <a:buFont typeface="Noto Sans Symbols"/>
                        <a:buChar char="■"/>
                      </a:pPr>
                      <a:r>
                        <a:rPr b="1"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Drinks without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8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58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mo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80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595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6098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nths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800" marB="0" marR="0" marL="0">
                    <a:lnL cap="flat" cmpd="sng" w="38100">
                      <a:solidFill>
                        <a:srgbClr val="9595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 vMerge="1"/>
              </a:tr>
              <a:tr h="245750">
                <a:tc>
                  <a:txBody>
                    <a:bodyPr/>
                    <a:lstStyle/>
                    <a:p>
                      <a:pPr indent="0" lvl="0" marL="0" marR="25907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595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595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rowSpan="2">
                  <a:txBody>
                    <a:bodyPr/>
                    <a:lstStyle/>
                    <a:p>
                      <a:pPr indent="-85725" lvl="0" marL="91440" marR="12509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8AC47"/>
                        </a:buClr>
                        <a:buSzPts val="1350"/>
                        <a:buFont typeface="Noto Sans Symbols"/>
                        <a:buChar char="■"/>
                      </a:pPr>
                      <a:r>
                        <a:rPr b="1"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Stands on one foot  alone momentarily.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85725" lvl="0" marL="91440" marR="521334" rtl="0" algn="l">
                        <a:lnSpc>
                          <a:spcPct val="100000"/>
                        </a:lnSpc>
                        <a:spcBef>
                          <a:spcPts val="580"/>
                        </a:spcBef>
                        <a:spcAft>
                          <a:spcPts val="0"/>
                        </a:spcAft>
                        <a:buClr>
                          <a:srgbClr val="B8AC47"/>
                        </a:buClr>
                        <a:buSzPts val="1350"/>
                        <a:buFont typeface="Noto Sans Symbols"/>
                        <a:buChar char="■"/>
                      </a:pPr>
                      <a:r>
                        <a:rPr b="1"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Walks up and  down	stairs, one  foot on	a step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47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 rowSpan="2">
                  <a:txBody>
                    <a:bodyPr/>
                    <a:lstStyle/>
                    <a:p>
                      <a:pPr indent="0" lvl="0" marL="2705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assistance.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85725" lvl="0" marL="92075" marR="127635" rtl="0" algn="l">
                        <a:lnSpc>
                          <a:spcPct val="100000"/>
                        </a:lnSpc>
                        <a:spcBef>
                          <a:spcPts val="580"/>
                        </a:spcBef>
                        <a:spcAft>
                          <a:spcPts val="0"/>
                        </a:spcAft>
                        <a:buClr>
                          <a:srgbClr val="B8AC47"/>
                        </a:buClr>
                        <a:buSzPts val="1350"/>
                        <a:buFont typeface="Noto Sans Symbols"/>
                        <a:buChar char="■"/>
                      </a:pPr>
                      <a:r>
                        <a:rPr b="1"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Good hand-finger  coordination, therefore,  holds crayon with  finger rather than fist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47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 hMerge="1"/>
              </a:tr>
              <a:tr h="31140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vMerge="1"/>
                <a:tc gridSpan="2" vMerge="1"/>
                <a:tc hMerge="1" vMerge="1"/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5"/>
          <p:cNvSpPr txBox="1"/>
          <p:nvPr>
            <p:ph type="title"/>
          </p:nvPr>
        </p:nvSpPr>
        <p:spPr>
          <a:xfrm>
            <a:off x="2755494" y="944627"/>
            <a:ext cx="6861175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u="none"/>
              <a:t>Language Development:</a:t>
            </a:r>
            <a:endParaRPr sz="4400"/>
          </a:p>
        </p:txBody>
      </p:sp>
      <p:sp>
        <p:nvSpPr>
          <p:cNvPr id="287" name="Google Shape;287;p45"/>
          <p:cNvSpPr/>
          <p:nvPr/>
        </p:nvSpPr>
        <p:spPr>
          <a:xfrm>
            <a:off x="2766377" y="1556003"/>
            <a:ext cx="6840220" cy="55244"/>
          </a:xfrm>
          <a:custGeom>
            <a:rect b="b" l="l" r="r" t="t"/>
            <a:pathLst>
              <a:path extrusionOk="0" h="55244" w="6840220">
                <a:moveTo>
                  <a:pt x="6839775" y="0"/>
                </a:moveTo>
                <a:lnTo>
                  <a:pt x="0" y="0"/>
                </a:lnTo>
                <a:lnTo>
                  <a:pt x="0" y="54863"/>
                </a:lnTo>
                <a:lnTo>
                  <a:pt x="6839775" y="54863"/>
                </a:lnTo>
                <a:lnTo>
                  <a:pt x="6839775" y="0"/>
                </a:lnTo>
                <a:close/>
              </a:path>
            </a:pathLst>
          </a:custGeom>
          <a:solidFill>
            <a:srgbClr val="6A407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8" name="Google Shape;288;p45"/>
          <p:cNvSpPr txBox="1"/>
          <p:nvPr/>
        </p:nvSpPr>
        <p:spPr>
          <a:xfrm>
            <a:off x="2287016" y="2191335"/>
            <a:ext cx="185420" cy="270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B8AC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■</a:t>
            </a:r>
            <a:endParaRPr sz="16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89" name="Google Shape;289;p45"/>
          <p:cNvSpPr txBox="1"/>
          <p:nvPr/>
        </p:nvSpPr>
        <p:spPr>
          <a:xfrm>
            <a:off x="2604517" y="1942922"/>
            <a:ext cx="77914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n-US" sz="4200">
                <a:latin typeface="Arial"/>
                <a:ea typeface="Arial"/>
                <a:cs typeface="Arial"/>
                <a:sym typeface="Arial"/>
              </a:rPr>
              <a:t>15</a:t>
            </a:r>
            <a:r>
              <a:rPr b="1" lang="en-US" sz="1850">
                <a:latin typeface="Arial"/>
                <a:ea typeface="Arial"/>
                <a:cs typeface="Arial"/>
                <a:sym typeface="Arial"/>
              </a:rPr>
              <a:t>th</a:t>
            </a:r>
            <a:endParaRPr sz="1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5"/>
          <p:cNvSpPr txBox="1"/>
          <p:nvPr/>
        </p:nvSpPr>
        <p:spPr>
          <a:xfrm>
            <a:off x="3544570" y="2049602"/>
            <a:ext cx="604266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month: Says 4 to 6 words (mainly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5"/>
          <p:cNvSpPr txBox="1"/>
          <p:nvPr/>
        </p:nvSpPr>
        <p:spPr>
          <a:xfrm>
            <a:off x="2629917" y="2476626"/>
            <a:ext cx="146875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names).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5"/>
          <p:cNvSpPr txBox="1"/>
          <p:nvPr/>
        </p:nvSpPr>
        <p:spPr>
          <a:xfrm>
            <a:off x="2287017" y="3130424"/>
            <a:ext cx="184785" cy="270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B8AC47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■</a:t>
            </a:r>
            <a:endParaRPr sz="16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93" name="Google Shape;293;p45"/>
          <p:cNvSpPr txBox="1"/>
          <p:nvPr/>
        </p:nvSpPr>
        <p:spPr>
          <a:xfrm>
            <a:off x="2604517" y="2882011"/>
            <a:ext cx="77914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n-US" sz="4200">
                <a:latin typeface="Arial"/>
                <a:ea typeface="Arial"/>
                <a:cs typeface="Arial"/>
                <a:sym typeface="Arial"/>
              </a:rPr>
              <a:t>18</a:t>
            </a:r>
            <a:r>
              <a:rPr b="1" lang="en-US" sz="1850">
                <a:latin typeface="Arial"/>
                <a:ea typeface="Arial"/>
                <a:cs typeface="Arial"/>
                <a:sym typeface="Arial"/>
              </a:rPr>
              <a:t>th</a:t>
            </a:r>
            <a:endParaRPr sz="1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45"/>
          <p:cNvSpPr txBox="1"/>
          <p:nvPr/>
        </p:nvSpPr>
        <p:spPr>
          <a:xfrm>
            <a:off x="3544570" y="2988691"/>
            <a:ext cx="562229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month: Says 10 words or more.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5"/>
          <p:cNvSpPr txBox="1"/>
          <p:nvPr/>
        </p:nvSpPr>
        <p:spPr>
          <a:xfrm>
            <a:off x="2261553" y="3500704"/>
            <a:ext cx="7617459" cy="2415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81000" marR="30480" rtl="0" algn="l"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061"/>
              <a:buFont typeface="Noto Sans Symbols"/>
              <a:buChar char="■"/>
            </a:pPr>
            <a:r>
              <a:rPr lang="en-US" sz="1800"/>
              <a:t>	</a:t>
            </a: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24</a:t>
            </a:r>
            <a:r>
              <a:rPr b="1" baseline="30000" lang="en-US" sz="2775">
                <a:latin typeface="Arial"/>
                <a:ea typeface="Arial"/>
                <a:cs typeface="Arial"/>
                <a:sym typeface="Arial"/>
              </a:rPr>
              <a:t>th </a:t>
            </a: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month: Vocabulary of almost 300  words. Uses 2-3 word phrases sentence.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419734" lvl="0" marL="457200" marR="1083310" rtl="0" algn="l">
              <a:lnSpc>
                <a:spcPct val="143892"/>
              </a:lnSpc>
              <a:spcBef>
                <a:spcPts val="250"/>
              </a:spcBef>
              <a:spcAft>
                <a:spcPts val="0"/>
              </a:spcAft>
              <a:buClr>
                <a:srgbClr val="B8AC47"/>
              </a:buClr>
              <a:buSzPts val="1061"/>
              <a:buFont typeface="Noto Sans Symbols"/>
              <a:buChar char="■"/>
            </a:pPr>
            <a:r>
              <a:rPr lang="en-US" sz="1800"/>
              <a:t>	</a:t>
            </a: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30</a:t>
            </a:r>
            <a:r>
              <a:rPr b="1" baseline="30000" lang="en-US" sz="2775">
                <a:latin typeface="Arial"/>
                <a:ea typeface="Arial"/>
                <a:cs typeface="Arial"/>
                <a:sym typeface="Arial"/>
              </a:rPr>
              <a:t>th </a:t>
            </a: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month: Talks constantly.  </a:t>
            </a:r>
            <a:r>
              <a:rPr b="1" lang="en-US" sz="2800" u="sng">
                <a:latin typeface="Arial"/>
                <a:ea typeface="Arial"/>
                <a:cs typeface="Arial"/>
                <a:sym typeface="Arial"/>
              </a:rPr>
              <a:t>Uses plurals and names one color.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spcBef>
                <a:spcPts val="430"/>
              </a:spcBef>
              <a:spcAft>
                <a:spcPts val="0"/>
              </a:spcAft>
              <a:buNone/>
            </a:pPr>
            <a:r>
              <a:rPr b="1" lang="en-US" sz="2800" u="sng">
                <a:latin typeface="Arial"/>
                <a:ea typeface="Arial"/>
                <a:cs typeface="Arial"/>
                <a:sym typeface="Arial"/>
              </a:rPr>
              <a:t> 	And gives first and last name.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6"/>
          <p:cNvSpPr txBox="1"/>
          <p:nvPr>
            <p:ph type="title"/>
          </p:nvPr>
        </p:nvSpPr>
        <p:spPr>
          <a:xfrm>
            <a:off x="2755494" y="944627"/>
            <a:ext cx="6948805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u="none"/>
              <a:t>Emotional Development:</a:t>
            </a:r>
            <a:endParaRPr sz="4400"/>
          </a:p>
        </p:txBody>
      </p:sp>
      <p:sp>
        <p:nvSpPr>
          <p:cNvPr id="301" name="Google Shape;301;p46"/>
          <p:cNvSpPr/>
          <p:nvPr/>
        </p:nvSpPr>
        <p:spPr>
          <a:xfrm>
            <a:off x="2766377" y="1556003"/>
            <a:ext cx="6928484" cy="55244"/>
          </a:xfrm>
          <a:custGeom>
            <a:rect b="b" l="l" r="r" t="t"/>
            <a:pathLst>
              <a:path extrusionOk="0" h="55244" w="6928484">
                <a:moveTo>
                  <a:pt x="6928167" y="0"/>
                </a:moveTo>
                <a:lnTo>
                  <a:pt x="0" y="0"/>
                </a:lnTo>
                <a:lnTo>
                  <a:pt x="0" y="54863"/>
                </a:lnTo>
                <a:lnTo>
                  <a:pt x="6928167" y="54863"/>
                </a:lnTo>
                <a:lnTo>
                  <a:pt x="6928167" y="0"/>
                </a:lnTo>
                <a:close/>
              </a:path>
            </a:pathLst>
          </a:custGeom>
          <a:solidFill>
            <a:srgbClr val="6A407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2" name="Google Shape;302;p46"/>
          <p:cNvSpPr txBox="1"/>
          <p:nvPr/>
        </p:nvSpPr>
        <p:spPr>
          <a:xfrm>
            <a:off x="2785617" y="2049603"/>
            <a:ext cx="7404100" cy="3781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135255" rtl="0" algn="l"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Tolerates to some extent separation from  parent, but he develops separation anxiety  (anxiety develop when he is separated from  the caregivers-mother).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rtl="0" algn="l">
              <a:spcBef>
                <a:spcPts val="675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Less fear to strangers (places and people)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rtl="0" algn="l">
              <a:spcBef>
                <a:spcPts val="675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Beginning to imitate parents.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rtl="0" algn="l">
              <a:spcBef>
                <a:spcPts val="675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Expresses emotions has temper-tantrums.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rtl="0" algn="l">
              <a:spcBef>
                <a:spcPts val="67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Beginning awareness of ownership (my-toy).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7"/>
          <p:cNvSpPr txBox="1"/>
          <p:nvPr>
            <p:ph type="title"/>
          </p:nvPr>
        </p:nvSpPr>
        <p:spPr>
          <a:xfrm>
            <a:off x="1143000" y="309614"/>
            <a:ext cx="11970850" cy="1243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96875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The types of play toddler </a:t>
            </a:r>
            <a:r>
              <a:rPr lang="en-US" sz="4000" u="none"/>
              <a:t> engage in can be described as:</a:t>
            </a:r>
            <a:endParaRPr sz="4000"/>
          </a:p>
        </p:txBody>
      </p:sp>
      <p:sp>
        <p:nvSpPr>
          <p:cNvPr id="308" name="Google Shape;308;p47"/>
          <p:cNvSpPr/>
          <p:nvPr/>
        </p:nvSpPr>
        <p:spPr>
          <a:xfrm>
            <a:off x="2371090" y="1562100"/>
            <a:ext cx="7833359" cy="50800"/>
          </a:xfrm>
          <a:custGeom>
            <a:rect b="b" l="l" r="r" t="t"/>
            <a:pathLst>
              <a:path extrusionOk="0" h="50800" w="7833359">
                <a:moveTo>
                  <a:pt x="7833359" y="0"/>
                </a:moveTo>
                <a:lnTo>
                  <a:pt x="0" y="0"/>
                </a:lnTo>
                <a:lnTo>
                  <a:pt x="0" y="50291"/>
                </a:lnTo>
                <a:lnTo>
                  <a:pt x="7833359" y="50291"/>
                </a:lnTo>
                <a:lnTo>
                  <a:pt x="7833359" y="0"/>
                </a:lnTo>
                <a:close/>
              </a:path>
            </a:pathLst>
          </a:custGeom>
          <a:solidFill>
            <a:srgbClr val="6A407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9" name="Google Shape;309;p47"/>
          <p:cNvSpPr txBox="1"/>
          <p:nvPr/>
        </p:nvSpPr>
        <p:spPr>
          <a:xfrm>
            <a:off x="1447800" y="2349345"/>
            <a:ext cx="8966707" cy="215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600">
            <a:spAutoFit/>
          </a:bodyPr>
          <a:lstStyle/>
          <a:p>
            <a:pPr indent="-342900" lvl="0" marL="355600" marR="3143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b="1" lang="en-US" sz="2800" u="sng">
                <a:solidFill>
                  <a:srgbClr val="6A4076"/>
                </a:solidFill>
                <a:latin typeface="Arial"/>
                <a:ea typeface="Arial"/>
                <a:cs typeface="Arial"/>
                <a:sym typeface="Arial"/>
              </a:rPr>
              <a:t>Parallel plays</a:t>
            </a: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800">
                <a:latin typeface="Arial"/>
                <a:ea typeface="Arial"/>
                <a:cs typeface="Arial"/>
                <a:sym typeface="Arial"/>
              </a:rPr>
              <a:t>the child sits with other  children but does not cooperate or interact  with them.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rtl="0" algn="l">
              <a:spcBef>
                <a:spcPts val="335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Much of playtime is imitation of role models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5080" rtl="0" algn="l">
              <a:lnSpc>
                <a:spcPct val="108214"/>
              </a:lnSpc>
              <a:spcBef>
                <a:spcPts val="715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The toddler does not share toys until later of  the toddler years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8"/>
          <p:cNvSpPr txBox="1"/>
          <p:nvPr>
            <p:ph type="title"/>
          </p:nvPr>
        </p:nvSpPr>
        <p:spPr>
          <a:xfrm>
            <a:off x="2755494" y="944627"/>
            <a:ext cx="2978785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u="none"/>
              <a:t>Parallel play</a:t>
            </a:r>
            <a:endParaRPr sz="4400"/>
          </a:p>
        </p:txBody>
      </p:sp>
      <p:pic>
        <p:nvPicPr>
          <p:cNvPr id="315" name="Google Shape;31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50" y="1773301"/>
            <a:ext cx="6121400" cy="4535424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8"/>
          <p:cNvSpPr txBox="1"/>
          <p:nvPr/>
        </p:nvSpPr>
        <p:spPr>
          <a:xfrm>
            <a:off x="10178034" y="6442786"/>
            <a:ext cx="214629" cy="204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20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9"/>
          <p:cNvSpPr txBox="1"/>
          <p:nvPr>
            <p:ph type="title"/>
          </p:nvPr>
        </p:nvSpPr>
        <p:spPr>
          <a:xfrm>
            <a:off x="1447800" y="380999"/>
            <a:ext cx="8229600" cy="690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Psychosexual </a:t>
            </a:r>
            <a:r>
              <a:rPr lang="en-US" sz="4400" u="none"/>
              <a:t> development:</a:t>
            </a:r>
            <a:endParaRPr sz="4400"/>
          </a:p>
        </p:txBody>
      </p:sp>
      <p:sp>
        <p:nvSpPr>
          <p:cNvPr id="322" name="Google Shape;322;p49"/>
          <p:cNvSpPr/>
          <p:nvPr/>
        </p:nvSpPr>
        <p:spPr>
          <a:xfrm>
            <a:off x="5410200" y="995547"/>
            <a:ext cx="3865245" cy="55244"/>
          </a:xfrm>
          <a:custGeom>
            <a:rect b="b" l="l" r="r" t="t"/>
            <a:pathLst>
              <a:path extrusionOk="0" h="55244" w="3865245">
                <a:moveTo>
                  <a:pt x="3864927" y="0"/>
                </a:moveTo>
                <a:lnTo>
                  <a:pt x="0" y="0"/>
                </a:lnTo>
                <a:lnTo>
                  <a:pt x="0" y="54863"/>
                </a:lnTo>
                <a:lnTo>
                  <a:pt x="3864927" y="54863"/>
                </a:lnTo>
                <a:lnTo>
                  <a:pt x="3864927" y="0"/>
                </a:lnTo>
                <a:close/>
              </a:path>
            </a:pathLst>
          </a:custGeom>
          <a:solidFill>
            <a:srgbClr val="6A407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3" name="Google Shape;323;p49"/>
          <p:cNvSpPr txBox="1"/>
          <p:nvPr/>
        </p:nvSpPr>
        <p:spPr>
          <a:xfrm>
            <a:off x="1219200" y="1752600"/>
            <a:ext cx="9136863" cy="3275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609600" lvl="0" marL="621665" marR="5080" rtl="0" algn="l"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900"/>
              <a:buFont typeface="Noto Sans Symbols"/>
              <a:buChar char="■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According to Freud, the age 2-3 years  represent the </a:t>
            </a: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anal phase </a:t>
            </a:r>
            <a:r>
              <a:rPr lang="en-US" sz="3200">
                <a:latin typeface="Arial"/>
                <a:ea typeface="Arial"/>
                <a:cs typeface="Arial"/>
                <a:sym typeface="Arial"/>
              </a:rPr>
              <a:t>of development  which is characterized by:</a:t>
            </a:r>
            <a:endParaRPr/>
          </a:p>
          <a:p>
            <a:pPr indent="-609600" lvl="0" marL="622300" rtl="0" algn="l">
              <a:spcBef>
                <a:spcPts val="770"/>
              </a:spcBef>
              <a:spcAft>
                <a:spcPts val="0"/>
              </a:spcAft>
              <a:buClr>
                <a:srgbClr val="B8AC47"/>
              </a:buClr>
              <a:buSzPts val="1900"/>
              <a:buFont typeface="Arial"/>
              <a:buAutoNum type="arabicPeriod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Negativism</a:t>
            </a:r>
            <a:endParaRPr/>
          </a:p>
          <a:p>
            <a:pPr indent="-609600" lvl="0" marL="622300" rtl="0" algn="l">
              <a:spcBef>
                <a:spcPts val="770"/>
              </a:spcBef>
              <a:spcAft>
                <a:spcPts val="0"/>
              </a:spcAft>
              <a:buClr>
                <a:srgbClr val="B8AC47"/>
              </a:buClr>
              <a:buSzPts val="1900"/>
              <a:buFont typeface="Arial"/>
              <a:buAutoNum type="arabicPeriod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Emotions expressed very strongly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609600" lvl="0" marL="622300" rtl="0" algn="l">
              <a:spcBef>
                <a:spcPts val="770"/>
              </a:spcBef>
              <a:spcAft>
                <a:spcPts val="0"/>
              </a:spcAft>
              <a:buClr>
                <a:srgbClr val="B8AC47"/>
              </a:buClr>
              <a:buSzPts val="1900"/>
              <a:buFont typeface="Arial"/>
              <a:buAutoNum type="arabicPeriod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Temper tantrums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0"/>
          <p:cNvSpPr txBox="1"/>
          <p:nvPr>
            <p:ph type="title"/>
          </p:nvPr>
        </p:nvSpPr>
        <p:spPr>
          <a:xfrm>
            <a:off x="838200" y="685801"/>
            <a:ext cx="9334093" cy="690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u="none"/>
              <a:t>Psychosocial development</a:t>
            </a:r>
            <a:endParaRPr sz="4400"/>
          </a:p>
        </p:txBody>
      </p:sp>
      <p:sp>
        <p:nvSpPr>
          <p:cNvPr id="329" name="Google Shape;329;p50"/>
          <p:cNvSpPr/>
          <p:nvPr/>
        </p:nvSpPr>
        <p:spPr>
          <a:xfrm>
            <a:off x="2766377" y="1556003"/>
            <a:ext cx="7397750" cy="55244"/>
          </a:xfrm>
          <a:custGeom>
            <a:rect b="b" l="l" r="r" t="t"/>
            <a:pathLst>
              <a:path extrusionOk="0" h="55244" w="7397750">
                <a:moveTo>
                  <a:pt x="7397432" y="0"/>
                </a:moveTo>
                <a:lnTo>
                  <a:pt x="0" y="0"/>
                </a:lnTo>
                <a:lnTo>
                  <a:pt x="0" y="54863"/>
                </a:lnTo>
                <a:lnTo>
                  <a:pt x="7397432" y="54863"/>
                </a:lnTo>
                <a:lnTo>
                  <a:pt x="7397432" y="0"/>
                </a:lnTo>
                <a:close/>
              </a:path>
            </a:pathLst>
          </a:custGeom>
          <a:solidFill>
            <a:srgbClr val="6A407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0" name="Google Shape;330;p50"/>
          <p:cNvSpPr txBox="1"/>
          <p:nvPr/>
        </p:nvSpPr>
        <p:spPr>
          <a:xfrm>
            <a:off x="685800" y="1611248"/>
            <a:ext cx="9562337" cy="3724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600">
            <a:spAutoFit/>
          </a:bodyPr>
          <a:lstStyle/>
          <a:p>
            <a:pPr indent="-342900" lvl="0" marL="355600" marR="7270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b="1" lang="en-US" sz="2800" u="sng">
                <a:latin typeface="Arial"/>
                <a:ea typeface="Arial"/>
                <a:cs typeface="Arial"/>
                <a:sym typeface="Arial"/>
              </a:rPr>
              <a:t>According to Erickson</a:t>
            </a:r>
            <a:r>
              <a:rPr lang="en-US" sz="2800">
                <a:latin typeface="Arial"/>
                <a:ea typeface="Arial"/>
                <a:cs typeface="Arial"/>
                <a:sym typeface="Arial"/>
              </a:rPr>
              <a:t>, toddlers are  working on the developmental task of  </a:t>
            </a: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autonomy versus shame and doubt.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117475" rtl="0" algn="just">
              <a:lnSpc>
                <a:spcPct val="90700"/>
              </a:lnSpc>
              <a:spcBef>
                <a:spcPts val="60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The favorite word of most toddlers is </a:t>
            </a: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1" lang="en-US" sz="2800" u="sng">
                <a:latin typeface="Arial"/>
                <a:ea typeface="Arial"/>
                <a:cs typeface="Arial"/>
                <a:sym typeface="Arial"/>
              </a:rPr>
              <a:t>NO”. </a:t>
            </a: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>
                <a:latin typeface="Arial"/>
                <a:ea typeface="Arial"/>
                <a:cs typeface="Arial"/>
                <a:sym typeface="Arial"/>
              </a:rPr>
              <a:t>just saying the word seems to command the  attention of those around themselves.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5080" rtl="0" algn="l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When the central development task is  </a:t>
            </a: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autonomy versus sham&amp; doubt </a:t>
            </a:r>
            <a:r>
              <a:rPr lang="en-US" sz="2800">
                <a:latin typeface="Arial"/>
                <a:ea typeface="Arial"/>
                <a:cs typeface="Arial"/>
                <a:sym typeface="Arial"/>
              </a:rPr>
              <a:t>(I can do  it my self) increasing abilities to control their  bodies themselves, and their environment.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1087" y="836676"/>
            <a:ext cx="7632700" cy="5256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2601" y="836613"/>
            <a:ext cx="4967224" cy="540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3"/>
          <p:cNvSpPr txBox="1"/>
          <p:nvPr>
            <p:ph type="title"/>
          </p:nvPr>
        </p:nvSpPr>
        <p:spPr>
          <a:xfrm>
            <a:off x="762001" y="304800"/>
            <a:ext cx="9047072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none"/>
              <a:t>Health promotion &amp; protection</a:t>
            </a:r>
            <a:endParaRPr sz="3600"/>
          </a:p>
        </p:txBody>
      </p:sp>
      <p:sp>
        <p:nvSpPr>
          <p:cNvPr id="346" name="Google Shape;346;p53"/>
          <p:cNvSpPr txBox="1"/>
          <p:nvPr/>
        </p:nvSpPr>
        <p:spPr>
          <a:xfrm>
            <a:off x="762001" y="902716"/>
            <a:ext cx="9553322" cy="4423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694055" lvl="0" marL="706120" marR="4608830" rtl="0" algn="l">
              <a:lnSpc>
                <a:spcPct val="110100"/>
              </a:lnSpc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450"/>
              <a:buFont typeface="Noto Sans Symbols"/>
              <a:buChar char="■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Immunizations  Injury prevention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610235" lvl="0" marL="622300" rtl="0" algn="l">
              <a:spcBef>
                <a:spcPts val="285"/>
              </a:spcBef>
              <a:spcAft>
                <a:spcPts val="0"/>
              </a:spcAft>
              <a:buClr>
                <a:srgbClr val="B8AC47"/>
              </a:buClr>
              <a:buSzPts val="1450"/>
              <a:buFont typeface="Noto Sans Symbols"/>
              <a:buChar char="■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Sleeping pattern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610235" lvl="0" marL="622300" rtl="0" algn="l">
              <a:spcBef>
                <a:spcPts val="335"/>
              </a:spcBef>
              <a:spcAft>
                <a:spcPts val="0"/>
              </a:spcAft>
              <a:buClr>
                <a:srgbClr val="B8AC47"/>
              </a:buClr>
              <a:buSzPts val="1450"/>
              <a:buFont typeface="Noto Sans Symbols"/>
              <a:buChar char="■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Nutrition requirement: need 100 kcal/kg/24hrs.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610235" lvl="0" marL="622300" marR="258445" rtl="0" algn="just">
              <a:lnSpc>
                <a:spcPct val="107916"/>
              </a:lnSpc>
              <a:spcBef>
                <a:spcPts val="620"/>
              </a:spcBef>
              <a:spcAft>
                <a:spcPts val="0"/>
              </a:spcAft>
              <a:buClr>
                <a:srgbClr val="B8AC47"/>
              </a:buClr>
              <a:buSzPts val="1450"/>
              <a:buFont typeface="Arial"/>
              <a:buAutoNum type="arabicPeriod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They prefer to feed themselves, so they can be  at risk of aspiration of small foods that are not  easily chewed.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610235" lvl="0" marL="622300" rtl="0" algn="l">
              <a:spcBef>
                <a:spcPts val="254"/>
              </a:spcBef>
              <a:spcAft>
                <a:spcPts val="0"/>
              </a:spcAft>
              <a:buClr>
                <a:srgbClr val="B8AC47"/>
              </a:buClr>
              <a:buSzPts val="1450"/>
              <a:buFont typeface="Arial"/>
              <a:buAutoNum type="arabicPeriod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Encourage self-feeding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610235" lvl="0" marL="622300" rtl="0" algn="l">
              <a:spcBef>
                <a:spcPts val="290"/>
              </a:spcBef>
              <a:spcAft>
                <a:spcPts val="0"/>
              </a:spcAft>
              <a:buClr>
                <a:srgbClr val="B8AC47"/>
              </a:buClr>
              <a:buSzPts val="1450"/>
              <a:buFont typeface="Arial"/>
              <a:buAutoNum type="arabicPeriod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Do not push the child to eat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610235" lvl="0" marL="622300" rtl="0" algn="l">
              <a:spcBef>
                <a:spcPts val="290"/>
              </a:spcBef>
              <a:spcAft>
                <a:spcPts val="0"/>
              </a:spcAft>
              <a:buClr>
                <a:srgbClr val="B8AC47"/>
              </a:buClr>
              <a:buSzPts val="1450"/>
              <a:buFont typeface="Arial"/>
              <a:buAutoNum type="arabicPeriod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Allow others to eat with the child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610235" lvl="0" marL="622300" rtl="0" algn="l">
              <a:spcBef>
                <a:spcPts val="285"/>
              </a:spcBef>
              <a:spcAft>
                <a:spcPts val="0"/>
              </a:spcAft>
              <a:buClr>
                <a:srgbClr val="B8AC47"/>
              </a:buClr>
              <a:buSzPts val="1450"/>
              <a:buFont typeface="Arial"/>
              <a:buAutoNum type="arabicPeriod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Offer familiar foods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610235" lvl="0" marL="622300" rtl="0" algn="l">
              <a:spcBef>
                <a:spcPts val="290"/>
              </a:spcBef>
              <a:spcAft>
                <a:spcPts val="0"/>
              </a:spcAft>
              <a:buClr>
                <a:srgbClr val="B8AC47"/>
              </a:buClr>
              <a:buSzPts val="1450"/>
              <a:buFont typeface="Arial"/>
              <a:buAutoNum type="arabicPeriod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Provide fluids in small but frequent amounts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4"/>
          <p:cNvSpPr txBox="1"/>
          <p:nvPr>
            <p:ph type="title"/>
          </p:nvPr>
        </p:nvSpPr>
        <p:spPr>
          <a:xfrm>
            <a:off x="762000" y="457200"/>
            <a:ext cx="9541077" cy="1120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Common Health &amp; Developmental </a:t>
            </a:r>
            <a:r>
              <a:rPr lang="en-US" sz="3600" u="none"/>
              <a:t> Problems of the toddler:</a:t>
            </a:r>
            <a:endParaRPr sz="3600"/>
          </a:p>
        </p:txBody>
      </p:sp>
      <p:sp>
        <p:nvSpPr>
          <p:cNvPr id="352" name="Google Shape;352;p54"/>
          <p:cNvSpPr/>
          <p:nvPr/>
        </p:nvSpPr>
        <p:spPr>
          <a:xfrm>
            <a:off x="762000" y="1533570"/>
            <a:ext cx="5586095" cy="44450"/>
          </a:xfrm>
          <a:custGeom>
            <a:rect b="b" l="l" r="r" t="t"/>
            <a:pathLst>
              <a:path extrusionOk="0" h="44450" w="5586095">
                <a:moveTo>
                  <a:pt x="5585523" y="0"/>
                </a:moveTo>
                <a:lnTo>
                  <a:pt x="0" y="0"/>
                </a:lnTo>
                <a:lnTo>
                  <a:pt x="0" y="44195"/>
                </a:lnTo>
                <a:lnTo>
                  <a:pt x="5585523" y="44195"/>
                </a:lnTo>
                <a:lnTo>
                  <a:pt x="5585523" y="0"/>
                </a:lnTo>
                <a:close/>
              </a:path>
            </a:pathLst>
          </a:custGeom>
          <a:solidFill>
            <a:srgbClr val="6A407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3" name="Google Shape;353;p54"/>
          <p:cNvSpPr txBox="1"/>
          <p:nvPr/>
        </p:nvSpPr>
        <p:spPr>
          <a:xfrm>
            <a:off x="1066800" y="1905000"/>
            <a:ext cx="9041001" cy="41390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1575">
            <a:spAutoFit/>
          </a:bodyPr>
          <a:lstStyle/>
          <a:p>
            <a:pPr indent="-342900" lvl="0" marL="355600" rtl="0" algn="l"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1. Stranger anxiety.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rtl="0" algn="l">
              <a:spcBef>
                <a:spcPts val="385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2. Stressful reaction to hospitalization.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5080" rtl="0" algn="l">
              <a:lnSpc>
                <a:spcPct val="108214"/>
              </a:lnSpc>
              <a:spcBef>
                <a:spcPts val="71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3. Fear. (Large animals, going to sleep, loud  noises, loss of parents)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255904" rtl="0" algn="l">
              <a:lnSpc>
                <a:spcPct val="107857"/>
              </a:lnSpc>
              <a:spcBef>
                <a:spcPts val="67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4. Ritualistic behaviors (the same rituals at  time of bathing, eating, sleeping)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rtl="0" algn="l">
              <a:spcBef>
                <a:spcPts val="30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5. Dental caries.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rtl="0" algn="l">
              <a:spcBef>
                <a:spcPts val="335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6. Discipline.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rtl="0" algn="l">
              <a:spcBef>
                <a:spcPts val="335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7. Child abuse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5"/>
          <p:cNvSpPr txBox="1"/>
          <p:nvPr/>
        </p:nvSpPr>
        <p:spPr>
          <a:xfrm>
            <a:off x="990600" y="762000"/>
            <a:ext cx="9138284" cy="5052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54965" lvl="0" marL="354965" marR="967105" rtl="0" algn="l"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8. Toilet training (is one of several critical  training situations)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454658" lvl="0" marL="466725" rtl="0" algn="l"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9. Accidents: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407033" lvl="1" marL="1752600" rtl="0" algn="l">
              <a:spcBef>
                <a:spcPts val="0"/>
              </a:spcBef>
              <a:spcAft>
                <a:spcPts val="0"/>
              </a:spcAft>
              <a:buSzPts val="2800"/>
              <a:buFont typeface="Arial"/>
              <a:buAutoNum type="alphaLcPeriod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Automobile accidents.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415925" lvl="1" marL="1761489" rtl="0" algn="l">
              <a:spcBef>
                <a:spcPts val="0"/>
              </a:spcBef>
              <a:spcAft>
                <a:spcPts val="0"/>
              </a:spcAft>
              <a:buSzPts val="2800"/>
              <a:buFont typeface="Arial"/>
              <a:buAutoNum type="alphaLcPeriod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Burns.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82270" lvl="1" marL="1727835" rtl="0" algn="l">
              <a:spcBef>
                <a:spcPts val="5"/>
              </a:spcBef>
              <a:spcAft>
                <a:spcPts val="0"/>
              </a:spcAft>
              <a:buSzPts val="2800"/>
              <a:buFont typeface="Arial"/>
              <a:buAutoNum type="alphaLcPeriod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Falls.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445134" lvl="1" marL="1791335" marR="934719" rtl="0" algn="l">
              <a:spcBef>
                <a:spcPts val="0"/>
              </a:spcBef>
              <a:spcAft>
                <a:spcPts val="0"/>
              </a:spcAft>
              <a:buSzPts val="2800"/>
              <a:buFont typeface="Arial"/>
              <a:buAutoNum type="alphaLcPeriod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Poisoning. (e.g. lead &amp; Salicylate  poisoning)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454658" lvl="0" marL="466725" rtl="0" algn="l"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10. Infections: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9525" lvl="0" marL="355600" marR="5080" rtl="0" algn="l">
              <a:lnSpc>
                <a:spcPct val="8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Otitis media and brain abscess because the  Eustachian tube (From pharynx to middle ear is  straight &amp; shorter than the adult)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6"/>
          <p:cNvSpPr txBox="1"/>
          <p:nvPr>
            <p:ph type="title"/>
          </p:nvPr>
        </p:nvSpPr>
        <p:spPr>
          <a:xfrm>
            <a:off x="381000" y="533400"/>
            <a:ext cx="12732850" cy="558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158114" lvl="0" marL="792480" marR="508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Suggestions for Potty Training the </a:t>
            </a:r>
            <a:r>
              <a:rPr lang="en-US" u="none"/>
              <a:t> </a:t>
            </a:r>
            <a:r>
              <a:rPr lang="en-US"/>
              <a:t>Toddler</a:t>
            </a:r>
            <a:endParaRPr/>
          </a:p>
        </p:txBody>
      </p:sp>
      <p:sp>
        <p:nvSpPr>
          <p:cNvPr id="364" name="Google Shape;364;p56"/>
          <p:cNvSpPr txBox="1"/>
          <p:nvPr>
            <p:ph idx="1" type="body"/>
          </p:nvPr>
        </p:nvSpPr>
        <p:spPr>
          <a:xfrm>
            <a:off x="381000" y="1828800"/>
            <a:ext cx="12919965" cy="3029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342900" lvl="0" marL="1305560" marR="261620" rtl="0" algn="l">
              <a:lnSpc>
                <a:spcPct val="96071"/>
              </a:lnSpc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/>
              <a:t>Use a comfortable potty chair; limit the time  on the chair</a:t>
            </a:r>
            <a:endParaRPr/>
          </a:p>
          <a:p>
            <a:pPr indent="-342900" lvl="0" marL="1305560" marR="501015" rtl="0" algn="l">
              <a:lnSpc>
                <a:spcPct val="96071"/>
              </a:lnSpc>
              <a:spcBef>
                <a:spcPts val="67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/>
              <a:t>Have child wash hands afterwards to instill  good hygiene habits</a:t>
            </a:r>
            <a:endParaRPr/>
          </a:p>
          <a:p>
            <a:pPr indent="-342900" lvl="0" marL="1305560" rtl="0" algn="l">
              <a:lnSpc>
                <a:spcPct val="119107"/>
              </a:lnSpc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/>
              <a:t>Use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/>
              <a:t>pull-up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” </a:t>
            </a:r>
            <a:r>
              <a:rPr lang="en-US"/>
              <a:t>type clothing</a:t>
            </a:r>
            <a:endParaRPr/>
          </a:p>
          <a:p>
            <a:pPr indent="-342900" lvl="0" marL="1305560" rtl="0" algn="l">
              <a:spcBef>
                <a:spcPts val="45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/>
              <a:t>Allow child to observe role model using toilet</a:t>
            </a:r>
            <a:endParaRPr/>
          </a:p>
          <a:p>
            <a:pPr indent="-342900" lvl="0" marL="1305560" marR="5080" rtl="0" algn="l">
              <a:lnSpc>
                <a:spcPct val="96071"/>
              </a:lnSpc>
              <a:spcBef>
                <a:spcPts val="65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/>
              <a:t>Do not flush the toilet while the child is sitting  on it</a:t>
            </a:r>
            <a:endParaRPr/>
          </a:p>
          <a:p>
            <a:pPr indent="-342900" lvl="0" marL="1305560" rtl="0" algn="l">
              <a:spcBef>
                <a:spcPts val="2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/>
              <a:t>Do not tease or shame the child</a:t>
            </a:r>
            <a:endParaRPr/>
          </a:p>
          <a:p>
            <a:pPr indent="-342900" lvl="0" marL="1305560" rtl="0" algn="l"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lang="en-US"/>
              <a:t>Do not expect perfection; lapses occur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7"/>
          <p:cNvSpPr txBox="1"/>
          <p:nvPr>
            <p:ph type="title"/>
          </p:nvPr>
        </p:nvSpPr>
        <p:spPr>
          <a:xfrm>
            <a:off x="2755494" y="933958"/>
            <a:ext cx="7388859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u="none"/>
              <a:t>Potty Training the Toddler</a:t>
            </a:r>
            <a:endParaRPr sz="4400"/>
          </a:p>
        </p:txBody>
      </p:sp>
      <p:sp>
        <p:nvSpPr>
          <p:cNvPr id="370" name="Google Shape;370;p57"/>
          <p:cNvSpPr/>
          <p:nvPr/>
        </p:nvSpPr>
        <p:spPr>
          <a:xfrm>
            <a:off x="2766378" y="1545336"/>
            <a:ext cx="7369175" cy="55244"/>
          </a:xfrm>
          <a:custGeom>
            <a:rect b="b" l="l" r="r" t="t"/>
            <a:pathLst>
              <a:path extrusionOk="0" h="55244" w="7369175">
                <a:moveTo>
                  <a:pt x="7368603" y="0"/>
                </a:moveTo>
                <a:lnTo>
                  <a:pt x="0" y="0"/>
                </a:lnTo>
                <a:lnTo>
                  <a:pt x="0" y="54863"/>
                </a:lnTo>
                <a:lnTo>
                  <a:pt x="7368603" y="54863"/>
                </a:lnTo>
                <a:lnTo>
                  <a:pt x="7368603" y="0"/>
                </a:lnTo>
                <a:close/>
              </a:path>
            </a:pathLst>
          </a:custGeom>
          <a:solidFill>
            <a:srgbClr val="6A407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371" name="Google Shape;371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6726" y="1989137"/>
            <a:ext cx="3502025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6987" y="1989201"/>
            <a:ext cx="3816350" cy="410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8"/>
          <p:cNvSpPr txBox="1"/>
          <p:nvPr>
            <p:ph type="title"/>
          </p:nvPr>
        </p:nvSpPr>
        <p:spPr>
          <a:xfrm>
            <a:off x="990600" y="304799"/>
            <a:ext cx="9158199" cy="1367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Sleep Needs and Practices </a:t>
            </a:r>
            <a:r>
              <a:rPr lang="en-US" sz="4400" u="none"/>
              <a:t> for the Toddler</a:t>
            </a:r>
            <a:endParaRPr sz="4400"/>
          </a:p>
        </p:txBody>
      </p:sp>
      <p:sp>
        <p:nvSpPr>
          <p:cNvPr id="378" name="Google Shape;378;p58"/>
          <p:cNvSpPr/>
          <p:nvPr/>
        </p:nvSpPr>
        <p:spPr>
          <a:xfrm>
            <a:off x="1000991" y="1524000"/>
            <a:ext cx="4186554" cy="55244"/>
          </a:xfrm>
          <a:custGeom>
            <a:rect b="b" l="l" r="r" t="t"/>
            <a:pathLst>
              <a:path extrusionOk="0" h="55244" w="4186554">
                <a:moveTo>
                  <a:pt x="4186491" y="0"/>
                </a:moveTo>
                <a:lnTo>
                  <a:pt x="0" y="0"/>
                </a:lnTo>
                <a:lnTo>
                  <a:pt x="0" y="54863"/>
                </a:lnTo>
                <a:lnTo>
                  <a:pt x="4186491" y="54863"/>
                </a:lnTo>
                <a:lnTo>
                  <a:pt x="4186491" y="0"/>
                </a:lnTo>
                <a:close/>
              </a:path>
            </a:pathLst>
          </a:custGeom>
          <a:solidFill>
            <a:srgbClr val="6A407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9" name="Google Shape;379;p58"/>
          <p:cNvSpPr txBox="1"/>
          <p:nvPr/>
        </p:nvSpPr>
        <p:spPr>
          <a:xfrm>
            <a:off x="1000991" y="1828800"/>
            <a:ext cx="9208565" cy="370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-342900" lvl="0" marL="355600" rtl="0" algn="l">
              <a:spcBef>
                <a:spcPts val="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Sleep needs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87019" lvl="1" marL="756285" rtl="0" algn="l">
              <a:spcBef>
                <a:spcPts val="580"/>
              </a:spcBef>
              <a:spcAft>
                <a:spcPts val="0"/>
              </a:spcAft>
              <a:buClr>
                <a:srgbClr val="B3CE82"/>
              </a:buClr>
              <a:buSzPts val="1300"/>
              <a:buFont typeface="Noto Sans Symbols"/>
              <a:buChar char="■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1 year: 12 to 14 hours; by 3 years: 10 to 12 hrs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87019" lvl="1" marL="756285" marR="29844" rtl="0" algn="l">
              <a:spcBef>
                <a:spcPts val="575"/>
              </a:spcBef>
              <a:spcAft>
                <a:spcPts val="0"/>
              </a:spcAft>
              <a:buClr>
                <a:srgbClr val="B3CE82"/>
              </a:buClr>
              <a:buSzPts val="1300"/>
              <a:buFont typeface="Noto Sans Symbols"/>
              <a:buChar char="■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Gives up a morning nap; continues afternoon nap  until about age of 3 years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rtl="0" algn="l">
              <a:spcBef>
                <a:spcPts val="670"/>
              </a:spcBef>
              <a:spcAft>
                <a:spcPts val="0"/>
              </a:spcAft>
              <a:buClr>
                <a:srgbClr val="B8AC47"/>
              </a:buClr>
              <a:buSzPts val="1650"/>
              <a:buFont typeface="Noto Sans Symbols"/>
              <a:buChar char="■"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Sleep practices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87019" lvl="1" marL="756285" rtl="0" algn="l">
              <a:spcBef>
                <a:spcPts val="580"/>
              </a:spcBef>
              <a:spcAft>
                <a:spcPts val="0"/>
              </a:spcAft>
              <a:buClr>
                <a:srgbClr val="B3CE82"/>
              </a:buClr>
              <a:buSzPts val="1300"/>
              <a:buFont typeface="Noto Sans Symbols"/>
              <a:buChar char="■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Rituals are a common part of bedtime procedures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87019" lvl="1" marL="756285" rtl="0" algn="l">
              <a:spcBef>
                <a:spcPts val="580"/>
              </a:spcBef>
              <a:spcAft>
                <a:spcPts val="0"/>
              </a:spcAft>
              <a:buClr>
                <a:srgbClr val="B3CE82"/>
              </a:buClr>
              <a:buSzPts val="1300"/>
              <a:buFont typeface="Noto Sans Symbols"/>
              <a:buChar char="■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Regular schedules with set bedtimes are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756285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important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58"/>
          <p:cNvSpPr txBox="1"/>
          <p:nvPr/>
        </p:nvSpPr>
        <p:spPr>
          <a:xfrm>
            <a:off x="10178034" y="6442786"/>
            <a:ext cx="214629" cy="204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30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9"/>
          <p:cNvSpPr txBox="1"/>
          <p:nvPr/>
        </p:nvSpPr>
        <p:spPr>
          <a:xfrm>
            <a:off x="244475" y="261938"/>
            <a:ext cx="11691938" cy="2125662"/>
          </a:xfrm>
          <a:prstGeom prst="rect">
            <a:avLst/>
          </a:prstGeom>
          <a:solidFill>
            <a:srgbClr val="6F7B63"/>
          </a:solidFill>
          <a:ln cap="flat" cmpd="sng" w="9525">
            <a:solidFill>
              <a:srgbClr val="6F7B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3F3F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7" name="Google Shape;387;p59"/>
          <p:cNvSpPr txBox="1"/>
          <p:nvPr/>
        </p:nvSpPr>
        <p:spPr>
          <a:xfrm>
            <a:off x="3959225" y="1087438"/>
            <a:ext cx="4414838" cy="768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 b="0" i="0" sz="48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8" name="Google Shape;388;p59"/>
          <p:cNvSpPr txBox="1"/>
          <p:nvPr/>
        </p:nvSpPr>
        <p:spPr>
          <a:xfrm>
            <a:off x="2927350" y="3429000"/>
            <a:ext cx="5649913" cy="1862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7333"/>
              </a:buClr>
              <a:buSzPts val="11500"/>
              <a:buFont typeface="Arial"/>
              <a:buNone/>
            </a:pPr>
            <a:r>
              <a:rPr b="0" i="0" lang="en-US" sz="11500" u="none" cap="none" strike="noStrike">
                <a:solidFill>
                  <a:srgbClr val="137333"/>
                </a:solidFill>
                <a:latin typeface="Arial"/>
                <a:ea typeface="Arial"/>
                <a:cs typeface="Arial"/>
                <a:sym typeface="Arial"/>
              </a:rPr>
              <a:t>cs5jm5o</a:t>
            </a:r>
            <a:endParaRPr b="0" i="0" sz="1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9" name="Google Shape;389;p59"/>
          <p:cNvSpPr txBox="1"/>
          <p:nvPr/>
        </p:nvSpPr>
        <p:spPr>
          <a:xfrm>
            <a:off x="5303838" y="2787650"/>
            <a:ext cx="1619250" cy="427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40404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رمز الصف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Get Started with 3D">
  <a:themeElements>
    <a:clrScheme name="برتقالي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Get Started with 3D">
  <a:themeElements>
    <a:clrScheme name="Office 2007 - 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أحمر">
      <a:dk1>
        <a:srgbClr val="000000"/>
      </a:dk1>
      <a:lt1>
        <a:srgbClr val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نسق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