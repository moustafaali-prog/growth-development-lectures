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51" r:id="rId1"/>
    <p:sldMasterId id="2147483703" r:id="rId2"/>
    <p:sldMasterId id="2147483714" r:id="rId3"/>
  </p:sldMasterIdLst>
  <p:notesMasterIdLst>
    <p:notesMasterId r:id="rId34"/>
  </p:notesMasterIdLst>
  <p:sldIdLst>
    <p:sldId id="256" r:id="rId4"/>
    <p:sldId id="359" r:id="rId5"/>
    <p:sldId id="257" r:id="rId6"/>
    <p:sldId id="332" r:id="rId7"/>
    <p:sldId id="344" r:id="rId8"/>
    <p:sldId id="333" r:id="rId9"/>
    <p:sldId id="358" r:id="rId10"/>
    <p:sldId id="301" r:id="rId11"/>
    <p:sldId id="345" r:id="rId12"/>
    <p:sldId id="334" r:id="rId13"/>
    <p:sldId id="304" r:id="rId14"/>
    <p:sldId id="335" r:id="rId15"/>
    <p:sldId id="336" r:id="rId16"/>
    <p:sldId id="346" r:id="rId17"/>
    <p:sldId id="337" r:id="rId18"/>
    <p:sldId id="338" r:id="rId19"/>
    <p:sldId id="339" r:id="rId20"/>
    <p:sldId id="347" r:id="rId21"/>
    <p:sldId id="340" r:id="rId22"/>
    <p:sldId id="352" r:id="rId23"/>
    <p:sldId id="353" r:id="rId24"/>
    <p:sldId id="354" r:id="rId25"/>
    <p:sldId id="355" r:id="rId26"/>
    <p:sldId id="356" r:id="rId27"/>
    <p:sldId id="341" r:id="rId28"/>
    <p:sldId id="342" r:id="rId29"/>
    <p:sldId id="349" r:id="rId30"/>
    <p:sldId id="343" r:id="rId31"/>
    <p:sldId id="348" r:id="rId32"/>
    <p:sldId id="262" r:id="rId33"/>
  </p:sldIdLst>
  <p:sldSz cx="12192000" cy="6858000"/>
  <p:notesSz cx="6858000" cy="9144000"/>
  <p:defaultTextStyle>
    <a:defPPr>
      <a:defRPr lang="ar-SA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Bradley Hand ITC" panose="03070402050302030203" pitchFamily="66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Bradley Hand ITC" panose="03070402050302030203" pitchFamily="66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Bradley Hand ITC" panose="03070402050302030203" pitchFamily="66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Bradley Hand ITC" panose="03070402050302030203" pitchFamily="66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Bradley Hand ITC" panose="03070402050302030203" pitchFamily="66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Bradley Hand ITC" panose="03070402050302030203" pitchFamily="66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Bradley Hand ITC" panose="03070402050302030203" pitchFamily="66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Bradley Hand ITC" panose="03070402050302030203" pitchFamily="66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Bradley Hand ITC" panose="03070402050302030203" pitchFamily="66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697B"/>
    <a:srgbClr val="FFCC00"/>
    <a:srgbClr val="CC00CC"/>
    <a:srgbClr val="FF0066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8655" autoAdjust="0"/>
  </p:normalViewPr>
  <p:slideViewPr>
    <p:cSldViewPr>
      <p:cViewPr varScale="1">
        <p:scale>
          <a:sx n="65" d="100"/>
          <a:sy n="65" d="100"/>
        </p:scale>
        <p:origin x="834" y="6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48DB999E-E585-CA83-4E4C-476DDF6F2D2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1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628A9D63-7D9F-49BA-5436-24F3C7E1F01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E78CF0F5-E4FD-9D75-9E3C-967F51CB8BE4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8005" name="Rectangle 5">
            <a:extLst>
              <a:ext uri="{FF2B5EF4-FFF2-40B4-BE49-F238E27FC236}">
                <a16:creationId xmlns:a16="http://schemas.microsoft.com/office/drawing/2014/main" id="{8DF00988-548D-2D09-15D1-88A4B631F41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8006" name="Rectangle 6">
            <a:extLst>
              <a:ext uri="{FF2B5EF4-FFF2-40B4-BE49-F238E27FC236}">
                <a16:creationId xmlns:a16="http://schemas.microsoft.com/office/drawing/2014/main" id="{F222E480-E02E-F6D7-41DE-A183247D215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rtl="1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8007" name="Rectangle 7">
            <a:extLst>
              <a:ext uri="{FF2B5EF4-FFF2-40B4-BE49-F238E27FC236}">
                <a16:creationId xmlns:a16="http://schemas.microsoft.com/office/drawing/2014/main" id="{C3DDCD4F-5909-B5E1-80E6-E11C587A72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81952CD-F77C-466D-AA8B-2208B6956FAF}" type="slidenum">
              <a:rPr lang="ar-SA" altLang="ar-IQ"/>
              <a:pPr>
                <a:defRPr/>
              </a:pPr>
              <a:t>‹#›</a:t>
            </a:fld>
            <a:endParaRPr lang="en-US" altLang="ar-IQ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D0BCA048-D147-F4FC-DF4A-2525AE0AE9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23CDEEF4-4302-7481-EF71-9FE7651729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ar-IQ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0FC8EECA-878C-F8E0-EF43-4A082E7934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Bradley Hand ITC" panose="03070402050302030203" pitchFamily="66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radley Hand ITC" panose="03070402050302030203" pitchFamily="66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radley Hand ITC" panose="03070402050302030203" pitchFamily="66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radley Hand ITC" panose="03070402050302030203" pitchFamily="66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radley Hand ITC" panose="03070402050302030203" pitchFamily="66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radley Hand ITC" panose="03070402050302030203" pitchFamily="66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radley Hand ITC" panose="03070402050302030203" pitchFamily="66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radley Hand ITC" panose="03070402050302030203" pitchFamily="66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radley Hand ITC" panose="03070402050302030203" pitchFamily="66" charset="0"/>
                <a:cs typeface="Arial" panose="020B0604020202020204" pitchFamily="34" charset="0"/>
              </a:defRPr>
            </a:lvl9pPr>
          </a:lstStyle>
          <a:p>
            <a:pPr rtl="0"/>
            <a:fld id="{72F18298-FD67-47F8-ABBF-D144EC825FCA}" type="slidenum">
              <a:rPr lang="en-US" altLang="ar-IQ">
                <a:solidFill>
                  <a:srgbClr val="000000"/>
                </a:solidFill>
                <a:latin typeface="Calibri" panose="020F0502020204030204" pitchFamily="34" charset="0"/>
              </a:rPr>
              <a:pPr rtl="0"/>
              <a:t>1</a:t>
            </a:fld>
            <a:endParaRPr lang="en-US" altLang="ar-IQ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>
            <a:extLst>
              <a:ext uri="{FF2B5EF4-FFF2-40B4-BE49-F238E27FC236}">
                <a16:creationId xmlns:a16="http://schemas.microsoft.com/office/drawing/2014/main" id="{C367F270-1A42-D1E6-7795-9096418872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69635" name="Notes Placeholder 2">
            <a:extLst>
              <a:ext uri="{FF2B5EF4-FFF2-40B4-BE49-F238E27FC236}">
                <a16:creationId xmlns:a16="http://schemas.microsoft.com/office/drawing/2014/main" id="{C2CD5468-B518-E926-D3D7-8E7E64075E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ar-IQ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636" name="Slide Number Placeholder 3">
            <a:extLst>
              <a:ext uri="{FF2B5EF4-FFF2-40B4-BE49-F238E27FC236}">
                <a16:creationId xmlns:a16="http://schemas.microsoft.com/office/drawing/2014/main" id="{32628D67-4E34-C011-55C0-1AF4988C1C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Bradley Hand ITC" panose="03070402050302030203" pitchFamily="66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radley Hand ITC" panose="03070402050302030203" pitchFamily="66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radley Hand ITC" panose="03070402050302030203" pitchFamily="66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radley Hand ITC" panose="03070402050302030203" pitchFamily="66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radley Hand ITC" panose="03070402050302030203" pitchFamily="66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radley Hand ITC" panose="03070402050302030203" pitchFamily="66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radley Hand ITC" panose="03070402050302030203" pitchFamily="66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radley Hand ITC" panose="03070402050302030203" pitchFamily="66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radley Hand ITC" panose="03070402050302030203" pitchFamily="66" charset="0"/>
                <a:cs typeface="Arial" panose="020B0604020202020204" pitchFamily="34" charset="0"/>
              </a:defRPr>
            </a:lvl9pPr>
          </a:lstStyle>
          <a:p>
            <a:pPr rtl="0"/>
            <a:fld id="{D9C5CDD7-2A0E-4743-A1E7-64D98BEA38E2}" type="slidenum">
              <a:rPr lang="en-US" altLang="ar-IQ">
                <a:solidFill>
                  <a:srgbClr val="000000"/>
                </a:solidFill>
                <a:latin typeface="Calibri" panose="020F0502020204030204" pitchFamily="34" charset="0"/>
              </a:rPr>
              <a:pPr rtl="0"/>
              <a:t>30</a:t>
            </a:fld>
            <a:endParaRPr lang="en-US" altLang="ar-IQ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03BA8C2-3D41-8E2F-F90C-4AEE6591878D}"/>
              </a:ext>
            </a:extLst>
          </p:cNvPr>
          <p:cNvGrpSpPr>
            <a:grpSpLocks/>
          </p:cNvGrpSpPr>
          <p:nvPr/>
        </p:nvGrpSpPr>
        <p:grpSpPr bwMode="auto">
          <a:xfrm>
            <a:off x="2211388" y="1600200"/>
            <a:ext cx="9117012" cy="3200400"/>
            <a:chOff x="1045" y="1008"/>
            <a:chExt cx="4307" cy="2016"/>
          </a:xfrm>
        </p:grpSpPr>
        <p:sp>
          <p:nvSpPr>
            <p:cNvPr id="3" name="Oval 3">
              <a:extLst>
                <a:ext uri="{FF2B5EF4-FFF2-40B4-BE49-F238E27FC236}">
                  <a16:creationId xmlns:a16="http://schemas.microsoft.com/office/drawing/2014/main" id="{2FF7AE5D-766F-3305-EE2A-FBBB4C9B4642}"/>
                </a:ext>
              </a:extLst>
            </p:cNvPr>
            <p:cNvSpPr>
              <a:spLocks noChangeArrowheads="1"/>
            </p:cNvSpPr>
            <p:nvPr/>
          </p:nvSpPr>
          <p:spPr bwMode="hidden">
            <a:xfrm flipH="1">
              <a:off x="4392" y="1008"/>
              <a:ext cx="960" cy="9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ar-IQ" sz="2400">
                <a:latin typeface="Times New Roman" pitchFamily="18" charset="0"/>
              </a:endParaRPr>
            </a:p>
          </p:txBody>
        </p:sp>
        <p:sp>
          <p:nvSpPr>
            <p:cNvPr id="4" name="Oval 4">
              <a:extLst>
                <a:ext uri="{FF2B5EF4-FFF2-40B4-BE49-F238E27FC236}">
                  <a16:creationId xmlns:a16="http://schemas.microsoft.com/office/drawing/2014/main" id="{ED2061FB-4D57-0876-061D-7C83709CDED1}"/>
                </a:ext>
              </a:extLst>
            </p:cNvPr>
            <p:cNvSpPr>
              <a:spLocks noChangeArrowheads="1"/>
            </p:cNvSpPr>
            <p:nvPr/>
          </p:nvSpPr>
          <p:spPr bwMode="hidden">
            <a:xfrm flipH="1">
              <a:off x="3264" y="1008"/>
              <a:ext cx="960" cy="9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ar-IQ" sz="2400">
                <a:latin typeface="Times New Roman" pitchFamily="18" charset="0"/>
              </a:endParaRPr>
            </a:p>
          </p:txBody>
        </p:sp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2B7266BF-6777-76A6-A8FA-116408117589}"/>
                </a:ext>
              </a:extLst>
            </p:cNvPr>
            <p:cNvSpPr>
              <a:spLocks noChangeArrowheads="1"/>
            </p:cNvSpPr>
            <p:nvPr/>
          </p:nvSpPr>
          <p:spPr bwMode="hidden">
            <a:xfrm flipH="1">
              <a:off x="2136" y="1008"/>
              <a:ext cx="960" cy="960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ar-IQ" sz="2400">
                <a:latin typeface="Times New Roman" pitchFamily="18" charset="0"/>
              </a:endParaRPr>
            </a:p>
          </p:txBody>
        </p:sp>
        <p:sp>
          <p:nvSpPr>
            <p:cNvPr id="6" name="Oval 6">
              <a:extLst>
                <a:ext uri="{FF2B5EF4-FFF2-40B4-BE49-F238E27FC236}">
                  <a16:creationId xmlns:a16="http://schemas.microsoft.com/office/drawing/2014/main" id="{164E9BDB-BAEB-8DEB-03A8-0C9D11BB1203}"/>
                </a:ext>
              </a:extLst>
            </p:cNvPr>
            <p:cNvSpPr>
              <a:spLocks noChangeArrowheads="1"/>
            </p:cNvSpPr>
            <p:nvPr/>
          </p:nvSpPr>
          <p:spPr bwMode="hidden">
            <a:xfrm flipH="1">
              <a:off x="2136" y="2064"/>
              <a:ext cx="960" cy="9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ar-IQ" sz="2400">
                <a:latin typeface="Times New Roman" pitchFamily="18" charset="0"/>
              </a:endParaRPr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76AFADB0-F9A5-2E79-636D-44B73194CDA6}"/>
                </a:ext>
              </a:extLst>
            </p:cNvPr>
            <p:cNvSpPr>
              <a:spLocks noChangeArrowheads="1"/>
            </p:cNvSpPr>
            <p:nvPr/>
          </p:nvSpPr>
          <p:spPr bwMode="hidden">
            <a:xfrm flipH="1">
              <a:off x="1045" y="2064"/>
              <a:ext cx="960" cy="9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ar-IQ" sz="2400">
                <a:latin typeface="Times New Roman" pitchFamily="18" charset="0"/>
              </a:endParaRPr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E756657B-8C73-8D52-498E-187EC6710D02}"/>
                </a:ext>
              </a:extLst>
            </p:cNvPr>
            <p:cNvSpPr>
              <a:spLocks noChangeArrowheads="1"/>
            </p:cNvSpPr>
            <p:nvPr/>
          </p:nvSpPr>
          <p:spPr bwMode="hidden">
            <a:xfrm flipH="1">
              <a:off x="4392" y="2064"/>
              <a:ext cx="960" cy="960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ar-IQ" sz="2400">
                <a:latin typeface="Times New Roman" pitchFamily="18" charset="0"/>
              </a:endParaRPr>
            </a:p>
          </p:txBody>
        </p:sp>
      </p:grpSp>
      <p:sp>
        <p:nvSpPr>
          <p:cNvPr id="12391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14400" y="1219201"/>
            <a:ext cx="10363200" cy="1933575"/>
          </a:xfrm>
        </p:spPr>
        <p:txBody>
          <a:bodyPr anchor="b"/>
          <a:lstStyle>
            <a:lvl1pPr algn="r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391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2743200" y="3505200"/>
            <a:ext cx="8534400" cy="17526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5EF03ACB-A69B-0C18-15C1-725CAFB21F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D0B40CFF-6140-D091-7EBA-0DCC5AC01F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E3353AD4-F83A-98C2-169D-765394F341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1660CAB-0BBB-453D-9A68-602F5AF2F927}" type="slidenum">
              <a:rPr lang="ar-SA" altLang="ar-IQ"/>
              <a:pPr>
                <a:defRPr/>
              </a:pPr>
              <a:t>‹#›</a:t>
            </a:fld>
            <a:endParaRPr lang="en-US" altLang="ar-IQ"/>
          </a:p>
        </p:txBody>
      </p:sp>
    </p:spTree>
    <p:extLst>
      <p:ext uri="{BB962C8B-B14F-4D97-AF65-F5344CB8AC3E}">
        <p14:creationId xmlns:p14="http://schemas.microsoft.com/office/powerpoint/2010/main" val="2519661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F3DF3094-2987-7445-6D79-1F92F726BB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3EC8C2C2-7DC0-A225-0B43-E588FBF779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11B0A27B-F908-8ADA-44A6-9183B4C226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045BD96-1CB4-4E2B-9FA7-A1FD475238B9}" type="slidenum">
              <a:rPr lang="ar-SA" altLang="ar-IQ"/>
              <a:pPr>
                <a:defRPr/>
              </a:pPr>
              <a:t>‹#›</a:t>
            </a:fld>
            <a:endParaRPr lang="en-US" altLang="ar-IQ"/>
          </a:p>
        </p:txBody>
      </p:sp>
    </p:spTree>
    <p:extLst>
      <p:ext uri="{BB962C8B-B14F-4D97-AF65-F5344CB8AC3E}">
        <p14:creationId xmlns:p14="http://schemas.microsoft.com/office/powerpoint/2010/main" val="1894172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0644E801-BF54-9DDB-940A-78037C9287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49FC9DA3-BA1F-2EB9-EC73-41698DAC12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076D5184-CFBE-667D-0FD9-4FA67B73E7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2ED77FE-EB60-4C2C-9F5E-1CA6ED1C2E26}" type="slidenum">
              <a:rPr lang="ar-SA" altLang="ar-IQ"/>
              <a:pPr>
                <a:defRPr/>
              </a:pPr>
              <a:t>‹#›</a:t>
            </a:fld>
            <a:endParaRPr lang="en-US" altLang="ar-IQ"/>
          </a:p>
        </p:txBody>
      </p:sp>
    </p:spTree>
    <p:extLst>
      <p:ext uri="{BB962C8B-B14F-4D97-AF65-F5344CB8AC3E}">
        <p14:creationId xmlns:p14="http://schemas.microsoft.com/office/powerpoint/2010/main" val="1559831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65B8D330-B89C-8F49-A184-BD3F5B70F2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B4FA078D-D555-3306-9D54-9C7BAD59B6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69449DFE-695A-43D3-FC91-407E8597FE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E92818F-8EB7-4C45-A59E-CE5C257A5FA6}" type="slidenum">
              <a:rPr lang="ar-SA" altLang="ar-IQ"/>
              <a:pPr>
                <a:defRPr/>
              </a:pPr>
              <a:t>‹#›</a:t>
            </a:fld>
            <a:endParaRPr lang="en-US" altLang="ar-IQ"/>
          </a:p>
        </p:txBody>
      </p:sp>
    </p:spTree>
    <p:extLst>
      <p:ext uri="{BB962C8B-B14F-4D97-AF65-F5344CB8AC3E}">
        <p14:creationId xmlns:p14="http://schemas.microsoft.com/office/powerpoint/2010/main" val="634073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5C487A26-CFD3-2A55-4811-DF9C83F2A6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D927F2A1-C44C-309A-10EE-54CA3931E1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9B655C6F-B19C-518B-1127-6CC8CDB5EE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4B04E2B-58CC-441A-8103-2B37EC080119}" type="slidenum">
              <a:rPr lang="ar-SA" altLang="ar-IQ"/>
              <a:pPr>
                <a:defRPr/>
              </a:pPr>
              <a:t>‹#›</a:t>
            </a:fld>
            <a:endParaRPr lang="en-US" altLang="ar-IQ"/>
          </a:p>
        </p:txBody>
      </p:sp>
    </p:spTree>
    <p:extLst>
      <p:ext uri="{BB962C8B-B14F-4D97-AF65-F5344CB8AC3E}">
        <p14:creationId xmlns:p14="http://schemas.microsoft.com/office/powerpoint/2010/main" val="2596315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AEF346F7-19A6-CDB3-C886-C847F2D244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5B1C2B40-0DE0-94F6-2C0E-DE2EC37FDC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2C8776D0-81A5-86AB-F7D7-FAE1897794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5637703-962C-4876-969B-4FEBB9BB6735}" type="slidenum">
              <a:rPr lang="ar-SA" altLang="ar-IQ"/>
              <a:pPr>
                <a:defRPr/>
              </a:pPr>
              <a:t>‹#›</a:t>
            </a:fld>
            <a:endParaRPr lang="en-US" altLang="ar-IQ"/>
          </a:p>
        </p:txBody>
      </p:sp>
    </p:spTree>
    <p:extLst>
      <p:ext uri="{BB962C8B-B14F-4D97-AF65-F5344CB8AC3E}">
        <p14:creationId xmlns:p14="http://schemas.microsoft.com/office/powerpoint/2010/main" val="2594967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768D0C89-767C-BAF2-2DEF-983CEE9B4B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E38962EF-1DD4-6CC5-716C-9457EB3BA3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37C4989-865A-50C4-4722-30D90CC48B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B26888B-E7D4-47AF-9F87-8DF660C4F1FA}" type="slidenum">
              <a:rPr lang="ar-SA" altLang="ar-IQ"/>
              <a:pPr>
                <a:defRPr/>
              </a:pPr>
              <a:t>‹#›</a:t>
            </a:fld>
            <a:endParaRPr lang="en-US" altLang="ar-IQ"/>
          </a:p>
        </p:txBody>
      </p:sp>
    </p:spTree>
    <p:extLst>
      <p:ext uri="{BB962C8B-B14F-4D97-AF65-F5344CB8AC3E}">
        <p14:creationId xmlns:p14="http://schemas.microsoft.com/office/powerpoint/2010/main" val="2373753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921E2142-3861-1066-6BA7-1C1CF78F5A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75F12F68-87E3-9932-B9E1-52E1997EEA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6EDE27DB-1921-B570-B4B8-8379C48E8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BA1162C-06CE-47C2-A58B-13F7FE67324A}" type="slidenum">
              <a:rPr lang="ar-SA" altLang="ar-IQ"/>
              <a:pPr>
                <a:defRPr/>
              </a:pPr>
              <a:t>‹#›</a:t>
            </a:fld>
            <a:endParaRPr lang="en-US" altLang="ar-IQ"/>
          </a:p>
        </p:txBody>
      </p:sp>
    </p:spTree>
    <p:extLst>
      <p:ext uri="{BB962C8B-B14F-4D97-AF65-F5344CB8AC3E}">
        <p14:creationId xmlns:p14="http://schemas.microsoft.com/office/powerpoint/2010/main" val="783139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B9BF2B39-9F40-DCCD-B296-8020AAE98B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3109378A-0D1A-EECF-6AE0-28D97BB2A6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5952BF80-F268-D0E3-D65F-588D2C9189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72A5B13-A427-4B1C-B764-9CA45F9B141C}" type="slidenum">
              <a:rPr lang="ar-SA" altLang="ar-IQ"/>
              <a:pPr>
                <a:defRPr/>
              </a:pPr>
              <a:t>‹#›</a:t>
            </a:fld>
            <a:endParaRPr lang="en-US" altLang="ar-IQ"/>
          </a:p>
        </p:txBody>
      </p:sp>
    </p:spTree>
    <p:extLst>
      <p:ext uri="{BB962C8B-B14F-4D97-AF65-F5344CB8AC3E}">
        <p14:creationId xmlns:p14="http://schemas.microsoft.com/office/powerpoint/2010/main" val="2735786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04C42CB0-DD14-C2D5-D4CF-0988442EC9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5BA1F0CF-07F0-670A-981F-83C87C365D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ECA0106A-9EB7-3647-B934-69D8FF391B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00CB72C-AF41-4F38-8349-D4639DFA7269}" type="slidenum">
              <a:rPr lang="ar-SA" altLang="ar-IQ"/>
              <a:pPr>
                <a:defRPr/>
              </a:pPr>
              <a:t>‹#›</a:t>
            </a:fld>
            <a:endParaRPr lang="en-US" altLang="ar-IQ"/>
          </a:p>
        </p:txBody>
      </p:sp>
    </p:spTree>
    <p:extLst>
      <p:ext uri="{BB962C8B-B14F-4D97-AF65-F5344CB8AC3E}">
        <p14:creationId xmlns:p14="http://schemas.microsoft.com/office/powerpoint/2010/main" val="3415124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62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62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DDE1403A-D1E4-C63C-E32B-F71CEFC01F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34ED20E6-F73B-EA99-BBC1-B0C429071D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856B8DA3-3AF5-EE16-8357-B78245D762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EE1F5B7-7DD1-4AEF-A7EE-AF7AE6704593}" type="slidenum">
              <a:rPr lang="ar-SA" altLang="ar-IQ"/>
              <a:pPr>
                <a:defRPr/>
              </a:pPr>
              <a:t>‹#›</a:t>
            </a:fld>
            <a:endParaRPr lang="en-US" altLang="ar-IQ"/>
          </a:p>
        </p:txBody>
      </p:sp>
    </p:spTree>
    <p:extLst>
      <p:ext uri="{BB962C8B-B14F-4D97-AF65-F5344CB8AC3E}">
        <p14:creationId xmlns:p14="http://schemas.microsoft.com/office/powerpoint/2010/main" val="789159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D6D65F69-CD3B-901D-1C46-ED7E3FD3F8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965A2117-C36D-69EB-D662-E7E83F06FA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F7254E45-1C15-88CD-17EE-ADF5572A3D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946BDA6-FEA3-45D6-9E15-A435C73F2028}" type="slidenum">
              <a:rPr lang="ar-SA" altLang="ar-IQ"/>
              <a:pPr>
                <a:defRPr/>
              </a:pPr>
              <a:t>‹#›</a:t>
            </a:fld>
            <a:endParaRPr lang="en-US" altLang="ar-IQ"/>
          </a:p>
        </p:txBody>
      </p:sp>
    </p:spTree>
    <p:extLst>
      <p:ext uri="{BB962C8B-B14F-4D97-AF65-F5344CB8AC3E}">
        <p14:creationId xmlns:p14="http://schemas.microsoft.com/office/powerpoint/2010/main" val="36011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9FBDC93-FA54-51E6-F76D-918EA4B41001}"/>
              </a:ext>
            </a:extLst>
          </p:cNvPr>
          <p:cNvSpPr/>
          <p:nvPr userDrawn="1"/>
        </p:nvSpPr>
        <p:spPr bwMode="blackWhite">
          <a:xfrm>
            <a:off x="255588" y="263525"/>
            <a:ext cx="11680825" cy="633095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013" dirty="0"/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DA346782-F6A3-AC48-08A1-BD29835F618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7" b="71478"/>
          <a:stretch>
            <a:fillRect/>
          </a:stretch>
        </p:blipFill>
        <p:spPr bwMode="auto">
          <a:xfrm>
            <a:off x="342900" y="4546600"/>
            <a:ext cx="11715750" cy="202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tIns="0" bIns="0" rtlCol="0" anchor="t">
            <a:noAutofit/>
          </a:bodyPr>
          <a:lstStyle>
            <a:lvl1pPr>
              <a:lnSpc>
                <a:spcPct val="100000"/>
              </a:lnSpc>
              <a:defRPr lang="en-US" sz="27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28010"/>
            <a:ext cx="9144000" cy="1287675"/>
          </a:xfrm>
        </p:spPr>
        <p:txBody>
          <a:bodyPr>
            <a:noAutofit/>
          </a:bodyPr>
          <a:lstStyle>
            <a:lvl1pPr marL="0" indent="0">
              <a:buNone/>
              <a:defRPr lang="en-US" sz="135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7540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393F7AB7-04B2-F6D1-F8B5-AE3732982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>
            <a:fillRect/>
          </a:stretch>
        </p:blipFill>
        <p:spPr bwMode="auto">
          <a:xfrm>
            <a:off x="268288" y="4802188"/>
            <a:ext cx="11655425" cy="178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675"/>
              </a:spcAft>
              <a:buSzPct val="25000"/>
              <a:buFont typeface="Segoe UI" panose="020B0502040204020203" pitchFamily="34" charset="0"/>
              <a:buChar char=" "/>
              <a:defRPr sz="675"/>
            </a:lvl1pPr>
            <a:lvl2pPr marL="225922" indent="4466">
              <a:spcBef>
                <a:spcPts val="338"/>
              </a:spcBef>
              <a:spcAft>
                <a:spcPts val="675"/>
              </a:spcAft>
              <a:buFont typeface="Segoe UI" panose="020B0502040204020203" pitchFamily="34" charset="0"/>
              <a:buChar char=" "/>
              <a:defRPr sz="675"/>
            </a:lvl2pPr>
            <a:lvl3pPr marL="642938" indent="-128588">
              <a:buFont typeface="Segoe UI" panose="020B0502040204020203" pitchFamily="34" charset="0"/>
              <a:buChar char=" "/>
              <a:defRPr/>
            </a:lvl3pPr>
            <a:lvl4pPr marL="900113" indent="-128588">
              <a:buFont typeface="Segoe UI" panose="020B0502040204020203" pitchFamily="34" charset="0"/>
              <a:buChar char=" "/>
              <a:defRPr/>
            </a:lvl4pPr>
            <a:lvl5pPr marL="1157288" indent="-128588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68721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79E0A429-7695-E517-42C5-E3F5D66DE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>
            <a:fillRect/>
          </a:stretch>
        </p:blipFill>
        <p:spPr bwMode="auto">
          <a:xfrm>
            <a:off x="268288" y="4802188"/>
            <a:ext cx="11655425" cy="178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675"/>
              </a:spcAft>
              <a:buSzPct val="25000"/>
              <a:buFont typeface="Segoe UI" panose="020B0502040204020203" pitchFamily="34" charset="0"/>
              <a:buChar char=" "/>
              <a:defRPr sz="675"/>
            </a:lvl1pPr>
            <a:lvl2pPr marL="225922" indent="4466">
              <a:spcBef>
                <a:spcPts val="338"/>
              </a:spcBef>
              <a:spcAft>
                <a:spcPts val="675"/>
              </a:spcAft>
              <a:buFont typeface="Segoe UI" panose="020B0502040204020203" pitchFamily="34" charset="0"/>
              <a:buChar char=" "/>
              <a:defRPr sz="675"/>
            </a:lvl2pPr>
            <a:lvl3pPr marL="642938" indent="-128588">
              <a:buFont typeface="Segoe UI" panose="020B0502040204020203" pitchFamily="34" charset="0"/>
              <a:buChar char=" "/>
              <a:defRPr/>
            </a:lvl3pPr>
            <a:lvl4pPr marL="900113" indent="-128588">
              <a:buFont typeface="Segoe UI" panose="020B0502040204020203" pitchFamily="34" charset="0"/>
              <a:buChar char=" "/>
              <a:defRPr/>
            </a:lvl4pPr>
            <a:lvl5pPr marL="1157288" indent="-128588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494225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>
            <a:extLst>
              <a:ext uri="{FF2B5EF4-FFF2-40B4-BE49-F238E27FC236}">
                <a16:creationId xmlns:a16="http://schemas.microsoft.com/office/drawing/2014/main" id="{53E5C5DA-BFB0-7501-BEE4-F479DF5DFF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>
            <a:fillRect/>
          </a:stretch>
        </p:blipFill>
        <p:spPr bwMode="auto">
          <a:xfrm>
            <a:off x="268288" y="4802188"/>
            <a:ext cx="11655425" cy="178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090864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675"/>
              </a:spcAft>
              <a:buSzPct val="25000"/>
              <a:buFont typeface="Segoe UI" panose="020B0502040204020203" pitchFamily="34" charset="0"/>
              <a:buChar char=" "/>
              <a:defRPr sz="675"/>
            </a:lvl1pPr>
            <a:lvl2pPr marL="225922" indent="4466" algn="l">
              <a:spcBef>
                <a:spcPts val="338"/>
              </a:spcBef>
              <a:spcAft>
                <a:spcPts val="675"/>
              </a:spcAft>
              <a:buFont typeface="Segoe UI" panose="020B0502040204020203" pitchFamily="34" charset="0"/>
              <a:buChar char=" "/>
              <a:defRPr sz="675"/>
            </a:lvl2pPr>
            <a:lvl3pPr marL="642938" indent="-128588">
              <a:buFont typeface="Segoe UI" panose="020B0502040204020203" pitchFamily="34" charset="0"/>
              <a:buChar char=" "/>
              <a:defRPr/>
            </a:lvl3pPr>
            <a:lvl4pPr marL="900113" indent="-128588">
              <a:buFont typeface="Segoe UI" panose="020B0502040204020203" pitchFamily="34" charset="0"/>
              <a:buChar char=" "/>
              <a:defRPr/>
            </a:lvl4pPr>
            <a:lvl5pPr marL="1157288" indent="-128588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4395540" y="1507068"/>
            <a:ext cx="7143905" cy="4669896"/>
          </a:xfrm>
        </p:spPr>
        <p:txBody>
          <a:bodyPr anchor="ctr"/>
          <a:lstStyle>
            <a:lvl1pPr marL="0" indent="0">
              <a:spcAft>
                <a:spcPts val="675"/>
              </a:spcAft>
              <a:buSzPct val="25000"/>
              <a:buFont typeface="Segoe UI" panose="020B0502040204020203" pitchFamily="34" charset="0"/>
              <a:buChar char=" "/>
              <a:defRPr sz="675"/>
            </a:lvl1pPr>
            <a:lvl2pPr marL="225922" indent="4466">
              <a:spcBef>
                <a:spcPts val="338"/>
              </a:spcBef>
              <a:spcAft>
                <a:spcPts val="675"/>
              </a:spcAft>
              <a:buFont typeface="Segoe UI" panose="020B0502040204020203" pitchFamily="34" charset="0"/>
              <a:buChar char=" "/>
              <a:defRPr sz="675"/>
            </a:lvl2pPr>
            <a:lvl3pPr marL="642938" indent="-128588">
              <a:buFont typeface="Segoe UI" panose="020B0502040204020203" pitchFamily="34" charset="0"/>
              <a:buChar char=" "/>
              <a:defRPr/>
            </a:lvl3pPr>
            <a:lvl4pPr marL="900113" indent="-128588">
              <a:buFont typeface="Segoe UI" panose="020B0502040204020203" pitchFamily="34" charset="0"/>
              <a:buChar char=" "/>
              <a:defRPr/>
            </a:lvl4pPr>
            <a:lvl5pPr marL="1157288" indent="-128588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7267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>
            <a:extLst>
              <a:ext uri="{FF2B5EF4-FFF2-40B4-BE49-F238E27FC236}">
                <a16:creationId xmlns:a16="http://schemas.microsoft.com/office/drawing/2014/main" id="{B5E6B052-E6A9-BCCF-E18E-57D3E0EF2F9F}"/>
              </a:ext>
            </a:extLst>
          </p:cNvPr>
          <p:cNvSpPr/>
          <p:nvPr userDrawn="1"/>
        </p:nvSpPr>
        <p:spPr>
          <a:xfrm>
            <a:off x="255588" y="263525"/>
            <a:ext cx="11682412" cy="63309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013" dirty="0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796A555D-13AA-928E-FCB1-A6D76CDF9DAD}"/>
              </a:ext>
            </a:extLst>
          </p:cNvPr>
          <p:cNvSpPr/>
          <p:nvPr userDrawn="1"/>
        </p:nvSpPr>
        <p:spPr bwMode="blackWhite">
          <a:xfrm>
            <a:off x="255588" y="263525"/>
            <a:ext cx="11680825" cy="207168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013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202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/>
          <a:lstStyle>
            <a:lvl1pPr>
              <a:defRPr lang="en-US" sz="135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675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675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675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675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9566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BD13093E-A1AB-7B35-8EA3-EEB846C13393}"/>
              </a:ext>
            </a:extLst>
          </p:cNvPr>
          <p:cNvSpPr/>
          <p:nvPr userDrawn="1"/>
        </p:nvSpPr>
        <p:spPr>
          <a:xfrm>
            <a:off x="255588" y="265113"/>
            <a:ext cx="11684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hangingPunct="1">
              <a:defRPr/>
            </a:pPr>
            <a:endParaRPr lang="en-US" sz="1013" dirty="0"/>
          </a:p>
        </p:txBody>
      </p:sp>
      <p:cxnSp>
        <p:nvCxnSpPr>
          <p:cNvPr id="3" name="Straight Connector 11">
            <a:extLst>
              <a:ext uri="{FF2B5EF4-FFF2-40B4-BE49-F238E27FC236}">
                <a16:creationId xmlns:a16="http://schemas.microsoft.com/office/drawing/2014/main" id="{B156B28F-E480-8ED5-185C-DB43C4E30AF9}"/>
              </a:ext>
            </a:extLst>
          </p:cNvPr>
          <p:cNvCxnSpPr/>
          <p:nvPr userDrawn="1"/>
        </p:nvCxnSpPr>
        <p:spPr>
          <a:xfrm>
            <a:off x="604838" y="1196975"/>
            <a:ext cx="10982325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58045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B6500FCC-01B4-274B-9787-5CF2092CB4D0}"/>
              </a:ext>
            </a:extLst>
          </p:cNvPr>
          <p:cNvSpPr/>
          <p:nvPr userDrawn="1"/>
        </p:nvSpPr>
        <p:spPr>
          <a:xfrm>
            <a:off x="255588" y="265113"/>
            <a:ext cx="11684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hangingPunct="1">
              <a:defRPr/>
            </a:pPr>
            <a:endParaRPr lang="en-US" sz="1013" dirty="0"/>
          </a:p>
        </p:txBody>
      </p:sp>
      <p:cxnSp>
        <p:nvCxnSpPr>
          <p:cNvPr id="4" name="Straight Connector 11">
            <a:extLst>
              <a:ext uri="{FF2B5EF4-FFF2-40B4-BE49-F238E27FC236}">
                <a16:creationId xmlns:a16="http://schemas.microsoft.com/office/drawing/2014/main" id="{8C3CFCFC-2DD8-5AAA-F7C8-845ABE540E36}"/>
              </a:ext>
            </a:extLst>
          </p:cNvPr>
          <p:cNvCxnSpPr/>
          <p:nvPr userDrawn="1"/>
        </p:nvCxnSpPr>
        <p:spPr>
          <a:xfrm>
            <a:off x="604838" y="1196975"/>
            <a:ext cx="10982325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5">
            <a:extLst>
              <a:ext uri="{FF2B5EF4-FFF2-40B4-BE49-F238E27FC236}">
                <a16:creationId xmlns:a16="http://schemas.microsoft.com/office/drawing/2014/main" id="{0AD7413F-1FDE-4588-CA0C-7D2B6454E9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>
            <a:fillRect/>
          </a:stretch>
        </p:blipFill>
        <p:spPr bwMode="auto">
          <a:xfrm>
            <a:off x="268288" y="4802188"/>
            <a:ext cx="11655425" cy="178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423725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7773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17FD2DCB-BDFE-E98C-C153-0296E6A0A9D3}"/>
              </a:ext>
            </a:extLst>
          </p:cNvPr>
          <p:cNvSpPr/>
          <p:nvPr userDrawn="1"/>
        </p:nvSpPr>
        <p:spPr>
          <a:xfrm flipH="1">
            <a:off x="6480175" y="1508125"/>
            <a:ext cx="5711825" cy="3841750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ko-KR" altLang="en-US" sz="1349"/>
          </a:p>
        </p:txBody>
      </p:sp>
      <p:sp>
        <p:nvSpPr>
          <p:cNvPr id="8" name="Picture Placeholder 2"/>
          <p:cNvSpPr>
            <a:spLocks noGrp="1"/>
          </p:cNvSpPr>
          <p:nvPr>
            <p:ph type="pic" idx="13"/>
          </p:nvPr>
        </p:nvSpPr>
        <p:spPr>
          <a:xfrm>
            <a:off x="7110273" y="0"/>
            <a:ext cx="4451499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342815" indent="0">
              <a:buNone/>
              <a:defRPr sz="2099"/>
            </a:lvl2pPr>
            <a:lvl3pPr marL="685628" indent="0">
              <a:buNone/>
              <a:defRPr sz="1799"/>
            </a:lvl3pPr>
            <a:lvl4pPr marL="1028443" indent="0">
              <a:buNone/>
              <a:defRPr sz="1500"/>
            </a:lvl4pPr>
            <a:lvl5pPr marL="1371257" indent="0">
              <a:buNone/>
              <a:defRPr sz="1500"/>
            </a:lvl5pPr>
            <a:lvl6pPr marL="1714072" indent="0">
              <a:buNone/>
              <a:defRPr sz="1500"/>
            </a:lvl6pPr>
            <a:lvl7pPr marL="2056886" indent="0">
              <a:buNone/>
              <a:defRPr sz="1500"/>
            </a:lvl7pPr>
            <a:lvl8pPr marL="2399700" indent="0">
              <a:buNone/>
              <a:defRPr sz="1500"/>
            </a:lvl8pPr>
            <a:lvl9pPr marL="2742515" indent="0">
              <a:buNone/>
              <a:defRPr sz="1500"/>
            </a:lvl9pPr>
          </a:lstStyle>
          <a:p>
            <a:pPr lvl="0"/>
            <a:r>
              <a:rPr lang="ar-SA" altLang="ko-KR" noProof="0"/>
              <a:t>انقر فوق الأيقونة لإضافة صورة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0701401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8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5"/>
            <a:ext cx="10972800" cy="4530725"/>
          </a:xfrm>
        </p:spPr>
        <p:txBody>
          <a:bodyPr rtlCol="0">
            <a:normAutofit/>
          </a:bodyPr>
          <a:lstStyle/>
          <a:p>
            <a:pPr lvl="0"/>
            <a:endParaRPr lang="ar-JO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409DE2-94A4-FC46-0417-B2C7E046CC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EAABF-B594-461E-A7A1-80BB893104B1}" type="datetime1">
              <a:rPr lang="en-US"/>
              <a:pPr>
                <a:defRPr/>
              </a:pPr>
              <a:t>10/21/2026</a:t>
            </a:fld>
            <a:endParaRPr lang="en-US" alt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ECCCF57-F94A-BBEE-F59F-51CA6EB55F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E136260-DDA5-F3A4-6A1E-6F38F3D907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AFFCEC-C860-495A-8A2A-19F7655D8D21}" type="slidenum">
              <a:rPr lang="ar-SA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587419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DFE66EDA-B470-C35B-90B5-22F296F1B79B}"/>
              </a:ext>
            </a:extLst>
          </p:cNvPr>
          <p:cNvSpPr/>
          <p:nvPr userDrawn="1"/>
        </p:nvSpPr>
        <p:spPr bwMode="blackWhite">
          <a:xfrm>
            <a:off x="255588" y="263525"/>
            <a:ext cx="11680825" cy="633095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415A312A-1790-153C-479F-6D88887FC97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7" b="71478"/>
          <a:stretch>
            <a:fillRect/>
          </a:stretch>
        </p:blipFill>
        <p:spPr bwMode="auto">
          <a:xfrm>
            <a:off x="342900" y="4546600"/>
            <a:ext cx="11715750" cy="202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tIns="0" bIns="0" rtlCol="0" anchor="t">
            <a:noAutofit/>
          </a:bodyPr>
          <a:lstStyle>
            <a:lvl1pPr>
              <a:lnSpc>
                <a:spcPct val="100000"/>
              </a:lnSpc>
              <a:defRPr lang="en-US" sz="3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28010"/>
            <a:ext cx="9144000" cy="1287675"/>
          </a:xfrm>
        </p:spPr>
        <p:txBody>
          <a:bodyPr rtlCol="0">
            <a:noAutofit/>
          </a:bodyPr>
          <a:lstStyle>
            <a:lvl1pPr marL="0" indent="0">
              <a:buNone/>
              <a:defRPr lang="en-US" sz="18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9324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5A946D9E-01E9-A1C0-EB91-3CC21A11B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>
            <a:fillRect/>
          </a:stretch>
        </p:blipFill>
        <p:spPr bwMode="auto">
          <a:xfrm>
            <a:off x="268288" y="4802188"/>
            <a:ext cx="11655425" cy="178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89444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A55D45B-4FCE-C922-912F-EF58E91B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>
            <a:fillRect/>
          </a:stretch>
        </p:blipFill>
        <p:spPr bwMode="auto">
          <a:xfrm>
            <a:off x="268288" y="4802188"/>
            <a:ext cx="11655425" cy="178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11451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>
            <a:extLst>
              <a:ext uri="{FF2B5EF4-FFF2-40B4-BE49-F238E27FC236}">
                <a16:creationId xmlns:a16="http://schemas.microsoft.com/office/drawing/2014/main" id="{C61DAC3A-8B2B-FB60-A607-7442C81C83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>
            <a:fillRect/>
          </a:stretch>
        </p:blipFill>
        <p:spPr bwMode="auto">
          <a:xfrm>
            <a:off x="268288" y="4802188"/>
            <a:ext cx="11655425" cy="178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090863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 algn="l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4395538" y="1507068"/>
            <a:ext cx="7143905" cy="4669896"/>
          </a:xfrm>
        </p:spPr>
        <p:txBody>
          <a:bodyPr anchor="ctr"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297799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>
            <a:extLst>
              <a:ext uri="{FF2B5EF4-FFF2-40B4-BE49-F238E27FC236}">
                <a16:creationId xmlns:a16="http://schemas.microsoft.com/office/drawing/2014/main" id="{F56EEC23-3451-0043-6E99-713E59ADC35F}"/>
              </a:ext>
            </a:extLst>
          </p:cNvPr>
          <p:cNvSpPr/>
          <p:nvPr userDrawn="1"/>
        </p:nvSpPr>
        <p:spPr>
          <a:xfrm>
            <a:off x="255588" y="263525"/>
            <a:ext cx="11682412" cy="63309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9B09ABCF-2476-969A-17EF-109688A6E762}"/>
              </a:ext>
            </a:extLst>
          </p:cNvPr>
          <p:cNvSpPr/>
          <p:nvPr userDrawn="1"/>
        </p:nvSpPr>
        <p:spPr bwMode="blackWhite">
          <a:xfrm>
            <a:off x="255588" y="263525"/>
            <a:ext cx="11680825" cy="207168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rtlCol="0">
            <a:normAutofit/>
          </a:bodyPr>
          <a:lstStyle>
            <a:lvl1pPr>
              <a:defRPr lang="en-US" sz="1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5937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A3107F5F-2469-C8EE-AC0B-589E30CC84D9}"/>
              </a:ext>
            </a:extLst>
          </p:cNvPr>
          <p:cNvSpPr/>
          <p:nvPr userDrawn="1"/>
        </p:nvSpPr>
        <p:spPr>
          <a:xfrm>
            <a:off x="255588" y="265113"/>
            <a:ext cx="11684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hangingPunct="1">
              <a:defRPr/>
            </a:pPr>
            <a:endParaRPr lang="en-US" dirty="0"/>
          </a:p>
        </p:txBody>
      </p:sp>
      <p:cxnSp>
        <p:nvCxnSpPr>
          <p:cNvPr id="3" name="Straight Connector 11">
            <a:extLst>
              <a:ext uri="{FF2B5EF4-FFF2-40B4-BE49-F238E27FC236}">
                <a16:creationId xmlns:a16="http://schemas.microsoft.com/office/drawing/2014/main" id="{62204979-4BEB-5526-D0B2-BE59A9EA0205}"/>
              </a:ext>
            </a:extLst>
          </p:cNvPr>
          <p:cNvCxnSpPr/>
          <p:nvPr userDrawn="1"/>
        </p:nvCxnSpPr>
        <p:spPr>
          <a:xfrm>
            <a:off x="604838" y="1196975"/>
            <a:ext cx="10982325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03651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64F376CD-1D61-322C-1DC9-25C0B6B3EC29}"/>
              </a:ext>
            </a:extLst>
          </p:cNvPr>
          <p:cNvSpPr/>
          <p:nvPr userDrawn="1"/>
        </p:nvSpPr>
        <p:spPr>
          <a:xfrm>
            <a:off x="255588" y="265113"/>
            <a:ext cx="11684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hangingPunct="1">
              <a:defRPr/>
            </a:pPr>
            <a:endParaRPr lang="en-US" dirty="0"/>
          </a:p>
        </p:txBody>
      </p:sp>
      <p:cxnSp>
        <p:nvCxnSpPr>
          <p:cNvPr id="4" name="Straight Connector 11">
            <a:extLst>
              <a:ext uri="{FF2B5EF4-FFF2-40B4-BE49-F238E27FC236}">
                <a16:creationId xmlns:a16="http://schemas.microsoft.com/office/drawing/2014/main" id="{0DB5D931-7720-DDAF-E89D-9B1BC751B46D}"/>
              </a:ext>
            </a:extLst>
          </p:cNvPr>
          <p:cNvCxnSpPr/>
          <p:nvPr userDrawn="1"/>
        </p:nvCxnSpPr>
        <p:spPr>
          <a:xfrm>
            <a:off x="604838" y="1196975"/>
            <a:ext cx="10982325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5">
            <a:extLst>
              <a:ext uri="{FF2B5EF4-FFF2-40B4-BE49-F238E27FC236}">
                <a16:creationId xmlns:a16="http://schemas.microsoft.com/office/drawing/2014/main" id="{2853868F-DF26-ADC0-9548-473DB52F64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>
            <a:fillRect/>
          </a:stretch>
        </p:blipFill>
        <p:spPr bwMode="auto">
          <a:xfrm>
            <a:off x="268288" y="4802188"/>
            <a:ext cx="11655425" cy="178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293598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60702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ACE71745-45B9-7B66-EEB9-071AF86F1F23}"/>
              </a:ext>
            </a:extLst>
          </p:cNvPr>
          <p:cNvSpPr/>
          <p:nvPr userDrawn="1"/>
        </p:nvSpPr>
        <p:spPr>
          <a:xfrm flipH="1">
            <a:off x="6480175" y="1508125"/>
            <a:ext cx="5711825" cy="3841750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ko-KR" altLang="en-US" sz="1799"/>
          </a:p>
        </p:txBody>
      </p:sp>
      <p:sp>
        <p:nvSpPr>
          <p:cNvPr id="8" name="Picture Placeholder 2"/>
          <p:cNvSpPr>
            <a:spLocks noGrp="1"/>
          </p:cNvSpPr>
          <p:nvPr>
            <p:ph type="pic" idx="13"/>
          </p:nvPr>
        </p:nvSpPr>
        <p:spPr>
          <a:xfrm>
            <a:off x="7110273" y="0"/>
            <a:ext cx="4451499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086" indent="0">
              <a:buNone/>
              <a:defRPr sz="2799"/>
            </a:lvl2pPr>
            <a:lvl3pPr marL="914171" indent="0">
              <a:buNone/>
              <a:defRPr sz="2399"/>
            </a:lvl3pPr>
            <a:lvl4pPr marL="1371257" indent="0">
              <a:buNone/>
              <a:defRPr sz="2000"/>
            </a:lvl4pPr>
            <a:lvl5pPr marL="1828343" indent="0">
              <a:buNone/>
              <a:defRPr sz="2000"/>
            </a:lvl5pPr>
            <a:lvl6pPr marL="2285429" indent="0">
              <a:buNone/>
              <a:defRPr sz="2000"/>
            </a:lvl6pPr>
            <a:lvl7pPr marL="2742515" indent="0">
              <a:buNone/>
              <a:defRPr sz="2000"/>
            </a:lvl7pPr>
            <a:lvl8pPr marL="3199600" indent="0">
              <a:buNone/>
              <a:defRPr sz="2000"/>
            </a:lvl8pPr>
            <a:lvl9pPr marL="3656686" indent="0">
              <a:buNone/>
              <a:defRPr sz="2000"/>
            </a:lvl9pPr>
          </a:lstStyle>
          <a:p>
            <a:pPr lvl="0"/>
            <a:r>
              <a:rPr lang="ar-SA" altLang="ko-KR" noProof="0"/>
              <a:t>انقر فوق الأيقونة لإضافة صورة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630654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6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3"/>
            <a:ext cx="10972800" cy="4530725"/>
          </a:xfrm>
        </p:spPr>
        <p:txBody>
          <a:bodyPr rtlCol="0">
            <a:normAutofit/>
          </a:bodyPr>
          <a:lstStyle/>
          <a:p>
            <a:pPr lvl="0"/>
            <a:endParaRPr lang="ar-JO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2DD280E-7282-6AE3-23CC-5CF77D3A5C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C43BE9-7CAD-42D2-BF17-CCDC87FD84B3}" type="datetime1">
              <a:rPr lang="en-US"/>
              <a:pPr>
                <a:defRPr/>
              </a:pPr>
              <a:t>10/21/2026</a:t>
            </a:fld>
            <a:endParaRPr lang="en-US" alt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4E6D0E-8956-3007-27AE-C2FFF09206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B0B6F68-356D-772D-B67E-B552BF087B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BC59BC-BBC5-4BDF-BE55-05B1FBB18831}" type="slidenum">
              <a:rPr lang="ar-SA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60075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81449890-F87D-DC13-278F-A6B3BEFD777B}"/>
              </a:ext>
            </a:extLst>
          </p:cNvPr>
          <p:cNvGrpSpPr>
            <a:grpSpLocks/>
          </p:cNvGrpSpPr>
          <p:nvPr/>
        </p:nvGrpSpPr>
        <p:grpSpPr bwMode="auto">
          <a:xfrm>
            <a:off x="1428750" y="304800"/>
            <a:ext cx="10153650" cy="1106488"/>
            <a:chOff x="675" y="192"/>
            <a:chExt cx="4797" cy="697"/>
          </a:xfrm>
        </p:grpSpPr>
        <p:sp>
          <p:nvSpPr>
            <p:cNvPr id="1032" name="Oval 3">
              <a:extLst>
                <a:ext uri="{FF2B5EF4-FFF2-40B4-BE49-F238E27FC236}">
                  <a16:creationId xmlns:a16="http://schemas.microsoft.com/office/drawing/2014/main" id="{3AFC0DA9-4103-4A3B-8233-F23D442B2F06}"/>
                </a:ext>
              </a:extLst>
            </p:cNvPr>
            <p:cNvSpPr>
              <a:spLocks noChangeArrowheads="1"/>
            </p:cNvSpPr>
            <p:nvPr/>
          </p:nvSpPr>
          <p:spPr bwMode="hidden">
            <a:xfrm flipH="1">
              <a:off x="3067" y="192"/>
              <a:ext cx="696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ar-IQ" sz="2400">
                <a:latin typeface="Times New Roman" pitchFamily="18" charset="0"/>
              </a:endParaRPr>
            </a:p>
          </p:txBody>
        </p:sp>
        <p:sp>
          <p:nvSpPr>
            <p:cNvPr id="1033" name="Oval 4">
              <a:extLst>
                <a:ext uri="{FF2B5EF4-FFF2-40B4-BE49-F238E27FC236}">
                  <a16:creationId xmlns:a16="http://schemas.microsoft.com/office/drawing/2014/main" id="{FE770DAC-3CA4-B002-C3A8-E209EE130DA9}"/>
                </a:ext>
              </a:extLst>
            </p:cNvPr>
            <p:cNvSpPr>
              <a:spLocks noChangeArrowheads="1"/>
            </p:cNvSpPr>
            <p:nvPr/>
          </p:nvSpPr>
          <p:spPr bwMode="hidden">
            <a:xfrm flipH="1">
              <a:off x="4777" y="192"/>
              <a:ext cx="695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ar-IQ" sz="2400">
                <a:latin typeface="Times New Roman" pitchFamily="18" charset="0"/>
              </a:endParaRPr>
            </a:p>
          </p:txBody>
        </p:sp>
        <p:sp>
          <p:nvSpPr>
            <p:cNvPr id="1034" name="Oval 5">
              <a:extLst>
                <a:ext uri="{FF2B5EF4-FFF2-40B4-BE49-F238E27FC236}">
                  <a16:creationId xmlns:a16="http://schemas.microsoft.com/office/drawing/2014/main" id="{88FBAD26-5DBC-55E9-6590-4652B875953B}"/>
                </a:ext>
              </a:extLst>
            </p:cNvPr>
            <p:cNvSpPr>
              <a:spLocks noChangeArrowheads="1"/>
            </p:cNvSpPr>
            <p:nvPr/>
          </p:nvSpPr>
          <p:spPr bwMode="hidden">
            <a:xfrm flipH="1">
              <a:off x="675" y="193"/>
              <a:ext cx="695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ar-IQ" sz="2400">
                <a:latin typeface="Times New Roman" pitchFamily="18" charset="0"/>
              </a:endParaRPr>
            </a:p>
          </p:txBody>
        </p:sp>
        <p:sp>
          <p:nvSpPr>
            <p:cNvPr id="1035" name="Oval 6">
              <a:extLst>
                <a:ext uri="{FF2B5EF4-FFF2-40B4-BE49-F238E27FC236}">
                  <a16:creationId xmlns:a16="http://schemas.microsoft.com/office/drawing/2014/main" id="{F88D7B3F-5903-4D62-49B1-951BEC2B58BA}"/>
                </a:ext>
              </a:extLst>
            </p:cNvPr>
            <p:cNvSpPr>
              <a:spLocks noChangeArrowheads="1"/>
            </p:cNvSpPr>
            <p:nvPr/>
          </p:nvSpPr>
          <p:spPr bwMode="hidden">
            <a:xfrm flipH="1">
              <a:off x="3984" y="192"/>
              <a:ext cx="695" cy="69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ar-IQ" sz="2400">
                <a:latin typeface="Times New Roman" pitchFamily="18" charset="0"/>
              </a:endParaRPr>
            </a:p>
          </p:txBody>
        </p:sp>
        <p:sp>
          <p:nvSpPr>
            <p:cNvPr id="1036" name="Oval 7">
              <a:extLst>
                <a:ext uri="{FF2B5EF4-FFF2-40B4-BE49-F238E27FC236}">
                  <a16:creationId xmlns:a16="http://schemas.microsoft.com/office/drawing/2014/main" id="{344213E9-8EDB-8D07-5C3F-186EBBD32BA6}"/>
                </a:ext>
              </a:extLst>
            </p:cNvPr>
            <p:cNvSpPr>
              <a:spLocks noChangeArrowheads="1"/>
            </p:cNvSpPr>
            <p:nvPr/>
          </p:nvSpPr>
          <p:spPr bwMode="hidden">
            <a:xfrm flipH="1">
              <a:off x="1486" y="192"/>
              <a:ext cx="695" cy="69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radley Hand ITC" pitchFamily="66" charset="0"/>
                  <a:cs typeface="Arial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ar-IQ" sz="2400">
                <a:latin typeface="Times New Roman" pitchFamily="18" charset="0"/>
              </a:endParaRPr>
            </a:p>
          </p:txBody>
        </p:sp>
      </p:grpSp>
      <p:sp>
        <p:nvSpPr>
          <p:cNvPr id="1027" name="Rectangle 8">
            <a:extLst>
              <a:ext uri="{FF2B5EF4-FFF2-40B4-BE49-F238E27FC236}">
                <a16:creationId xmlns:a16="http://schemas.microsoft.com/office/drawing/2014/main" id="{F3E3BDE0-BFB6-AD1F-19BC-8274E593B1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ar-IQ"/>
              <a:t>Click to edit Master text styles</a:t>
            </a:r>
          </a:p>
          <a:p>
            <a:pPr lvl="1"/>
            <a:r>
              <a:rPr lang="en-US" altLang="ar-IQ"/>
              <a:t>Second level</a:t>
            </a:r>
          </a:p>
          <a:p>
            <a:pPr lvl="2"/>
            <a:r>
              <a:rPr lang="en-US" altLang="ar-IQ"/>
              <a:t>Third level</a:t>
            </a:r>
          </a:p>
          <a:p>
            <a:pPr lvl="3"/>
            <a:r>
              <a:rPr lang="en-US" altLang="ar-IQ"/>
              <a:t>Fourth level</a:t>
            </a:r>
          </a:p>
          <a:p>
            <a:pPr lvl="4"/>
            <a:r>
              <a:rPr lang="en-US" altLang="ar-IQ"/>
              <a:t>Fifth level</a:t>
            </a:r>
          </a:p>
        </p:txBody>
      </p:sp>
      <p:sp>
        <p:nvSpPr>
          <p:cNvPr id="122889" name="Rectangle 9">
            <a:extLst>
              <a:ext uri="{FF2B5EF4-FFF2-40B4-BE49-F238E27FC236}">
                <a16:creationId xmlns:a16="http://schemas.microsoft.com/office/drawing/2014/main" id="{6FA46E7E-A6DB-3675-5E93-2C6DCDEC418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+mn-lt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90" name="Rectangle 10">
            <a:extLst>
              <a:ext uri="{FF2B5EF4-FFF2-40B4-BE49-F238E27FC236}">
                <a16:creationId xmlns:a16="http://schemas.microsoft.com/office/drawing/2014/main" id="{FAF94659-FE49-156F-E462-FABEB2DBDA6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+mn-lt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91" name="Rectangle 11">
            <a:extLst>
              <a:ext uri="{FF2B5EF4-FFF2-40B4-BE49-F238E27FC236}">
                <a16:creationId xmlns:a16="http://schemas.microsoft.com/office/drawing/2014/main" id="{2C14844D-F87B-73E2-8CF9-FD60FF5E846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3F97A99-602E-4D18-88E7-FC46610F4D06}" type="slidenum">
              <a:rPr lang="ar-SA" altLang="ar-IQ"/>
              <a:pPr>
                <a:defRPr/>
              </a:pPr>
              <a:t>‹#›</a:t>
            </a:fld>
            <a:endParaRPr lang="en-US" altLang="ar-IQ"/>
          </a:p>
        </p:txBody>
      </p:sp>
      <p:sp>
        <p:nvSpPr>
          <p:cNvPr id="1031" name="Rectangle 12">
            <a:extLst>
              <a:ext uri="{FF2B5EF4-FFF2-40B4-BE49-F238E27FC236}">
                <a16:creationId xmlns:a16="http://schemas.microsoft.com/office/drawing/2014/main" id="{635D0B6C-F276-2D15-C4EF-DF311C9AB3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ar-IQ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¡"/>
        <a:defRPr sz="27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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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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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318E8A-C068-6DE7-2BEF-C3C86626266D}"/>
              </a:ext>
            </a:extLst>
          </p:cNvPr>
          <p:cNvSpPr/>
          <p:nvPr userDrawn="1"/>
        </p:nvSpPr>
        <p:spPr>
          <a:xfrm>
            <a:off x="255588" y="265113"/>
            <a:ext cx="11684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hangingPunct="1">
              <a:defRPr/>
            </a:pPr>
            <a:endParaRPr lang="en-US" sz="1013" dirty="0"/>
          </a:p>
        </p:txBody>
      </p:sp>
      <p:sp>
        <p:nvSpPr>
          <p:cNvPr id="13315" name="Title Placeholder 1">
            <a:extLst>
              <a:ext uri="{FF2B5EF4-FFF2-40B4-BE49-F238E27FC236}">
                <a16:creationId xmlns:a16="http://schemas.microsoft.com/office/drawing/2014/main" id="{959CE73E-C2B7-F7C8-6FE9-83820273D6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4838" y="449263"/>
            <a:ext cx="10982325" cy="74771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ar-IQ"/>
              <a:t>Click to edit Master title style</a:t>
            </a:r>
          </a:p>
        </p:txBody>
      </p:sp>
      <p:sp>
        <p:nvSpPr>
          <p:cNvPr id="13316" name="Text Placeholder 2">
            <a:extLst>
              <a:ext uri="{FF2B5EF4-FFF2-40B4-BE49-F238E27FC236}">
                <a16:creationId xmlns:a16="http://schemas.microsoft.com/office/drawing/2014/main" id="{4FE868A9-5FC0-4BBD-3058-2C36C714B4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ar-IQ"/>
              <a:t>Edit Master text styles</a:t>
            </a:r>
          </a:p>
          <a:p>
            <a:pPr lvl="1"/>
            <a:r>
              <a:rPr lang="en-US" altLang="ar-IQ"/>
              <a:t>Second level</a:t>
            </a:r>
          </a:p>
          <a:p>
            <a:pPr lvl="2"/>
            <a:r>
              <a:rPr lang="en-US" altLang="ar-IQ"/>
              <a:t>Third level</a:t>
            </a:r>
          </a:p>
          <a:p>
            <a:pPr lvl="3"/>
            <a:r>
              <a:rPr lang="en-US" altLang="ar-IQ"/>
              <a:t>Fourth level</a:t>
            </a:r>
          </a:p>
          <a:p>
            <a:pPr lvl="4"/>
            <a:r>
              <a:rPr lang="en-US" altLang="ar-IQ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FC67C-C4EF-03AD-EDEA-7797835AB3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0B65062-682A-4332-B4BA-591F98891820}" type="datetimeFigureOut">
              <a:rPr lang="en-US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ACFD8-0E47-940E-E572-C491056317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CDE67-6AB0-E0D9-10B3-E867C890D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DF93DF7-963D-45CE-80A9-B99217C5BB7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6364E8F-5A40-991B-C6D8-E62977C6D1A9}"/>
              </a:ext>
            </a:extLst>
          </p:cNvPr>
          <p:cNvCxnSpPr/>
          <p:nvPr userDrawn="1"/>
        </p:nvCxnSpPr>
        <p:spPr>
          <a:xfrm>
            <a:off x="604838" y="1196975"/>
            <a:ext cx="10982325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</p:sldLayoutIdLst>
  <p:txStyles>
    <p:titleStyle>
      <a:lvl1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lang="en-US" sz="1500" kern="1200">
          <a:solidFill>
            <a:srgbClr val="114864"/>
          </a:solidFill>
          <a:latin typeface="+mj-lt"/>
          <a:ea typeface="+mj-ea"/>
          <a:cs typeface="+mj-cs"/>
        </a:defRPr>
      </a:lvl1pPr>
      <a:lvl2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500">
          <a:solidFill>
            <a:srgbClr val="114864"/>
          </a:solidFill>
          <a:latin typeface="Segoe UI Light" panose="020B0502040204020203" pitchFamily="34" charset="0"/>
        </a:defRPr>
      </a:lvl2pPr>
      <a:lvl3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500">
          <a:solidFill>
            <a:srgbClr val="114864"/>
          </a:solidFill>
          <a:latin typeface="Segoe UI Light" panose="020B0502040204020203" pitchFamily="34" charset="0"/>
        </a:defRPr>
      </a:lvl3pPr>
      <a:lvl4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500">
          <a:solidFill>
            <a:srgbClr val="114864"/>
          </a:solidFill>
          <a:latin typeface="Segoe UI Light" panose="020B0502040204020203" pitchFamily="34" charset="0"/>
        </a:defRPr>
      </a:lvl4pPr>
      <a:lvl5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500">
          <a:solidFill>
            <a:srgbClr val="114864"/>
          </a:solidFill>
          <a:latin typeface="Segoe UI Light" panose="020B0502040204020203" pitchFamily="34" charset="0"/>
        </a:defRPr>
      </a:lvl5pPr>
      <a:lvl6pPr marL="3429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1575">
          <a:solidFill>
            <a:srgbClr val="114864"/>
          </a:solidFill>
          <a:latin typeface="Segoe UI Light" panose="020B0502040204020203" pitchFamily="34" charset="0"/>
        </a:defRPr>
      </a:lvl6pPr>
      <a:lvl7pPr marL="6858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1575">
          <a:solidFill>
            <a:srgbClr val="114864"/>
          </a:solidFill>
          <a:latin typeface="Segoe UI Light" panose="020B0502040204020203" pitchFamily="34" charset="0"/>
        </a:defRPr>
      </a:lvl7pPr>
      <a:lvl8pPr marL="10287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1575">
          <a:solidFill>
            <a:srgbClr val="114864"/>
          </a:solidFill>
          <a:latin typeface="Segoe UI Light" panose="020B0502040204020203" pitchFamily="34" charset="0"/>
        </a:defRPr>
      </a:lvl8pPr>
      <a:lvl9pPr marL="13716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1575">
          <a:solidFill>
            <a:srgbClr val="114864"/>
          </a:solidFill>
          <a:latin typeface="Segoe UI Light" panose="020B0502040204020203" pitchFamily="34" charset="0"/>
        </a:defRPr>
      </a:lvl9pPr>
    </p:titleStyle>
    <p:bodyStyle>
      <a:lvl1pPr marL="128588" indent="-128588" algn="l" defTabSz="51435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0" fontAlgn="base" hangingPunct="0">
        <a:lnSpc>
          <a:spcPct val="90000"/>
        </a:lnSpc>
        <a:spcBef>
          <a:spcPts val="2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0" fontAlgn="base" hangingPunct="0">
        <a:lnSpc>
          <a:spcPct val="90000"/>
        </a:lnSpc>
        <a:spcBef>
          <a:spcPts val="275"/>
        </a:spcBef>
        <a:spcAft>
          <a:spcPct val="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0" fontAlgn="base" hangingPunct="0">
        <a:lnSpc>
          <a:spcPct val="90000"/>
        </a:lnSpc>
        <a:spcBef>
          <a:spcPts val="275"/>
        </a:spcBef>
        <a:spcAft>
          <a:spcPct val="0"/>
        </a:spcAft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0" fontAlgn="base" hangingPunct="0">
        <a:lnSpc>
          <a:spcPct val="90000"/>
        </a:lnSpc>
        <a:spcBef>
          <a:spcPts val="275"/>
        </a:spcBef>
        <a:spcAft>
          <a:spcPct val="0"/>
        </a:spcAft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64634D4-8343-C259-A5F3-33E7DAAA91F5}"/>
              </a:ext>
            </a:extLst>
          </p:cNvPr>
          <p:cNvSpPr/>
          <p:nvPr userDrawn="1"/>
        </p:nvSpPr>
        <p:spPr>
          <a:xfrm>
            <a:off x="255588" y="265113"/>
            <a:ext cx="11684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3075" name="Title Placeholder 1">
            <a:extLst>
              <a:ext uri="{FF2B5EF4-FFF2-40B4-BE49-F238E27FC236}">
                <a16:creationId xmlns:a16="http://schemas.microsoft.com/office/drawing/2014/main" id="{C09F74C8-8D34-4058-1B79-8704FD1534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4838" y="449263"/>
            <a:ext cx="10982325" cy="74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ar-IQ"/>
              <a:t>Click to edit Master title style</a:t>
            </a:r>
          </a:p>
        </p:txBody>
      </p:sp>
      <p:sp>
        <p:nvSpPr>
          <p:cNvPr id="3076" name="Text Placeholder 2">
            <a:extLst>
              <a:ext uri="{FF2B5EF4-FFF2-40B4-BE49-F238E27FC236}">
                <a16:creationId xmlns:a16="http://schemas.microsoft.com/office/drawing/2014/main" id="{B3A50ED6-FCFB-3EE6-473B-EC3B371F55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ar-IQ"/>
              <a:t>Edit Master text styles</a:t>
            </a:r>
          </a:p>
          <a:p>
            <a:pPr lvl="1"/>
            <a:r>
              <a:rPr lang="en-US" altLang="ar-IQ"/>
              <a:t>Second level</a:t>
            </a:r>
          </a:p>
          <a:p>
            <a:pPr lvl="2"/>
            <a:r>
              <a:rPr lang="en-US" altLang="ar-IQ"/>
              <a:t>Third level</a:t>
            </a:r>
          </a:p>
          <a:p>
            <a:pPr lvl="3"/>
            <a:r>
              <a:rPr lang="en-US" altLang="ar-IQ"/>
              <a:t>Fourth level</a:t>
            </a:r>
          </a:p>
          <a:p>
            <a:pPr lvl="4"/>
            <a:r>
              <a:rPr lang="en-US" altLang="ar-IQ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CCB67-66EE-1058-A9C2-28C75CC576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0828C49-BE84-458A-BDEC-C823479FA0B7}" type="datetimeFigureOut">
              <a:rPr lang="en-US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76CD-B655-A17B-ADD4-D9BA5900FF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368AA-5A04-4D50-8759-52EC3AA1C5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F1DC2CB-8913-4D54-8BB7-379D2725AE9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B759DA-7F3D-E07D-FA36-9EE775148FD2}"/>
              </a:ext>
            </a:extLst>
          </p:cNvPr>
          <p:cNvCxnSpPr/>
          <p:nvPr userDrawn="1"/>
        </p:nvCxnSpPr>
        <p:spPr>
          <a:xfrm>
            <a:off x="604838" y="1196975"/>
            <a:ext cx="10982325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lang="en-US" sz="2100" kern="1200">
          <a:solidFill>
            <a:srgbClr val="114864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100">
          <a:solidFill>
            <a:srgbClr val="114864"/>
          </a:solidFill>
          <a:latin typeface="Segoe UI Light" panose="020B0502040204020203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100">
          <a:solidFill>
            <a:srgbClr val="114864"/>
          </a:solidFill>
          <a:latin typeface="Segoe UI Light" panose="020B0502040204020203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100">
          <a:solidFill>
            <a:srgbClr val="114864"/>
          </a:solidFill>
          <a:latin typeface="Segoe UI Light" panose="020B0502040204020203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100">
          <a:solidFill>
            <a:srgbClr val="114864"/>
          </a:solidFill>
          <a:latin typeface="Segoe UI Light" panose="020B0502040204020203" pitchFamily="34" charset="0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2100">
          <a:solidFill>
            <a:srgbClr val="114864"/>
          </a:solidFill>
          <a:latin typeface="Segoe UI Light" panose="020B0502040204020203" pitchFamily="34" charset="0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2100">
          <a:solidFill>
            <a:srgbClr val="114864"/>
          </a:solidFill>
          <a:latin typeface="Segoe UI Light" panose="020B0502040204020203" pitchFamily="34" charset="0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2100">
          <a:solidFill>
            <a:srgbClr val="114864"/>
          </a:solidFill>
          <a:latin typeface="Segoe UI Light" panose="020B0502040204020203" pitchFamily="34" charset="0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100">
          <a:solidFill>
            <a:srgbClr val="114864"/>
          </a:solidFill>
          <a:latin typeface="Segoe UI Light" panose="020B0502040204020203" pitchFamily="34" charset="0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833820CF-F895-D557-7611-08182BB19B89}"/>
              </a:ext>
            </a:extLst>
          </p:cNvPr>
          <p:cNvSpPr/>
          <p:nvPr/>
        </p:nvSpPr>
        <p:spPr>
          <a:xfrm>
            <a:off x="263525" y="404813"/>
            <a:ext cx="11736388" cy="61928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7891" name="Title 1">
            <a:extLst>
              <a:ext uri="{FF2B5EF4-FFF2-40B4-BE49-F238E27FC236}">
                <a16:creationId xmlns:a16="http://schemas.microsoft.com/office/drawing/2014/main" id="{B851BE59-4A42-4780-3A39-42500293DD0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 anchor="ctr"/>
          <a:lstStyle/>
          <a:p>
            <a:pPr eaLnBrk="1" hangingPunct="1"/>
            <a:r>
              <a:rPr altLang="ar-IQ" sz="3600"/>
              <a:t>Growth and development of School Age</a:t>
            </a:r>
            <a:br>
              <a:rPr altLang="ar-IQ" sz="3600"/>
            </a:br>
            <a:r>
              <a:rPr altLang="ar-IQ" sz="3600"/>
              <a:t>6-12 yrs.</a:t>
            </a:r>
            <a:endParaRPr altLang="ar-IQ" sz="180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37892" name="Grid" descr="grid plane">
            <a:extLst>
              <a:ext uri="{FF2B5EF4-FFF2-40B4-BE49-F238E27FC236}">
                <a16:creationId xmlns:a16="http://schemas.microsoft.com/office/drawing/2014/main" id="{B48D8D36-A145-CF4E-6F1F-7FFC1820A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07" r="-943" b="64944"/>
          <a:stretch>
            <a:fillRect/>
          </a:stretch>
        </p:blipFill>
        <p:spPr bwMode="auto">
          <a:xfrm>
            <a:off x="192088" y="5513388"/>
            <a:ext cx="11866562" cy="106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Subtitle 2">
            <a:extLst>
              <a:ext uri="{FF2B5EF4-FFF2-40B4-BE49-F238E27FC236}">
                <a16:creationId xmlns:a16="http://schemas.microsoft.com/office/drawing/2014/main" id="{8AD69A8E-BDAF-01E0-343F-BC9ADCDC4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0188" y="4365625"/>
            <a:ext cx="2014537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385763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685800" indent="-171450" defTabSz="385763">
              <a:lnSpc>
                <a:spcPct val="90000"/>
              </a:lnSpc>
              <a:spcBef>
                <a:spcPts val="2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171450" defTabSz="385763">
              <a:lnSpc>
                <a:spcPct val="90000"/>
              </a:lnSpc>
              <a:spcBef>
                <a:spcPts val="275"/>
              </a:spcBef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171450" defTabSz="385763">
              <a:lnSpc>
                <a:spcPct val="90000"/>
              </a:lnSpc>
              <a:spcBef>
                <a:spcPts val="275"/>
              </a:spcBef>
              <a:buFont typeface="Arial" panose="020B0604020202020204" pitchFamily="34" charset="0"/>
              <a:buChar char="•"/>
              <a:defRPr sz="900"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171450" defTabSz="385763">
              <a:lnSpc>
                <a:spcPct val="90000"/>
              </a:lnSpc>
              <a:spcBef>
                <a:spcPts val="275"/>
              </a:spcBef>
              <a:buFont typeface="Arial" panose="020B0604020202020204" pitchFamily="34" charset="0"/>
              <a:buChar char="•"/>
              <a:defRPr sz="900"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171450" algn="l" defTabSz="385763" rtl="0" eaLnBrk="0" fontAlgn="base" hangingPunct="0">
              <a:lnSpc>
                <a:spcPct val="90000"/>
              </a:lnSpc>
              <a:spcBef>
                <a:spcPts val="2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900"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171450" algn="l" defTabSz="385763" rtl="0" eaLnBrk="0" fontAlgn="base" hangingPunct="0">
              <a:lnSpc>
                <a:spcPct val="90000"/>
              </a:lnSpc>
              <a:spcBef>
                <a:spcPts val="2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900"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171450" algn="l" defTabSz="385763" rtl="0" eaLnBrk="0" fontAlgn="base" hangingPunct="0">
              <a:lnSpc>
                <a:spcPct val="90000"/>
              </a:lnSpc>
              <a:spcBef>
                <a:spcPts val="2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900"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171450" algn="l" defTabSz="385763" rtl="0" eaLnBrk="0" fontAlgn="base" hangingPunct="0">
              <a:lnSpc>
                <a:spcPct val="90000"/>
              </a:lnSpc>
              <a:spcBef>
                <a:spcPts val="2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900"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425"/>
              </a:spcBef>
              <a:buFont typeface="Arial" panose="020B0604020202020204" pitchFamily="34" charset="0"/>
              <a:buNone/>
            </a:pPr>
            <a:r>
              <a:rPr lang="en-US" altLang="ar-IQ" sz="900">
                <a:solidFill>
                  <a:srgbClr val="FFFFFF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Third Stage</a:t>
            </a:r>
          </a:p>
          <a:p>
            <a:pPr eaLnBrk="1" hangingPunct="1">
              <a:lnSpc>
                <a:spcPct val="100000"/>
              </a:lnSpc>
              <a:spcBef>
                <a:spcPts val="425"/>
              </a:spcBef>
              <a:buFont typeface="Arial" panose="020B0604020202020204" pitchFamily="34" charset="0"/>
              <a:buNone/>
            </a:pPr>
            <a:r>
              <a:rPr lang="en-US" altLang="ar-IQ" sz="900">
                <a:solidFill>
                  <a:srgbClr val="FFFFFF"/>
                </a:solidFill>
                <a:latin typeface="Segoe UI Variable Small Semibol" pitchFamily="2" charset="0"/>
                <a:cs typeface="Segoe UI Light" panose="020B0502040204020203" pitchFamily="34" charset="0"/>
              </a:rPr>
              <a:t>Dr. Moustafa Alshammari</a:t>
            </a:r>
          </a:p>
          <a:p>
            <a:pPr eaLnBrk="1" hangingPunct="1">
              <a:lnSpc>
                <a:spcPct val="100000"/>
              </a:lnSpc>
              <a:spcBef>
                <a:spcPts val="425"/>
              </a:spcBef>
              <a:buFont typeface="Arial" panose="020B0604020202020204" pitchFamily="34" charset="0"/>
              <a:buNone/>
            </a:pPr>
            <a:r>
              <a:rPr lang="en-US" altLang="ar-IQ" sz="900">
                <a:solidFill>
                  <a:srgbClr val="FFFFFF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Growth and Developments </a:t>
            </a:r>
          </a:p>
        </p:txBody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9B66BEE2-8031-01CE-B543-B33EB4C70E49}"/>
              </a:ext>
            </a:extLst>
          </p:cNvPr>
          <p:cNvSpPr txBox="1"/>
          <p:nvPr/>
        </p:nvSpPr>
        <p:spPr>
          <a:xfrm>
            <a:off x="1584325" y="3316288"/>
            <a:ext cx="45720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Middle Childhood</a:t>
            </a:r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>
            <a:extLst>
              <a:ext uri="{FF2B5EF4-FFF2-40B4-BE49-F238E27FC236}">
                <a16:creationId xmlns:a16="http://schemas.microsoft.com/office/drawing/2014/main" id="{FDDF84C8-1A6B-57F9-E761-94192508D7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362E36B-7BDB-4E23-A664-1F250DE33B2E}" type="slidenum">
              <a:rPr lang="ar-SA" altLang="ar-IQ" sz="1000"/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ar-IQ" sz="10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6A730F32-C56B-88DE-07AD-438E1C3B1F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 sz="3400" b="1" u="sng"/>
              <a:t>Learning Objectives:</a:t>
            </a:r>
            <a:br>
              <a:rPr lang="en-US" altLang="ar-IQ" sz="3400"/>
            </a:br>
            <a:endParaRPr lang="en-US" altLang="ar-IQ" sz="3400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C9DAA3F-12B2-5A5B-2D0B-D5E718E9BD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7337425" cy="45307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ar-IQ" sz="2400"/>
              <a:t>Mastery of content in this chapter will enable the student to:</a:t>
            </a:r>
            <a:r>
              <a:rPr lang="en-US" altLang="ar-IQ" sz="2400" b="1"/>
              <a:t> </a:t>
            </a:r>
            <a:endParaRPr lang="en-US" altLang="ar-IQ" sz="2400"/>
          </a:p>
          <a:p>
            <a:pPr eaLnBrk="1" hangingPunct="1">
              <a:lnSpc>
                <a:spcPct val="80000"/>
              </a:lnSpc>
            </a:pPr>
            <a:r>
              <a:rPr lang="en-US" altLang="ar-IQ" sz="2400"/>
              <a:t>1. Describe the normal growth and development pattern and common parental concerns of the school-age period.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ar-IQ" sz="2400"/>
              <a:t>2. Assess a school-age child for normal growth and development milestones.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ar-IQ" sz="2400"/>
              <a:t>3. Formulate nursing diagnoses for the family of a school-age child.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ar-IQ" sz="2400"/>
              <a:t>4. Use critical thinking to analyze ways in which the care of the school-age child can be more family centered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ar-IQ" sz="2400"/>
              <a:t>5. Integrate knowledge of school-age growth and development with the nursing process to achieve quality child</a:t>
            </a:r>
            <a:r>
              <a:rPr lang="en-US" altLang="ar-IQ" sz="2400" b="1"/>
              <a:t> </a:t>
            </a:r>
            <a:r>
              <a:rPr lang="en-US" altLang="ar-IQ" sz="2400"/>
              <a:t>health nursing care.</a:t>
            </a:r>
          </a:p>
        </p:txBody>
      </p:sp>
      <p:pic>
        <p:nvPicPr>
          <p:cNvPr id="39941" name="Picture 6" descr="program_title_s1_3_pic">
            <a:extLst>
              <a:ext uri="{FF2B5EF4-FFF2-40B4-BE49-F238E27FC236}">
                <a16:creationId xmlns:a16="http://schemas.microsoft.com/office/drawing/2014/main" id="{9CECCF40-4D0D-3BBC-88C8-A17D12D97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7025" y="1616075"/>
            <a:ext cx="4244975" cy="475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>
            <a:extLst>
              <a:ext uri="{FF2B5EF4-FFF2-40B4-BE49-F238E27FC236}">
                <a16:creationId xmlns:a16="http://schemas.microsoft.com/office/drawing/2014/main" id="{C693372E-619B-893C-AF82-F5E491995F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CB8AD54-8897-45FF-ADD0-C1E161B9ECA1}" type="slidenum">
              <a:rPr lang="ar-SA" altLang="ar-IQ" sz="1000"/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ar-IQ" sz="10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B7906B2E-7EF2-ED9C-B506-B08457254B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11450" y="620713"/>
            <a:ext cx="7272338" cy="792162"/>
          </a:xfrm>
        </p:spPr>
        <p:txBody>
          <a:bodyPr/>
          <a:lstStyle/>
          <a:p>
            <a:pPr eaLnBrk="1" hangingPunct="1"/>
            <a:r>
              <a:rPr lang="en-US" altLang="ar-IQ" b="1" i="1"/>
              <a:t>School Age </a:t>
            </a:r>
            <a:r>
              <a:rPr lang="en-US" altLang="ar-IQ" sz="2500" b="1" i="1"/>
              <a:t>(6 -12 years)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26C3E04C-8C21-115F-5037-8369A3F680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3" y="1484313"/>
            <a:ext cx="8351837" cy="5113337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</a:pPr>
            <a:endParaRPr lang="en-US" altLang="ar-IQ" sz="3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80000"/>
              </a:lnSpc>
            </a:pPr>
            <a:endParaRPr lang="en-US" altLang="ar-IQ" sz="3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80000"/>
              </a:lnSpc>
            </a:pPr>
            <a:endParaRPr lang="en-US" altLang="ar-IQ" sz="3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ar-IQ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ar-IQ" sz="4400" b="1">
                <a:latin typeface="Times New Roman" panose="02020603050405020304" pitchFamily="18" charset="0"/>
                <a:cs typeface="Times New Roman" panose="02020603050405020304" pitchFamily="18" charset="0"/>
              </a:rPr>
              <a:t>School Age  is Characterized by:</a:t>
            </a:r>
          </a:p>
          <a:p>
            <a:pPr marL="609600" indent="-609600"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altLang="ar-IQ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Gradual growth</a:t>
            </a:r>
          </a:p>
          <a:p>
            <a:pPr marL="609600" indent="-609600"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altLang="ar-IQ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Motor skills </a:t>
            </a:r>
          </a:p>
          <a:p>
            <a:pPr marL="609600" indent="-609600"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altLang="ar-IQ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Advances in thinking      </a:t>
            </a:r>
          </a:p>
          <a:p>
            <a:pPr marL="609600" indent="-609600"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altLang="ar-IQ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Child begins to interact with   people </a:t>
            </a:r>
          </a:p>
          <a:p>
            <a:pPr marL="609600" indent="-609600"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altLang="ar-IQ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Individual differences become more evident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>
            <a:extLst>
              <a:ext uri="{FF2B5EF4-FFF2-40B4-BE49-F238E27FC236}">
                <a16:creationId xmlns:a16="http://schemas.microsoft.com/office/drawing/2014/main" id="{BF526EE9-0916-3DB8-BAD7-737BFA74DC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F2DBAF0-22BD-4BA6-A1B8-C7EDAC753961}" type="slidenum">
              <a:rPr lang="ar-SA" altLang="ar-IQ" sz="1000"/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ar-IQ" sz="10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68B7DE7D-F7BE-D8D9-24FB-D6375E9C61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 b="1" u="sng"/>
              <a:t>Physical Growth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B91A7376-994E-FD77-DB4A-7FE46ABC43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ar-IQ" sz="2800" b="1" u="sng"/>
              <a:t>Weight: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altLang="ar-IQ" sz="2800" b="1"/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ar-IQ" sz="2800" b="1"/>
              <a:t>School age child gains about 3.8Kg/year. Boys tend to gain slightly more weight through 12 years because they grow in muscles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altLang="ar-IQ" sz="2800" b="1"/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ar-IQ" sz="4000" b="1"/>
              <a:t>Formula for 7 to 12 years is: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ar-IQ" sz="3600" b="1"/>
              <a:t>     (</a:t>
            </a:r>
            <a:r>
              <a:rPr lang="en-US" altLang="ar-IQ" sz="3600" b="1" u="sng"/>
              <a:t>age in years X7)-5  </a:t>
            </a:r>
            <a:r>
              <a:rPr lang="en-US" altLang="ar-IQ" sz="3600" b="1"/>
              <a:t>  =Kg</a:t>
            </a:r>
            <a:r>
              <a:rPr lang="en-US" altLang="ar-IQ" sz="2000" b="1"/>
              <a:t>   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ar-IQ" sz="2000" b="1"/>
              <a:t>                                    </a:t>
            </a:r>
            <a:r>
              <a:rPr lang="en-US" altLang="ar-IQ" b="1"/>
              <a:t> 2</a:t>
            </a:r>
            <a:endParaRPr lang="en-US" altLang="ar-IQ" b="1" u="sng"/>
          </a:p>
          <a:p>
            <a:pPr eaLnBrk="1" hangingPunct="1">
              <a:lnSpc>
                <a:spcPct val="90000"/>
              </a:lnSpc>
            </a:pPr>
            <a:endParaRPr lang="en-US" altLang="ar-IQ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>
            <a:extLst>
              <a:ext uri="{FF2B5EF4-FFF2-40B4-BE49-F238E27FC236}">
                <a16:creationId xmlns:a16="http://schemas.microsoft.com/office/drawing/2014/main" id="{0108C025-6A85-63C3-FC18-ADFFBC4744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5487751-DB6B-4D36-85F2-9FB67AEEC010}" type="slidenum">
              <a:rPr lang="ar-SA" altLang="ar-IQ" sz="1000"/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ar-IQ" sz="1000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3CB280BD-4781-D34B-88EF-7939FE4F3E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ar-IQ" sz="2800" b="1" u="sng"/>
              <a:t>Height:</a:t>
            </a:r>
            <a:endParaRPr lang="en-US" altLang="ar-IQ" sz="2800" b="1"/>
          </a:p>
          <a:p>
            <a:pPr eaLnBrk="1" hangingPunct="1">
              <a:lnSpc>
                <a:spcPct val="90000"/>
              </a:lnSpc>
            </a:pPr>
            <a:r>
              <a:rPr lang="en-US" altLang="ar-IQ" sz="2800" b="1"/>
              <a:t>Gains about 5 cm/year. 135-150 cm at the end of school age (Triples his birth length)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 sz="2800" b="1"/>
              <a:t>Body proportion during this period: both boys and girls are long-legged.</a:t>
            </a:r>
            <a:endParaRPr lang="en-US" altLang="ar-IQ" sz="2800" b="1" u="sng"/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ar-IQ" sz="2800" b="1" u="sng"/>
              <a:t>Dentition:</a:t>
            </a:r>
            <a:endParaRPr lang="en-US" altLang="ar-IQ" sz="2800" b="1"/>
          </a:p>
          <a:p>
            <a:pPr eaLnBrk="1" hangingPunct="1">
              <a:lnSpc>
                <a:spcPct val="90000"/>
              </a:lnSpc>
            </a:pPr>
            <a:r>
              <a:rPr lang="en-US" altLang="ar-IQ" sz="2800" b="1"/>
              <a:t>During school age period, permanent teeth erupt, starting from 6 years. (Usually, permanent teeth eruption in the same order as primary teeth lost).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>
            <a:extLst>
              <a:ext uri="{FF2B5EF4-FFF2-40B4-BE49-F238E27FC236}">
                <a16:creationId xmlns:a16="http://schemas.microsoft.com/office/drawing/2014/main" id="{155BE20A-9BC2-C5B9-AC15-9484F4B165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7074C77-7AD7-422E-A2BA-3DC0EFC26464}" type="slidenum">
              <a:rPr lang="ar-SA" altLang="ar-IQ" sz="1000"/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ar-IQ" sz="10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3104D827-71F6-214C-A2B5-2B57BF062A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6763" y="260350"/>
            <a:ext cx="9444037" cy="936625"/>
          </a:xfrm>
        </p:spPr>
        <p:txBody>
          <a:bodyPr/>
          <a:lstStyle/>
          <a:p>
            <a:pPr eaLnBrk="1" hangingPunct="1"/>
            <a:r>
              <a:rPr lang="en-US" altLang="ar-IQ" b="1" u="sng"/>
              <a:t>Physiological Growth:</a:t>
            </a: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A0F93E90-E712-AEEB-B309-BC03832C7B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196975"/>
            <a:ext cx="9601200" cy="532765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endParaRPr lang="en-US" altLang="ar-IQ" sz="1400"/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ar-IQ" b="1"/>
              <a:t>Pulse: 90 ± 15 beats /min (75 to 105).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ar-IQ" b="1"/>
              <a:t>Respiration: 21± 3c/min (18 - 24) 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ar-IQ" b="1"/>
              <a:t>Blood pressure: 100/60 ± 16/10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ar-IQ" b="1"/>
              <a:t>School age child tires easily due to lung capacity.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ar-IQ" b="1"/>
              <a:t>Immune system reaches as normal adult.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ar-IQ" b="1"/>
              <a:t>Nervous system is mature by (10) years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>
            <a:extLst>
              <a:ext uri="{FF2B5EF4-FFF2-40B4-BE49-F238E27FC236}">
                <a16:creationId xmlns:a16="http://schemas.microsoft.com/office/drawing/2014/main" id="{6F755EF6-A8DF-E355-5982-88B3DDD659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803EE31-AD01-48B7-93B7-CF5AA9970B49}" type="slidenum">
              <a:rPr lang="ar-SA" altLang="ar-IQ" sz="1000"/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ar-IQ" sz="100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03FE9494-2455-A4A4-C677-A891AC6E03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6763" y="260350"/>
            <a:ext cx="9444037" cy="576263"/>
          </a:xfrm>
        </p:spPr>
        <p:txBody>
          <a:bodyPr/>
          <a:lstStyle/>
          <a:p>
            <a:pPr eaLnBrk="1" hangingPunct="1"/>
            <a:r>
              <a:rPr lang="en-US" altLang="ar-IQ" sz="2400" b="1" u="sng"/>
              <a:t>Cont Physiological Growth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76CAB890-2D85-8D0C-C30B-E7B4232A47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95325" y="1052513"/>
            <a:ext cx="9793288" cy="5078412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eriod" startAt="7"/>
            </a:pPr>
            <a:r>
              <a:rPr lang="en-US" altLang="ar-IQ" b="1"/>
              <a:t>By 6 years. The overall appearance of the child is different from that of preschool. 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eriod" startAt="7"/>
            </a:pPr>
            <a:r>
              <a:rPr lang="en-US" altLang="ar-IQ" b="1"/>
              <a:t>The school age child is generally taller &amp; thinner than preschool age.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eriod" startAt="7"/>
            </a:pPr>
            <a:r>
              <a:rPr lang="en-US" altLang="ar-IQ" b="1"/>
              <a:t>The size of the head gradually increased. The average circumference is </a:t>
            </a:r>
            <a:r>
              <a:rPr lang="en-US" altLang="ar-IQ" sz="2800" b="1"/>
              <a:t>51.25 cm at 6 years and 53.75 cm</a:t>
            </a:r>
            <a:r>
              <a:rPr lang="en-US" altLang="ar-IQ" sz="4000"/>
              <a:t>(</a:t>
            </a:r>
            <a:r>
              <a:rPr lang="en-US" altLang="ar-IQ" b="1"/>
              <a:t>20.5 in at 6 years and 21.5 in) at 12 years. 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eriod" startAt="7"/>
            </a:pPr>
            <a:r>
              <a:rPr lang="en-US" altLang="ar-IQ" b="1"/>
              <a:t>The face changes slightly.</a:t>
            </a:r>
          </a:p>
          <a:p>
            <a:pPr marL="609600" indent="-609600" eaLnBrk="1" hangingPunct="1">
              <a:lnSpc>
                <a:spcPct val="90000"/>
              </a:lnSpc>
            </a:pPr>
            <a:endParaRPr lang="en-US" altLang="ar-IQ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>
            <a:extLst>
              <a:ext uri="{FF2B5EF4-FFF2-40B4-BE49-F238E27FC236}">
                <a16:creationId xmlns:a16="http://schemas.microsoft.com/office/drawing/2014/main" id="{77BB61D3-2D68-2E59-5404-1301F0572C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12125" y="6453188"/>
            <a:ext cx="2133600" cy="241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83A877D-4BFF-46E3-AC2E-C699D6AF3628}" type="slidenum">
              <a:rPr lang="ar-SA" altLang="ar-IQ" sz="1000"/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ar-IQ" sz="10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DA24DBDF-31A3-5968-AF5C-EBC89C16AB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3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ar-IQ" b="1" u="sng"/>
              <a:t>Motor Development:</a:t>
            </a:r>
          </a:p>
        </p:txBody>
      </p:sp>
      <p:graphicFrame>
        <p:nvGraphicFramePr>
          <p:cNvPr id="11284" name="Group 20">
            <a:extLst>
              <a:ext uri="{FF2B5EF4-FFF2-40B4-BE49-F238E27FC236}">
                <a16:creationId xmlns:a16="http://schemas.microsoft.com/office/drawing/2014/main" id="{DA924221-F05A-3221-3AB4-8AB5D91DB11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19288" y="1052513"/>
          <a:ext cx="8497887" cy="5286375"/>
        </p:xfrm>
        <a:graphic>
          <a:graphicData uri="http://schemas.openxmlformats.org/drawingml/2006/table">
            <a:tbl>
              <a:tblPr rtl="1"/>
              <a:tblGrid>
                <a:gridCol w="381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4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8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Fine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Gross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Age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05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l"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Knows left hand from right.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l"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Improve eye-hand coordination.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l"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Can undress him-self.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l"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Draws a person (12-16 parts, details).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l"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Can brush and comb hair.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l"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Runs, jumps, climbs, and hops, is in constant motion which is clumsy, and awkward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l"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Rides tricycle using pedals.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6 - 8 yrs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5">
            <a:extLst>
              <a:ext uri="{FF2B5EF4-FFF2-40B4-BE49-F238E27FC236}">
                <a16:creationId xmlns:a16="http://schemas.microsoft.com/office/drawing/2014/main" id="{9BF125F1-FF65-4983-ACCC-D3DC1C2FFE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4DA6100-CBB8-4B4D-85C1-036E528D7152}" type="slidenum">
              <a:rPr lang="ar-SA" altLang="ar-IQ" sz="1000"/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ar-IQ" sz="1000"/>
          </a:p>
        </p:txBody>
      </p:sp>
      <p:graphicFrame>
        <p:nvGraphicFramePr>
          <p:cNvPr id="108569" name="Group 25">
            <a:extLst>
              <a:ext uri="{FF2B5EF4-FFF2-40B4-BE49-F238E27FC236}">
                <a16:creationId xmlns:a16="http://schemas.microsoft.com/office/drawing/2014/main" id="{484A0763-F93E-8F2A-F271-255269B57B7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81200" y="333375"/>
          <a:ext cx="8507413" cy="6604000"/>
        </p:xfrm>
        <a:graphic>
          <a:graphicData uri="http://schemas.openxmlformats.org/drawingml/2006/table">
            <a:tbl>
              <a:tblPr rtl="1"/>
              <a:tblGrid>
                <a:gridCol w="3529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1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6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5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Fine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Gross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8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l"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Increased smoothness and speed in fine motor control.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l"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Handles eating utensils (spoon, fork, knife skillfully.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l"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Bathes himself with assistance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l"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Throws ball skill- fully.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l"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Beings to participate in organized sports.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8-10 yrs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>
            <a:extLst>
              <a:ext uri="{FF2B5EF4-FFF2-40B4-BE49-F238E27FC236}">
                <a16:creationId xmlns:a16="http://schemas.microsoft.com/office/drawing/2014/main" id="{E3D5B704-F430-86EA-CAE1-38A380EC1F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69EE9AB-7D6D-46BA-A6E2-74E857E3A279}" type="slidenum">
              <a:rPr lang="ar-SA" altLang="ar-IQ" sz="1000"/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ar-IQ" sz="1000"/>
          </a:p>
        </p:txBody>
      </p:sp>
      <p:graphicFrame>
        <p:nvGraphicFramePr>
          <p:cNvPr id="96295" name="Group 39">
            <a:extLst>
              <a:ext uri="{FF2B5EF4-FFF2-40B4-BE49-F238E27FC236}">
                <a16:creationId xmlns:a16="http://schemas.microsoft.com/office/drawing/2014/main" id="{1DF6746F-B9E3-D4F5-9075-40A4FE24AB1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24000" y="0"/>
          <a:ext cx="9144000" cy="6980238"/>
        </p:xfrm>
        <a:graphic>
          <a:graphicData uri="http://schemas.openxmlformats.org/drawingml/2006/table">
            <a:tbl>
              <a:tblPr rtl="1"/>
              <a:tblGrid>
                <a:gridCol w="435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6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1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Fine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Gross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2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l"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l"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Motor coordination continues to improve, children perfect their muscular skills and coordination in games such as "Football".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Char char="l"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Sufficient fine motor control for activities are reached through (building  models or sewing).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Symbol" pitchFamily="18" charset="2"/>
                        <a:buChar char=""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Symbol" pitchFamily="18" charset="2"/>
                        <a:buChar char=""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Enjoys all physical activities.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Symbol" pitchFamily="18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10 - 12 yrs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5">
            <a:extLst>
              <a:ext uri="{FF2B5EF4-FFF2-40B4-BE49-F238E27FC236}">
                <a16:creationId xmlns:a16="http://schemas.microsoft.com/office/drawing/2014/main" id="{91765D80-655C-FD60-8827-1164BE2539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73A6450-6A01-4D89-861C-7E434EDCB313}" type="slidenum">
              <a:rPr lang="ar-SA" altLang="ar-IQ" sz="1000"/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ar-IQ" sz="10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C0795455-22FF-A39B-3BD3-1E2866C7A9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 b="1" u="sng"/>
              <a:t>Language Development: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7AAC9AA1-FADA-B7E3-D807-A4D6682C8E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 b="1" i="1"/>
              <a:t>Vocabulary expands by 200.000 to 300.000 words.</a:t>
            </a:r>
          </a:p>
          <a:p>
            <a:pPr eaLnBrk="1" hangingPunct="1"/>
            <a:endParaRPr lang="en-US" altLang="ar-IQ" b="1" i="1"/>
          </a:p>
          <a:p>
            <a:pPr eaLnBrk="1" hangingPunct="1"/>
            <a:r>
              <a:rPr lang="en-US" altLang="ar-IQ" b="1" i="1"/>
              <a:t>Sentence structure and use of grammar continue to improve.</a:t>
            </a:r>
          </a:p>
          <a:p>
            <a:pPr eaLnBrk="1" hangingPunct="1"/>
            <a:endParaRPr lang="en-US" altLang="ar-IQ" b="1" i="1"/>
          </a:p>
          <a:p>
            <a:pPr eaLnBrk="1" hangingPunct="1"/>
            <a:r>
              <a:rPr lang="en-US" altLang="ar-IQ" b="1" i="1"/>
              <a:t>Speech proceeds from egocentric to social.</a:t>
            </a:r>
            <a:r>
              <a:rPr lang="en-US" altLang="ar-IQ"/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5">
            <a:extLst>
              <a:ext uri="{FF2B5EF4-FFF2-40B4-BE49-F238E27FC236}">
                <a16:creationId xmlns:a16="http://schemas.microsoft.com/office/drawing/2014/main" id="{0CB13838-315D-EB75-7448-DA6E70BB7C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FEEA293-0DA5-4BCE-994D-CE2B6534773C}" type="slidenum">
              <a:rPr lang="ar-SA" altLang="ar-IQ" sz="1000"/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ar-IQ" sz="10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4288DC32-F111-5EEB-9AAD-A777C321EF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 b="1" u="sng"/>
              <a:t>Cognitive Development:</a:t>
            </a:r>
          </a:p>
        </p:txBody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601AC0B0-DC6D-2D98-1B09-F6487621EF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3" y="1628775"/>
            <a:ext cx="8229600" cy="4530725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ar-IQ" b="1">
                <a:solidFill>
                  <a:srgbClr val="FF0066"/>
                </a:solidFill>
              </a:rPr>
              <a:t>PIAGET CALLS IT </a:t>
            </a:r>
            <a:r>
              <a:rPr lang="en-US" altLang="ar-IQ" sz="4000" b="1">
                <a:solidFill>
                  <a:srgbClr val="CC00CC"/>
                </a:solidFill>
                <a:latin typeface="Mongolian Baiti" panose="03000500000000000000" pitchFamily="66" charset="0"/>
              </a:rPr>
              <a:t>Concrete operations</a:t>
            </a:r>
            <a:r>
              <a:rPr lang="en-US" altLang="ar-IQ" b="1">
                <a:solidFill>
                  <a:srgbClr val="FF0066"/>
                </a:solidFill>
              </a:rPr>
              <a:t> PERIOD</a:t>
            </a:r>
          </a:p>
          <a:p>
            <a:pPr eaLnBrk="1" hangingPunct="1">
              <a:buClr>
                <a:schemeClr val="hlink"/>
              </a:buClr>
              <a:buFontTx/>
              <a:buChar char="•"/>
            </a:pPr>
            <a:r>
              <a:rPr lang="en-US" altLang="ar-IQ" b="1"/>
              <a:t>Organize facts about the environment to use for problem solving.</a:t>
            </a:r>
          </a:p>
          <a:p>
            <a:pPr eaLnBrk="1" hangingPunct="1"/>
            <a:endParaRPr lang="en-US" altLang="ar-IQ" b="1"/>
          </a:p>
          <a:p>
            <a:pPr eaLnBrk="1" hangingPunct="1">
              <a:buClr>
                <a:srgbClr val="0099FF"/>
              </a:buClr>
              <a:buFontTx/>
              <a:buChar char="•"/>
            </a:pPr>
            <a:r>
              <a:rPr lang="en-US" altLang="ar-IQ" b="1"/>
              <a:t>Child changes from egocentric interaction to cooperative interaction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5">
            <a:extLst>
              <a:ext uri="{FF2B5EF4-FFF2-40B4-BE49-F238E27FC236}">
                <a16:creationId xmlns:a16="http://schemas.microsoft.com/office/drawing/2014/main" id="{00B094E8-D446-EDA3-FDFE-0A2312C0FA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E5E0246-B4AF-461B-BF9F-B70A8A215B39}" type="slidenum">
              <a:rPr lang="ar-SA" altLang="ar-IQ" sz="1000"/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ar-IQ" sz="10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20A3ED4B-38A8-4D22-88E6-7762BA124E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2663" y="260350"/>
            <a:ext cx="9228137" cy="720725"/>
          </a:xfrm>
        </p:spPr>
        <p:txBody>
          <a:bodyPr/>
          <a:lstStyle/>
          <a:p>
            <a:pPr eaLnBrk="1" hangingPunct="1"/>
            <a:r>
              <a:rPr lang="en-US" altLang="ar-IQ" sz="3400" b="1"/>
              <a:t>Abilities of the school age child</a:t>
            </a:r>
            <a:br>
              <a:rPr lang="en-US" altLang="ar-IQ" sz="3400" b="1"/>
            </a:br>
            <a:endParaRPr lang="en-US" altLang="ar-IQ" sz="3400" b="1"/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A88AD9EA-6415-C397-D31F-7F1DBDC776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88" y="981075"/>
            <a:ext cx="9371012" cy="58769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ar-IQ" sz="2800" b="1"/>
              <a:t>Increase understanding of concept: (Mass, volume, weight and measurement) </a:t>
            </a:r>
          </a:p>
          <a:p>
            <a:pPr eaLnBrk="1" hangingPunct="1">
              <a:lnSpc>
                <a:spcPct val="80000"/>
              </a:lnSpc>
            </a:pPr>
            <a:endParaRPr lang="en-US" altLang="ar-IQ" sz="2800" b="1"/>
          </a:p>
          <a:p>
            <a:pPr eaLnBrk="1" hangingPunct="1">
              <a:lnSpc>
                <a:spcPct val="80000"/>
              </a:lnSpc>
            </a:pPr>
            <a:r>
              <a:rPr lang="en-US" altLang="ar-IQ" sz="2800" b="1"/>
              <a:t>Think and give reasons as he develops concept of (cause-effect) relationship and can manipulate symbols, there for can solve problems.</a:t>
            </a:r>
          </a:p>
          <a:p>
            <a:pPr eaLnBrk="1" hangingPunct="1">
              <a:lnSpc>
                <a:spcPct val="80000"/>
              </a:lnSpc>
            </a:pPr>
            <a:endParaRPr lang="en-US" altLang="ar-IQ" sz="2800" b="1"/>
          </a:p>
          <a:p>
            <a:pPr eaLnBrk="1" hangingPunct="1">
              <a:lnSpc>
                <a:spcPct val="80000"/>
              </a:lnSpc>
            </a:pPr>
            <a:r>
              <a:rPr lang="en-US" altLang="ar-IQ" sz="2800" b="1">
                <a:solidFill>
                  <a:srgbClr val="FF0066"/>
                </a:solidFill>
              </a:rPr>
              <a:t>Classify objects to classes and subclasses as they can see the difference more than the similarities objects.</a:t>
            </a:r>
          </a:p>
          <a:p>
            <a:pPr eaLnBrk="1" hangingPunct="1">
              <a:lnSpc>
                <a:spcPct val="80000"/>
              </a:lnSpc>
            </a:pPr>
            <a:endParaRPr lang="en-US" altLang="ar-IQ" sz="2800" b="1"/>
          </a:p>
          <a:p>
            <a:pPr eaLnBrk="1" hangingPunct="1">
              <a:lnSpc>
                <a:spcPct val="80000"/>
              </a:lnSpc>
            </a:pPr>
            <a:r>
              <a:rPr lang="en-US" altLang="ar-IQ" sz="2800" b="1"/>
              <a:t>Ordering, i.e. arrange things according to their sizes and relationship to other things.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5">
            <a:extLst>
              <a:ext uri="{FF2B5EF4-FFF2-40B4-BE49-F238E27FC236}">
                <a16:creationId xmlns:a16="http://schemas.microsoft.com/office/drawing/2014/main" id="{53AC95C7-0350-E527-160E-80DBBFEA94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063AA71-8499-4B73-9352-896333EC8310}" type="slidenum">
              <a:rPr lang="ar-SA" altLang="ar-IQ" sz="1000"/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ar-IQ" sz="1000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1BF2C2E8-5C03-C9A2-413E-79500E5B75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6763" y="333375"/>
            <a:ext cx="9526587" cy="60483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ar-IQ" sz="2800" b="1"/>
              <a:t>Reading skills are developed</a:t>
            </a:r>
          </a:p>
          <a:p>
            <a:pPr eaLnBrk="1" hangingPunct="1">
              <a:lnSpc>
                <a:spcPct val="80000"/>
              </a:lnSpc>
            </a:pPr>
            <a:endParaRPr lang="en-US" altLang="ar-IQ" sz="2800" b="1"/>
          </a:p>
          <a:p>
            <a:pPr eaLnBrk="1" hangingPunct="1">
              <a:lnSpc>
                <a:spcPct val="80000"/>
              </a:lnSpc>
            </a:pPr>
            <a:r>
              <a:rPr lang="en-US" altLang="ar-IQ" sz="2800" b="1"/>
              <a:t>Tells time; knows date, month and season.</a:t>
            </a:r>
          </a:p>
          <a:p>
            <a:pPr eaLnBrk="1" hangingPunct="1">
              <a:lnSpc>
                <a:spcPct val="80000"/>
              </a:lnSpc>
            </a:pPr>
            <a:endParaRPr lang="en-US" altLang="ar-IQ" sz="2800" b="1"/>
          </a:p>
          <a:p>
            <a:pPr eaLnBrk="1" hangingPunct="1">
              <a:lnSpc>
                <a:spcPct val="80000"/>
              </a:lnSpc>
            </a:pPr>
            <a:r>
              <a:rPr lang="en-US" altLang="ar-IQ" sz="2800" b="1"/>
              <a:t>Learns about cause-effect relationship e.g. knows that a stone will not float because it is heavier than water. </a:t>
            </a:r>
          </a:p>
          <a:p>
            <a:pPr eaLnBrk="1" hangingPunct="1">
              <a:lnSpc>
                <a:spcPct val="80000"/>
              </a:lnSpc>
            </a:pPr>
            <a:endParaRPr lang="en-US" altLang="ar-IQ" sz="2800" b="1"/>
          </a:p>
          <a:p>
            <a:pPr eaLnBrk="1" hangingPunct="1">
              <a:lnSpc>
                <a:spcPct val="80000"/>
              </a:lnSpc>
            </a:pPr>
            <a:r>
              <a:rPr lang="en-US" altLang="ar-IQ" sz="2800" b="1"/>
              <a:t>Develops an awareness and understanding of other people</a:t>
            </a:r>
          </a:p>
          <a:p>
            <a:pPr eaLnBrk="1" hangingPunct="1">
              <a:lnSpc>
                <a:spcPct val="80000"/>
              </a:lnSpc>
            </a:pPr>
            <a:endParaRPr lang="en-US" altLang="ar-IQ" sz="2800" b="1"/>
          </a:p>
          <a:p>
            <a:pPr eaLnBrk="1" hangingPunct="1">
              <a:lnSpc>
                <a:spcPct val="80000"/>
              </a:lnSpc>
            </a:pPr>
            <a:r>
              <a:rPr lang="en-US" altLang="ar-IQ" sz="2800" b="1"/>
              <a:t>By 12 years, are motivated by inner drive rather than pears competition they like to talk, to discuss different subjects and to debate.</a:t>
            </a:r>
          </a:p>
          <a:p>
            <a:pPr eaLnBrk="1" hangingPunct="1">
              <a:lnSpc>
                <a:spcPct val="80000"/>
              </a:lnSpc>
            </a:pPr>
            <a:endParaRPr lang="en-US" altLang="ar-IQ"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5">
            <a:extLst>
              <a:ext uri="{FF2B5EF4-FFF2-40B4-BE49-F238E27FC236}">
                <a16:creationId xmlns:a16="http://schemas.microsoft.com/office/drawing/2014/main" id="{B2A61D64-966C-6F62-A7D0-F61233FBDB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CC924C1-2C04-4F31-9BA4-90872BBC8359}" type="slidenum">
              <a:rPr lang="ar-SA" altLang="ar-IQ" sz="1000"/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ar-IQ" sz="10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9EF66F33-334F-9687-EA38-3E9F767BDA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 b="1" u="sng"/>
              <a:t>Emotional Development:</a:t>
            </a: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8BBE1B98-0D29-4F5C-D6F7-AD0346AD2E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 sz="2800" b="1"/>
              <a:t>Fears injury to body, and fear of dark.</a:t>
            </a:r>
          </a:p>
          <a:p>
            <a:pPr eaLnBrk="1" hangingPunct="1"/>
            <a:endParaRPr lang="en-US" altLang="ar-IQ" sz="2800" b="1"/>
          </a:p>
          <a:p>
            <a:pPr eaLnBrk="1" hangingPunct="1"/>
            <a:r>
              <a:rPr lang="en-US" altLang="ar-IQ" sz="2800" b="1"/>
              <a:t>Jealous of siblings (especially 6-8 years old child)</a:t>
            </a:r>
          </a:p>
          <a:p>
            <a:pPr eaLnBrk="1" hangingPunct="1"/>
            <a:endParaRPr lang="en-US" altLang="ar-IQ" sz="2800" b="1"/>
          </a:p>
          <a:p>
            <a:pPr eaLnBrk="1" hangingPunct="1"/>
            <a:r>
              <a:rPr lang="en-US" altLang="ar-IQ" sz="2800" b="1"/>
              <a:t>Curious about every thing</a:t>
            </a:r>
          </a:p>
          <a:p>
            <a:pPr eaLnBrk="1" hangingPunct="1"/>
            <a:endParaRPr lang="en-US" altLang="ar-IQ" sz="2800" b="1"/>
          </a:p>
          <a:p>
            <a:pPr eaLnBrk="1" hangingPunct="1"/>
            <a:r>
              <a:rPr lang="en-US" altLang="ar-IQ" sz="2800" b="1"/>
              <a:t>By 10 years of age, he has short bursts of anger, but able to control anger by 12 years.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5">
            <a:extLst>
              <a:ext uri="{FF2B5EF4-FFF2-40B4-BE49-F238E27FC236}">
                <a16:creationId xmlns:a16="http://schemas.microsoft.com/office/drawing/2014/main" id="{827ECAF2-01E2-1C6B-006E-1BC58A2671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5CDADA1-C775-4C8F-B5FC-6E5C526CB29D}" type="slidenum">
              <a:rPr lang="ar-SA" altLang="ar-IQ" sz="1000"/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ar-IQ" sz="10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68D21D34-7E2F-CE1F-0196-97DE504FC2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 sz="3400" b="1" u="sng"/>
              <a:t>Social development</a:t>
            </a:r>
            <a:br>
              <a:rPr lang="en-US" altLang="ar-IQ" sz="3400" b="1" u="sng"/>
            </a:br>
            <a:endParaRPr lang="en-US" altLang="ar-IQ" sz="3400" b="1" u="sng"/>
          </a:p>
        </p:txBody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02A9A008-11B7-B3EF-3EED-5A931D890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990600" lvl="1" indent="-533400" eaLnBrk="1" hangingPunct="1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r>
              <a:rPr lang="en-US" altLang="ar-IQ" sz="2300" b="1"/>
              <a:t>Play</a:t>
            </a:r>
          </a:p>
          <a:p>
            <a:pPr marL="990600" lvl="1" indent="-533400" eaLnBrk="1" hangingPunct="1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endParaRPr lang="en-US" altLang="ar-IQ" sz="2300" b="1"/>
          </a:p>
          <a:p>
            <a:pPr marL="990600" lvl="1" indent="-533400" eaLnBrk="1" hangingPunct="1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r>
              <a:rPr lang="en-US" altLang="ar-IQ" sz="2300" b="1"/>
              <a:t>Socialization</a:t>
            </a:r>
          </a:p>
          <a:p>
            <a:pPr marL="990600" lvl="1" indent="-533400" eaLnBrk="1" hangingPunct="1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endParaRPr lang="en-US" altLang="ar-IQ" sz="2300" b="1"/>
          </a:p>
          <a:p>
            <a:pPr marL="990600" lvl="1" indent="-533400" eaLnBrk="1" hangingPunct="1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r>
              <a:rPr lang="en-US" altLang="ar-IQ" sz="2300" b="1"/>
              <a:t>Social adjustment</a:t>
            </a:r>
          </a:p>
          <a:p>
            <a:pPr marL="990600" lvl="1" indent="-533400" eaLnBrk="1" hangingPunct="1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endParaRPr lang="en-US" altLang="ar-IQ" sz="2300" b="1"/>
          </a:p>
          <a:p>
            <a:pPr marL="990600" lvl="1" indent="-533400" eaLnBrk="1" hangingPunct="1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r>
              <a:rPr lang="en-US" altLang="ar-IQ" sz="2300" b="1"/>
              <a:t>Temperament</a:t>
            </a:r>
          </a:p>
          <a:p>
            <a:pPr marL="990600" lvl="1" indent="-533400" eaLnBrk="1" hangingPunct="1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endParaRPr lang="en-US" altLang="ar-IQ" sz="2300" b="1"/>
          </a:p>
          <a:p>
            <a:pPr marL="990600" lvl="1" indent="-533400" eaLnBrk="1" hangingPunct="1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r>
              <a:rPr lang="en-US" altLang="ar-IQ" sz="2300" b="1"/>
              <a:t>Communication</a:t>
            </a:r>
          </a:p>
          <a:p>
            <a:pPr marL="990600" lvl="1" indent="-533400" eaLnBrk="1" hangingPunct="1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endParaRPr lang="en-US" altLang="ar-IQ" sz="2300" b="1"/>
          </a:p>
          <a:p>
            <a:pPr marL="990600" lvl="1" indent="-533400" eaLnBrk="1" hangingPunct="1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r>
              <a:rPr lang="en-US" altLang="ar-IQ" sz="2300" b="1"/>
              <a:t>Discipline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5">
            <a:extLst>
              <a:ext uri="{FF2B5EF4-FFF2-40B4-BE49-F238E27FC236}">
                <a16:creationId xmlns:a16="http://schemas.microsoft.com/office/drawing/2014/main" id="{0153B8AB-C746-230D-EABE-4A86E95ADA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7DE29C5-2D99-4969-8120-E452FEB762E8}" type="slidenum">
              <a:rPr lang="ar-SA" altLang="ar-IQ" sz="1000"/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ar-IQ" sz="100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835AE610-FDE4-ED68-BB14-5BE2C81000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 sz="3400" b="1"/>
              <a:t>Psychosocial and Psychosexual Development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618F41C5-7157-F6FB-4EEC-D0DFA5C7BE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altLang="ar-IQ" sz="1800" b="1"/>
          </a:p>
          <a:p>
            <a:pPr eaLnBrk="1" hangingPunct="1">
              <a:lnSpc>
                <a:spcPct val="80000"/>
              </a:lnSpc>
            </a:pPr>
            <a:r>
              <a:rPr lang="en-US" altLang="ar-IQ" sz="2400" b="1">
                <a:solidFill>
                  <a:srgbClr val="FF0066"/>
                </a:solidFill>
              </a:rPr>
              <a:t>Freud believed the child entered a latency stage.</a:t>
            </a:r>
          </a:p>
          <a:p>
            <a:pPr eaLnBrk="1" hangingPunct="1">
              <a:lnSpc>
                <a:spcPct val="80000"/>
              </a:lnSpc>
            </a:pPr>
            <a:endParaRPr lang="en-US" altLang="ar-IQ" sz="2400" b="1">
              <a:solidFill>
                <a:srgbClr val="FF0066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ar-IQ" sz="2400" b="1"/>
              <a:t>Psychosexual concerns no longer existed.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altLang="ar-IQ" sz="2400" b="1"/>
          </a:p>
          <a:p>
            <a:pPr eaLnBrk="1" hangingPunct="1">
              <a:lnSpc>
                <a:spcPct val="80000"/>
              </a:lnSpc>
            </a:pPr>
            <a:r>
              <a:rPr lang="en-US" altLang="ar-IQ" sz="2400" b="1"/>
              <a:t>During this period, libidinal energies are reduced dramatically and increase physical and intellectual activities.</a:t>
            </a:r>
          </a:p>
          <a:p>
            <a:pPr eaLnBrk="1" hangingPunct="1">
              <a:lnSpc>
                <a:spcPct val="80000"/>
              </a:lnSpc>
            </a:pPr>
            <a:endParaRPr lang="en-US" altLang="ar-IQ" sz="2400" b="1"/>
          </a:p>
          <a:p>
            <a:pPr eaLnBrk="1" hangingPunct="1">
              <a:lnSpc>
                <a:spcPct val="80000"/>
              </a:lnSpc>
            </a:pPr>
            <a:r>
              <a:rPr lang="en-US" altLang="ar-IQ" sz="2400" b="1">
                <a:solidFill>
                  <a:srgbClr val="FF0066"/>
                </a:solidFill>
              </a:rPr>
              <a:t>Erickson Explain School age (Industry versus inferiority)</a:t>
            </a:r>
            <a:r>
              <a:rPr lang="en-US" altLang="ar-IQ" sz="2400" b="1"/>
              <a:t> </a:t>
            </a:r>
          </a:p>
          <a:p>
            <a:pPr eaLnBrk="1" hangingPunct="1">
              <a:lnSpc>
                <a:spcPct val="80000"/>
              </a:lnSpc>
            </a:pPr>
            <a:endParaRPr lang="en-US" altLang="ar-IQ" sz="2400"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5">
            <a:extLst>
              <a:ext uri="{FF2B5EF4-FFF2-40B4-BE49-F238E27FC236}">
                <a16:creationId xmlns:a16="http://schemas.microsoft.com/office/drawing/2014/main" id="{9601065B-EB56-63D8-1A4E-B2957188E1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45E6A57-3948-4498-B13D-666C2BFC2032}" type="slidenum">
              <a:rPr lang="ar-SA" altLang="ar-IQ" sz="1000"/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ar-IQ" sz="1000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E02116CE-1CA6-512D-F709-0399BDE39D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476250"/>
            <a:ext cx="8229600" cy="60483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ar-IQ" sz="2400" b="1"/>
              <a:t>child desires to engage in tasks in the real world (as he enjoys doing socially useful tasks for others).</a:t>
            </a:r>
          </a:p>
          <a:p>
            <a:pPr eaLnBrk="1" hangingPunct="1">
              <a:lnSpc>
                <a:spcPct val="80000"/>
              </a:lnSpc>
            </a:pPr>
            <a:endParaRPr lang="en-US" altLang="ar-IQ" sz="2400" b="1"/>
          </a:p>
          <a:p>
            <a:pPr eaLnBrk="1" hangingPunct="1">
              <a:lnSpc>
                <a:spcPct val="80000"/>
              </a:lnSpc>
            </a:pPr>
            <a:r>
              <a:rPr lang="en-US" altLang="ar-IQ" sz="2400" b="1"/>
              <a:t>Mastery of social interaction facilitates development of the sense of industry and child's feeling of competence, which leads to positive sense of self. </a:t>
            </a:r>
          </a:p>
          <a:p>
            <a:pPr eaLnBrk="1" hangingPunct="1">
              <a:lnSpc>
                <a:spcPct val="80000"/>
              </a:lnSpc>
            </a:pPr>
            <a:endParaRPr lang="en-US" altLang="ar-IQ" sz="2400" b="1"/>
          </a:p>
          <a:p>
            <a:pPr eaLnBrk="1" hangingPunct="1">
              <a:lnSpc>
                <a:spcPct val="80000"/>
              </a:lnSpc>
            </a:pPr>
            <a:r>
              <a:rPr lang="en-US" altLang="ar-IQ" sz="2400" b="1"/>
              <a:t>If the child fails to achieve sense of industry, he will develop a sense of inferiority. </a:t>
            </a:r>
          </a:p>
          <a:p>
            <a:pPr eaLnBrk="1" hangingPunct="1">
              <a:lnSpc>
                <a:spcPct val="80000"/>
              </a:lnSpc>
            </a:pPr>
            <a:endParaRPr lang="en-US" altLang="ar-IQ" sz="2400" b="1"/>
          </a:p>
          <a:p>
            <a:pPr eaLnBrk="1" hangingPunct="1">
              <a:lnSpc>
                <a:spcPct val="80000"/>
              </a:lnSpc>
            </a:pPr>
            <a:r>
              <a:rPr lang="en-US" altLang="ar-IQ" sz="2400" b="1"/>
              <a:t>The child's energy is directed toward inventions and production.</a:t>
            </a:r>
          </a:p>
          <a:p>
            <a:pPr eaLnBrk="1" hangingPunct="1">
              <a:lnSpc>
                <a:spcPct val="80000"/>
              </a:lnSpc>
            </a:pPr>
            <a:endParaRPr lang="en-US" altLang="ar-IQ" sz="2400" b="1"/>
          </a:p>
          <a:p>
            <a:pPr eaLnBrk="1" hangingPunct="1">
              <a:lnSpc>
                <a:spcPct val="80000"/>
              </a:lnSpc>
            </a:pPr>
            <a:r>
              <a:rPr lang="en-US" altLang="ar-IQ" sz="2400" b="1"/>
              <a:t>Beginning to create, develop, and manipulate.</a:t>
            </a:r>
          </a:p>
          <a:p>
            <a:pPr eaLnBrk="1" hangingPunct="1">
              <a:lnSpc>
                <a:spcPct val="80000"/>
              </a:lnSpc>
            </a:pPr>
            <a:endParaRPr lang="en-US" altLang="ar-IQ" sz="2400" b="1"/>
          </a:p>
          <a:p>
            <a:pPr eaLnBrk="1" hangingPunct="1">
              <a:lnSpc>
                <a:spcPct val="80000"/>
              </a:lnSpc>
            </a:pPr>
            <a:r>
              <a:rPr lang="en-US" altLang="ar-IQ" sz="2400" b="1">
                <a:solidFill>
                  <a:srgbClr val="FF0066"/>
                </a:solidFill>
              </a:rPr>
              <a:t>Developing sense of competence and perseverance.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5">
            <a:extLst>
              <a:ext uri="{FF2B5EF4-FFF2-40B4-BE49-F238E27FC236}">
                <a16:creationId xmlns:a16="http://schemas.microsoft.com/office/drawing/2014/main" id="{F5BBE5E6-E935-82BA-F0A5-61F513ECD0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77689DC-7418-454E-A1AC-E81EA1075617}" type="slidenum">
              <a:rPr lang="ar-SA" altLang="ar-IQ" sz="1000"/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ar-IQ" sz="10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6F9CF39C-F57C-0BCF-6E82-73E9C621A3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633412"/>
          </a:xfrm>
        </p:spPr>
        <p:txBody>
          <a:bodyPr/>
          <a:lstStyle/>
          <a:p>
            <a:pPr eaLnBrk="1" hangingPunct="1"/>
            <a:r>
              <a:rPr lang="en-US" altLang="ar-IQ" sz="3400" b="1" u="sng"/>
              <a:t>Adaptive mechanisms:</a:t>
            </a: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2A0136CE-EA06-D1B1-76D0-93F302FA1C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88" y="908050"/>
            <a:ext cx="9371012" cy="521811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altLang="ar-IQ" sz="800" b="1"/>
          </a:p>
          <a:p>
            <a:pPr lvl="1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ar-IQ" sz="2500" b="1" u="sng"/>
              <a:t>Regression</a:t>
            </a:r>
            <a:r>
              <a:rPr lang="en-US" altLang="ar-IQ" sz="2500" b="1"/>
              <a:t>      It is Reverting to an earlier development stage.</a:t>
            </a:r>
          </a:p>
          <a:p>
            <a:pPr lvl="1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altLang="ar-IQ" sz="2500" b="1"/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ar-IQ" sz="2400" b="1"/>
              <a:t>    </a:t>
            </a:r>
            <a:r>
              <a:rPr lang="en-US" altLang="ar-IQ" sz="2400" b="1" u="sng"/>
              <a:t>Rationalization</a:t>
            </a:r>
            <a:r>
              <a:rPr lang="en-US" altLang="ar-IQ" sz="2400" b="1"/>
              <a:t>  An attempt to justify behavior by logical reason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altLang="ar-IQ" sz="2400" b="1"/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ar-IQ" sz="2400" b="1"/>
              <a:t>    </a:t>
            </a:r>
            <a:r>
              <a:rPr lang="en-US" altLang="ar-IQ" sz="2400" b="1" u="sng"/>
              <a:t>Ritualistic behavior</a:t>
            </a:r>
            <a:r>
              <a:rPr lang="en-US" altLang="ar-IQ" sz="2400" b="1"/>
              <a:t>  Very important but does not persist for long time. (It is performance of formal acts e.g. the observance of actions or procedures in a set, order, and ceremonial way)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altLang="ar-IQ" sz="2400" b="1"/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ar-IQ" sz="2400" b="1"/>
              <a:t>    </a:t>
            </a:r>
            <a:r>
              <a:rPr lang="en-US" altLang="ar-IQ" sz="2400" b="1" u="sng"/>
              <a:t>Malingering </a:t>
            </a:r>
            <a:r>
              <a:rPr lang="en-US" altLang="ar-IQ" sz="2400" b="1"/>
              <a:t>  It is pretending to be ill rather than facing something unpleasant e.g. (Feel sick before exam).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5">
            <a:extLst>
              <a:ext uri="{FF2B5EF4-FFF2-40B4-BE49-F238E27FC236}">
                <a16:creationId xmlns:a16="http://schemas.microsoft.com/office/drawing/2014/main" id="{5B0934C6-9BC4-D04C-3A0C-B44886B92D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0A1E2D5-D260-460D-B146-80C3F7887BE7}" type="slidenum">
              <a:rPr lang="ar-SA" altLang="ar-IQ" sz="1000"/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ar-IQ" sz="10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BB894B15-1F5A-78B7-B0BC-DAC790DC1E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88913"/>
            <a:ext cx="8229600" cy="2016125"/>
          </a:xfrm>
        </p:spPr>
        <p:txBody>
          <a:bodyPr/>
          <a:lstStyle/>
          <a:p>
            <a:pPr eaLnBrk="1" hangingPunct="1"/>
            <a:r>
              <a:rPr lang="en-US" altLang="ar-IQ" sz="2800" b="1" u="sng"/>
              <a:t>Parents and caregivers can assist school age children to develop psychosocially by:</a:t>
            </a:r>
            <a:br>
              <a:rPr lang="en-US" altLang="ar-IQ" sz="2800"/>
            </a:br>
            <a:endParaRPr lang="en-US" altLang="ar-IQ" sz="2800"/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9A197AB1-E1C7-F7CF-AB0D-7FE67DDB6A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700213"/>
            <a:ext cx="9601200" cy="4897437"/>
          </a:xfrm>
        </p:spPr>
        <p:txBody>
          <a:bodyPr/>
          <a:lstStyle/>
          <a:p>
            <a:pPr eaLnBrk="1" hangingPunct="1"/>
            <a:r>
              <a:rPr lang="en-US" altLang="ar-IQ"/>
              <a:t>Recognizing success and providing praise.</a:t>
            </a:r>
          </a:p>
          <a:p>
            <a:pPr eaLnBrk="1" hangingPunct="1"/>
            <a:r>
              <a:rPr lang="en-US" altLang="ar-IQ"/>
              <a:t>Guiding children to perform tasks.</a:t>
            </a:r>
          </a:p>
          <a:p>
            <a:pPr eaLnBrk="1" hangingPunct="1"/>
            <a:r>
              <a:rPr lang="en-US" altLang="ar-IQ"/>
              <a:t>Guiding to complete the task.</a:t>
            </a:r>
          </a:p>
          <a:p>
            <a:pPr eaLnBrk="1" hangingPunct="1"/>
            <a:r>
              <a:rPr lang="en-US" altLang="ar-IQ"/>
              <a:t>Teaching the child how to get along with peers by collaborating, compromising, cooperating and competing.</a:t>
            </a:r>
          </a:p>
          <a:p>
            <a:pPr eaLnBrk="1" hangingPunct="1"/>
            <a:r>
              <a:rPr lang="en-US" altLang="ar-IQ"/>
              <a:t>Teaching the child how to get along with adults.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5">
            <a:extLst>
              <a:ext uri="{FF2B5EF4-FFF2-40B4-BE49-F238E27FC236}">
                <a16:creationId xmlns:a16="http://schemas.microsoft.com/office/drawing/2014/main" id="{4F8EE5D7-3069-5846-DCF3-6A97858580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8A4FD5D-DAB3-4B31-8C3B-0BE1E1021E49}" type="slidenum">
              <a:rPr lang="ar-SA" altLang="ar-IQ" sz="1000"/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ar-IQ" sz="1000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B5D67BF8-8505-A42D-219F-97FBCF0288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9313" y="836613"/>
            <a:ext cx="9228137" cy="936625"/>
          </a:xfrm>
        </p:spPr>
        <p:txBody>
          <a:bodyPr/>
          <a:lstStyle/>
          <a:p>
            <a:pPr eaLnBrk="1" hangingPunct="1"/>
            <a:r>
              <a:rPr lang="en-US" altLang="ar-IQ" b="1" u="sng"/>
              <a:t>Moral Development:</a:t>
            </a:r>
            <a:br>
              <a:rPr lang="en-US" altLang="ar-IQ"/>
            </a:br>
            <a:endParaRPr lang="en-US" altLang="ar-IQ"/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34E79772-6C6F-BDD6-408A-335B1F63BB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88" y="1844675"/>
            <a:ext cx="9793287" cy="4032250"/>
          </a:xfrm>
        </p:spPr>
        <p:txBody>
          <a:bodyPr/>
          <a:lstStyle/>
          <a:p>
            <a:pPr eaLnBrk="1" hangingPunct="1"/>
            <a:r>
              <a:rPr lang="en-US" altLang="ar-IQ"/>
              <a:t>*Behavior based on familiar and peer group believes.</a:t>
            </a:r>
          </a:p>
          <a:p>
            <a:pPr eaLnBrk="1" hangingPunct="1"/>
            <a:r>
              <a:rPr lang="en-US" altLang="ar-IQ"/>
              <a:t>*Children act to avoid being punished.</a:t>
            </a:r>
          </a:p>
          <a:p>
            <a:pPr eaLnBrk="1" hangingPunct="1"/>
            <a:r>
              <a:rPr lang="en-US" altLang="ar-IQ"/>
              <a:t>*Do things to benefit them selves.</a:t>
            </a:r>
          </a:p>
          <a:p>
            <a:pPr eaLnBrk="1" hangingPunct="1"/>
            <a:r>
              <a:rPr lang="en-US" altLang="ar-IQ"/>
              <a:t>*Fairness concept becomes important.</a:t>
            </a:r>
          </a:p>
          <a:p>
            <a:pPr eaLnBrk="1" hangingPunct="1"/>
            <a:r>
              <a:rPr lang="en-US" altLang="ar-IQ"/>
              <a:t>*Shift from interest of individual to interest of group.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5">
            <a:extLst>
              <a:ext uri="{FF2B5EF4-FFF2-40B4-BE49-F238E27FC236}">
                <a16:creationId xmlns:a16="http://schemas.microsoft.com/office/drawing/2014/main" id="{E0B3D34E-0BD1-F4EC-B868-58B1B93878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56F78C9-2F8A-4328-A5CE-4FFD1B3672A5}" type="slidenum">
              <a:rPr lang="ar-SA" altLang="ar-IQ" sz="1000"/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ar-IQ" sz="100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F16B9719-2F72-41D3-289D-ED5189B7DD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 b="1" u="sng"/>
              <a:t>Spiritual Development:</a:t>
            </a:r>
          </a:p>
        </p:txBody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EDA62D24-1295-1578-8E6D-47EA6445B8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196975"/>
            <a:ext cx="8229600" cy="49339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ar-IQ"/>
              <a:t>*Learn to distinguish fantasy from fact.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/>
              <a:t>*Understand the creation of the world, think of </a:t>
            </a:r>
            <a:r>
              <a:rPr lang="en-US" altLang="ar-IQ" b="1" u="sng"/>
              <a:t>God </a:t>
            </a:r>
            <a:r>
              <a:rPr lang="en-US" altLang="ar-IQ"/>
              <a:t>as having </a:t>
            </a:r>
            <a:r>
              <a:rPr lang="en-US" altLang="ar-IQ" b="1"/>
              <a:t>human qualities</a:t>
            </a:r>
            <a:r>
              <a:rPr lang="en-US" altLang="ar-IQ"/>
              <a:t> e.g. kind, and a person who punishes.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/>
              <a:t>*At school age, some children respect religion, and continue to accept it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/>
              <a:t> This decision is largely influenced by parents </a:t>
            </a:r>
            <a:r>
              <a:rPr lang="en-US" altLang="ar-IQ" b="1"/>
              <a:t>→</a:t>
            </a:r>
            <a:r>
              <a:rPr lang="en-US" altLang="ar-IQ"/>
              <a:t> continues religious training.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>
                <a:solidFill>
                  <a:srgbClr val="FF0066"/>
                </a:solidFill>
              </a:rPr>
              <a:t>Child is ready to apply reason rather than blind belief in most situation.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5">
            <a:extLst>
              <a:ext uri="{FF2B5EF4-FFF2-40B4-BE49-F238E27FC236}">
                <a16:creationId xmlns:a16="http://schemas.microsoft.com/office/drawing/2014/main" id="{A4C136CB-1BB0-EA5B-3FED-31CC3BC3FE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91B5F8E-8D2C-4C92-8B3B-5902EAAA3DB6}" type="slidenum">
              <a:rPr lang="ar-SA" altLang="ar-IQ" sz="1000"/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ar-IQ" sz="100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87339989-CF18-CA08-31C6-D5C227E1AC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6763" y="404813"/>
            <a:ext cx="8229600" cy="1081087"/>
          </a:xfrm>
        </p:spPr>
        <p:txBody>
          <a:bodyPr/>
          <a:lstStyle/>
          <a:p>
            <a:pPr eaLnBrk="1" hangingPunct="1"/>
            <a:r>
              <a:rPr lang="en-US" altLang="ar-IQ" sz="3400" b="1" u="sng"/>
              <a:t>Health Assessment:</a:t>
            </a:r>
            <a:br>
              <a:rPr lang="en-US" altLang="ar-IQ" sz="3400"/>
            </a:br>
            <a:endParaRPr lang="en-US" altLang="ar-IQ" sz="3400"/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A9F7F12A-C598-EC5A-9FB3-CB52F80695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6763" y="1628775"/>
            <a:ext cx="7427912" cy="39258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ar-IQ"/>
              <a:t>Safety from accidents.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/>
              <a:t>Nutrition: balanced diet.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/>
              <a:t>Elimination: Enuresis.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/>
              <a:t>Rest and sleep 8 -12 hours.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/>
              <a:t>Activity / exercise.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/>
              <a:t>Social interaction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/>
              <a:t>Cognitive stimulation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5">
            <a:extLst>
              <a:ext uri="{FF2B5EF4-FFF2-40B4-BE49-F238E27FC236}">
                <a16:creationId xmlns:a16="http://schemas.microsoft.com/office/drawing/2014/main" id="{691A209F-5EEC-AF99-EF7B-33FD8BB33C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8502902-30C3-45BD-99D1-5C06D802A5BA}" type="slidenum">
              <a:rPr lang="ar-SA" altLang="ar-IQ" sz="1000"/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ar-IQ" sz="100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8958E46D-B118-AA81-6C0E-C12AFA4CEA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6763" y="404813"/>
            <a:ext cx="8291512" cy="1368425"/>
          </a:xfrm>
        </p:spPr>
        <p:txBody>
          <a:bodyPr/>
          <a:lstStyle/>
          <a:p>
            <a:pPr eaLnBrk="1" hangingPunct="1"/>
            <a:r>
              <a:rPr lang="en-US" altLang="ar-IQ" b="1" u="sng"/>
              <a:t>Common Health Problems:</a:t>
            </a:r>
            <a:br>
              <a:rPr lang="en-US" altLang="ar-IQ"/>
            </a:br>
            <a:endParaRPr lang="en-US" altLang="ar-IQ"/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12030364-5F36-CFA4-81F9-D2C56329D9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6763" y="1628775"/>
            <a:ext cx="8229600" cy="4357688"/>
          </a:xfrm>
        </p:spPr>
        <p:txBody>
          <a:bodyPr/>
          <a:lstStyle/>
          <a:p>
            <a:pPr eaLnBrk="1" hangingPunct="1"/>
            <a:r>
              <a:rPr lang="en-US" altLang="ar-IQ"/>
              <a:t>Accidents continue to be common in school aged children.</a:t>
            </a:r>
          </a:p>
          <a:p>
            <a:pPr eaLnBrk="1" hangingPunct="1"/>
            <a:r>
              <a:rPr lang="en-US" altLang="ar-IQ"/>
              <a:t>Communicable disease: due to interactions with other children in school.</a:t>
            </a:r>
          </a:p>
          <a:p>
            <a:pPr eaLnBrk="1" hangingPunct="1"/>
            <a:r>
              <a:rPr lang="en-US" altLang="ar-IQ"/>
              <a:t>Learning disability (LD) difficulty listening, reading, writing.</a:t>
            </a:r>
          </a:p>
          <a:p>
            <a:pPr eaLnBrk="1" hangingPunct="1"/>
            <a:r>
              <a:rPr lang="en-US" altLang="ar-IQ"/>
              <a:t>Enuresis (bed wetting) usually at night.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5">
            <a:extLst>
              <a:ext uri="{FF2B5EF4-FFF2-40B4-BE49-F238E27FC236}">
                <a16:creationId xmlns:a16="http://schemas.microsoft.com/office/drawing/2014/main" id="{61DC40E6-E77C-DD8E-D747-A8762CCD9E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AEDA486-67EA-40F3-996C-C87894D8706C}" type="slidenum">
              <a:rPr lang="ar-SA" altLang="ar-IQ" sz="1000"/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ar-IQ" sz="10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E7A082A8-A68F-38BC-6DC8-80C4530E2A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 b="1"/>
              <a:t>Health protection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A1B6BDB0-67B1-4535-7AB7-E8E2F34905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ar-IQ" b="1" u="sng"/>
          </a:p>
          <a:p>
            <a:pPr eaLnBrk="1" hangingPunct="1"/>
            <a:r>
              <a:rPr lang="en-US" altLang="ar-IQ" b="1"/>
              <a:t> Immunization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ar-IQ" b="1"/>
          </a:p>
          <a:p>
            <a:pPr eaLnBrk="1" hangingPunct="1"/>
            <a:endParaRPr lang="en-US" altLang="ar-IQ" b="1"/>
          </a:p>
          <a:p>
            <a:pPr eaLnBrk="1" hangingPunct="1"/>
            <a:endParaRPr lang="en-US" altLang="ar-IQ" b="1"/>
          </a:p>
          <a:p>
            <a:pPr eaLnBrk="1" hangingPunct="1"/>
            <a:r>
              <a:rPr lang="en-US" altLang="ar-IQ" b="1"/>
              <a:t>Injury prevention</a:t>
            </a:r>
          </a:p>
        </p:txBody>
      </p:sp>
      <p:pic>
        <p:nvPicPr>
          <p:cNvPr id="63493" name="Picture 7" descr="immunize-751367">
            <a:extLst>
              <a:ext uri="{FF2B5EF4-FFF2-40B4-BE49-F238E27FC236}">
                <a16:creationId xmlns:a16="http://schemas.microsoft.com/office/drawing/2014/main" id="{2D3B9B86-F0EF-EE91-0168-867DC67B8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800" y="692150"/>
            <a:ext cx="3168650" cy="283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4" name="Picture 9" descr="congenital_pt4-02">
            <a:extLst>
              <a:ext uri="{FF2B5EF4-FFF2-40B4-BE49-F238E27FC236}">
                <a16:creationId xmlns:a16="http://schemas.microsoft.com/office/drawing/2014/main" id="{943A7F8B-B26B-6082-E65E-4562B9F33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800" y="3573463"/>
            <a:ext cx="3136900" cy="295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5">
            <a:extLst>
              <a:ext uri="{FF2B5EF4-FFF2-40B4-BE49-F238E27FC236}">
                <a16:creationId xmlns:a16="http://schemas.microsoft.com/office/drawing/2014/main" id="{31F1FF18-2ABE-0E3B-9245-0177828E99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1EFD72F-19A4-4DC7-85E8-D9D8559B18FC}" type="slidenum">
              <a:rPr lang="ar-SA" altLang="ar-IQ" sz="1000"/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ar-IQ" sz="100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1419EE29-4764-FA3E-6D38-0084EFD592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8000" y="184150"/>
            <a:ext cx="8229600" cy="1660525"/>
          </a:xfrm>
        </p:spPr>
        <p:txBody>
          <a:bodyPr/>
          <a:lstStyle/>
          <a:p>
            <a:pPr eaLnBrk="1" hangingPunct="1"/>
            <a:r>
              <a:rPr lang="en-US" altLang="ar-IQ" b="1"/>
              <a:t>Health promotion</a:t>
            </a:r>
          </a:p>
        </p:txBody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B1BBED9C-42C1-5153-A8CC-35B9A1BAF4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6113" y="1601788"/>
            <a:ext cx="7427912" cy="4646612"/>
          </a:xfrm>
        </p:spPr>
        <p:txBody>
          <a:bodyPr/>
          <a:lstStyle/>
          <a:p>
            <a:pPr eaLnBrk="1" hangingPunct="1"/>
            <a:endParaRPr lang="en-US" altLang="ar-IQ" b="1"/>
          </a:p>
          <a:p>
            <a:pPr eaLnBrk="1" hangingPunct="1"/>
            <a:r>
              <a:rPr lang="en-US" altLang="ar-IQ" b="1"/>
              <a:t>Exercise</a:t>
            </a:r>
          </a:p>
          <a:p>
            <a:pPr eaLnBrk="1" hangingPunct="1"/>
            <a:r>
              <a:rPr lang="en-US" altLang="ar-IQ" b="1"/>
              <a:t>Sleeping patterns</a:t>
            </a:r>
          </a:p>
          <a:p>
            <a:pPr eaLnBrk="1" hangingPunct="1"/>
            <a:r>
              <a:rPr lang="en-US" altLang="ar-IQ" b="1"/>
              <a:t>Nutritional requirement</a:t>
            </a:r>
          </a:p>
          <a:p>
            <a:pPr eaLnBrk="1" hangingPunct="1"/>
            <a:r>
              <a:rPr lang="en-US" altLang="ar-IQ" b="1"/>
              <a:t>Dental care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5">
            <a:extLst>
              <a:ext uri="{FF2B5EF4-FFF2-40B4-BE49-F238E27FC236}">
                <a16:creationId xmlns:a16="http://schemas.microsoft.com/office/drawing/2014/main" id="{204E5FF8-AB43-3F48-0FB3-7C9A604881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E851147-474F-434F-9FAC-FB71137A5134}" type="slidenum">
              <a:rPr lang="ar-SA" altLang="ar-IQ" sz="1000"/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ar-IQ" sz="100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8D70954F-8C01-F5FE-3F42-06CDC7D81B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 sz="3400"/>
              <a:t>Nutritional Needs of the School-Age Child</a:t>
            </a:r>
          </a:p>
        </p:txBody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04EDB3D6-7A8C-79F2-84BE-3E179955F9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 b="1">
                <a:cs typeface="Times New Roman" panose="02020603050405020304" pitchFamily="18" charset="0"/>
              </a:rPr>
              <a:t>As coordination improves, the child becomes increasingly active Requires more food to supply necessary energy</a:t>
            </a:r>
          </a:p>
          <a:p>
            <a:pPr eaLnBrk="1" hangingPunct="1"/>
            <a:r>
              <a:rPr lang="en-US" altLang="ar-IQ" b="1">
                <a:cs typeface="Times New Roman" panose="02020603050405020304" pitchFamily="18" charset="0"/>
              </a:rPr>
              <a:t>The nutritional needs of the school-age child should be met by choosing foods from all food groups </a:t>
            </a:r>
          </a:p>
          <a:p>
            <a:pPr eaLnBrk="1" hangingPunct="1"/>
            <a:r>
              <a:rPr lang="en-US" altLang="ar-IQ" b="1">
                <a:cs typeface="Times New Roman" panose="02020603050405020304" pitchFamily="18" charset="0"/>
              </a:rPr>
              <a:t>Increased appetite and a tendency to go on food “jags” are typical </a:t>
            </a:r>
          </a:p>
          <a:p>
            <a:pPr eaLnBrk="1" hangingPunct="1"/>
            <a:endParaRPr lang="en-US" altLang="ar-IQ"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5">
            <a:extLst>
              <a:ext uri="{FF2B5EF4-FFF2-40B4-BE49-F238E27FC236}">
                <a16:creationId xmlns:a16="http://schemas.microsoft.com/office/drawing/2014/main" id="{BF3E2E80-3C6A-9444-134C-8384A89597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B6EE661-7F26-4E12-9AA2-3B0B68261573}" type="slidenum">
              <a:rPr lang="ar-SA" altLang="ar-IQ" sz="1000"/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ar-IQ" sz="1000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930A1FBA-2C8D-4961-079B-B685BB2AE0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 b="1"/>
              <a:t>Selected health problems</a:t>
            </a:r>
          </a:p>
        </p:txBody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4F18E9A7-7B5C-1B19-1871-55E518DD42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1225" y="1243013"/>
            <a:ext cx="7210425" cy="50053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ar-IQ" sz="2400" b="1"/>
          </a:p>
          <a:p>
            <a:pPr eaLnBrk="1" hangingPunct="1">
              <a:lnSpc>
                <a:spcPct val="90000"/>
              </a:lnSpc>
            </a:pPr>
            <a:r>
              <a:rPr lang="en-US" altLang="ar-IQ" sz="2400" b="1"/>
              <a:t>Fears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 sz="2400" b="1"/>
              <a:t>Dysfunction of bowel and bladder control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 sz="2400" b="1"/>
              <a:t>Question related to sex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 sz="2400" b="1"/>
              <a:t>School phobia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 sz="2400" b="1"/>
              <a:t>Enuresis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 sz="2400" b="1"/>
              <a:t>Appendicitis</a:t>
            </a:r>
            <a:endParaRPr lang="en-US" altLang="ar-IQ" sz="2400" b="1" u="sng"/>
          </a:p>
          <a:p>
            <a:pPr eaLnBrk="1" hangingPunct="1">
              <a:lnSpc>
                <a:spcPct val="90000"/>
              </a:lnSpc>
            </a:pPr>
            <a:r>
              <a:rPr lang="en-US" altLang="ar-IQ" sz="2400" b="1"/>
              <a:t>Common health problems</a:t>
            </a:r>
            <a:r>
              <a:rPr lang="en-US" altLang="ar-IQ" sz="2400"/>
              <a:t> </a:t>
            </a:r>
            <a:endParaRPr lang="en-US" altLang="ar-IQ" sz="2400" b="1"/>
          </a:p>
          <a:p>
            <a:pPr eaLnBrk="1" hangingPunct="1">
              <a:lnSpc>
                <a:spcPct val="90000"/>
              </a:lnSpc>
            </a:pPr>
            <a:r>
              <a:rPr lang="en-US" altLang="ar-IQ" sz="2400" b="1"/>
              <a:t>Accidents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 sz="2400" b="1"/>
              <a:t>Communicable disease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 sz="2400" b="1"/>
              <a:t>Learning disability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5">
            <a:extLst>
              <a:ext uri="{FF2B5EF4-FFF2-40B4-BE49-F238E27FC236}">
                <a16:creationId xmlns:a16="http://schemas.microsoft.com/office/drawing/2014/main" id="{A51A932C-8DAB-5734-BE37-3B7B2AE0FA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E03F9DD-2C68-44EC-82D8-96EAA52F3E9F}" type="slidenum">
              <a:rPr lang="ar-SA" altLang="ar-IQ" sz="1000"/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ar-IQ" sz="1000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EB1CEEA4-29EB-26F6-EBAD-0602E79310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 sz="3400" b="1">
                <a:solidFill>
                  <a:srgbClr val="FF0066"/>
                </a:solidFill>
              </a:rPr>
              <a:t>Nursing Care for the School-Age Child in a Health Care Facility</a:t>
            </a:r>
          </a:p>
        </p:txBody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CC847B3A-9441-4CFD-A6F9-16F49981B5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 sz="2800" b="1"/>
              <a:t>Explain all procedures to children and their families</a:t>
            </a:r>
          </a:p>
          <a:p>
            <a:pPr eaLnBrk="1" hangingPunct="1"/>
            <a:r>
              <a:rPr lang="en-US" altLang="ar-IQ" sz="2800" b="1"/>
              <a:t>Show equipment and material to be used</a:t>
            </a:r>
          </a:p>
          <a:p>
            <a:pPr eaLnBrk="1" hangingPunct="1"/>
            <a:r>
              <a:rPr lang="en-US" altLang="ar-IQ" sz="2800" b="1"/>
              <a:t>Outline realistic expectations of procedures and treatments</a:t>
            </a:r>
          </a:p>
          <a:p>
            <a:pPr eaLnBrk="1" hangingPunct="1"/>
            <a:r>
              <a:rPr lang="en-US" altLang="ar-IQ" sz="2800" b="1"/>
              <a:t>Answer children’s questions truthfully</a:t>
            </a:r>
          </a:p>
          <a:p>
            <a:pPr eaLnBrk="1" hangingPunct="1"/>
            <a:r>
              <a:rPr lang="en-US" altLang="ar-IQ" sz="2800" b="1"/>
              <a:t>Give children an opportunity to verbalize anxieties</a:t>
            </a:r>
          </a:p>
          <a:p>
            <a:pPr eaLnBrk="1" hangingPunct="1"/>
            <a:r>
              <a:rPr lang="en-US" altLang="ar-IQ" sz="2800" b="1"/>
              <a:t>Respect desire for privacy</a:t>
            </a:r>
          </a:p>
          <a:p>
            <a:pPr eaLnBrk="1" hangingPunct="1"/>
            <a:endParaRPr lang="en-US" altLang="ar-IQ" sz="2800" b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Box 3">
            <a:extLst>
              <a:ext uri="{FF2B5EF4-FFF2-40B4-BE49-F238E27FC236}">
                <a16:creationId xmlns:a16="http://schemas.microsoft.com/office/drawing/2014/main" id="{208A5368-CB5B-5E50-B38B-F17A6F4E1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8" y="404813"/>
            <a:ext cx="11736387" cy="2160587"/>
          </a:xfrm>
          <a:prstGeom prst="rect">
            <a:avLst/>
          </a:prstGeom>
          <a:solidFill>
            <a:srgbClr val="78697B"/>
          </a:solidFill>
          <a:ln w="9525">
            <a:solidFill>
              <a:srgbClr val="78697B"/>
            </a:solidFill>
            <a:miter lim="800000"/>
            <a:headEnd/>
            <a:tailEnd/>
          </a:ln>
        </p:spPr>
        <p:txBody>
          <a:bodyPr/>
          <a:lstStyle>
            <a:lvl1pPr defTabSz="685800">
              <a:defRPr>
                <a:solidFill>
                  <a:schemeClr val="tx1"/>
                </a:solidFill>
                <a:latin typeface="Bradley Hand ITC" panose="03070402050302030203" pitchFamily="66" charset="0"/>
                <a:cs typeface="Arial" panose="020B0604020202020204" pitchFamily="34" charset="0"/>
              </a:defRPr>
            </a:lvl1pPr>
            <a:lvl2pPr marL="742950" indent="-285750" defTabSz="685800">
              <a:defRPr>
                <a:solidFill>
                  <a:schemeClr val="tx1"/>
                </a:solidFill>
                <a:latin typeface="Bradley Hand ITC" panose="03070402050302030203" pitchFamily="66" charset="0"/>
                <a:cs typeface="Arial" panose="020B0604020202020204" pitchFamily="34" charset="0"/>
              </a:defRPr>
            </a:lvl2pPr>
            <a:lvl3pPr marL="1143000" indent="-228600" defTabSz="685800">
              <a:defRPr>
                <a:solidFill>
                  <a:schemeClr val="tx1"/>
                </a:solidFill>
                <a:latin typeface="Bradley Hand ITC" panose="03070402050302030203" pitchFamily="66" charset="0"/>
                <a:cs typeface="Arial" panose="020B0604020202020204" pitchFamily="34" charset="0"/>
              </a:defRPr>
            </a:lvl3pPr>
            <a:lvl4pPr marL="1600200" indent="-228600" defTabSz="685800">
              <a:defRPr>
                <a:solidFill>
                  <a:schemeClr val="tx1"/>
                </a:solidFill>
                <a:latin typeface="Bradley Hand ITC" panose="03070402050302030203" pitchFamily="66" charset="0"/>
                <a:cs typeface="Arial" panose="020B0604020202020204" pitchFamily="34" charset="0"/>
              </a:defRPr>
            </a:lvl4pPr>
            <a:lvl5pPr marL="2057400" indent="-228600" defTabSz="685800">
              <a:defRPr>
                <a:solidFill>
                  <a:schemeClr val="tx1"/>
                </a:solidFill>
                <a:latin typeface="Bradley Hand ITC" panose="03070402050302030203" pitchFamily="66" charset="0"/>
                <a:cs typeface="Arial" panose="020B0604020202020204" pitchFamily="34" charset="0"/>
              </a:defRPr>
            </a:lvl5pPr>
            <a:lvl6pPr marL="2514600" indent="-228600" algn="l" defTabSz="6858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radley Hand ITC" panose="03070402050302030203" pitchFamily="66" charset="0"/>
                <a:cs typeface="Arial" panose="020B0604020202020204" pitchFamily="34" charset="0"/>
              </a:defRPr>
            </a:lvl6pPr>
            <a:lvl7pPr marL="2971800" indent="-228600" algn="l" defTabSz="6858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radley Hand ITC" panose="03070402050302030203" pitchFamily="66" charset="0"/>
                <a:cs typeface="Arial" panose="020B0604020202020204" pitchFamily="34" charset="0"/>
              </a:defRPr>
            </a:lvl7pPr>
            <a:lvl8pPr marL="3429000" indent="-228600" algn="l" defTabSz="6858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radley Hand ITC" panose="03070402050302030203" pitchFamily="66" charset="0"/>
                <a:cs typeface="Arial" panose="020B0604020202020204" pitchFamily="34" charset="0"/>
              </a:defRPr>
            </a:lvl8pPr>
            <a:lvl9pPr marL="3886200" indent="-228600" algn="l" defTabSz="685800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radley Hand ITC" panose="03070402050302030203" pitchFamily="66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1350"/>
              </a:lnSpc>
              <a:spcAft>
                <a:spcPts val="450"/>
              </a:spcAft>
            </a:pPr>
            <a:endParaRPr lang="en-US" altLang="ar-IQ" sz="900">
              <a:solidFill>
                <a:srgbClr val="40404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611" name="Text Placeholder 1">
            <a:extLst>
              <a:ext uri="{FF2B5EF4-FFF2-40B4-BE49-F238E27FC236}">
                <a16:creationId xmlns:a16="http://schemas.microsoft.com/office/drawing/2014/main" id="{BAB8FC77-4571-6C66-759B-5F0A4C0DD3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4213" y="1673225"/>
            <a:ext cx="3309937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6858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ko-KR" sz="3600">
                <a:solidFill>
                  <a:srgbClr val="FFFFFF"/>
                </a:solidFill>
                <a:latin typeface="Segoe UI Light" panose="020B0502040204020203" pitchFamily="34" charset="0"/>
                <a:ea typeface="굴림" panose="020B0600000101010101" pitchFamily="34" charset="-127"/>
              </a:rPr>
              <a:t>Thank</a:t>
            </a:r>
            <a:r>
              <a:rPr lang="en-US" altLang="ko-KR" sz="3600">
                <a:solidFill>
                  <a:srgbClr val="FFFFFF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600">
                <a:solidFill>
                  <a:srgbClr val="FFFFFF"/>
                </a:solidFill>
                <a:latin typeface="Segoe UI Light" panose="020B0502040204020203" pitchFamily="34" charset="0"/>
                <a:ea typeface="굴림" panose="020B0600000101010101" pitchFamily="34" charset="-127"/>
              </a:rPr>
              <a:t>you</a:t>
            </a:r>
            <a:endParaRPr lang="ko-KR" altLang="en-US" sz="3600">
              <a:solidFill>
                <a:srgbClr val="FFFFFF"/>
              </a:solidFill>
              <a:latin typeface="Segoe UI Light" panose="020B0502040204020203" pitchFamily="34" charset="0"/>
              <a:ea typeface="굴림" panose="020B0600000101010101" pitchFamily="34" charset="-127"/>
            </a:endParaRPr>
          </a:p>
        </p:txBody>
      </p:sp>
      <p:sp>
        <p:nvSpPr>
          <p:cNvPr id="215044" name="مربع نص 2">
            <a:extLst>
              <a:ext uri="{FF2B5EF4-FFF2-40B4-BE49-F238E27FC236}">
                <a16:creationId xmlns:a16="http://schemas.microsoft.com/office/drawing/2014/main" id="{CAFEACAA-BC29-1050-4C14-7A6A9B2C6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9513" y="3429000"/>
            <a:ext cx="4237037" cy="1419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ar-IQ" sz="8625">
                <a:solidFill>
                  <a:srgbClr val="137333"/>
                </a:solidFill>
                <a:latin typeface="Google Sans Display"/>
              </a:rPr>
              <a:t>cs5jm5o</a:t>
            </a:r>
            <a:endParaRPr lang="ar-IQ" altLang="ar-IQ" sz="8625">
              <a:solidFill>
                <a:prstClr val="black"/>
              </a:solidFill>
              <a:latin typeface="Verdana" panose="020B0604030504040204" pitchFamily="34" charset="0"/>
            </a:endParaRPr>
          </a:p>
        </p:txBody>
      </p:sp>
      <p:sp>
        <p:nvSpPr>
          <p:cNvPr id="68613" name="مربع نص 4">
            <a:extLst>
              <a:ext uri="{FF2B5EF4-FFF2-40B4-BE49-F238E27FC236}">
                <a16:creationId xmlns:a16="http://schemas.microsoft.com/office/drawing/2014/main" id="{D01053D9-704E-BF23-7C97-DE6F4C055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2275" y="2947988"/>
            <a:ext cx="1214438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>
              <a:lnSpc>
                <a:spcPts val="1350"/>
              </a:lnSpc>
              <a:spcBef>
                <a:spcPct val="0"/>
              </a:spcBef>
              <a:spcAft>
                <a:spcPts val="450"/>
              </a:spcAft>
              <a:buFont typeface="Arial" panose="020B0604020202020204" pitchFamily="34" charset="0"/>
              <a:buNone/>
            </a:pPr>
            <a:r>
              <a:rPr lang="ar-IQ" altLang="ar-IQ" sz="1800">
                <a:solidFill>
                  <a:srgbClr val="404040"/>
                </a:solidFill>
                <a:cs typeface="Segoe UI" panose="020B0502040204020203" pitchFamily="34" charset="0"/>
              </a:rPr>
              <a:t>رمز الصف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Watermark">
  <a:themeElements>
    <a:clrScheme name="Waterm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CCFF"/>
      </a:accent1>
      <a:accent2>
        <a:srgbClr val="D9D8EC"/>
      </a:accent2>
      <a:accent3>
        <a:srgbClr val="FFFFFF"/>
      </a:accent3>
      <a:accent4>
        <a:srgbClr val="000000"/>
      </a:accent4>
      <a:accent5>
        <a:srgbClr val="E2E2FF"/>
      </a:accent5>
      <a:accent6>
        <a:srgbClr val="C4C4D6"/>
      </a:accent6>
      <a:hlink>
        <a:srgbClr val="6767FF"/>
      </a:hlink>
      <a:folHlink>
        <a:srgbClr val="9933FF"/>
      </a:folHlink>
    </a:clrScheme>
    <a:fontScheme name="Watermark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Waterm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CCFF"/>
        </a:accent1>
        <a:accent2>
          <a:srgbClr val="D9D8EC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C4C4D6"/>
        </a:accent6>
        <a:hlink>
          <a:srgbClr val="6767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2">
        <a:dk1>
          <a:srgbClr val="000000"/>
        </a:dk1>
        <a:lt1>
          <a:srgbClr val="FFFFFF"/>
        </a:lt1>
        <a:dk2>
          <a:srgbClr val="666633"/>
        </a:dk2>
        <a:lt2>
          <a:srgbClr val="5F5F5F"/>
        </a:lt2>
        <a:accent1>
          <a:srgbClr val="FFCC00"/>
        </a:accent1>
        <a:accent2>
          <a:srgbClr val="EFF0B2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D9D9A1"/>
        </a:accent6>
        <a:hlink>
          <a:srgbClr val="808000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3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9BB0CB"/>
        </a:accent1>
        <a:accent2>
          <a:srgbClr val="D1E0CE"/>
        </a:accent2>
        <a:accent3>
          <a:srgbClr val="FFFFFF"/>
        </a:accent3>
        <a:accent4>
          <a:srgbClr val="000000"/>
        </a:accent4>
        <a:accent5>
          <a:srgbClr val="CBD4E2"/>
        </a:accent5>
        <a:accent6>
          <a:srgbClr val="BDCBBA"/>
        </a:accent6>
        <a:hlink>
          <a:srgbClr val="8EA642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4">
        <a:dk1>
          <a:srgbClr val="333300"/>
        </a:dk1>
        <a:lt1>
          <a:srgbClr val="FFFFCC"/>
        </a:lt1>
        <a:dk2>
          <a:srgbClr val="336600"/>
        </a:dk2>
        <a:lt2>
          <a:srgbClr val="FFFFCC"/>
        </a:lt2>
        <a:accent1>
          <a:srgbClr val="99CC00"/>
        </a:accent1>
        <a:accent2>
          <a:srgbClr val="669900"/>
        </a:accent2>
        <a:accent3>
          <a:srgbClr val="ADB8AA"/>
        </a:accent3>
        <a:accent4>
          <a:srgbClr val="DADAAE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5">
        <a:dk1>
          <a:srgbClr val="424458"/>
        </a:dk1>
        <a:lt1>
          <a:srgbClr val="FFFFFF"/>
        </a:lt1>
        <a:dk2>
          <a:srgbClr val="004A48"/>
        </a:dk2>
        <a:lt2>
          <a:srgbClr val="FFFFFF"/>
        </a:lt2>
        <a:accent1>
          <a:srgbClr val="83B200"/>
        </a:accent1>
        <a:accent2>
          <a:srgbClr val="006260"/>
        </a:accent2>
        <a:accent3>
          <a:srgbClr val="AAB1B1"/>
        </a:accent3>
        <a:accent4>
          <a:srgbClr val="DADADA"/>
        </a:accent4>
        <a:accent5>
          <a:srgbClr val="C1D5AA"/>
        </a:accent5>
        <a:accent6>
          <a:srgbClr val="005856"/>
        </a:accent6>
        <a:hlink>
          <a:srgbClr val="6666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6">
        <a:dk1>
          <a:srgbClr val="000000"/>
        </a:dk1>
        <a:lt1>
          <a:srgbClr val="FFFFFF"/>
        </a:lt1>
        <a:dk2>
          <a:srgbClr val="1C2046"/>
        </a:dk2>
        <a:lt2>
          <a:srgbClr val="FFFFFF"/>
        </a:lt2>
        <a:accent1>
          <a:srgbClr val="00CCFF"/>
        </a:accent1>
        <a:accent2>
          <a:srgbClr val="2D226E"/>
        </a:accent2>
        <a:accent3>
          <a:srgbClr val="ABABB0"/>
        </a:accent3>
        <a:accent4>
          <a:srgbClr val="DADADA"/>
        </a:accent4>
        <a:accent5>
          <a:srgbClr val="AAE2FF"/>
        </a:accent5>
        <a:accent6>
          <a:srgbClr val="281E63"/>
        </a:accent6>
        <a:hlink>
          <a:srgbClr val="666699"/>
        </a:hlink>
        <a:folHlink>
          <a:srgbClr val="99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7">
        <a:dk1>
          <a:srgbClr val="424458"/>
        </a:dk1>
        <a:lt1>
          <a:srgbClr val="FFFFFF"/>
        </a:lt1>
        <a:dk2>
          <a:srgbClr val="000066"/>
        </a:dk2>
        <a:lt2>
          <a:srgbClr val="FFFFFF"/>
        </a:lt2>
        <a:accent1>
          <a:srgbClr val="6666FF"/>
        </a:accent1>
        <a:accent2>
          <a:srgbClr val="333399"/>
        </a:accent2>
        <a:accent3>
          <a:srgbClr val="AAAAB8"/>
        </a:accent3>
        <a:accent4>
          <a:srgbClr val="DADADA"/>
        </a:accent4>
        <a:accent5>
          <a:srgbClr val="B8B8FF"/>
        </a:accent5>
        <a:accent6>
          <a:srgbClr val="2D2D8A"/>
        </a:accent6>
        <a:hlink>
          <a:srgbClr val="FF99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8">
        <a:dk1>
          <a:srgbClr val="1C1C1C"/>
        </a:dk1>
        <a:lt1>
          <a:srgbClr val="FFFFCC"/>
        </a:lt1>
        <a:dk2>
          <a:srgbClr val="390B20"/>
        </a:dk2>
        <a:lt2>
          <a:srgbClr val="FFFFCC"/>
        </a:lt2>
        <a:accent1>
          <a:srgbClr val="FF916F"/>
        </a:accent1>
        <a:accent2>
          <a:srgbClr val="561450"/>
        </a:accent2>
        <a:accent3>
          <a:srgbClr val="AEAAAB"/>
        </a:accent3>
        <a:accent4>
          <a:srgbClr val="DADAAE"/>
        </a:accent4>
        <a:accent5>
          <a:srgbClr val="FFC7BB"/>
        </a:accent5>
        <a:accent6>
          <a:srgbClr val="4D1148"/>
        </a:accent6>
        <a:hlink>
          <a:srgbClr val="637D95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9">
        <a:dk1>
          <a:srgbClr val="4C0000"/>
        </a:dk1>
        <a:lt1>
          <a:srgbClr val="FFFFFF"/>
        </a:lt1>
        <a:dk2>
          <a:srgbClr val="722104"/>
        </a:dk2>
        <a:lt2>
          <a:srgbClr val="FFFFFF"/>
        </a:lt2>
        <a:accent1>
          <a:srgbClr val="CC6600"/>
        </a:accent1>
        <a:accent2>
          <a:srgbClr val="8A2E00"/>
        </a:accent2>
        <a:accent3>
          <a:srgbClr val="BCABAA"/>
        </a:accent3>
        <a:accent4>
          <a:srgbClr val="DADADA"/>
        </a:accent4>
        <a:accent5>
          <a:srgbClr val="E2B8AA"/>
        </a:accent5>
        <a:accent6>
          <a:srgbClr val="7D2900"/>
        </a:accent6>
        <a:hlink>
          <a:srgbClr val="FFCC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Get Started with 3D">
  <a:themeElements>
    <a:clrScheme name="أزرق دافئ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ring your presentations to life with 3DTF16411177.potx" id="{2F811B51-3652-4B66-97AB-C34107939F72}" vid="{5A6FB77C-9CC0-4BAB-9431-7888FC98FA25}"/>
    </a:ext>
  </a:extLst>
</a:theme>
</file>

<file path=ppt/theme/theme3.xml><?xml version="1.0" encoding="utf-8"?>
<a:theme xmlns:a="http://schemas.openxmlformats.org/drawingml/2006/main" name="1_Get Started with 3D">
  <a:themeElements>
    <a:clrScheme name="أزرق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ring your presentations to life with 3DTF16411177.potx" id="{2F811B51-3652-4B66-97AB-C34107939F72}" vid="{5A6FB77C-9CC0-4BAB-9431-7888FC98FA25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Watermark</Template>
  <TotalTime>2196</TotalTime>
  <Words>1487</Words>
  <Application>Microsoft Office PowerPoint</Application>
  <PresentationFormat>شاشة عريضة</PresentationFormat>
  <Paragraphs>255</Paragraphs>
  <Slides>30</Slides>
  <Notes>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14</vt:i4>
      </vt:variant>
      <vt:variant>
        <vt:lpstr>نسق</vt:lpstr>
      </vt:variant>
      <vt:variant>
        <vt:i4>3</vt:i4>
      </vt:variant>
      <vt:variant>
        <vt:lpstr>عناوين الشرائح</vt:lpstr>
      </vt:variant>
      <vt:variant>
        <vt:i4>30</vt:i4>
      </vt:variant>
    </vt:vector>
  </HeadingPairs>
  <TitlesOfParts>
    <vt:vector size="47" baseType="lpstr">
      <vt:lpstr>Bradley Hand ITC</vt:lpstr>
      <vt:lpstr>Arial</vt:lpstr>
      <vt:lpstr>Wingdings</vt:lpstr>
      <vt:lpstr>Segoe UI Light</vt:lpstr>
      <vt:lpstr>Segoe UI</vt:lpstr>
      <vt:lpstr>Times New Roman</vt:lpstr>
      <vt:lpstr>Segoe UI Semibold</vt:lpstr>
      <vt:lpstr>Segoe UI Variable Small Semibol</vt:lpstr>
      <vt:lpstr>Symbol</vt:lpstr>
      <vt:lpstr>Mongolian Baiti</vt:lpstr>
      <vt:lpstr>굴림</vt:lpstr>
      <vt:lpstr>Google Sans Display</vt:lpstr>
      <vt:lpstr>Verdana</vt:lpstr>
      <vt:lpstr>Calibri</vt:lpstr>
      <vt:lpstr>Watermark</vt:lpstr>
      <vt:lpstr>Get Started with 3D</vt:lpstr>
      <vt:lpstr>1_Get Started with 3D</vt:lpstr>
      <vt:lpstr>Growth and development of School Age 6-12 yrs.</vt:lpstr>
      <vt:lpstr>Learning Objectives: </vt:lpstr>
      <vt:lpstr>School Age (6 -12 years)</vt:lpstr>
      <vt:lpstr>Physical Growth</vt:lpstr>
      <vt:lpstr>عرض تقديمي في PowerPoint</vt:lpstr>
      <vt:lpstr>Physiological Growth:</vt:lpstr>
      <vt:lpstr>Cont Physiological Growth</vt:lpstr>
      <vt:lpstr>Motor Development:</vt:lpstr>
      <vt:lpstr>عرض تقديمي في PowerPoint</vt:lpstr>
      <vt:lpstr>عرض تقديمي في PowerPoint</vt:lpstr>
      <vt:lpstr>Language Development:</vt:lpstr>
      <vt:lpstr>Cognitive Development:</vt:lpstr>
      <vt:lpstr>Abilities of the school age child </vt:lpstr>
      <vt:lpstr>عرض تقديمي في PowerPoint</vt:lpstr>
      <vt:lpstr>Emotional Development:</vt:lpstr>
      <vt:lpstr>Social development </vt:lpstr>
      <vt:lpstr>Psychosocial and Psychosexual Development</vt:lpstr>
      <vt:lpstr>عرض تقديمي في PowerPoint</vt:lpstr>
      <vt:lpstr>Adaptive mechanisms:</vt:lpstr>
      <vt:lpstr>Parents and caregivers can assist school age children to develop psychosocially by: </vt:lpstr>
      <vt:lpstr>Moral Development: </vt:lpstr>
      <vt:lpstr>Spiritual Development:</vt:lpstr>
      <vt:lpstr>Health Assessment: </vt:lpstr>
      <vt:lpstr>Common Health Problems: </vt:lpstr>
      <vt:lpstr>Health protection</vt:lpstr>
      <vt:lpstr>Health promotion</vt:lpstr>
      <vt:lpstr>Nutritional Needs of the School-Age Child</vt:lpstr>
      <vt:lpstr>Selected health problems</vt:lpstr>
      <vt:lpstr>Nursing Care for the School-Age Child in a Health Care Facility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green lanter</cp:lastModifiedBy>
  <cp:revision>46</cp:revision>
  <dcterms:created xsi:type="dcterms:W3CDTF">2007-08-21T14:26:33Z</dcterms:created>
  <dcterms:modified xsi:type="dcterms:W3CDTF">2026-10-21T19:49:18Z</dcterms:modified>
</cp:coreProperties>
</file>