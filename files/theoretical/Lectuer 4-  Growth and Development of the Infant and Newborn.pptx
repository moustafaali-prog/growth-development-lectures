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jpg"/>
  <Override PartName="/ppt/media/image7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4.jpg" ContentType="image/jpg"/>
  <Override PartName="/ppt/media/image15.jpg" ContentType="image/jp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8" r:id="rId3"/>
  </p:sldMasterIdLst>
  <p:notesMasterIdLst>
    <p:notesMasterId r:id="rId42"/>
  </p:notesMasterIdLst>
  <p:handoutMasterIdLst>
    <p:handoutMasterId r:id="rId43"/>
  </p:handoutMasterIdLst>
  <p:sldIdLst>
    <p:sldId id="33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36" r:id="rId41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B26B15A9-1BED-1265-570C-80C753E86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18160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F4F691BB-DF8C-A510-4036-9AC03BCEF7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BDC4A30-1F1A-44B4-B53B-873EDC6668CA}" type="datetimeFigureOut">
              <a:rPr lang="ar-IQ" smtClean="0"/>
              <a:t>06/04/1445</a:t>
            </a:fld>
            <a:endParaRPr lang="ar-IQ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D1790674-1E18-4622-5BE2-5A5BE94D35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18160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2E5FE91-82E6-EC95-47C2-45BEC6C626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D60303F-32A9-4A74-A9FE-D8195EE11C2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913573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518160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9CD48F9-8FBF-422F-9312-E25A0EB31399}" type="datetimeFigureOut">
              <a:rPr lang="ar-IQ" smtClean="0"/>
              <a:t>06/04/1445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518160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9941FD8-1E0E-4EEE-B13D-6732E2E71DC4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783260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>
            <a:extLst>
              <a:ext uri="{FF2B5EF4-FFF2-40B4-BE49-F238E27FC236}">
                <a16:creationId xmlns:a16="http://schemas.microsoft.com/office/drawing/2014/main" id="{A973774F-7D33-165D-AC76-B1B5FDD46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173059" name="Notes Placeholder 2">
            <a:extLst>
              <a:ext uri="{FF2B5EF4-FFF2-40B4-BE49-F238E27FC236}">
                <a16:creationId xmlns:a16="http://schemas.microsoft.com/office/drawing/2014/main" id="{DE167C5B-1858-5ACF-15D6-4A98C6DD0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B41A-4DF5-2B8D-78D0-B97A7D2AF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2E486-EC48-426A-A2D9-99B37CBE1C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Image Placeholder 1">
            <a:extLst>
              <a:ext uri="{FF2B5EF4-FFF2-40B4-BE49-F238E27FC236}">
                <a16:creationId xmlns:a16="http://schemas.microsoft.com/office/drawing/2014/main" id="{91D2B997-3B4D-AF77-080D-31FAD0FC2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16067" name="Notes Placeholder 2">
            <a:extLst>
              <a:ext uri="{FF2B5EF4-FFF2-40B4-BE49-F238E27FC236}">
                <a16:creationId xmlns:a16="http://schemas.microsoft.com/office/drawing/2014/main" id="{53D4B4A4-488D-69D2-9A5B-C9B083FFB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2E49-F005-C36C-207D-F001BA8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0E922-9527-4EBC-AF00-C6EAA99F03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1319" y="818515"/>
            <a:ext cx="630936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0065B-5C90-439A-AFA8-E07AE70D1630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65F6C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D7644-FC61-4B87-8D54-0D9276BB8C88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65F6C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139D-FE45-423B-9034-536B03712B97}" type="datetime1">
              <a:rPr lang="en-US" smtClean="0"/>
              <a:t>10/20/2023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65F6C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EFEF4-5D52-4B85-9C3F-F382AC950250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1F69-CE9C-442E-888A-07529150EC50}" type="datetime1">
              <a:rPr lang="en-US" smtClean="0"/>
              <a:t>10/20/2023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1" y="262786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1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5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42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155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8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66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3" y="26278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1" y="262786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7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8083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1187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475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086" indent="0">
              <a:buNone/>
              <a:defRPr sz="2799"/>
            </a:lvl2pPr>
            <a:lvl3pPr marL="914171" indent="0">
              <a:buNone/>
              <a:defRPr sz="2399"/>
            </a:lvl3pPr>
            <a:lvl4pPr marL="1371257" indent="0">
              <a:buNone/>
              <a:defRPr sz="2000"/>
            </a:lvl4pPr>
            <a:lvl5pPr marL="1828343" indent="0">
              <a:buNone/>
              <a:defRPr sz="2000"/>
            </a:lvl5pPr>
            <a:lvl6pPr marL="2285429" indent="0">
              <a:buNone/>
              <a:defRPr sz="2000"/>
            </a:lvl6pPr>
            <a:lvl7pPr marL="2742515" indent="0">
              <a:buNone/>
              <a:defRPr sz="2000"/>
            </a:lvl7pPr>
            <a:lvl8pPr marL="3199600" indent="0">
              <a:buNone/>
              <a:defRPr sz="2000"/>
            </a:lvl8pPr>
            <a:lvl9pPr marL="3656686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95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B13E2-EE3C-4477-80C3-6725B9D9B504}" type="datetime1">
              <a:rPr lang="en-US" smtClean="0"/>
              <a:t>10/20/2023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3725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29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7637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6325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8755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543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9427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047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451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3" y="1508788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071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7BD0D-AF44-4EF4-B0BC-3F954D96C8A3}" type="datetime1">
              <a:rPr lang="en-US"/>
              <a:pPr>
                <a:defRPr/>
              </a:pPr>
              <a:t>10/20/2023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480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684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75434" y="5715001"/>
            <a:ext cx="732367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35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785600" y="0"/>
            <a:ext cx="4064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88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6617" y="315290"/>
            <a:ext cx="1075876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565F6C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4720" y="1816353"/>
            <a:ext cx="1044109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200BA-0D22-41B1-8316-37021CA9E221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9801" y="5888659"/>
            <a:ext cx="353060" cy="204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ar-IQ" spc="5"/>
              <a:t>1</a:t>
            </a:r>
            <a:fld id="{81D60167-4931-47E6-BA6A-407CBD079E47}" type="slidenum">
              <a:rPr spc="5" smtClean="0"/>
              <a:pPr marL="12700">
                <a:lnSpc>
                  <a:spcPts val="1650"/>
                </a:lnSpc>
              </a:pPr>
              <a:t>‹#›</a:t>
            </a:fld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D5CEF-358B-4E85-9B0F-6A302BE57845}" type="datetime1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5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81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med.uio.no/learning-content/pediatrics-barnesykdommer/videos/physical-examination-and-clinical-skills/Neurological%20examination/12%20months/12mo_12.mov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hyperlink" Target="http://www.med.uio.no/learning-content/pediatrics-barnesykdommer/videos/physical-examination-and-clinical-skills/Neurological%20examination/12%20months/12mo_15.gif" TargetMode="Externa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BE479017-3D59-1D28-8765-1BF53905E1AF}"/>
              </a:ext>
            </a:extLst>
          </p:cNvPr>
          <p:cNvSpPr/>
          <p:nvPr/>
        </p:nvSpPr>
        <p:spPr>
          <a:xfrm>
            <a:off x="228600" y="228600"/>
            <a:ext cx="11734800" cy="6324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rtl="0">
              <a:defRPr/>
            </a:pPr>
            <a:endParaRPr lang="en-US" sz="1350" kern="120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72035" name="Title 1">
            <a:extLst>
              <a:ext uri="{FF2B5EF4-FFF2-40B4-BE49-F238E27FC236}">
                <a16:creationId xmlns:a16="http://schemas.microsoft.com/office/drawing/2014/main" id="{12386A15-AA16-151B-874A-B2B4D174B2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anchor="ctr"/>
          <a:lstStyle/>
          <a:p>
            <a:pPr eaLnBrk="1" hangingPunct="1"/>
            <a:r>
              <a:rPr lang="en-US" altLang="ar-IQ" dirty="0"/>
              <a:t>Growth and Development of  The Infant and Toddler </a:t>
            </a:r>
            <a:endParaRPr lang="en-US" altLang="ar-IQ" sz="13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عنوان فرعي 1">
            <a:extLst>
              <a:ext uri="{FF2B5EF4-FFF2-40B4-BE49-F238E27FC236}">
                <a16:creationId xmlns:a16="http://schemas.microsoft.com/office/drawing/2014/main" id="{63FD5883-290D-31E6-99C0-1E70C4D6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Infancy Stage </a:t>
            </a:r>
            <a:endParaRPr lang="ar-IQ" dirty="0"/>
          </a:p>
        </p:txBody>
      </p:sp>
      <p:pic>
        <p:nvPicPr>
          <p:cNvPr id="172036" name="Grid" descr="grid plane">
            <a:extLst>
              <a:ext uri="{FF2B5EF4-FFF2-40B4-BE49-F238E27FC236}">
                <a16:creationId xmlns:a16="http://schemas.microsoft.com/office/drawing/2014/main" id="{C4A1D1CB-CCF9-401C-8DB0-FC5E33BE1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4"/>
          <a:stretch>
            <a:fillRect/>
          </a:stretch>
        </p:blipFill>
        <p:spPr bwMode="auto">
          <a:xfrm>
            <a:off x="1829993" y="5050632"/>
            <a:ext cx="8640365" cy="773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7" name="Subtitle 2">
            <a:extLst>
              <a:ext uri="{FF2B5EF4-FFF2-40B4-BE49-F238E27FC236}">
                <a16:creationId xmlns:a16="http://schemas.microsoft.com/office/drawing/2014/main" id="{EC70D72A-2A1A-7DDA-9ED0-A3537D29E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441" y="4149329"/>
            <a:ext cx="2014538" cy="92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143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171450" defTabSz="5143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171450" algn="l" defTabSz="51435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Third Stage</a:t>
            </a:r>
          </a:p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Variable Small Semibol" pitchFamily="2" charset="0"/>
                <a:ea typeface="+mn-ea"/>
                <a:cs typeface="Segoe UI Light" panose="020B0502040204020203" pitchFamily="34" charset="0"/>
              </a:rPr>
              <a:t>Dr. Moustafa Alshammari</a:t>
            </a:r>
          </a:p>
          <a:p>
            <a:pPr algn="l" defTabSz="385763" rtl="0">
              <a:lnSpc>
                <a:spcPct val="100000"/>
              </a:lnSpc>
              <a:spcBef>
                <a:spcPts val="422"/>
              </a:spcBef>
              <a:buNone/>
            </a:pPr>
            <a:r>
              <a:rPr lang="en-US" altLang="ar-IQ" sz="900" kern="1200" dirty="0">
                <a:solidFill>
                  <a:srgbClr val="FFFFFF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Growth and Developments 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618" y="152400"/>
            <a:ext cx="107587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en-US" sz="3400" b="0" i="1" spc="10" dirty="0"/>
              <a:t>A</a:t>
            </a:r>
            <a:r>
              <a:rPr lang="en-US" sz="2700" b="0" i="1" spc="10" dirty="0"/>
              <a:t>ssessment</a:t>
            </a:r>
            <a:r>
              <a:rPr lang="en-US" sz="2700" b="0" i="1" spc="175" dirty="0"/>
              <a:t> </a:t>
            </a:r>
            <a:r>
              <a:rPr lang="en-US" sz="2700" b="0" i="1" spc="15" dirty="0"/>
              <a:t>of</a:t>
            </a:r>
            <a:r>
              <a:rPr lang="en-US" sz="2700" b="0" i="1" spc="165" dirty="0"/>
              <a:t> </a:t>
            </a:r>
            <a:r>
              <a:rPr lang="en-US" sz="2700" b="0" i="1" spc="20" dirty="0"/>
              <a:t>Normal</a:t>
            </a:r>
            <a:r>
              <a:rPr lang="en-US" sz="2700" b="0" i="1" spc="140" dirty="0"/>
              <a:t> </a:t>
            </a:r>
            <a:r>
              <a:rPr lang="en-US" sz="2700" b="0" i="1" spc="15" dirty="0"/>
              <a:t>Growth</a:t>
            </a:r>
            <a:r>
              <a:rPr lang="en-US" sz="2700" b="0" i="1" spc="145" dirty="0"/>
              <a:t> </a:t>
            </a:r>
            <a:r>
              <a:rPr lang="en-US" sz="3400" b="0" i="1" spc="-5" dirty="0"/>
              <a:t>&amp; </a:t>
            </a:r>
            <a:r>
              <a:rPr lang="en-US" sz="3400" b="0" i="1" spc="-930" dirty="0"/>
              <a:t> </a:t>
            </a:r>
            <a:r>
              <a:rPr lang="en-US" sz="3400" b="0" i="1" spc="10" dirty="0"/>
              <a:t>D</a:t>
            </a:r>
            <a:r>
              <a:rPr lang="en-US" sz="2700" b="0" i="1" spc="10" dirty="0"/>
              <a:t>evelopment</a:t>
            </a:r>
            <a:r>
              <a:rPr lang="en-US" sz="2700" b="0" i="1" spc="150" dirty="0"/>
              <a:t> </a:t>
            </a:r>
            <a:r>
              <a:rPr lang="en-US" sz="2700" b="0" spc="15" dirty="0"/>
              <a:t>of</a:t>
            </a:r>
            <a:r>
              <a:rPr lang="en-US" sz="2700" b="0" spc="190" dirty="0"/>
              <a:t> </a:t>
            </a:r>
            <a:r>
              <a:rPr lang="en-US" sz="2700" b="0" spc="15" dirty="0"/>
              <a:t>The</a:t>
            </a:r>
            <a:r>
              <a:rPr lang="en-US" sz="2700" b="0" spc="180" dirty="0"/>
              <a:t> </a:t>
            </a:r>
            <a:r>
              <a:rPr lang="en-US" sz="3400" b="0" spc="10" dirty="0"/>
              <a:t>I</a:t>
            </a:r>
            <a:r>
              <a:rPr lang="en-US" sz="2700" b="0" spc="10" dirty="0"/>
              <a:t>nfant</a:t>
            </a:r>
            <a:endParaRPr lang="en-US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9873742" y="5888660"/>
            <a:ext cx="18923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6618" y="1905000"/>
            <a:ext cx="10637181" cy="287168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5115" marR="617855" indent="-273050">
              <a:lnSpc>
                <a:spcPts val="2590"/>
              </a:lnSpc>
              <a:spcBef>
                <a:spcPts val="4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A number of </a:t>
            </a:r>
            <a:r>
              <a:rPr sz="2400" spc="-5" dirty="0">
                <a:latin typeface="Century Schoolbook"/>
                <a:cs typeface="Century Schoolbook"/>
              </a:rPr>
              <a:t>methods have been proposed to 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assist the </a:t>
            </a:r>
            <a:r>
              <a:rPr sz="2400" dirty="0">
                <a:latin typeface="Century Schoolbook"/>
                <a:cs typeface="Century Schoolbook"/>
              </a:rPr>
              <a:t>nurse </a:t>
            </a:r>
            <a:r>
              <a:rPr sz="2400" spc="-5" dirty="0">
                <a:latin typeface="Century Schoolbook"/>
                <a:cs typeface="Century Schoolbook"/>
              </a:rPr>
              <a:t>to evaluate that growth 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progresses</a:t>
            </a:r>
            <a:r>
              <a:rPr sz="2400" spc="-4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a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regular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orderly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sequence.</a:t>
            </a:r>
          </a:p>
          <a:p>
            <a:pPr marL="285115" marR="5080" indent="-273050">
              <a:lnSpc>
                <a:spcPts val="2570"/>
              </a:lnSpc>
              <a:spcBef>
                <a:spcPts val="6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Tables, charts and grids are available to facilitate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nurse</a:t>
            </a:r>
            <a:r>
              <a:rPr sz="2400" spc="-5" dirty="0">
                <a:latin typeface="Arial"/>
                <a:cs typeface="Arial"/>
              </a:rPr>
              <a:t>’</a:t>
            </a:r>
            <a:r>
              <a:rPr sz="2400" spc="-5" dirty="0">
                <a:latin typeface="Century Schoolbook"/>
                <a:cs typeface="Century Schoolbook"/>
              </a:rPr>
              <a:t>s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evaluation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5" dirty="0">
                <a:latin typeface="Century Schoolbook"/>
                <a:cs typeface="Century Schoolbook"/>
              </a:rPr>
              <a:t>physical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growth.</a:t>
            </a:r>
            <a:endParaRPr sz="2400" dirty="0">
              <a:latin typeface="Century Schoolbook"/>
              <a:cs typeface="Century Schoolbook"/>
            </a:endParaRPr>
          </a:p>
          <a:p>
            <a:pPr marL="285115" marR="489584" indent="-273050">
              <a:lnSpc>
                <a:spcPct val="9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68935" algn="l"/>
                <a:tab pos="370205" algn="l"/>
              </a:tabLst>
            </a:pPr>
            <a:r>
              <a:rPr dirty="0"/>
              <a:t>	</a:t>
            </a:r>
            <a:r>
              <a:rPr sz="2400" spc="-5" dirty="0">
                <a:latin typeface="Century Schoolbook"/>
                <a:cs typeface="Century Schoolbook"/>
              </a:rPr>
              <a:t>In addition to the observation over </a:t>
            </a:r>
            <a:r>
              <a:rPr sz="2400" dirty="0">
                <a:latin typeface="Century Schoolbook"/>
                <a:cs typeface="Century Schoolbook"/>
              </a:rPr>
              <a:t>a </a:t>
            </a:r>
            <a:r>
              <a:rPr sz="2400" spc="-5" dirty="0">
                <a:latin typeface="Century Schoolbook"/>
                <a:cs typeface="Century Schoolbook"/>
              </a:rPr>
              <a:t>period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time, the periodic assessment </a:t>
            </a:r>
            <a:r>
              <a:rPr sz="2400" dirty="0">
                <a:latin typeface="Century Schoolbook"/>
                <a:cs typeface="Century Schoolbook"/>
              </a:rPr>
              <a:t>of infants </a:t>
            </a:r>
            <a:r>
              <a:rPr sz="2400" spc="-5" dirty="0">
                <a:latin typeface="Century Schoolbook"/>
                <a:cs typeface="Century Schoolbook"/>
              </a:rPr>
              <a:t>and </a:t>
            </a:r>
            <a:r>
              <a:rPr sz="2400" dirty="0">
                <a:latin typeface="Century Schoolbook"/>
                <a:cs typeface="Century Schoolbook"/>
              </a:rPr>
              <a:t> children </a:t>
            </a:r>
            <a:r>
              <a:rPr sz="2400" spc="-5" dirty="0">
                <a:latin typeface="Century Schoolbook"/>
                <a:cs typeface="Century Schoolbook"/>
              </a:rPr>
              <a:t>permits the </a:t>
            </a:r>
            <a:r>
              <a:rPr sz="2400" dirty="0">
                <a:latin typeface="Century Schoolbook"/>
                <a:cs typeface="Century Schoolbook"/>
              </a:rPr>
              <a:t>early </a:t>
            </a:r>
            <a:r>
              <a:rPr sz="2400" spc="-5" dirty="0">
                <a:latin typeface="Century Schoolbook"/>
                <a:cs typeface="Century Schoolbook"/>
              </a:rPr>
              <a:t>detection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5" dirty="0">
                <a:latin typeface="Century Schoolbook"/>
                <a:cs typeface="Century Schoolbook"/>
              </a:rPr>
              <a:t>growth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deficiencies and pathologic processes, both 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organic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psychological.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5299"/>
            <a:ext cx="11201400" cy="3949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lang="en-US" sz="2500" spc="-10" dirty="0"/>
              <a:t>[1]. </a:t>
            </a:r>
            <a:r>
              <a:rPr lang="en-US" sz="2500" spc="-5" dirty="0"/>
              <a:t>Growth</a:t>
            </a:r>
            <a:r>
              <a:rPr lang="en-US" sz="2500" dirty="0"/>
              <a:t> </a:t>
            </a:r>
            <a:r>
              <a:rPr lang="en-US" sz="2500" spc="-5" dirty="0"/>
              <a:t>During</a:t>
            </a:r>
            <a:r>
              <a:rPr lang="en-US" sz="2500" spc="10" dirty="0"/>
              <a:t> </a:t>
            </a:r>
            <a:r>
              <a:rPr lang="en-US" sz="2500" spc="-10" dirty="0"/>
              <a:t>The </a:t>
            </a:r>
            <a:r>
              <a:rPr lang="en-US" sz="2500" spc="-705" dirty="0"/>
              <a:t> </a:t>
            </a:r>
            <a:r>
              <a:rPr lang="en-US" sz="2500" spc="-5" dirty="0"/>
              <a:t>Intrauterine</a:t>
            </a:r>
            <a:r>
              <a:rPr lang="en-US" sz="2500" spc="20" dirty="0"/>
              <a:t> </a:t>
            </a:r>
            <a:r>
              <a:rPr lang="en-US" sz="2500" spc="-5" dirty="0"/>
              <a:t>Period</a:t>
            </a:r>
            <a:endParaRPr lang="en-US" sz="2500" dirty="0"/>
          </a:p>
        </p:txBody>
      </p:sp>
      <p:sp>
        <p:nvSpPr>
          <p:cNvPr id="5" name="object 5"/>
          <p:cNvSpPr txBox="1"/>
          <p:nvPr/>
        </p:nvSpPr>
        <p:spPr>
          <a:xfrm>
            <a:off x="9873742" y="5888660"/>
            <a:ext cx="18923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752600"/>
            <a:ext cx="11201400" cy="3182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515" marR="1226185" indent="95885">
              <a:spcBef>
                <a:spcPts val="95"/>
              </a:spcBef>
            </a:pPr>
            <a:r>
              <a:rPr sz="2800" spc="-10" dirty="0">
                <a:latin typeface="Century Schoolbook"/>
                <a:cs typeface="Century Schoolbook"/>
              </a:rPr>
              <a:t>The</a:t>
            </a:r>
            <a:r>
              <a:rPr sz="2800" spc="-5" dirty="0">
                <a:latin typeface="Century Schoolbook"/>
                <a:cs typeface="Century Schoolbook"/>
              </a:rPr>
              <a:t> </a:t>
            </a:r>
            <a:r>
              <a:rPr sz="2800" dirty="0">
                <a:latin typeface="Century Schoolbook"/>
                <a:cs typeface="Century Schoolbook"/>
              </a:rPr>
              <a:t>period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</a:t>
            </a:r>
            <a:r>
              <a:rPr sz="2800" spc="-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intrauterine</a:t>
            </a:r>
            <a:r>
              <a:rPr sz="2800" spc="3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life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may </a:t>
            </a:r>
            <a:r>
              <a:rPr sz="2800" spc="-10" dirty="0">
                <a:latin typeface="Century Schoolbook"/>
                <a:cs typeface="Century Schoolbook"/>
              </a:rPr>
              <a:t>be </a:t>
            </a:r>
            <a:r>
              <a:rPr sz="2800" spc="-76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divided</a:t>
            </a:r>
            <a:r>
              <a:rPr sz="2800" spc="2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into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two</a:t>
            </a:r>
            <a:r>
              <a:rPr sz="2800" spc="-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principle</a:t>
            </a:r>
            <a:r>
              <a:rPr sz="2800" spc="4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phases:</a:t>
            </a:r>
            <a:endParaRPr sz="2800" dirty="0">
              <a:latin typeface="Century Schoolbook"/>
              <a:cs typeface="Century Schoolbook"/>
            </a:endParaRPr>
          </a:p>
          <a:p>
            <a:pPr marL="310515" marR="30480" indent="-273050">
              <a:lnSpc>
                <a:spcPct val="100099"/>
              </a:lnSpc>
              <a:spcBef>
                <a:spcPts val="58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311150" algn="l"/>
              </a:tabLst>
            </a:pPr>
            <a:r>
              <a:rPr sz="2800" b="1" spc="-10" dirty="0">
                <a:latin typeface="Century Schoolbook"/>
                <a:cs typeface="Century Schoolbook"/>
              </a:rPr>
              <a:t>The</a:t>
            </a:r>
            <a:r>
              <a:rPr sz="2800" b="1" spc="40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embryonic</a:t>
            </a:r>
            <a:r>
              <a:rPr sz="2800" b="1" spc="85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period</a:t>
            </a:r>
            <a:r>
              <a:rPr sz="2800" spc="-5" dirty="0">
                <a:latin typeface="Century Schoolbook"/>
                <a:cs typeface="Century Schoolbook"/>
              </a:rPr>
              <a:t>:</a:t>
            </a:r>
            <a:r>
              <a:rPr sz="2800" spc="6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this</a:t>
            </a:r>
            <a:r>
              <a:rPr sz="2800" spc="5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is</a:t>
            </a:r>
            <a:r>
              <a:rPr sz="2800" spc="5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considered 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to</a:t>
            </a:r>
            <a:r>
              <a:rPr sz="2800" spc="-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be</a:t>
            </a:r>
            <a:r>
              <a:rPr sz="2800" spc="-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the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first</a:t>
            </a:r>
            <a:r>
              <a:rPr sz="2800" b="1" spc="-15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8</a:t>
            </a:r>
            <a:r>
              <a:rPr sz="2800" b="1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weeks</a:t>
            </a:r>
            <a:r>
              <a:rPr sz="2800" b="1" spc="-2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during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which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the </a:t>
            </a:r>
            <a:r>
              <a:rPr sz="2800" spc="-5" dirty="0">
                <a:latin typeface="Century Schoolbook"/>
                <a:cs typeface="Century Schoolbook"/>
              </a:rPr>
              <a:t> ovum is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fertilized</a:t>
            </a:r>
            <a:r>
              <a:rPr sz="2800" spc="4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and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beginning</a:t>
            </a:r>
            <a:r>
              <a:rPr sz="2800" spc="3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the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period </a:t>
            </a:r>
            <a:r>
              <a:rPr sz="2800" spc="-76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</a:t>
            </a:r>
            <a:r>
              <a:rPr sz="2800" spc="-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organogenesis.</a:t>
            </a:r>
            <a:endParaRPr sz="2800" dirty="0">
              <a:latin typeface="Century Schoolbook"/>
              <a:cs typeface="Century Schoolbook"/>
            </a:endParaRPr>
          </a:p>
          <a:p>
            <a:pPr marL="310515" marR="160020" indent="-273050" algn="just">
              <a:lnSpc>
                <a:spcPct val="100200"/>
              </a:lnSpc>
              <a:spcBef>
                <a:spcPts val="58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311150" algn="l"/>
              </a:tabLst>
            </a:pPr>
            <a:r>
              <a:rPr sz="2800" b="1" spc="-5" dirty="0">
                <a:latin typeface="Century Schoolbook"/>
                <a:cs typeface="Century Schoolbook"/>
              </a:rPr>
              <a:t>The fetal period: </a:t>
            </a:r>
            <a:r>
              <a:rPr sz="2800" b="1" dirty="0">
                <a:latin typeface="Century Schoolbook"/>
                <a:cs typeface="Century Schoolbook"/>
              </a:rPr>
              <a:t>8</a:t>
            </a:r>
            <a:r>
              <a:rPr sz="2775" b="1" baseline="25525" dirty="0">
                <a:latin typeface="Century Schoolbook"/>
                <a:cs typeface="Century Schoolbook"/>
              </a:rPr>
              <a:t>th </a:t>
            </a:r>
            <a:r>
              <a:rPr sz="2800" b="1" spc="-5" dirty="0">
                <a:latin typeface="Century Schoolbook"/>
                <a:cs typeface="Century Schoolbook"/>
              </a:rPr>
              <a:t>to </a:t>
            </a:r>
            <a:r>
              <a:rPr sz="2800" b="1" dirty="0">
                <a:latin typeface="Century Schoolbook"/>
                <a:cs typeface="Century Schoolbook"/>
              </a:rPr>
              <a:t>40</a:t>
            </a:r>
            <a:r>
              <a:rPr sz="2775" b="1" baseline="25525" dirty="0">
                <a:latin typeface="Century Schoolbook"/>
                <a:cs typeface="Century Schoolbook"/>
              </a:rPr>
              <a:t>th </a:t>
            </a:r>
            <a:r>
              <a:rPr sz="2800" b="1" spc="-5" dirty="0">
                <a:latin typeface="Century Schoolbook"/>
                <a:cs typeface="Century Schoolbook"/>
              </a:rPr>
              <a:t>or </a:t>
            </a:r>
            <a:r>
              <a:rPr sz="2800" b="1" spc="5" dirty="0">
                <a:latin typeface="Century Schoolbook"/>
                <a:cs typeface="Century Schoolbook"/>
              </a:rPr>
              <a:t>42</a:t>
            </a:r>
            <a:r>
              <a:rPr sz="2775" b="1" spc="7" baseline="25525" dirty="0">
                <a:latin typeface="Century Schoolbook"/>
                <a:cs typeface="Century Schoolbook"/>
              </a:rPr>
              <a:t>nd </a:t>
            </a:r>
            <a:r>
              <a:rPr sz="2800" b="1" spc="-10" dirty="0">
                <a:latin typeface="Century Schoolbook"/>
                <a:cs typeface="Century Schoolbook"/>
              </a:rPr>
              <a:t>week </a:t>
            </a:r>
            <a:r>
              <a:rPr sz="2800" b="1" spc="-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 gestation is </a:t>
            </a:r>
            <a:r>
              <a:rPr sz="2800" spc="-10" dirty="0">
                <a:latin typeface="Century Schoolbook"/>
                <a:cs typeface="Century Schoolbook"/>
              </a:rPr>
              <a:t>distinguished </a:t>
            </a:r>
            <a:r>
              <a:rPr sz="2800" spc="-5" dirty="0">
                <a:latin typeface="Century Schoolbook"/>
                <a:cs typeface="Century Schoolbook"/>
              </a:rPr>
              <a:t>by rapid </a:t>
            </a:r>
            <a:r>
              <a:rPr sz="2800" spc="-10" dirty="0">
                <a:latin typeface="Century Schoolbook"/>
                <a:cs typeface="Century Schoolbook"/>
              </a:rPr>
              <a:t>growth </a:t>
            </a:r>
            <a:r>
              <a:rPr sz="2800" spc="-76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and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elaboration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function.</a:t>
            </a:r>
            <a:endParaRPr sz="28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499694"/>
            <a:ext cx="10972798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800" u="sng" spc="-5" dirty="0">
                <a:uFill>
                  <a:solidFill>
                    <a:srgbClr val="565F6C"/>
                  </a:solidFill>
                </a:uFill>
              </a:rPr>
              <a:t>[2].</a:t>
            </a:r>
            <a:r>
              <a:rPr lang="en-US" sz="2800" u="sng" spc="-2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800" u="sng" spc="-10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250" u="sng" spc="-10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lang="en-US" sz="2250" u="sng" spc="13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250" u="sng" spc="-5" dirty="0">
                <a:uFill>
                  <a:solidFill>
                    <a:srgbClr val="565F6C"/>
                  </a:solidFill>
                </a:uFill>
              </a:rPr>
              <a:t>During</a:t>
            </a:r>
            <a:r>
              <a:rPr lang="en-US" sz="2250" u="sng" spc="10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250" u="sng" spc="-10" dirty="0">
                <a:uFill>
                  <a:solidFill>
                    <a:srgbClr val="565F6C"/>
                  </a:solidFill>
                </a:uFill>
              </a:rPr>
              <a:t>The</a:t>
            </a:r>
            <a:r>
              <a:rPr lang="en-US" sz="2250" u="sng" spc="114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250" u="sng" spc="-5" dirty="0">
                <a:uFill>
                  <a:solidFill>
                    <a:srgbClr val="565F6C"/>
                  </a:solidFill>
                </a:uFill>
              </a:rPr>
              <a:t>Postnatal</a:t>
            </a:r>
            <a:br>
              <a:rPr lang="en-US" sz="2250" dirty="0"/>
            </a:br>
            <a:r>
              <a:rPr lang="en-US" sz="2250" u="heavy" spc="-5" dirty="0">
                <a:uFill>
                  <a:solidFill>
                    <a:srgbClr val="565F6C"/>
                  </a:solidFill>
                </a:uFill>
              </a:rPr>
              <a:t>Period</a:t>
            </a:r>
            <a:r>
              <a:rPr lang="en-US" sz="2800" u="heavy" spc="-5" dirty="0">
                <a:uFill>
                  <a:solidFill>
                    <a:srgbClr val="565F6C"/>
                  </a:solidFill>
                </a:uFill>
              </a:rPr>
              <a:t>.</a:t>
            </a:r>
            <a:r>
              <a:rPr lang="en-US" sz="2800" u="heavy" spc="-5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800" u="heavy" spc="-10" dirty="0">
                <a:uFill>
                  <a:solidFill>
                    <a:srgbClr val="565F6C"/>
                  </a:solidFill>
                </a:uFill>
              </a:rPr>
              <a:t>(N</a:t>
            </a:r>
            <a:r>
              <a:rPr lang="en-US" sz="2250" u="heavy" spc="-10" dirty="0">
                <a:uFill>
                  <a:solidFill>
                    <a:srgbClr val="565F6C"/>
                  </a:solidFill>
                </a:uFill>
              </a:rPr>
              <a:t>ewborn</a:t>
            </a:r>
            <a:r>
              <a:rPr lang="en-US" sz="2250" u="heavy" spc="13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800" u="heavy" spc="-5" dirty="0">
                <a:uFill>
                  <a:solidFill>
                    <a:srgbClr val="565F6C"/>
                  </a:solidFill>
                </a:uFill>
              </a:rPr>
              <a:t>A</a:t>
            </a:r>
            <a:r>
              <a:rPr lang="en-US" sz="2250" u="heavy" spc="-5" dirty="0">
                <a:uFill>
                  <a:solidFill>
                    <a:srgbClr val="565F6C"/>
                  </a:solidFill>
                </a:uFill>
              </a:rPr>
              <a:t>ssessment</a:t>
            </a:r>
            <a:r>
              <a:rPr lang="en-US" sz="2800" u="heavy" spc="-5" dirty="0">
                <a:uFill>
                  <a:solidFill>
                    <a:srgbClr val="565F6C"/>
                  </a:solidFill>
                </a:uFill>
              </a:rPr>
              <a:t>)</a:t>
            </a:r>
            <a:endParaRPr lang="en-US"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9873742" y="5888660"/>
            <a:ext cx="18923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1" y="1552320"/>
            <a:ext cx="10405108" cy="4002378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spcBef>
                <a:spcPts val="450"/>
              </a:spcBef>
            </a:pPr>
            <a:r>
              <a:rPr sz="21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1.</a:t>
            </a:r>
            <a:r>
              <a:rPr sz="2100" b="1" u="sng" spc="-2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Growth</a:t>
            </a:r>
            <a:r>
              <a:rPr sz="2100" b="1" u="sng" spc="-3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of</a:t>
            </a:r>
            <a:r>
              <a:rPr sz="2100" b="1" u="sng" spc="-2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1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head:</a:t>
            </a:r>
            <a:endParaRPr sz="210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ts val="2270"/>
              </a:lnSpc>
              <a:spcBef>
                <a:spcPts val="635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285750" algn="l"/>
              </a:tabLst>
            </a:pPr>
            <a:r>
              <a:rPr sz="2100" dirty="0">
                <a:latin typeface="Century Schoolbook"/>
                <a:cs typeface="Century Schoolbook"/>
              </a:rPr>
              <a:t>The</a:t>
            </a:r>
            <a:r>
              <a:rPr sz="2100" spc="-5" dirty="0">
                <a:latin typeface="Century Schoolbook"/>
                <a:cs typeface="Century Schoolbook"/>
              </a:rPr>
              <a:t> posterior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fontanel</a:t>
            </a:r>
            <a:r>
              <a:rPr sz="2100" spc="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closes </a:t>
            </a: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1-2 </a:t>
            </a:r>
            <a:r>
              <a:rPr sz="2100" dirty="0">
                <a:latin typeface="Century Schoolbook"/>
                <a:cs typeface="Century Schoolbook"/>
              </a:rPr>
              <a:t>months,</a:t>
            </a:r>
            <a:r>
              <a:rPr sz="2100" spc="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Triangular </a:t>
            </a:r>
            <a:r>
              <a:rPr sz="2100" spc="-57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shape</a:t>
            </a:r>
            <a:endParaRPr sz="21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1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285750" algn="l"/>
              </a:tabLst>
            </a:pPr>
            <a:r>
              <a:rPr sz="2100" dirty="0">
                <a:latin typeface="Century Schoolbook"/>
                <a:cs typeface="Century Schoolbook"/>
              </a:rPr>
              <a:t>The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anterior </a:t>
            </a:r>
            <a:r>
              <a:rPr sz="2100" dirty="0">
                <a:latin typeface="Century Schoolbook"/>
                <a:cs typeface="Century Schoolbook"/>
              </a:rPr>
              <a:t>fontanel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closes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12-18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months.</a:t>
            </a:r>
          </a:p>
          <a:p>
            <a:pPr marL="360045" indent="-347980">
              <a:spcBef>
                <a:spcPts val="35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birth:</a:t>
            </a:r>
            <a:r>
              <a:rPr sz="2100" spc="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3.5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-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4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cm.</a:t>
            </a:r>
            <a:r>
              <a:rPr sz="2100" spc="-5" dirty="0">
                <a:latin typeface="Century Schoolbook"/>
                <a:cs typeface="Century Schoolbook"/>
              </a:rPr>
              <a:t> Diamond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shape.</a:t>
            </a:r>
            <a:endParaRPr sz="2100" dirty="0">
              <a:latin typeface="Century Schoolbook"/>
              <a:cs typeface="Century Schoolbook"/>
            </a:endParaRPr>
          </a:p>
          <a:p>
            <a:pPr marL="360045" indent="-347980">
              <a:spcBef>
                <a:spcPts val="35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birth,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head</a:t>
            </a:r>
            <a:r>
              <a:rPr sz="2100" spc="-2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circumference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is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33-35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  <a:p>
            <a:pPr marL="360045" indent="-347980">
              <a:spcBef>
                <a:spcPts val="35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the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end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of</a:t>
            </a:r>
            <a:r>
              <a:rPr sz="2100" spc="-5" dirty="0">
                <a:latin typeface="Century Schoolbook"/>
                <a:cs typeface="Century Schoolbook"/>
              </a:rPr>
              <a:t> the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first</a:t>
            </a:r>
            <a:r>
              <a:rPr sz="2100" spc="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year,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it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is</a:t>
            </a:r>
            <a:r>
              <a:rPr sz="2100" spc="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45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  <a:p>
            <a:pPr marL="360045" indent="-347980">
              <a:spcBef>
                <a:spcPts val="345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the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second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year,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it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is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48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  <a:p>
            <a:pPr marL="360045" indent="-347980">
              <a:spcBef>
                <a:spcPts val="35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the third year, </a:t>
            </a:r>
            <a:r>
              <a:rPr sz="2100" dirty="0">
                <a:latin typeface="Century Schoolbook"/>
                <a:cs typeface="Century Schoolbook"/>
              </a:rPr>
              <a:t>it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is</a:t>
            </a:r>
            <a:r>
              <a:rPr sz="2100" spc="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49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  <a:p>
            <a:pPr marL="285115" marR="143510" indent="-273050">
              <a:lnSpc>
                <a:spcPts val="2270"/>
              </a:lnSpc>
              <a:spcBef>
                <a:spcPts val="635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360045" algn="l"/>
                <a:tab pos="360680" algn="l"/>
              </a:tabLst>
            </a:pPr>
            <a:r>
              <a:rPr dirty="0"/>
              <a:t>	</a:t>
            </a:r>
            <a:r>
              <a:rPr sz="2100" spc="-5" dirty="0">
                <a:latin typeface="Century Schoolbook"/>
                <a:cs typeface="Century Schoolbook"/>
              </a:rPr>
              <a:t>At the fifth year, </a:t>
            </a:r>
            <a:r>
              <a:rPr sz="2100" dirty="0">
                <a:latin typeface="Century Schoolbook"/>
                <a:cs typeface="Century Schoolbook"/>
              </a:rPr>
              <a:t>it is </a:t>
            </a:r>
            <a:r>
              <a:rPr sz="2100" spc="-5" dirty="0">
                <a:latin typeface="Century Schoolbook"/>
                <a:cs typeface="Century Schoolbook"/>
              </a:rPr>
              <a:t>50 </a:t>
            </a:r>
            <a:r>
              <a:rPr sz="2100" dirty="0">
                <a:latin typeface="Century Schoolbook"/>
                <a:cs typeface="Century Schoolbook"/>
              </a:rPr>
              <a:t>cm. </a:t>
            </a:r>
            <a:r>
              <a:rPr sz="2100" spc="-5" dirty="0">
                <a:latin typeface="Century Schoolbook"/>
                <a:cs typeface="Century Schoolbook"/>
              </a:rPr>
              <a:t>At the </a:t>
            </a:r>
            <a:r>
              <a:rPr sz="2100" dirty="0">
                <a:latin typeface="Century Schoolbook"/>
                <a:cs typeface="Century Schoolbook"/>
              </a:rPr>
              <a:t>seventh </a:t>
            </a:r>
            <a:r>
              <a:rPr sz="2100" spc="-5" dirty="0">
                <a:latin typeface="Century Schoolbook"/>
                <a:cs typeface="Century Schoolbook"/>
              </a:rPr>
              <a:t>year, </a:t>
            </a:r>
            <a:r>
              <a:rPr sz="2100" dirty="0">
                <a:latin typeface="Century Schoolbook"/>
                <a:cs typeface="Century Schoolbook"/>
              </a:rPr>
              <a:t>it is </a:t>
            </a:r>
            <a:r>
              <a:rPr sz="2100" spc="-57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52 </a:t>
            </a:r>
            <a:r>
              <a:rPr sz="2100" dirty="0">
                <a:latin typeface="Century Schoolbook"/>
                <a:cs typeface="Century Schoolbook"/>
              </a:rPr>
              <a:t>cm. </a:t>
            </a:r>
            <a:r>
              <a:rPr sz="2100" spc="-5" dirty="0">
                <a:latin typeface="Century Schoolbook"/>
                <a:cs typeface="Century Schoolbook"/>
              </a:rPr>
              <a:t>At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twelve</a:t>
            </a:r>
            <a:r>
              <a:rPr sz="210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years, </a:t>
            </a:r>
            <a:r>
              <a:rPr sz="2100" dirty="0">
                <a:latin typeface="Century Schoolbook"/>
                <a:cs typeface="Century Schoolbook"/>
              </a:rPr>
              <a:t>it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measures</a:t>
            </a:r>
            <a:r>
              <a:rPr sz="2100" spc="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53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  <a:p>
            <a:pPr marL="285115" indent="-273050">
              <a:spcBef>
                <a:spcPts val="310"/>
              </a:spcBef>
              <a:buClr>
                <a:srgbClr val="FD8537"/>
              </a:buClr>
              <a:buSzPct val="69047"/>
              <a:buFont typeface="Wingdings"/>
              <a:buChar char=""/>
              <a:tabLst>
                <a:tab pos="28575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And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the</a:t>
            </a:r>
            <a:r>
              <a:rPr sz="210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adult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head</a:t>
            </a:r>
            <a:r>
              <a:rPr sz="2100" spc="-2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circumference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is</a:t>
            </a:r>
            <a:r>
              <a:rPr sz="2100" spc="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55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3" y="896239"/>
            <a:ext cx="6070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b="0" dirty="0"/>
              <a:t>Head</a:t>
            </a:r>
            <a:r>
              <a:rPr sz="3000" b="0" spc="-45" dirty="0"/>
              <a:t> </a:t>
            </a:r>
            <a:r>
              <a:rPr sz="3000" b="0" dirty="0"/>
              <a:t>circumference</a:t>
            </a:r>
            <a:r>
              <a:rPr sz="3000" b="0" spc="-5" dirty="0"/>
              <a:t> measurement</a:t>
            </a:r>
            <a:endParaRPr sz="3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4536" y="1600200"/>
            <a:ext cx="7134225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0618" y="315290"/>
            <a:ext cx="10758763" cy="599138"/>
          </a:xfrm>
          <a:prstGeom prst="rect">
            <a:avLst/>
          </a:prstGeom>
        </p:spPr>
        <p:txBody>
          <a:bodyPr vert="horz" wrap="square" lIns="0" tIns="136144" rIns="0" bIns="0" rtlCol="0">
            <a:spAutoFit/>
          </a:bodyPr>
          <a:lstStyle/>
          <a:p>
            <a:pPr marL="2840990" marR="5080" indent="-2205990">
              <a:spcBef>
                <a:spcPts val="100"/>
              </a:spcBef>
            </a:pPr>
            <a:r>
              <a:rPr sz="3000" b="0" dirty="0"/>
              <a:t>Main</a:t>
            </a:r>
            <a:r>
              <a:rPr sz="3000" b="0" spc="-15" dirty="0"/>
              <a:t> </a:t>
            </a:r>
            <a:r>
              <a:rPr sz="3000" b="0" dirty="0"/>
              <a:t>fontanels</a:t>
            </a:r>
            <a:r>
              <a:rPr sz="3000" b="0" spc="-10" dirty="0"/>
              <a:t> </a:t>
            </a:r>
            <a:r>
              <a:rPr sz="3000" b="0" dirty="0"/>
              <a:t>on </a:t>
            </a:r>
            <a:r>
              <a:rPr sz="3000" b="0" spc="-5" dirty="0"/>
              <a:t>the</a:t>
            </a:r>
            <a:r>
              <a:rPr sz="3000" b="0" spc="-20" dirty="0"/>
              <a:t> </a:t>
            </a:r>
            <a:r>
              <a:rPr sz="3000" b="0" dirty="0"/>
              <a:t>head</a:t>
            </a:r>
            <a:r>
              <a:rPr sz="3000" b="0" spc="-10" dirty="0"/>
              <a:t> </a:t>
            </a:r>
            <a:r>
              <a:rPr sz="3000" b="0" dirty="0"/>
              <a:t>of</a:t>
            </a:r>
            <a:r>
              <a:rPr sz="3000" b="0" spc="-5" dirty="0"/>
              <a:t> the </a:t>
            </a:r>
            <a:r>
              <a:rPr sz="3000" b="0" spc="-815" dirty="0"/>
              <a:t> </a:t>
            </a:r>
            <a:r>
              <a:rPr sz="3000" b="0" dirty="0"/>
              <a:t>newborn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371600"/>
            <a:ext cx="6553200" cy="4267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828802"/>
            <a:ext cx="855451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400" u="sng" spc="1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lang="en-US" sz="2700" u="sng" spc="15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of</a:t>
            </a:r>
            <a:r>
              <a:rPr lang="en-US" sz="2700" u="sng" spc="17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Chest</a:t>
            </a:r>
            <a:r>
              <a:rPr lang="en-US" sz="2700" u="sng" spc="16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and</a:t>
            </a:r>
            <a:r>
              <a:rPr lang="en-US" sz="2700" u="sng" spc="16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Abdomen</a:t>
            </a:r>
            <a:r>
              <a:rPr lang="en-US" sz="3400" u="sng" spc="15" dirty="0">
                <a:uFill>
                  <a:solidFill>
                    <a:srgbClr val="565F6C"/>
                  </a:solidFill>
                </a:uFill>
              </a:rPr>
              <a:t>:</a:t>
            </a:r>
            <a:endParaRPr lang="en-US" sz="3400" dirty="0"/>
          </a:p>
        </p:txBody>
      </p:sp>
      <p:sp>
        <p:nvSpPr>
          <p:cNvPr id="3" name="object 3"/>
          <p:cNvSpPr/>
          <p:nvPr/>
        </p:nvSpPr>
        <p:spPr>
          <a:xfrm>
            <a:off x="2442782" y="1822704"/>
            <a:ext cx="85725" cy="15240"/>
          </a:xfrm>
          <a:custGeom>
            <a:avLst/>
            <a:gdLst/>
            <a:ahLst/>
            <a:cxnLst/>
            <a:rect l="l" t="t" r="r" b="b"/>
            <a:pathLst>
              <a:path w="85725" h="15239">
                <a:moveTo>
                  <a:pt x="85343" y="0"/>
                </a:moveTo>
                <a:lnTo>
                  <a:pt x="0" y="0"/>
                </a:lnTo>
                <a:lnTo>
                  <a:pt x="0" y="15239"/>
                </a:lnTo>
                <a:lnTo>
                  <a:pt x="85343" y="15239"/>
                </a:lnTo>
                <a:lnTo>
                  <a:pt x="85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2000" y="1523999"/>
            <a:ext cx="10668000" cy="382925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85115" marR="166370" indent="-273050">
              <a:lnSpc>
                <a:spcPts val="2600"/>
              </a:lnSpc>
              <a:spcBef>
                <a:spcPts val="420"/>
              </a:spcBef>
            </a:pPr>
            <a:r>
              <a:rPr sz="2400" b="1" dirty="0">
                <a:latin typeface="Century Schoolbook"/>
                <a:cs typeface="Century Schoolbook"/>
              </a:rPr>
              <a:t>2.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The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chest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abdomen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circumferences</a:t>
            </a:r>
            <a:r>
              <a:rPr sz="2400" spc="-6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are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equal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first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one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two years</a:t>
            </a:r>
            <a:r>
              <a:rPr sz="2400" dirty="0">
                <a:latin typeface="Century Schoolbook"/>
                <a:cs typeface="Century Schoolbook"/>
              </a:rPr>
              <a:t> of</a:t>
            </a:r>
            <a:r>
              <a:rPr sz="2400" spc="-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life.</a:t>
            </a:r>
          </a:p>
          <a:p>
            <a:pPr marL="285115" marR="397510" indent="-273050">
              <a:lnSpc>
                <a:spcPts val="258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The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abdomen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tends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be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prominent</a:t>
            </a:r>
            <a:r>
              <a:rPr sz="2400" spc="-4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infants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young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children.</a:t>
            </a:r>
          </a:p>
          <a:p>
            <a:pPr marL="12700">
              <a:spcBef>
                <a:spcPts val="275"/>
              </a:spcBef>
            </a:pPr>
            <a:r>
              <a:rPr sz="2400" b="1" dirty="0">
                <a:latin typeface="Century Schoolbook"/>
                <a:cs typeface="Century Schoolbook"/>
              </a:rPr>
              <a:t>3.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Chest</a:t>
            </a:r>
            <a:r>
              <a:rPr sz="2400" b="1" u="sng" spc="-1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4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Circumference: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lnSpc>
                <a:spcPts val="2735"/>
              </a:lnSpc>
              <a:spcBef>
                <a:spcPts val="3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At</a:t>
            </a:r>
            <a:r>
              <a:rPr sz="240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birth,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head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circumference</a:t>
            </a:r>
            <a:r>
              <a:rPr sz="2400" spc="-4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</a:t>
            </a:r>
            <a:r>
              <a:rPr sz="2400" spc="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2cm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larger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than </a:t>
            </a:r>
            <a:r>
              <a:rPr sz="2400" dirty="0">
                <a:latin typeface="Century Schoolbook"/>
                <a:cs typeface="Century Schoolbook"/>
              </a:rPr>
              <a:t>chest</a:t>
            </a:r>
          </a:p>
          <a:p>
            <a:pPr marL="285115">
              <a:lnSpc>
                <a:spcPts val="2735"/>
              </a:lnSpc>
            </a:pPr>
            <a:r>
              <a:rPr sz="2400" dirty="0">
                <a:latin typeface="Century Schoolbook"/>
                <a:cs typeface="Century Schoolbook"/>
              </a:rPr>
              <a:t>circumference.</a:t>
            </a:r>
          </a:p>
          <a:p>
            <a:pPr marL="285115" indent="-273050">
              <a:spcBef>
                <a:spcPts val="3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Between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age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1</a:t>
            </a:r>
            <a:r>
              <a:rPr sz="2400" spc="-5" dirty="0">
                <a:latin typeface="Century Schoolbook"/>
                <a:cs typeface="Century Schoolbook"/>
              </a:rPr>
              <a:t> and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2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years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both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are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equal.</a:t>
            </a:r>
          </a:p>
          <a:p>
            <a:pPr marL="285115" indent="-273050"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After </a:t>
            </a:r>
            <a:r>
              <a:rPr sz="2400" dirty="0">
                <a:latin typeface="Century Schoolbook"/>
                <a:cs typeface="Century Schoolbook"/>
              </a:rPr>
              <a:t>2</a:t>
            </a:r>
            <a:r>
              <a:rPr sz="2400" spc="-5" dirty="0">
                <a:latin typeface="Century Schoolbook"/>
                <a:cs typeface="Century Schoolbook"/>
              </a:rPr>
              <a:t> years,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 </a:t>
            </a:r>
            <a:r>
              <a:rPr sz="2400" dirty="0">
                <a:latin typeface="Century Schoolbook"/>
                <a:cs typeface="Century Schoolbook"/>
              </a:rPr>
              <a:t>chest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</a:t>
            </a:r>
            <a:r>
              <a:rPr sz="2400" spc="-5" dirty="0">
                <a:latin typeface="Century Schoolbook"/>
                <a:cs typeface="Century Schoolbook"/>
              </a:rPr>
              <a:t> larger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than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head.</a:t>
            </a:r>
            <a:endParaRPr sz="240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ts val="2590"/>
              </a:lnSpc>
              <a:spcBef>
                <a:spcPts val="6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N.B: </a:t>
            </a:r>
            <a:r>
              <a:rPr sz="2400" spc="-5" dirty="0">
                <a:latin typeface="Century Schoolbook"/>
                <a:cs typeface="Century Schoolbook"/>
              </a:rPr>
              <a:t>Chest </a:t>
            </a:r>
            <a:r>
              <a:rPr sz="2400" dirty="0">
                <a:latin typeface="Century Schoolbook"/>
                <a:cs typeface="Century Schoolbook"/>
              </a:rPr>
              <a:t>is usually </a:t>
            </a:r>
            <a:r>
              <a:rPr sz="2400" spc="-5" dirty="0">
                <a:latin typeface="Century Schoolbook"/>
                <a:cs typeface="Century Schoolbook"/>
              </a:rPr>
              <a:t>measured at </a:t>
            </a:r>
            <a:r>
              <a:rPr sz="2400" dirty="0">
                <a:latin typeface="Century Schoolbook"/>
                <a:cs typeface="Century Schoolbook"/>
              </a:rPr>
              <a:t>nipple line, with 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subject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sitting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midway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between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inspiration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expiration.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73742" y="5888660"/>
            <a:ext cx="18923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7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57200"/>
            <a:ext cx="7239000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u="sng" spc="-5" dirty="0">
                <a:uFill>
                  <a:solidFill>
                    <a:srgbClr val="565F6C"/>
                  </a:solidFill>
                </a:uFill>
              </a:rPr>
              <a:t>4.</a:t>
            </a:r>
            <a:r>
              <a:rPr sz="3100" u="sng" spc="-3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100" u="sng" spc="20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sz="2450" u="sng" spc="16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IN</a:t>
            </a:r>
            <a:r>
              <a:rPr sz="2450" u="sng" spc="15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2450" u="sng" spc="15" dirty="0">
                <a:uFill>
                  <a:solidFill>
                    <a:srgbClr val="565F6C"/>
                  </a:solidFill>
                </a:uFill>
              </a:rPr>
              <a:t>LENGTH</a:t>
            </a:r>
            <a:r>
              <a:rPr sz="3100" u="sng" spc="15" dirty="0">
                <a:uFill>
                  <a:solidFill>
                    <a:srgbClr val="565F6C"/>
                  </a:solidFill>
                </a:uFill>
              </a:rPr>
              <a:t>:</a:t>
            </a:r>
            <a:endParaRPr sz="3100" dirty="0"/>
          </a:p>
        </p:txBody>
      </p:sp>
      <p:sp>
        <p:nvSpPr>
          <p:cNvPr id="5" name="object 5"/>
          <p:cNvSpPr txBox="1"/>
          <p:nvPr/>
        </p:nvSpPr>
        <p:spPr>
          <a:xfrm>
            <a:off x="9873742" y="5888659"/>
            <a:ext cx="189230" cy="42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8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257044"/>
            <a:ext cx="10210799" cy="2805768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5115" marR="247650" indent="-273050">
              <a:lnSpc>
                <a:spcPct val="90000"/>
              </a:lnSpc>
              <a:spcBef>
                <a:spcPts val="41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During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the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first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year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 </a:t>
            </a:r>
            <a:r>
              <a:rPr sz="2600" spc="-5" dirty="0">
                <a:latin typeface="Century Schoolbook"/>
                <a:cs typeface="Century Schoolbook"/>
              </a:rPr>
              <a:t>life,</a:t>
            </a:r>
            <a:r>
              <a:rPr sz="2600" spc="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the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infant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gains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length roughly 2 cm/month during </a:t>
            </a:r>
            <a:r>
              <a:rPr sz="2600" spc="-5" dirty="0">
                <a:latin typeface="Century Schoolbook"/>
                <a:cs typeface="Century Schoolbook"/>
              </a:rPr>
              <a:t>the first </a:t>
            </a:r>
            <a:r>
              <a:rPr sz="2600" dirty="0">
                <a:latin typeface="Century Schoolbook"/>
                <a:cs typeface="Century Schoolbook"/>
              </a:rPr>
              <a:t>6 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months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and </a:t>
            </a:r>
            <a:r>
              <a:rPr sz="2600" spc="-5" dirty="0">
                <a:latin typeface="Century Schoolbook"/>
                <a:cs typeface="Century Schoolbook"/>
              </a:rPr>
              <a:t>1.5</a:t>
            </a:r>
            <a:r>
              <a:rPr sz="2600" dirty="0">
                <a:latin typeface="Century Schoolbook"/>
                <a:cs typeface="Century Schoolbook"/>
              </a:rPr>
              <a:t> cm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 </a:t>
            </a:r>
            <a:r>
              <a:rPr sz="2600" spc="-5" dirty="0">
                <a:latin typeface="Century Schoolbook"/>
                <a:cs typeface="Century Schoolbook"/>
              </a:rPr>
              <a:t>the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second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6</a:t>
            </a:r>
            <a:r>
              <a:rPr sz="2600" spc="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months.</a:t>
            </a:r>
            <a:endParaRPr sz="26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29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dirty="0">
                <a:latin typeface="Century Schoolbook"/>
                <a:cs typeface="Century Schoolbook"/>
              </a:rPr>
              <a:t>*At</a:t>
            </a:r>
            <a:r>
              <a:rPr sz="2600" b="1" spc="-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birth:</a:t>
            </a:r>
            <a:r>
              <a:rPr sz="2600" b="1" spc="-1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48-50</a:t>
            </a:r>
            <a:r>
              <a:rPr sz="2600" b="1" spc="-6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cm</a:t>
            </a:r>
            <a:endParaRPr sz="2600" dirty="0">
              <a:latin typeface="Century Schoolbook"/>
              <a:cs typeface="Century Schoolbook"/>
            </a:endParaRPr>
          </a:p>
          <a:p>
            <a:pPr>
              <a:spcBef>
                <a:spcPts val="20"/>
              </a:spcBef>
              <a:buClr>
                <a:srgbClr val="FD8537"/>
              </a:buClr>
              <a:buFont typeface="Wingdings"/>
              <a:buChar char=""/>
            </a:pPr>
            <a:endParaRPr sz="335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ts val="281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A formula can be used </a:t>
            </a:r>
            <a:r>
              <a:rPr sz="2600" spc="-5" dirty="0">
                <a:latin typeface="Century Schoolbook"/>
                <a:cs typeface="Century Schoolbook"/>
              </a:rPr>
              <a:t>after the first </a:t>
            </a:r>
            <a:r>
              <a:rPr sz="2600" dirty="0">
                <a:latin typeface="Century Schoolbook"/>
                <a:cs typeface="Century Schoolbook"/>
              </a:rPr>
              <a:t>year </a:t>
            </a:r>
            <a:r>
              <a:rPr sz="2600" spc="-5" dirty="0">
                <a:latin typeface="Century Schoolbook"/>
                <a:cs typeface="Century Schoolbook"/>
              </a:rPr>
              <a:t>to </a:t>
            </a:r>
            <a:r>
              <a:rPr sz="260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estimate</a:t>
            </a:r>
            <a:r>
              <a:rPr sz="260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the</a:t>
            </a:r>
            <a:r>
              <a:rPr sz="2600" spc="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length </a:t>
            </a:r>
            <a:r>
              <a:rPr sz="2600" dirty="0">
                <a:latin typeface="Century Schoolbook"/>
                <a:cs typeface="Century Schoolbook"/>
              </a:rPr>
              <a:t>of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the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child</a:t>
            </a:r>
            <a:r>
              <a:rPr sz="2600" spc="1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(Age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in</a:t>
            </a:r>
            <a:r>
              <a:rPr sz="2600" b="1" spc="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years x </a:t>
            </a:r>
            <a:r>
              <a:rPr sz="2600" b="1" spc="-73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5)+80=length</a:t>
            </a:r>
            <a:r>
              <a:rPr sz="2600" b="1" spc="-4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in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centimeters</a:t>
            </a:r>
            <a:r>
              <a:rPr sz="2600" spc="-5" dirty="0">
                <a:latin typeface="Century Schoolbook"/>
                <a:cs typeface="Century Schoolbook"/>
              </a:rPr>
              <a:t>.</a:t>
            </a:r>
            <a:endParaRPr sz="26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432181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u="sng" spc="-5" dirty="0">
                <a:uFill>
                  <a:solidFill>
                    <a:srgbClr val="565F6C"/>
                  </a:solidFill>
                </a:uFill>
              </a:rPr>
              <a:t>5.</a:t>
            </a:r>
            <a:r>
              <a:rPr sz="3100" u="sng" spc="-3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100" u="sng" spc="20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sz="2450" u="sng" spc="16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IN</a:t>
            </a:r>
            <a:r>
              <a:rPr sz="2450" u="sng" spc="14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WEIGHT</a:t>
            </a:r>
            <a:r>
              <a:rPr sz="3100" u="sng" spc="20" dirty="0">
                <a:uFill>
                  <a:solidFill>
                    <a:srgbClr val="565F6C"/>
                  </a:solidFill>
                </a:uFill>
              </a:rPr>
              <a:t>:</a:t>
            </a:r>
            <a:endParaRPr sz="3100" dirty="0"/>
          </a:p>
        </p:txBody>
      </p:sp>
      <p:sp>
        <p:nvSpPr>
          <p:cNvPr id="5" name="object 5"/>
          <p:cNvSpPr txBox="1"/>
          <p:nvPr/>
        </p:nvSpPr>
        <p:spPr>
          <a:xfrm>
            <a:off x="9848851" y="5888660"/>
            <a:ext cx="22669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8418" y="1219200"/>
            <a:ext cx="9753600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There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initial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phase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 loss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5" dirty="0">
                <a:latin typeface="Century Schoolbook"/>
                <a:cs typeface="Century Schoolbook"/>
              </a:rPr>
              <a:t>weight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after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birth</a:t>
            </a:r>
            <a:endParaRPr sz="2400" dirty="0">
              <a:latin typeface="Century Schoolbook"/>
              <a:cs typeface="Century Schoolbook"/>
            </a:endParaRPr>
          </a:p>
          <a:p>
            <a:pPr marL="285115"/>
            <a:r>
              <a:rPr sz="2400" dirty="0">
                <a:latin typeface="Century Schoolbook"/>
                <a:cs typeface="Century Schoolbook"/>
              </a:rPr>
              <a:t>for</a:t>
            </a:r>
            <a:r>
              <a:rPr sz="2400" spc="-4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the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following</a:t>
            </a:r>
            <a:r>
              <a:rPr sz="2400" spc="-7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factors:</a:t>
            </a:r>
          </a:p>
          <a:p>
            <a:pPr marL="285115" indent="-273050">
              <a:spcBef>
                <a:spcPts val="56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1.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Withdrawal</a:t>
            </a:r>
            <a:r>
              <a:rPr sz="2400" spc="-5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hormones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from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mother.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2.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Loss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excessive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extra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cellular</a:t>
            </a:r>
            <a:r>
              <a:rPr sz="2400" spc="-4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fluid.</a:t>
            </a:r>
          </a:p>
          <a:p>
            <a:pPr marL="285115" indent="-273050"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3.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Passage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5" dirty="0">
                <a:latin typeface="Century Schoolbook"/>
                <a:cs typeface="Century Schoolbook"/>
              </a:rPr>
              <a:t> meconium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(faeces)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urine.</a:t>
            </a: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4.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Limited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food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intake.</a:t>
            </a:r>
            <a:endParaRPr sz="2400" dirty="0">
              <a:latin typeface="Century Schoolbook"/>
              <a:cs typeface="Century Schoolbook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719B9D6-7DB5-CD6E-A02A-C023B14DA250}"/>
              </a:ext>
            </a:extLst>
          </p:cNvPr>
          <p:cNvSpPr txBox="1"/>
          <p:nvPr/>
        </p:nvSpPr>
        <p:spPr>
          <a:xfrm>
            <a:off x="1194954" y="3902956"/>
            <a:ext cx="10383982" cy="208787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5115" marR="114935" indent="-273050">
              <a:lnSpc>
                <a:spcPct val="89600"/>
              </a:lnSpc>
              <a:spcBef>
                <a:spcPts val="42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Most full </a:t>
            </a:r>
            <a:r>
              <a:rPr sz="2600" spc="-5" dirty="0">
                <a:latin typeface="Century Schoolbook"/>
                <a:cs typeface="Century Schoolbook"/>
              </a:rPr>
              <a:t>terms </a:t>
            </a:r>
            <a:r>
              <a:rPr sz="2600" dirty="0">
                <a:latin typeface="Century Schoolbook"/>
                <a:cs typeface="Century Schoolbook"/>
              </a:rPr>
              <a:t>regain </a:t>
            </a:r>
            <a:r>
              <a:rPr sz="2600" spc="-5" dirty="0">
                <a:latin typeface="Century Schoolbook"/>
                <a:cs typeface="Century Schoolbook"/>
              </a:rPr>
              <a:t>their birth </a:t>
            </a:r>
            <a:r>
              <a:rPr sz="2600" dirty="0">
                <a:latin typeface="Century Schoolbook"/>
                <a:cs typeface="Century Schoolbook"/>
              </a:rPr>
              <a:t>weight </a:t>
            </a:r>
            <a:r>
              <a:rPr sz="2600" spc="-5" dirty="0">
                <a:latin typeface="Century Schoolbook"/>
                <a:cs typeface="Century Schoolbook"/>
              </a:rPr>
              <a:t>by the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age of </a:t>
            </a:r>
            <a:r>
              <a:rPr sz="2600" spc="-5" dirty="0">
                <a:latin typeface="Century Schoolbook"/>
                <a:cs typeface="Century Schoolbook"/>
              </a:rPr>
              <a:t>ten days. </a:t>
            </a:r>
            <a:r>
              <a:rPr sz="2600" dirty="0">
                <a:latin typeface="Century Schoolbook"/>
                <a:cs typeface="Century Schoolbook"/>
              </a:rPr>
              <a:t>Then </a:t>
            </a:r>
            <a:r>
              <a:rPr sz="2600" spc="-5" dirty="0">
                <a:latin typeface="Century Schoolbook"/>
                <a:cs typeface="Century Schoolbook"/>
              </a:rPr>
              <a:t>the </a:t>
            </a:r>
            <a:r>
              <a:rPr sz="2600" dirty="0">
                <a:latin typeface="Century Schoolbook"/>
                <a:cs typeface="Century Schoolbook"/>
              </a:rPr>
              <a:t>weight </a:t>
            </a:r>
            <a:r>
              <a:rPr sz="2600" spc="-5" dirty="0">
                <a:latin typeface="Century Schoolbook"/>
                <a:cs typeface="Century Schoolbook"/>
              </a:rPr>
              <a:t>gain </a:t>
            </a:r>
            <a:r>
              <a:rPr sz="2600" dirty="0">
                <a:latin typeface="Century Schoolbook"/>
                <a:cs typeface="Century Schoolbook"/>
              </a:rPr>
              <a:t>averages 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approximately</a:t>
            </a:r>
            <a:r>
              <a:rPr sz="2600" spc="-4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20</a:t>
            </a:r>
            <a:r>
              <a:rPr sz="2600" spc="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Arial"/>
                <a:cs typeface="Arial"/>
              </a:rPr>
              <a:t>– </a:t>
            </a:r>
            <a:r>
              <a:rPr sz="2600" dirty="0">
                <a:latin typeface="Century Schoolbook"/>
                <a:cs typeface="Century Schoolbook"/>
              </a:rPr>
              <a:t>25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gm/day.</a:t>
            </a:r>
          </a:p>
          <a:p>
            <a:pPr>
              <a:spcBef>
                <a:spcPts val="50"/>
              </a:spcBef>
              <a:buClr>
                <a:srgbClr val="FD8537"/>
              </a:buClr>
              <a:buFont typeface="Wingdings"/>
              <a:buChar char=""/>
            </a:pPr>
            <a:endParaRPr sz="335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ts val="281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A formula can </a:t>
            </a:r>
            <a:r>
              <a:rPr sz="2600" spc="-5" dirty="0">
                <a:latin typeface="Century Schoolbook"/>
                <a:cs typeface="Century Schoolbook"/>
              </a:rPr>
              <a:t>be </a:t>
            </a:r>
            <a:r>
              <a:rPr sz="2600" dirty="0">
                <a:latin typeface="Century Schoolbook"/>
                <a:cs typeface="Century Schoolbook"/>
              </a:rPr>
              <a:t>used </a:t>
            </a:r>
            <a:r>
              <a:rPr sz="2600" spc="-5" dirty="0">
                <a:latin typeface="Century Schoolbook"/>
                <a:cs typeface="Century Schoolbook"/>
              </a:rPr>
              <a:t>after that to calculate the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weight:</a:t>
            </a:r>
          </a:p>
          <a:p>
            <a:pPr marL="381000">
              <a:spcBef>
                <a:spcPts val="245"/>
              </a:spcBef>
            </a:pPr>
            <a:r>
              <a:rPr sz="2600" dirty="0">
                <a:latin typeface="Century Schoolbook"/>
                <a:cs typeface="Century Schoolbook"/>
              </a:rPr>
              <a:t>(Age</a:t>
            </a:r>
            <a:r>
              <a:rPr sz="2600" spc="-2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 years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X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spc="5" dirty="0">
                <a:latin typeface="Century Schoolbook"/>
                <a:cs typeface="Century Schoolbook"/>
              </a:rPr>
              <a:t>2)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+ 8 = Weight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kg.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3F102DC9-CD18-5F46-126B-EB247424728B}"/>
              </a:ext>
            </a:extLst>
          </p:cNvPr>
          <p:cNvSpPr txBox="1"/>
          <p:nvPr/>
        </p:nvSpPr>
        <p:spPr>
          <a:xfrm>
            <a:off x="244475" y="261938"/>
            <a:ext cx="11691938" cy="212566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208" y="1683620"/>
            <a:ext cx="6876288" cy="345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kern="0" dirty="0">
                <a:latin typeface="Century Schoolbook"/>
                <a:ea typeface="+mn-ea"/>
              </a:rPr>
              <a:t>B. PHYSIOLOGICAL GROWTH:</a:t>
            </a:r>
          </a:p>
        </p:txBody>
      </p:sp>
      <p:sp>
        <p:nvSpPr>
          <p:cNvPr id="5" name="عنصر نائب للمحتوى 4">
            <a:extLst>
              <a:ext uri="{FF2B5EF4-FFF2-40B4-BE49-F238E27FC236}">
                <a16:creationId xmlns:a16="http://schemas.microsoft.com/office/drawing/2014/main" id="{11545B33-B86A-F1A8-2AE6-2CE53E4189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Vital</a:t>
            </a:r>
            <a:r>
              <a:rPr kumimoji="0" lang="en-US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Signs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:</a:t>
            </a:r>
          </a:p>
          <a:p>
            <a:pPr marL="285115" marR="5080" lvl="0" indent="-273050" defTabSz="914400" eaLnBrk="1" fontAlgn="auto" latinLnBrk="0" hangingPunct="1">
              <a:lnSpc>
                <a:spcPct val="80000"/>
              </a:lnSpc>
              <a:spcBef>
                <a:spcPts val="610"/>
              </a:spcBef>
              <a:spcAft>
                <a:spcPts val="0"/>
              </a:spcAft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-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Temperature: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will</a:t>
            </a:r>
            <a:r>
              <a:rPr kumimoji="0" lang="en-US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drop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immediately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after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birth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in </a:t>
            </a:r>
            <a:r>
              <a:rPr kumimoji="0" lang="en-US" sz="2400" b="0" i="0" u="none" strike="noStrike" kern="0" cap="none" spc="-6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adjustment to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delivery room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temperature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unless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the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newborn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infant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is kept warm immediately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after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birth.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Schoolbook"/>
              <a:cs typeface="Century Schoolbook"/>
            </a:endParaRPr>
          </a:p>
          <a:p>
            <a:pPr marL="285115" marR="332105" lvl="0" indent="-20320" defTabSz="914400" eaLnBrk="1" fontAlgn="auto" latinLnBrk="0" hangingPunct="1">
              <a:lnSpc>
                <a:spcPts val="23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Temperature</a:t>
            </a:r>
            <a:r>
              <a:rPr kumimoji="0" lang="en-US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rises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to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normal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within</a:t>
            </a:r>
            <a:r>
              <a:rPr kumimoji="0" lang="en-US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about</a:t>
            </a:r>
            <a:r>
              <a:rPr kumimoji="0" lang="en-US" sz="2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8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hours. </a:t>
            </a:r>
            <a:r>
              <a:rPr kumimoji="0" lang="en-US" sz="2400" b="0" i="0" u="none" strike="noStrike" kern="0" cap="none" spc="-6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Temperature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of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newborn</a:t>
            </a:r>
            <a:r>
              <a:rPr kumimoji="0" lang="en-US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infant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is</a:t>
            </a:r>
            <a:r>
              <a:rPr kumimoji="0" lang="en-US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usually</a:t>
            </a:r>
            <a:r>
              <a:rPr kumimoji="0" lang="en-US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35.5 to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Schoolbook"/>
              <a:cs typeface="Century Schoolbook"/>
            </a:endParaRPr>
          </a:p>
          <a:p>
            <a:pPr marL="285115" marR="0" lvl="0" indent="0" defTabSz="914400" eaLnBrk="1" fontAlgn="auto" latinLnBrk="0" hangingPunct="1">
              <a:lnSpc>
                <a:spcPts val="22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37.5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c.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Schoolbook"/>
              <a:cs typeface="Century Schoolbook"/>
            </a:endParaRPr>
          </a:p>
          <a:p>
            <a:pPr marL="285115" marR="516890" lvl="0" indent="-273050" defTabSz="914400" eaLnBrk="1" fontAlgn="auto" latinLnBrk="0" hangingPunct="1">
              <a:lnSpc>
                <a:spcPct val="80000"/>
              </a:lnSpc>
              <a:spcBef>
                <a:spcPts val="635"/>
              </a:spcBef>
              <a:spcAft>
                <a:spcPts val="0"/>
              </a:spcAft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b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-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Pulse:</a:t>
            </a:r>
            <a:r>
              <a:rPr kumimoji="0" lang="en-US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120</a:t>
            </a:r>
            <a:r>
              <a:rPr kumimoji="0" lang="en-US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to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150</a:t>
            </a:r>
            <a:r>
              <a:rPr kumimoji="0" lang="en-US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/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min.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It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is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usually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rapid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and </a:t>
            </a:r>
            <a:r>
              <a:rPr kumimoji="0" lang="en-US" sz="2400" b="0" i="0" u="none" strike="noStrike" kern="0" cap="none" spc="-6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irregular.</a:t>
            </a:r>
          </a:p>
          <a:p>
            <a:pPr marL="285115" marR="123825" lvl="0" indent="-273050" defTabSz="914400" eaLnBrk="1" fontAlgn="auto" latinLnBrk="0" hangingPunct="1">
              <a:lnSpc>
                <a:spcPct val="80000"/>
              </a:lnSpc>
              <a:spcBef>
                <a:spcPts val="605"/>
              </a:spcBef>
              <a:spcAft>
                <a:spcPts val="0"/>
              </a:spcAft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c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-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Respiration: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35 to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50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/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min.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It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is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usually</a:t>
            </a:r>
            <a:r>
              <a:rPr kumimoji="0" lang="en-US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irregular </a:t>
            </a:r>
            <a:r>
              <a:rPr kumimoji="0" lang="en-US" sz="2400" b="0" i="0" u="none" strike="noStrike" kern="0" cap="none" spc="-6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in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depth,</a:t>
            </a:r>
            <a:r>
              <a:rPr kumimoji="0" lang="en-US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rate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and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rhythm.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Schoolbook"/>
              <a:cs typeface="Century Schoolbook"/>
            </a:endParaRPr>
          </a:p>
          <a:p>
            <a:pPr marL="285115" marR="0" lvl="0" indent="-27305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d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-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Cry</a:t>
            </a:r>
            <a:r>
              <a:rPr kumimoji="0" 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with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no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Schoolbook"/>
                <a:cs typeface="Century Schoolbook"/>
              </a:rPr>
              <a:t>tears.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Schoolbook"/>
              <a:cs typeface="Century Schoolbook"/>
            </a:endParaRPr>
          </a:p>
          <a:p>
            <a:endParaRPr lang="ar-IQ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A6047E9B-5A1B-B6FE-4E6E-1E79FAC626C2}"/>
              </a:ext>
            </a:extLst>
          </p:cNvPr>
          <p:cNvSpPr txBox="1"/>
          <p:nvPr/>
        </p:nvSpPr>
        <p:spPr>
          <a:xfrm>
            <a:off x="244475" y="261938"/>
            <a:ext cx="11691938" cy="212566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208" y="1669770"/>
            <a:ext cx="6876288" cy="37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spc="-5" dirty="0">
                <a:latin typeface="Century Schoolbook"/>
                <a:ea typeface="+mn-ea"/>
              </a:rPr>
              <a:t>DEVELOPMENT: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496CF2D-C7C2-6035-9476-F8C142A15796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539750" y="2560638"/>
            <a:ext cx="9445625" cy="397668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marR="899160" indent="-273050" algn="just">
              <a:lnSpc>
                <a:spcPts val="2500"/>
              </a:lnSpc>
              <a:spcBef>
                <a:spcPts val="705"/>
              </a:spcBef>
            </a:pPr>
            <a:r>
              <a:rPr sz="2600" spc="-5" dirty="0">
                <a:latin typeface="Century Schoolbook"/>
                <a:cs typeface="Century Schoolbook"/>
              </a:rPr>
              <a:t>Bodily </a:t>
            </a:r>
            <a:r>
              <a:rPr sz="2600" dirty="0">
                <a:latin typeface="Century Schoolbook"/>
                <a:cs typeface="Century Schoolbook"/>
              </a:rPr>
              <a:t>functions and responses </a:t>
            </a:r>
            <a:r>
              <a:rPr sz="2600" spc="-5" dirty="0">
                <a:latin typeface="Century Schoolbook"/>
                <a:cs typeface="Century Schoolbook"/>
              </a:rPr>
              <a:t>to external </a:t>
            </a:r>
            <a:r>
              <a:rPr sz="2600" spc="-7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stimuli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are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carried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out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by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reflexes.</a:t>
            </a:r>
          </a:p>
          <a:p>
            <a:pPr marL="285115" marR="5080" indent="-273050" algn="just">
              <a:lnSpc>
                <a:spcPts val="2500"/>
              </a:lnSpc>
              <a:spcBef>
                <a:spcPts val="59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** Reflexes: The reflexes such </a:t>
            </a:r>
            <a:r>
              <a:rPr sz="2600" spc="-5" dirty="0">
                <a:latin typeface="Century Schoolbook"/>
                <a:cs typeface="Century Schoolbook"/>
              </a:rPr>
              <a:t>as: </a:t>
            </a:r>
            <a:r>
              <a:rPr sz="2600" dirty="0">
                <a:latin typeface="Century Schoolbook"/>
                <a:cs typeface="Century Schoolbook"/>
              </a:rPr>
              <a:t>Moro-reflex,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swallowing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and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gagging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reflex.</a:t>
            </a:r>
            <a:r>
              <a:rPr sz="2600" spc="-2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Sucking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reflex,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grasp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reflex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, tonic-neck</a:t>
            </a:r>
            <a:r>
              <a:rPr sz="2600" spc="-4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reflexes.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219200"/>
            <a:ext cx="9067800" cy="326358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algn="just">
              <a:spcBef>
                <a:spcPts val="385"/>
              </a:spcBef>
            </a:pPr>
            <a:r>
              <a:rPr sz="26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Emotional</a:t>
            </a:r>
            <a:r>
              <a:rPr sz="26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 </a:t>
            </a:r>
            <a:r>
              <a:rPr sz="260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Development:</a:t>
            </a:r>
          </a:p>
          <a:p>
            <a:pPr marL="285115" marR="821690" indent="-273050" algn="just">
              <a:lnSpc>
                <a:spcPts val="2810"/>
              </a:lnSpc>
              <a:spcBef>
                <a:spcPts val="64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spc="5" dirty="0">
                <a:latin typeface="Century Schoolbook"/>
                <a:cs typeface="Century Schoolbook"/>
              </a:rPr>
              <a:t>Newborn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infant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expresses</a:t>
            </a:r>
            <a:r>
              <a:rPr sz="2600" spc="-4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his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emotion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just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through </a:t>
            </a:r>
            <a:r>
              <a:rPr sz="2600" spc="-5" dirty="0">
                <a:latin typeface="Century Schoolbook"/>
                <a:cs typeface="Century Schoolbook"/>
              </a:rPr>
              <a:t>cry </a:t>
            </a:r>
            <a:r>
              <a:rPr sz="2600" dirty="0">
                <a:latin typeface="Century Schoolbook"/>
                <a:cs typeface="Century Schoolbook"/>
              </a:rPr>
              <a:t>for </a:t>
            </a:r>
            <a:r>
              <a:rPr sz="2600" spc="-5" dirty="0">
                <a:latin typeface="Century Schoolbook"/>
                <a:cs typeface="Century Schoolbook"/>
              </a:rPr>
              <a:t>hunger, </a:t>
            </a:r>
            <a:r>
              <a:rPr sz="2600" dirty="0">
                <a:latin typeface="Century Schoolbook"/>
                <a:cs typeface="Century Schoolbook"/>
              </a:rPr>
              <a:t>pain or </a:t>
            </a:r>
            <a:r>
              <a:rPr sz="2600" spc="-5" dirty="0">
                <a:latin typeface="Century Schoolbook"/>
                <a:cs typeface="Century Schoolbook"/>
              </a:rPr>
              <a:t>discomfort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sensation.</a:t>
            </a:r>
          </a:p>
          <a:p>
            <a:pPr>
              <a:spcBef>
                <a:spcPts val="45"/>
              </a:spcBef>
              <a:buClr>
                <a:srgbClr val="FD8537"/>
              </a:buClr>
              <a:buFont typeface="Wingdings"/>
              <a:buChar char=""/>
            </a:pPr>
            <a:endParaRPr sz="3000" dirty="0">
              <a:latin typeface="Century Schoolbook"/>
              <a:cs typeface="Century Schoolbook"/>
            </a:endParaRPr>
          </a:p>
          <a:p>
            <a:pPr marL="12700"/>
            <a:r>
              <a:rPr sz="260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Social</a:t>
            </a:r>
            <a:r>
              <a:rPr sz="2600" spc="-4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 </a:t>
            </a:r>
            <a:r>
              <a:rPr sz="2600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Schoolbook"/>
                <a:cs typeface="Century Schoolbook"/>
              </a:rPr>
              <a:t>Development:</a:t>
            </a:r>
          </a:p>
          <a:p>
            <a:pPr marL="285115" marR="5080" indent="-273050">
              <a:lnSpc>
                <a:spcPct val="90000"/>
              </a:lnSpc>
              <a:spcBef>
                <a:spcPts val="60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spc="-5" dirty="0">
                <a:latin typeface="Century Schoolbook"/>
                <a:cs typeface="Century Schoolbook"/>
              </a:rPr>
              <a:t>Cry </a:t>
            </a:r>
            <a:r>
              <a:rPr sz="2600" dirty="0">
                <a:latin typeface="Century Schoolbook"/>
                <a:cs typeface="Century Schoolbook"/>
              </a:rPr>
              <a:t>is his contact with environment; </a:t>
            </a:r>
            <a:r>
              <a:rPr sz="2600" spc="-5" dirty="0">
                <a:latin typeface="Century Schoolbook"/>
                <a:cs typeface="Century Schoolbook"/>
              </a:rPr>
              <a:t>to </a:t>
            </a:r>
            <a:r>
              <a:rPr sz="2600" dirty="0">
                <a:latin typeface="Century Schoolbook"/>
                <a:cs typeface="Century Schoolbook"/>
              </a:rPr>
              <a:t> communicate his </a:t>
            </a:r>
            <a:r>
              <a:rPr sz="2600" spc="-5" dirty="0">
                <a:latin typeface="Century Schoolbook"/>
                <a:cs typeface="Century Schoolbook"/>
              </a:rPr>
              <a:t>physiological </a:t>
            </a:r>
            <a:r>
              <a:rPr sz="2600" dirty="0">
                <a:latin typeface="Century Schoolbook"/>
                <a:cs typeface="Century Schoolbook"/>
              </a:rPr>
              <a:t>needs </a:t>
            </a:r>
            <a:r>
              <a:rPr sz="2600" spc="-5" dirty="0">
                <a:latin typeface="Century Schoolbook"/>
                <a:cs typeface="Century Schoolbook"/>
              </a:rPr>
              <a:t>as </a:t>
            </a:r>
            <a:r>
              <a:rPr sz="2600" dirty="0">
                <a:latin typeface="Century Schoolbook"/>
                <a:cs typeface="Century Schoolbook"/>
              </a:rPr>
              <a:t>hunger,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throaty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sounds</a:t>
            </a:r>
            <a:r>
              <a:rPr sz="2600" spc="-4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show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interest</a:t>
            </a:r>
            <a:r>
              <a:rPr sz="2600" spc="-5" dirty="0">
                <a:latin typeface="Century Schoolbook"/>
                <a:cs typeface="Century Schoolbook"/>
              </a:rPr>
              <a:t> in</a:t>
            </a:r>
            <a:r>
              <a:rPr sz="2600" dirty="0">
                <a:latin typeface="Century Schoolbook"/>
                <a:cs typeface="Century Schoolbook"/>
              </a:rPr>
              <a:t> human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1075876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en-US" sz="3400" u="sng" spc="15" dirty="0">
                <a:uFill>
                  <a:solidFill>
                    <a:srgbClr val="565F6C"/>
                  </a:solidFill>
                </a:uFill>
              </a:rPr>
              <a:t>I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nfant</a:t>
            </a:r>
            <a:r>
              <a:rPr lang="en-US" sz="2700" u="sng" spc="15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3400" u="sng" spc="15" dirty="0">
                <a:uFill>
                  <a:solidFill>
                    <a:srgbClr val="565F6C"/>
                  </a:solidFill>
                </a:uFill>
              </a:rPr>
              <a:t>N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ormal</a:t>
            </a:r>
            <a:r>
              <a:rPr lang="en-US" sz="2700" u="sng" spc="14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3400" u="sng" spc="1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700" u="sng" spc="15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lang="en-US" sz="2700" u="sng" spc="14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3400" u="sng" spc="-5" dirty="0">
                <a:uFill>
                  <a:solidFill>
                    <a:srgbClr val="565F6C"/>
                  </a:solidFill>
                </a:uFill>
              </a:rPr>
              <a:t>&amp; </a:t>
            </a:r>
            <a:r>
              <a:rPr lang="en-US" sz="3400" spc="-960" dirty="0"/>
              <a:t> </a:t>
            </a:r>
            <a:r>
              <a:rPr lang="en-US" sz="3400" u="sng" spc="10" dirty="0">
                <a:uFill>
                  <a:solidFill>
                    <a:srgbClr val="565F6C"/>
                  </a:solidFill>
                </a:uFill>
              </a:rPr>
              <a:t>D</a:t>
            </a:r>
            <a:r>
              <a:rPr lang="en-US" sz="2700" u="sng" spc="10" dirty="0">
                <a:uFill>
                  <a:solidFill>
                    <a:srgbClr val="565F6C"/>
                  </a:solidFill>
                </a:uFill>
              </a:rPr>
              <a:t>evelopment</a:t>
            </a:r>
            <a:endParaRPr lang="en-US"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938645" y="1447800"/>
            <a:ext cx="7769859" cy="313675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Assessment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normal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growth.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Development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assessed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as:</a:t>
            </a:r>
            <a:endParaRPr sz="2400" dirty="0">
              <a:latin typeface="Century Schoolbook"/>
              <a:cs typeface="Century Schoolbook"/>
            </a:endParaRPr>
          </a:p>
          <a:p>
            <a:pPr marL="652780" lvl="1" indent="-273685">
              <a:spcBef>
                <a:spcPts val="57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dirty="0">
                <a:latin typeface="Century Schoolbook"/>
                <a:cs typeface="Century Schoolbook"/>
              </a:rPr>
              <a:t>Gross</a:t>
            </a:r>
            <a:r>
              <a:rPr sz="2400" spc="-6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motor.</a:t>
            </a:r>
            <a:endParaRPr sz="2400" dirty="0">
              <a:latin typeface="Century Schoolbook"/>
              <a:cs typeface="Century Schoolbook"/>
            </a:endParaRPr>
          </a:p>
          <a:p>
            <a:pPr marL="652780" lvl="1" indent="-273685">
              <a:spcBef>
                <a:spcPts val="580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dirty="0">
                <a:latin typeface="Century Schoolbook"/>
                <a:cs typeface="Century Schoolbook"/>
              </a:rPr>
              <a:t>Fine</a:t>
            </a:r>
            <a:r>
              <a:rPr sz="2400" spc="-4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motor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(sensory</a:t>
            </a:r>
            <a:r>
              <a:rPr sz="2400" spc="-4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motor).</a:t>
            </a:r>
            <a:endParaRPr sz="2400" dirty="0">
              <a:latin typeface="Century Schoolbook"/>
              <a:cs typeface="Century Schoolbook"/>
            </a:endParaRPr>
          </a:p>
          <a:p>
            <a:pPr marL="652780" lvl="1" indent="-273685">
              <a:spcBef>
                <a:spcPts val="57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dirty="0">
                <a:latin typeface="Century Schoolbook"/>
                <a:cs typeface="Century Schoolbook"/>
              </a:rPr>
              <a:t>Personal-social.</a:t>
            </a:r>
          </a:p>
          <a:p>
            <a:pPr marL="652780" lvl="1" indent="-273685">
              <a:spcBef>
                <a:spcPts val="57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Language.</a:t>
            </a:r>
            <a:endParaRPr sz="2400" dirty="0">
              <a:latin typeface="Century Schoolbook"/>
              <a:cs typeface="Century Schoolbook"/>
            </a:endParaRPr>
          </a:p>
          <a:p>
            <a:pPr marL="652780" lvl="1" indent="-273685">
              <a:spcBef>
                <a:spcPts val="580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Cognitive.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692911"/>
            <a:ext cx="405541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u="sng" spc="-5" dirty="0">
                <a:uFill>
                  <a:solidFill>
                    <a:srgbClr val="565F6C"/>
                  </a:solidFill>
                </a:uFill>
              </a:rPr>
              <a:t>N</a:t>
            </a:r>
            <a:r>
              <a:rPr sz="2400" u="sng" spc="-5" dirty="0">
                <a:uFill>
                  <a:solidFill>
                    <a:srgbClr val="565F6C"/>
                  </a:solidFill>
                </a:uFill>
              </a:rPr>
              <a:t>ORMAL</a:t>
            </a:r>
            <a:r>
              <a:rPr sz="2400" u="sng" spc="10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000" u="sng" dirty="0">
                <a:uFill>
                  <a:solidFill>
                    <a:srgbClr val="565F6C"/>
                  </a:solidFill>
                </a:uFill>
              </a:rPr>
              <a:t>I</a:t>
            </a:r>
            <a:r>
              <a:rPr sz="2400" u="sng" dirty="0">
                <a:uFill>
                  <a:solidFill>
                    <a:srgbClr val="565F6C"/>
                  </a:solidFill>
                </a:uFill>
              </a:rPr>
              <a:t>NFANT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1066801" y="1552320"/>
            <a:ext cx="7842250" cy="30598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  <a:tab pos="28016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Physical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growth	</a:t>
            </a:r>
            <a:r>
              <a:rPr sz="2400" dirty="0">
                <a:latin typeface="Century Schoolbook"/>
                <a:cs typeface="Century Schoolbook"/>
              </a:rPr>
              <a:t>:</a:t>
            </a:r>
          </a:p>
          <a:p>
            <a:pPr marL="12700">
              <a:spcBef>
                <a:spcPts val="605"/>
              </a:spcBef>
            </a:pPr>
            <a:r>
              <a:rPr sz="2400" dirty="0">
                <a:latin typeface="Century Schoolbook"/>
                <a:cs typeface="Century Schoolbook"/>
              </a:rPr>
              <a:t>a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-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Weight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gain: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Birth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4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months </a:t>
            </a:r>
            <a:r>
              <a:rPr sz="2400" dirty="0">
                <a:latin typeface="Century Schoolbook"/>
                <a:cs typeface="Century Schoolbook"/>
              </a:rPr>
              <a:t>-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3/4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kg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/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month.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5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8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months </a:t>
            </a:r>
            <a:r>
              <a:rPr sz="2400" dirty="0">
                <a:latin typeface="Century Schoolbook"/>
                <a:cs typeface="Century Schoolbook"/>
              </a:rPr>
              <a:t>-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1/2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kg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/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month.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9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12 months </a:t>
            </a:r>
            <a:r>
              <a:rPr sz="2400" dirty="0">
                <a:latin typeface="Century Schoolbook"/>
                <a:cs typeface="Century Schoolbook"/>
              </a:rPr>
              <a:t>-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1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/4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kg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/month</a:t>
            </a:r>
            <a:endParaRPr sz="240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ct val="100400"/>
              </a:lnSpc>
              <a:spcBef>
                <a:spcPts val="58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He will </a:t>
            </a:r>
            <a:r>
              <a:rPr sz="2400" spc="-5" dirty="0">
                <a:latin typeface="Century Schoolbook"/>
                <a:cs typeface="Century Schoolbook"/>
              </a:rPr>
              <a:t>double birth weight by 5-6 months and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triple</a:t>
            </a:r>
            <a:r>
              <a:rPr sz="2400" spc="-4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it </a:t>
            </a:r>
            <a:r>
              <a:rPr sz="2400" spc="-5" dirty="0">
                <a:latin typeface="Century Schoolbook"/>
                <a:cs typeface="Century Schoolbook"/>
              </a:rPr>
              <a:t>by 10-12months</a:t>
            </a:r>
            <a:r>
              <a:rPr sz="2400" spc="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5" dirty="0">
                <a:latin typeface="Century Schoolbook"/>
                <a:cs typeface="Century Schoolbook"/>
              </a:rPr>
              <a:t> age.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1017269"/>
            <a:ext cx="3054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u="sng" spc="-5" dirty="0">
                <a:uFill>
                  <a:solidFill>
                    <a:srgbClr val="565F6C"/>
                  </a:solidFill>
                </a:uFill>
              </a:rPr>
              <a:t>N</a:t>
            </a:r>
            <a:r>
              <a:rPr lang="en-US" sz="2400" u="sng" spc="-5" dirty="0">
                <a:uFill>
                  <a:solidFill>
                    <a:srgbClr val="565F6C"/>
                  </a:solidFill>
                </a:uFill>
              </a:rPr>
              <a:t>ormal</a:t>
            </a:r>
            <a:r>
              <a:rPr lang="en-US" sz="2400" u="sng" spc="10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3000" u="sng" dirty="0">
                <a:uFill>
                  <a:solidFill>
                    <a:srgbClr val="565F6C"/>
                  </a:solidFill>
                </a:uFill>
              </a:rPr>
              <a:t>I</a:t>
            </a:r>
            <a:r>
              <a:rPr lang="en-US" sz="2400" u="sng" dirty="0">
                <a:uFill>
                  <a:solidFill>
                    <a:srgbClr val="565F6C"/>
                  </a:solidFill>
                </a:uFill>
              </a:rPr>
              <a:t>nfant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838201" y="1528372"/>
            <a:ext cx="8489950" cy="2589812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3970">
              <a:spcBef>
                <a:spcPts val="875"/>
              </a:spcBef>
            </a:pPr>
            <a:r>
              <a:rPr sz="3100" b="1" u="sng" spc="-1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length</a:t>
            </a:r>
            <a:endParaRPr sz="3100" dirty="0">
              <a:latin typeface="Century Schoolbook"/>
              <a:cs typeface="Century Schoolbook"/>
            </a:endParaRPr>
          </a:p>
          <a:p>
            <a:pPr marL="285115" marR="5080" indent="-273050"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During </a:t>
            </a:r>
            <a:r>
              <a:rPr sz="2400" b="1" dirty="0">
                <a:latin typeface="Century Schoolbook"/>
                <a:cs typeface="Century Schoolbook"/>
              </a:rPr>
              <a:t>the </a:t>
            </a:r>
            <a:r>
              <a:rPr sz="2400" b="1" spc="-5" dirty="0">
                <a:latin typeface="Century Schoolbook"/>
                <a:cs typeface="Century Schoolbook"/>
              </a:rPr>
              <a:t>first </a:t>
            </a:r>
            <a:r>
              <a:rPr sz="2400" b="1" dirty="0">
                <a:latin typeface="Century Schoolbook"/>
                <a:cs typeface="Century Schoolbook"/>
              </a:rPr>
              <a:t>year </a:t>
            </a:r>
            <a:r>
              <a:rPr sz="2400" b="1" spc="-5" dirty="0">
                <a:latin typeface="Century Schoolbook"/>
                <a:cs typeface="Century Schoolbook"/>
              </a:rPr>
              <a:t>in life, </a:t>
            </a:r>
            <a:r>
              <a:rPr sz="2400" b="1" dirty="0">
                <a:latin typeface="Century Schoolbook"/>
                <a:cs typeface="Century Schoolbook"/>
              </a:rPr>
              <a:t>the </a:t>
            </a:r>
            <a:r>
              <a:rPr sz="2400" b="1" spc="-5" dirty="0">
                <a:latin typeface="Century Schoolbook"/>
                <a:cs typeface="Century Schoolbook"/>
              </a:rPr>
              <a:t>infant </a:t>
            </a:r>
            <a:r>
              <a:rPr sz="2400" b="1" dirty="0">
                <a:latin typeface="Century Schoolbook"/>
                <a:cs typeface="Century Schoolbook"/>
              </a:rPr>
              <a:t>gains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in length</a:t>
            </a:r>
            <a:r>
              <a:rPr sz="2400" b="1" spc="1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roughly</a:t>
            </a:r>
            <a:r>
              <a:rPr sz="2400" b="1" spc="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2.5cm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cm/month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during 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the </a:t>
            </a:r>
            <a:r>
              <a:rPr sz="2400" b="1" spc="-5" dirty="0">
                <a:latin typeface="Century Schoolbook"/>
                <a:cs typeface="Century Schoolbook"/>
              </a:rPr>
              <a:t>first </a:t>
            </a:r>
            <a:r>
              <a:rPr sz="2400" b="1" dirty="0">
                <a:latin typeface="Century Schoolbook"/>
                <a:cs typeface="Century Schoolbook"/>
              </a:rPr>
              <a:t>6 months of age. Average </a:t>
            </a:r>
            <a:r>
              <a:rPr sz="2400" b="1" spc="-5" dirty="0">
                <a:latin typeface="Century Schoolbook"/>
                <a:cs typeface="Century Schoolbook"/>
              </a:rPr>
              <a:t>height is </a:t>
            </a:r>
            <a:r>
              <a:rPr sz="2400" b="1" dirty="0">
                <a:latin typeface="Century Schoolbook"/>
                <a:cs typeface="Century Schoolbook"/>
              </a:rPr>
              <a:t> 65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cm</a:t>
            </a:r>
            <a:r>
              <a:rPr sz="2400" b="1" dirty="0">
                <a:latin typeface="Century Schoolbook"/>
                <a:cs typeface="Century Schoolbook"/>
              </a:rPr>
              <a:t> at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6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</a:t>
            </a:r>
            <a:r>
              <a:rPr sz="2400" b="1" spc="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and</a:t>
            </a:r>
            <a:r>
              <a:rPr sz="2400" b="1" spc="-5" dirty="0">
                <a:latin typeface="Century Schoolbook"/>
                <a:cs typeface="Century Schoolbook"/>
              </a:rPr>
              <a:t> 75cm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at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12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Increase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by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about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25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cm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in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1st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year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1" y="381000"/>
            <a:ext cx="375031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300" u="sng" spc="-10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650" u="sng" spc="-10" dirty="0">
                <a:uFill>
                  <a:solidFill>
                    <a:srgbClr val="565F6C"/>
                  </a:solidFill>
                </a:uFill>
              </a:rPr>
              <a:t>rowth</a:t>
            </a:r>
            <a:r>
              <a:rPr lang="en-US" sz="2650" u="sng" spc="16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650" u="sng" spc="-15" dirty="0">
                <a:uFill>
                  <a:solidFill>
                    <a:srgbClr val="565F6C"/>
                  </a:solidFill>
                </a:uFill>
              </a:rPr>
              <a:t>of</a:t>
            </a:r>
            <a:r>
              <a:rPr lang="en-US" sz="2650" u="sng" spc="15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650" u="sng" spc="-10" dirty="0">
                <a:uFill>
                  <a:solidFill>
                    <a:srgbClr val="565F6C"/>
                  </a:solidFill>
                </a:uFill>
              </a:rPr>
              <a:t>Head</a:t>
            </a:r>
            <a:r>
              <a:rPr lang="en-US" sz="3300" u="sng" spc="-10" dirty="0">
                <a:uFill>
                  <a:solidFill>
                    <a:srgbClr val="565F6C"/>
                  </a:solidFill>
                </a:uFill>
              </a:rPr>
              <a:t>:</a:t>
            </a:r>
            <a:endParaRPr lang="en-US"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762001" y="1147916"/>
            <a:ext cx="8966836" cy="379924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5750" indent="-273685">
              <a:spcBef>
                <a:spcPts val="40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The</a:t>
            </a:r>
            <a:r>
              <a:rPr sz="2400" b="1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posterior </a:t>
            </a:r>
            <a:r>
              <a:rPr sz="2400" b="1" dirty="0">
                <a:latin typeface="Century Schoolbook"/>
                <a:cs typeface="Century Schoolbook"/>
              </a:rPr>
              <a:t>fontanel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closes </a:t>
            </a:r>
            <a:r>
              <a:rPr sz="2400" b="1" dirty="0">
                <a:latin typeface="Century Schoolbook"/>
                <a:cs typeface="Century Schoolbook"/>
              </a:rPr>
              <a:t>at</a:t>
            </a:r>
            <a:r>
              <a:rPr sz="2400" b="1" spc="-4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1-2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months.</a:t>
            </a:r>
            <a:endParaRPr sz="2400" dirty="0">
              <a:latin typeface="Century Schoolbook"/>
              <a:cs typeface="Century Schoolbook"/>
            </a:endParaRPr>
          </a:p>
          <a:p>
            <a:pPr marL="285750" indent="-273685"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The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anterior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fontanel</a:t>
            </a:r>
            <a:r>
              <a:rPr sz="2400" b="1" spc="1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closes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at</a:t>
            </a:r>
            <a:r>
              <a:rPr sz="2400" b="1" spc="-3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12-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18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months.</a:t>
            </a:r>
            <a:endParaRPr sz="2400" dirty="0">
              <a:latin typeface="Century Schoolbook"/>
              <a:cs typeface="Century Schoolbook"/>
            </a:endParaRPr>
          </a:p>
          <a:p>
            <a:pPr marL="285750" indent="-273685"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dirty="0">
                <a:latin typeface="Century Schoolbook"/>
                <a:cs typeface="Century Schoolbook"/>
              </a:rPr>
              <a:t>Cranial</a:t>
            </a:r>
            <a:r>
              <a:rPr sz="2400" b="1" spc="-4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sutures</a:t>
            </a:r>
            <a:endParaRPr sz="2400" dirty="0">
              <a:latin typeface="Century Schoolbook"/>
              <a:cs typeface="Century Schoolbook"/>
            </a:endParaRPr>
          </a:p>
          <a:p>
            <a:pPr marL="652780" marR="209550" lvl="1" indent="-273050">
              <a:lnSpc>
                <a:spcPts val="2590"/>
              </a:lnSpc>
              <a:spcBef>
                <a:spcPts val="61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The </a:t>
            </a:r>
            <a:r>
              <a:rPr sz="2400" b="1" dirty="0">
                <a:latin typeface="Century Schoolbook"/>
                <a:cs typeface="Century Schoolbook"/>
              </a:rPr>
              <a:t>sutures between the </a:t>
            </a:r>
            <a:r>
              <a:rPr sz="2400" b="1" spc="-5" dirty="0">
                <a:latin typeface="Century Schoolbook"/>
                <a:cs typeface="Century Schoolbook"/>
              </a:rPr>
              <a:t>cranial </a:t>
            </a:r>
            <a:r>
              <a:rPr sz="2400" b="1" dirty="0">
                <a:latin typeface="Century Schoolbook"/>
                <a:cs typeface="Century Schoolbook"/>
              </a:rPr>
              <a:t>bones do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not</a:t>
            </a:r>
            <a:r>
              <a:rPr sz="2400" b="1" dirty="0">
                <a:latin typeface="Century Schoolbook"/>
                <a:cs typeface="Century Schoolbook"/>
              </a:rPr>
              <a:t> ossify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until</a:t>
            </a:r>
            <a:r>
              <a:rPr sz="2400" b="1" spc="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later childhood</a:t>
            </a:r>
            <a:endParaRPr sz="2400" dirty="0">
              <a:latin typeface="Century Schoolbook"/>
              <a:cs typeface="Century Schoolbook"/>
            </a:endParaRPr>
          </a:p>
          <a:p>
            <a:pPr marL="285750" marR="586740" indent="-273685">
              <a:lnSpc>
                <a:spcPct val="90000"/>
              </a:lnSpc>
              <a:spcBef>
                <a:spcPts val="56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Head circumference increases </a:t>
            </a:r>
            <a:r>
              <a:rPr sz="2400" b="1" dirty="0">
                <a:latin typeface="Century Schoolbook"/>
                <a:cs typeface="Century Schoolbook"/>
              </a:rPr>
              <a:t>about 1.5 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cm/month</a:t>
            </a:r>
            <a:r>
              <a:rPr sz="2400" b="1" spc="-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during</a:t>
            </a:r>
            <a:r>
              <a:rPr sz="2400" b="1" spc="-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the </a:t>
            </a:r>
            <a:r>
              <a:rPr sz="2400" b="1" spc="-5" dirty="0">
                <a:latin typeface="Century Schoolbook"/>
                <a:cs typeface="Century Schoolbook"/>
              </a:rPr>
              <a:t>first</a:t>
            </a:r>
            <a:r>
              <a:rPr sz="2400" b="1" spc="-3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6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 of age,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then 1/2cm /month during the </a:t>
            </a:r>
            <a:r>
              <a:rPr sz="2400" b="1" spc="-5" dirty="0">
                <a:latin typeface="Century Schoolbook"/>
                <a:cs typeface="Century Schoolbook"/>
              </a:rPr>
              <a:t>second </a:t>
            </a:r>
            <a:r>
              <a:rPr sz="2400" b="1" dirty="0">
                <a:latin typeface="Century Schoolbook"/>
                <a:cs typeface="Century Schoolbook"/>
              </a:rPr>
              <a:t>6 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of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age.</a:t>
            </a:r>
            <a:endParaRPr sz="2400" dirty="0">
              <a:latin typeface="Century Schoolbook"/>
              <a:cs typeface="Century Schoolbook"/>
            </a:endParaRPr>
          </a:p>
          <a:p>
            <a:pPr marL="285750" marR="77470" indent="-273685">
              <a:lnSpc>
                <a:spcPts val="2590"/>
              </a:lnSpc>
              <a:spcBef>
                <a:spcPts val="6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dirty="0">
                <a:latin typeface="Century Schoolbook"/>
                <a:cs typeface="Century Schoolbook"/>
              </a:rPr>
              <a:t>It </a:t>
            </a:r>
            <a:r>
              <a:rPr sz="2400" b="1" spc="-5" dirty="0">
                <a:latin typeface="Century Schoolbook"/>
                <a:cs typeface="Century Schoolbook"/>
              </a:rPr>
              <a:t>is </a:t>
            </a:r>
            <a:r>
              <a:rPr sz="2400" b="1" i="1" dirty="0">
                <a:latin typeface="Century Schoolbook"/>
                <a:cs typeface="Century Schoolbook"/>
              </a:rPr>
              <a:t>43 </a:t>
            </a:r>
            <a:r>
              <a:rPr sz="2400" b="1" spc="-5" dirty="0">
                <a:latin typeface="Century Schoolbook"/>
                <a:cs typeface="Century Schoolbook"/>
              </a:rPr>
              <a:t>cm </a:t>
            </a:r>
            <a:r>
              <a:rPr sz="2400" b="1" dirty="0">
                <a:latin typeface="Century Schoolbook"/>
                <a:cs typeface="Century Schoolbook"/>
              </a:rPr>
              <a:t>at 6 months. At the </a:t>
            </a:r>
            <a:r>
              <a:rPr sz="2400" b="1" spc="-5" dirty="0">
                <a:latin typeface="Century Schoolbook"/>
                <a:cs typeface="Century Schoolbook"/>
              </a:rPr>
              <a:t>end </a:t>
            </a:r>
            <a:r>
              <a:rPr sz="2400" b="1" dirty="0">
                <a:latin typeface="Century Schoolbook"/>
                <a:cs typeface="Century Schoolbook"/>
              </a:rPr>
              <a:t>of the </a:t>
            </a:r>
            <a:r>
              <a:rPr sz="2400" b="1" spc="-5" dirty="0">
                <a:latin typeface="Century Schoolbook"/>
                <a:cs typeface="Century Schoolbook"/>
              </a:rPr>
              <a:t>first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year,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it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is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i="1" dirty="0">
                <a:latin typeface="Century Schoolbook"/>
                <a:cs typeface="Century Schoolbook"/>
              </a:rPr>
              <a:t>46</a:t>
            </a:r>
            <a:r>
              <a:rPr sz="2400" b="1" i="1" spc="-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cm.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73454"/>
            <a:ext cx="5773216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u="sng" spc="15" dirty="0">
                <a:uFill>
                  <a:solidFill>
                    <a:srgbClr val="565F6C"/>
                  </a:solidFill>
                </a:uFill>
              </a:rPr>
              <a:t>C</a:t>
            </a:r>
            <a:r>
              <a:rPr sz="2450" u="sng" spc="15" dirty="0">
                <a:uFill>
                  <a:solidFill>
                    <a:srgbClr val="565F6C"/>
                  </a:solidFill>
                </a:uFill>
              </a:rPr>
              <a:t>HEST</a:t>
            </a:r>
            <a:r>
              <a:rPr sz="2450" u="sng" spc="114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100" u="sng" spc="20" dirty="0">
                <a:uFill>
                  <a:solidFill>
                    <a:srgbClr val="565F6C"/>
                  </a:solidFill>
                </a:uFill>
              </a:rPr>
              <a:t>C</a:t>
            </a:r>
            <a:r>
              <a:rPr sz="2450" u="sng" spc="20" dirty="0">
                <a:uFill>
                  <a:solidFill>
                    <a:srgbClr val="565F6C"/>
                  </a:solidFill>
                </a:uFill>
              </a:rPr>
              <a:t>IRCUMFERENCE</a:t>
            </a:r>
            <a:r>
              <a:rPr sz="3100" u="sng" spc="20" dirty="0">
                <a:uFill>
                  <a:solidFill>
                    <a:srgbClr val="565F6C"/>
                  </a:solidFill>
                </a:uFill>
              </a:rPr>
              <a:t>: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380641"/>
            <a:ext cx="9525000" cy="179549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5115" marR="457834" indent="-273050">
              <a:lnSpc>
                <a:spcPts val="2590"/>
              </a:lnSpc>
              <a:spcBef>
                <a:spcPts val="4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At the end of the </a:t>
            </a:r>
            <a:r>
              <a:rPr sz="2400" b="1" spc="-5" dirty="0">
                <a:latin typeface="Century Schoolbook"/>
                <a:cs typeface="Century Schoolbook"/>
              </a:rPr>
              <a:t>first </a:t>
            </a:r>
            <a:r>
              <a:rPr sz="2400" b="1" dirty="0">
                <a:latin typeface="Century Schoolbook"/>
                <a:cs typeface="Century Schoolbook"/>
              </a:rPr>
              <a:t>year, </a:t>
            </a:r>
            <a:r>
              <a:rPr sz="2400" b="1" spc="-5" dirty="0">
                <a:latin typeface="Century Schoolbook"/>
                <a:cs typeface="Century Schoolbook"/>
              </a:rPr>
              <a:t>chest </a:t>
            </a:r>
            <a:r>
              <a:rPr sz="2400" b="1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circumference </a:t>
            </a:r>
            <a:r>
              <a:rPr sz="2400" b="1" dirty="0">
                <a:latin typeface="Century Schoolbook"/>
                <a:cs typeface="Century Schoolbook"/>
              </a:rPr>
              <a:t>and </a:t>
            </a:r>
            <a:r>
              <a:rPr sz="2400" b="1" spc="-5" dirty="0">
                <a:latin typeface="Century Schoolbook"/>
                <a:cs typeface="Century Schoolbook"/>
              </a:rPr>
              <a:t>head circumference </a:t>
            </a:r>
            <a:r>
              <a:rPr sz="2400" b="1" dirty="0">
                <a:latin typeface="Century Schoolbook"/>
                <a:cs typeface="Century Schoolbook"/>
              </a:rPr>
              <a:t>are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equal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.</a:t>
            </a:r>
            <a:endParaRPr sz="240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ct val="90000"/>
              </a:lnSpc>
              <a:spcBef>
                <a:spcPts val="57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N.B: Chest </a:t>
            </a:r>
            <a:r>
              <a:rPr sz="2400" b="1" spc="-5" dirty="0">
                <a:latin typeface="Century Schoolbook"/>
                <a:cs typeface="Century Schoolbook"/>
              </a:rPr>
              <a:t>is </a:t>
            </a:r>
            <a:r>
              <a:rPr sz="2400" b="1" spc="-10" dirty="0">
                <a:latin typeface="Century Schoolbook"/>
                <a:cs typeface="Century Schoolbook"/>
              </a:rPr>
              <a:t>usually </a:t>
            </a:r>
            <a:r>
              <a:rPr sz="2400" b="1" dirty="0">
                <a:latin typeface="Century Schoolbook"/>
                <a:cs typeface="Century Schoolbook"/>
              </a:rPr>
              <a:t>measured </a:t>
            </a:r>
            <a:r>
              <a:rPr sz="2400" b="1" spc="-5" dirty="0">
                <a:latin typeface="Century Schoolbook"/>
                <a:cs typeface="Century Schoolbook"/>
              </a:rPr>
              <a:t>at nipple line, </a:t>
            </a:r>
            <a:r>
              <a:rPr sz="2400" b="1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for </a:t>
            </a:r>
            <a:r>
              <a:rPr sz="2400" b="1" dirty="0">
                <a:latin typeface="Century Schoolbook"/>
                <a:cs typeface="Century Schoolbook"/>
              </a:rPr>
              <a:t>greater </a:t>
            </a:r>
            <a:r>
              <a:rPr sz="2400" b="1" spc="-10" dirty="0">
                <a:latin typeface="Century Schoolbook"/>
                <a:cs typeface="Century Schoolbook"/>
              </a:rPr>
              <a:t>accuracy,</a:t>
            </a:r>
            <a:r>
              <a:rPr sz="2400" b="1" spc="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take </a:t>
            </a:r>
            <a:r>
              <a:rPr sz="2400" b="1" dirty="0">
                <a:latin typeface="Century Schoolbook"/>
                <a:cs typeface="Century Schoolbook"/>
              </a:rPr>
              <a:t>two </a:t>
            </a:r>
            <a:r>
              <a:rPr sz="2400" b="1" spc="-5" dirty="0">
                <a:latin typeface="Century Schoolbook"/>
                <a:cs typeface="Century Schoolbook"/>
              </a:rPr>
              <a:t>measurements-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one </a:t>
            </a:r>
            <a:r>
              <a:rPr sz="2400" b="1" spc="-5" dirty="0">
                <a:latin typeface="Century Schoolbook"/>
                <a:cs typeface="Century Schoolbook"/>
              </a:rPr>
              <a:t>during inspiration </a:t>
            </a:r>
            <a:r>
              <a:rPr sz="2400" b="1" dirty="0">
                <a:latin typeface="Century Schoolbook"/>
                <a:cs typeface="Century Schoolbook"/>
              </a:rPr>
              <a:t>and the other during 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expiration-and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record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the</a:t>
            </a:r>
            <a:r>
              <a:rPr sz="2400" b="1" spc="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average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.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13436"/>
            <a:ext cx="79963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en-US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</a:t>
            </a:r>
            <a:r>
              <a:rPr lang="en-US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ruption</a:t>
            </a:r>
            <a:r>
              <a:rPr lang="en-US" sz="2000" u="sng" spc="10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000" u="sng" spc="1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0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</a:t>
            </a:r>
            <a:r>
              <a:rPr lang="en-US" sz="2000" u="sng" spc="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Milk</a:t>
            </a:r>
            <a:r>
              <a:rPr lang="en-US" sz="2000" u="sng" spc="1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Teeth</a:t>
            </a:r>
            <a:r>
              <a:rPr lang="en-US" sz="2000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</a:t>
            </a:r>
            <a:r>
              <a:rPr lang="en-US"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Deciduous </a:t>
            </a:r>
            <a:r>
              <a:rPr lang="en-US" sz="2000" spc="-560" dirty="0">
                <a:solidFill>
                  <a:srgbClr val="000000"/>
                </a:solidFill>
              </a:rPr>
              <a:t> </a:t>
            </a:r>
            <a:r>
              <a:rPr lang="en-US" sz="2000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Teeth</a:t>
            </a:r>
            <a:r>
              <a:rPr lang="en-US" sz="2500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  <a:endParaRPr lang="en-US" sz="2500" dirty="0"/>
          </a:p>
        </p:txBody>
      </p:sp>
      <p:sp>
        <p:nvSpPr>
          <p:cNvPr id="5" name="object 5"/>
          <p:cNvSpPr txBox="1"/>
          <p:nvPr/>
        </p:nvSpPr>
        <p:spPr>
          <a:xfrm>
            <a:off x="9848851" y="5888660"/>
            <a:ext cx="22669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1" y="1592326"/>
            <a:ext cx="8227696" cy="326307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10515" marR="307340" indent="-273050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latin typeface="Century Schoolbook"/>
                <a:cs typeface="Century Schoolbook"/>
              </a:rPr>
              <a:t>The </a:t>
            </a:r>
            <a:r>
              <a:rPr sz="2400" spc="-5" dirty="0">
                <a:latin typeface="Century Schoolbook"/>
                <a:cs typeface="Century Schoolbook"/>
              </a:rPr>
              <a:t>development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5" dirty="0">
                <a:latin typeface="Century Schoolbook"/>
                <a:cs typeface="Century Schoolbook"/>
              </a:rPr>
              <a:t>human dentition </a:t>
            </a:r>
            <a:r>
              <a:rPr sz="2400" dirty="0">
                <a:latin typeface="Century Schoolbook"/>
                <a:cs typeface="Century Schoolbook"/>
              </a:rPr>
              <a:t>is a 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continuous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process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from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5</a:t>
            </a:r>
            <a:r>
              <a:rPr sz="2400" spc="-7" baseline="24305" dirty="0">
                <a:latin typeface="Century Schoolbook"/>
                <a:cs typeface="Century Schoolbook"/>
              </a:rPr>
              <a:t>th</a:t>
            </a:r>
            <a:r>
              <a:rPr sz="2400" spc="322" baseline="2430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month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in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utero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to </a:t>
            </a:r>
            <a:r>
              <a:rPr sz="2400" spc="-65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maturity</a:t>
            </a:r>
            <a:endParaRPr sz="2400" dirty="0">
              <a:latin typeface="Century Schoolbook"/>
              <a:cs typeface="Century Schoolbook"/>
            </a:endParaRPr>
          </a:p>
          <a:p>
            <a:pPr marL="310515" marR="30480" indent="-273050">
              <a:lnSpc>
                <a:spcPts val="2610"/>
              </a:lnSpc>
              <a:spcBef>
                <a:spcPts val="610"/>
              </a:spcBef>
            </a:pPr>
            <a:r>
              <a:rPr sz="2400" b="1" dirty="0">
                <a:latin typeface="Century Schoolbook"/>
                <a:cs typeface="Century Schoolbook"/>
              </a:rPr>
              <a:t>By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5–7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months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of</a:t>
            </a:r>
            <a:r>
              <a:rPr sz="2400" b="1" spc="-5" dirty="0">
                <a:latin typeface="Century Schoolbook"/>
                <a:cs typeface="Century Schoolbook"/>
              </a:rPr>
              <a:t> life, </a:t>
            </a:r>
            <a:r>
              <a:rPr sz="2400" dirty="0">
                <a:latin typeface="Century Schoolbook"/>
                <a:cs typeface="Century Schoolbook"/>
              </a:rPr>
              <a:t>The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first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deciduous</a:t>
            </a:r>
            <a:r>
              <a:rPr sz="2400" spc="-5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teeth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usually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erupt</a:t>
            </a:r>
          </a:p>
          <a:p>
            <a:pPr marL="952500" marR="518159" indent="-182880">
              <a:lnSpc>
                <a:spcPts val="2590"/>
              </a:lnSpc>
              <a:spcBef>
                <a:spcPts val="570"/>
              </a:spcBef>
              <a:buClr>
                <a:srgbClr val="DF752E"/>
              </a:buClr>
              <a:buSzPct val="60416"/>
              <a:buFont typeface="Wingdings"/>
              <a:buChar char=""/>
              <a:tabLst>
                <a:tab pos="95313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Babies may differ </a:t>
            </a:r>
            <a:r>
              <a:rPr sz="2400" dirty="0">
                <a:latin typeface="Century Schoolbook"/>
                <a:cs typeface="Century Schoolbook"/>
              </a:rPr>
              <a:t>in </a:t>
            </a:r>
            <a:r>
              <a:rPr sz="2400" spc="-5" dirty="0">
                <a:latin typeface="Century Schoolbook"/>
                <a:cs typeface="Century Schoolbook"/>
              </a:rPr>
              <a:t>the timing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5" dirty="0">
                <a:latin typeface="Century Schoolbook"/>
                <a:cs typeface="Century Schoolbook"/>
              </a:rPr>
              <a:t>tooth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eruption</a:t>
            </a:r>
          </a:p>
          <a:p>
            <a:pPr marL="952500" marR="67945" indent="-182880">
              <a:lnSpc>
                <a:spcPct val="90100"/>
              </a:lnSpc>
              <a:spcBef>
                <a:spcPts val="540"/>
              </a:spcBef>
              <a:buClr>
                <a:srgbClr val="DF752E"/>
              </a:buClr>
              <a:buSzPct val="60416"/>
              <a:buFont typeface="Wingdings"/>
              <a:buChar char=""/>
              <a:tabLst>
                <a:tab pos="95313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Teething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 a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normal</a:t>
            </a:r>
            <a:r>
              <a:rPr sz="2400" spc="-5" dirty="0">
                <a:latin typeface="Century Schoolbook"/>
                <a:cs typeface="Century Schoolbook"/>
              </a:rPr>
              <a:t> continuous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process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development and does not </a:t>
            </a:r>
            <a:r>
              <a:rPr sz="2400" dirty="0">
                <a:latin typeface="Century Schoolbook"/>
                <a:cs typeface="Century Schoolbook"/>
              </a:rPr>
              <a:t>cause fever or </a:t>
            </a:r>
            <a:r>
              <a:rPr sz="2400" spc="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respiratory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problems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9116" y="675513"/>
            <a:ext cx="5275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b="0" spc="-5" dirty="0"/>
              <a:t>E</a:t>
            </a:r>
            <a:r>
              <a:rPr lang="en-US" sz="2400" b="0" spc="-5" dirty="0"/>
              <a:t>ruption</a:t>
            </a:r>
            <a:r>
              <a:rPr lang="en-US" sz="2400" b="0" spc="145" dirty="0"/>
              <a:t> </a:t>
            </a:r>
            <a:r>
              <a:rPr lang="en-US" sz="2400" b="0" dirty="0"/>
              <a:t>of</a:t>
            </a:r>
            <a:r>
              <a:rPr lang="en-US" sz="2400" b="0" spc="140" dirty="0"/>
              <a:t> </a:t>
            </a:r>
            <a:r>
              <a:rPr lang="en-US" sz="2400" b="0" dirty="0"/>
              <a:t>The</a:t>
            </a:r>
            <a:r>
              <a:rPr lang="en-US" sz="2400" b="0" spc="160" dirty="0"/>
              <a:t> </a:t>
            </a:r>
            <a:r>
              <a:rPr lang="en-US" sz="2400" b="0" spc="-5" dirty="0"/>
              <a:t>Milk</a:t>
            </a:r>
            <a:r>
              <a:rPr lang="en-US" sz="2400" b="0" spc="150" dirty="0"/>
              <a:t> </a:t>
            </a:r>
            <a:r>
              <a:rPr lang="en-US" sz="2400" b="0" spc="-5" dirty="0"/>
              <a:t>Teeth</a:t>
            </a:r>
            <a:endParaRPr lang="en-US" sz="2400" dirty="0"/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801" y="1268476"/>
            <a:ext cx="6131328" cy="52085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48851" y="5888660"/>
            <a:ext cx="22669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3" y="835279"/>
            <a:ext cx="605536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400" i="1" u="sng" spc="1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700" i="1" u="sng" spc="15" dirty="0">
                <a:uFill>
                  <a:solidFill>
                    <a:srgbClr val="565F6C"/>
                  </a:solidFill>
                </a:uFill>
              </a:rPr>
              <a:t>ross</a:t>
            </a:r>
            <a:r>
              <a:rPr lang="en-US" sz="2700" i="1" u="sng" spc="16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i="1" u="sng" spc="15" dirty="0">
                <a:uFill>
                  <a:solidFill>
                    <a:srgbClr val="565F6C"/>
                  </a:solidFill>
                </a:uFill>
              </a:rPr>
              <a:t>Motor</a:t>
            </a:r>
            <a:r>
              <a:rPr lang="en-US" sz="2700" i="1" u="sng" spc="15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700" i="1" u="sng" spc="10" dirty="0">
                <a:uFill>
                  <a:solidFill>
                    <a:srgbClr val="565F6C"/>
                  </a:solidFill>
                </a:uFill>
              </a:rPr>
              <a:t>Development</a:t>
            </a:r>
            <a:endParaRPr lang="en-US"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1898395" y="1397635"/>
            <a:ext cx="1527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1</a:t>
            </a:r>
            <a:r>
              <a:rPr sz="2800" b="1" spc="-75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800" b="1" spc="-10" dirty="0">
                <a:solidFill>
                  <a:srgbClr val="D2601C"/>
                </a:solidFill>
                <a:latin typeface="Century Schoolbook"/>
                <a:cs typeface="Century Schoolbook"/>
              </a:rPr>
              <a:t>month</a:t>
            </a:r>
            <a:endParaRPr sz="2800">
              <a:latin typeface="Century Schoolbook"/>
              <a:cs typeface="Century School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8995" y="1363498"/>
            <a:ext cx="6313805" cy="26790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261110" indent="20955">
              <a:lnSpc>
                <a:spcPct val="108700"/>
              </a:lnSpc>
              <a:spcBef>
                <a:spcPts val="70"/>
              </a:spcBef>
            </a:pPr>
            <a:r>
              <a:rPr sz="2800" b="1" spc="-5" dirty="0">
                <a:latin typeface="Century Schoolbook"/>
                <a:cs typeface="Century Schoolbook"/>
              </a:rPr>
              <a:t>Raises</a:t>
            </a:r>
            <a:r>
              <a:rPr sz="2800" b="1" spc="5" dirty="0">
                <a:latin typeface="Century Schoolbook"/>
                <a:cs typeface="Century Schoolbook"/>
              </a:rPr>
              <a:t> </a:t>
            </a:r>
            <a:r>
              <a:rPr sz="2800" b="1" spc="-10" dirty="0">
                <a:latin typeface="Century Schoolbook"/>
                <a:cs typeface="Century Schoolbook"/>
              </a:rPr>
              <a:t>head</a:t>
            </a:r>
            <a:r>
              <a:rPr sz="2800" b="1" spc="-15" dirty="0">
                <a:latin typeface="Century Schoolbook"/>
                <a:cs typeface="Century Schoolbook"/>
              </a:rPr>
              <a:t> </a:t>
            </a:r>
            <a:r>
              <a:rPr sz="2800" b="1" spc="-5" dirty="0">
                <a:latin typeface="Century Schoolbook"/>
                <a:cs typeface="Century Schoolbook"/>
              </a:rPr>
              <a:t>momentarily </a:t>
            </a:r>
            <a:r>
              <a:rPr sz="2800" b="1" dirty="0">
                <a:latin typeface="Century Schoolbook"/>
                <a:cs typeface="Century Schoolbook"/>
              </a:rPr>
              <a:t> </a:t>
            </a:r>
            <a:r>
              <a:rPr sz="2800" b="1" spc="-10" dirty="0">
                <a:latin typeface="Century Schoolbook"/>
                <a:cs typeface="Century Schoolbook"/>
              </a:rPr>
              <a:t>when prone,</a:t>
            </a:r>
            <a:r>
              <a:rPr sz="2800" b="1" dirty="0">
                <a:latin typeface="Century Schoolbook"/>
                <a:cs typeface="Century Schoolbook"/>
              </a:rPr>
              <a:t> </a:t>
            </a:r>
            <a:r>
              <a:rPr sz="2800" b="1" spc="-10" dirty="0">
                <a:latin typeface="Century Schoolbook"/>
                <a:cs typeface="Century Schoolbook"/>
              </a:rPr>
              <a:t>hips </a:t>
            </a:r>
            <a:r>
              <a:rPr sz="2800" b="1" spc="-5" dirty="0">
                <a:latin typeface="Century Schoolbook"/>
                <a:cs typeface="Century Schoolbook"/>
              </a:rPr>
              <a:t>extended </a:t>
            </a:r>
            <a:r>
              <a:rPr sz="2800" b="1" spc="-79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When prone </a:t>
            </a:r>
            <a:r>
              <a:rPr sz="2600" b="1" spc="-5" dirty="0">
                <a:latin typeface="Century Schoolbook"/>
                <a:cs typeface="Century Schoolbook"/>
              </a:rPr>
              <a:t>raises chin </a:t>
            </a:r>
            <a:r>
              <a:rPr sz="2600" b="1" dirty="0">
                <a:latin typeface="Century Schoolbook"/>
                <a:cs typeface="Century Schoolbook"/>
              </a:rPr>
              <a:t>off </a:t>
            </a:r>
            <a:r>
              <a:rPr sz="2600" b="1" spc="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couch</a:t>
            </a:r>
            <a:endParaRPr sz="2600" dirty="0">
              <a:latin typeface="Century Schoolbook"/>
              <a:cs typeface="Century Schoolbook"/>
            </a:endParaRPr>
          </a:p>
          <a:p>
            <a:pPr marL="12700" marR="5080" indent="36195">
              <a:lnSpc>
                <a:spcPct val="109200"/>
              </a:lnSpc>
            </a:pPr>
            <a:r>
              <a:rPr sz="2600" b="1" dirty="0">
                <a:latin typeface="Century Schoolbook"/>
                <a:cs typeface="Century Schoolbook"/>
              </a:rPr>
              <a:t>In a prone position, he </a:t>
            </a:r>
            <a:r>
              <a:rPr sz="2600" b="1" spc="-5" dirty="0">
                <a:latin typeface="Century Schoolbook"/>
                <a:cs typeface="Century Schoolbook"/>
              </a:rPr>
              <a:t>will </a:t>
            </a:r>
            <a:r>
              <a:rPr sz="2600" b="1" dirty="0">
                <a:latin typeface="Century Schoolbook"/>
                <a:cs typeface="Century Schoolbook"/>
              </a:rPr>
              <a:t>rest on </a:t>
            </a:r>
            <a:r>
              <a:rPr sz="2600" b="1" spc="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forearm,</a:t>
            </a:r>
            <a:r>
              <a:rPr sz="2600" b="1" spc="-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keep</a:t>
            </a:r>
            <a:r>
              <a:rPr sz="2600" b="1" spc="-2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head</a:t>
            </a:r>
            <a:r>
              <a:rPr sz="2600" b="1" spc="-3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in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midline,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make</a:t>
            </a:r>
            <a:endParaRPr sz="2600" dirty="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7728" y="2321180"/>
            <a:ext cx="15919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2</a:t>
            </a:r>
            <a:r>
              <a:rPr sz="2600" b="1" spc="-70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endParaRPr sz="26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7728" y="3187065"/>
            <a:ext cx="15919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3</a:t>
            </a:r>
            <a:r>
              <a:rPr sz="2600" b="1" spc="-70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endParaRPr sz="2600">
              <a:latin typeface="Century Schoolbook"/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8995" y="4053078"/>
            <a:ext cx="65576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entury Schoolbook"/>
                <a:cs typeface="Century Schoolbook"/>
              </a:rPr>
              <a:t>crawling</a:t>
            </a:r>
            <a:r>
              <a:rPr sz="2600" b="1" spc="-3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movements</a:t>
            </a:r>
            <a:r>
              <a:rPr sz="2600" b="1" spc="-2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with legs,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arches</a:t>
            </a:r>
            <a:endParaRPr sz="2600">
              <a:latin typeface="Century Schoolbook"/>
              <a:cs typeface="Century School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8994" y="4449928"/>
            <a:ext cx="4221480" cy="175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2600" b="1" dirty="0">
                <a:latin typeface="Century Schoolbook"/>
                <a:cs typeface="Century Schoolbook"/>
              </a:rPr>
              <a:t>back,</a:t>
            </a:r>
            <a:r>
              <a:rPr sz="2600" b="1" spc="-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and</a:t>
            </a:r>
            <a:r>
              <a:rPr sz="2600" b="1" spc="-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supports</a:t>
            </a:r>
            <a:r>
              <a:rPr sz="2600" b="1" spc="-5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head </a:t>
            </a:r>
            <a:r>
              <a:rPr sz="2600" b="1" spc="-7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when</a:t>
            </a:r>
            <a:r>
              <a:rPr sz="2600" b="1" spc="-4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held</a:t>
            </a:r>
            <a:r>
              <a:rPr sz="2600" b="1" spc="-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erect.</a:t>
            </a:r>
            <a:endParaRPr sz="2600">
              <a:latin typeface="Century Schoolbook"/>
              <a:cs typeface="Century Schoolbook"/>
            </a:endParaRPr>
          </a:p>
          <a:p>
            <a:pPr marL="12700" marR="143510" indent="36195">
              <a:lnSpc>
                <a:spcPct val="109200"/>
              </a:lnSpc>
            </a:pPr>
            <a:r>
              <a:rPr sz="2600" b="1" dirty="0">
                <a:latin typeface="Century Schoolbook"/>
                <a:cs typeface="Century Schoolbook"/>
              </a:rPr>
              <a:t>Sits</a:t>
            </a:r>
            <a:r>
              <a:rPr sz="2600" b="1" spc="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with</a:t>
            </a:r>
            <a:r>
              <a:rPr sz="2600" b="1" spc="7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support. </a:t>
            </a:r>
            <a:r>
              <a:rPr sz="2600" b="1" spc="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Moro</a:t>
            </a:r>
            <a:r>
              <a:rPr sz="2600" b="1" spc="-5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reflex</a:t>
            </a:r>
            <a:r>
              <a:rPr sz="2600" b="1" spc="-4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disappears.</a:t>
            </a:r>
            <a:endParaRPr sz="2600">
              <a:latin typeface="Century Schoolbook"/>
              <a:cs typeface="Century School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7728" y="5351780"/>
            <a:ext cx="15919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4</a:t>
            </a:r>
            <a:r>
              <a:rPr sz="2600" b="1" spc="-70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6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endParaRPr sz="2600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8851" y="5871768"/>
            <a:ext cx="226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1" y="4797426"/>
            <a:ext cx="2381249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3925" y="2852801"/>
            <a:ext cx="2124074" cy="26638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534414"/>
            <a:ext cx="5257799" cy="9133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900" i="1" u="sng" spc="5" dirty="0">
                <a:uFill>
                  <a:solidFill>
                    <a:srgbClr val="565F6C"/>
                  </a:solidFill>
                </a:uFill>
              </a:rPr>
              <a:t>C</a:t>
            </a:r>
            <a:r>
              <a:rPr lang="en-US" sz="2300" i="1" u="sng" spc="5" dirty="0">
                <a:uFill>
                  <a:solidFill>
                    <a:srgbClr val="565F6C"/>
                  </a:solidFill>
                </a:uFill>
              </a:rPr>
              <a:t>ont</a:t>
            </a:r>
            <a:r>
              <a:rPr lang="en-US" sz="2900" i="1" u="sng" spc="5" dirty="0">
                <a:uFill>
                  <a:solidFill>
                    <a:srgbClr val="565F6C"/>
                  </a:solidFill>
                </a:uFill>
              </a:rPr>
              <a:t>.</a:t>
            </a:r>
            <a:r>
              <a:rPr lang="en-US" sz="2900" i="1" u="sng" spc="-1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900" i="1" u="sng" spc="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lang="en-US" sz="2300" i="1" u="sng" spc="5" dirty="0">
                <a:uFill>
                  <a:solidFill>
                    <a:srgbClr val="565F6C"/>
                  </a:solidFill>
                </a:uFill>
              </a:rPr>
              <a:t>ross</a:t>
            </a:r>
            <a:r>
              <a:rPr lang="en-US" sz="2300" i="1" u="sng" spc="15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300" i="1" u="sng" spc="10" dirty="0">
                <a:uFill>
                  <a:solidFill>
                    <a:srgbClr val="565F6C"/>
                  </a:solidFill>
                </a:uFill>
              </a:rPr>
              <a:t>Motor</a:t>
            </a:r>
            <a:br>
              <a:rPr lang="en-US" sz="2300" dirty="0"/>
            </a:br>
            <a:r>
              <a:rPr lang="en-US" sz="2300" i="1" u="heavy" spc="10" dirty="0">
                <a:uFill>
                  <a:solidFill>
                    <a:srgbClr val="565F6C"/>
                  </a:solidFill>
                </a:uFill>
              </a:rPr>
              <a:t>Development</a:t>
            </a:r>
            <a:r>
              <a:rPr lang="en-US" sz="2900" i="1" u="heavy" spc="10" dirty="0">
                <a:uFill>
                  <a:solidFill>
                    <a:srgbClr val="565F6C"/>
                  </a:solidFill>
                </a:uFill>
              </a:rPr>
              <a:t>.</a:t>
            </a:r>
            <a:endParaRPr lang="en-US" sz="2900" dirty="0"/>
          </a:p>
        </p:txBody>
      </p:sp>
      <p:sp>
        <p:nvSpPr>
          <p:cNvPr id="4" name="object 4"/>
          <p:cNvSpPr txBox="1"/>
          <p:nvPr/>
        </p:nvSpPr>
        <p:spPr>
          <a:xfrm>
            <a:off x="2059941" y="1598422"/>
            <a:ext cx="1205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b="1" dirty="0">
                <a:solidFill>
                  <a:srgbClr val="D2601C"/>
                </a:solidFill>
                <a:latin typeface="Century Schoolbook"/>
                <a:cs typeface="Century Schoolbook"/>
              </a:rPr>
              <a:t>6</a:t>
            </a:r>
            <a:r>
              <a:rPr b="1" spc="-85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0751" y="1552930"/>
            <a:ext cx="4973955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 marR="1208405" indent="-59690">
              <a:lnSpc>
                <a:spcPct val="115100"/>
              </a:lnSpc>
              <a:spcBef>
                <a:spcPts val="100"/>
              </a:spcBef>
            </a:pPr>
            <a:r>
              <a:rPr sz="2000" b="1" dirty="0">
                <a:latin typeface="Century Schoolbook"/>
                <a:cs typeface="Century Schoolbook"/>
              </a:rPr>
              <a:t>Puts</a:t>
            </a:r>
            <a:r>
              <a:rPr sz="2000" b="1" spc="-3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feet</a:t>
            </a:r>
            <a:r>
              <a:rPr sz="2000" b="1" spc="-2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in</a:t>
            </a:r>
            <a:r>
              <a:rPr sz="2000" b="1" spc="-1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mouth</a:t>
            </a:r>
            <a:r>
              <a:rPr sz="2000" b="1" spc="-5" dirty="0">
                <a:latin typeface="Century Schoolbook"/>
                <a:cs typeface="Century Schoolbook"/>
              </a:rPr>
              <a:t> in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supine </a:t>
            </a:r>
            <a:r>
              <a:rPr sz="2000" b="1" spc="-55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position.</a:t>
            </a:r>
            <a:r>
              <a:rPr sz="2000" b="1" spc="-3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Starts</a:t>
            </a:r>
            <a:r>
              <a:rPr sz="2000" b="1" spc="-15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crawling.</a:t>
            </a:r>
            <a:endParaRPr sz="2000">
              <a:latin typeface="Century Schoolbook"/>
              <a:cs typeface="Century Schoolbook"/>
            </a:endParaRPr>
          </a:p>
          <a:p>
            <a:pPr marL="33655">
              <a:spcBef>
                <a:spcPts val="359"/>
              </a:spcBef>
            </a:pPr>
            <a:r>
              <a:rPr sz="2000" b="1" dirty="0">
                <a:latin typeface="Century Schoolbook"/>
                <a:cs typeface="Century Schoolbook"/>
              </a:rPr>
              <a:t>Sits</a:t>
            </a:r>
            <a:r>
              <a:rPr sz="2000" b="1" spc="-25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without </a:t>
            </a:r>
            <a:r>
              <a:rPr sz="2000" b="1" dirty="0">
                <a:latin typeface="Century Schoolbook"/>
                <a:cs typeface="Century Schoolbook"/>
              </a:rPr>
              <a:t>support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leaning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forward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9941" y="2299844"/>
            <a:ext cx="1228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solidFill>
                  <a:srgbClr val="FF0066"/>
                </a:solidFill>
                <a:latin typeface="Century Schoolbook"/>
                <a:cs typeface="Century Schoolbook"/>
              </a:rPr>
              <a:t>7</a:t>
            </a:r>
            <a:r>
              <a:rPr sz="2000" b="1" spc="-80" dirty="0">
                <a:solidFill>
                  <a:srgbClr val="FF0066"/>
                </a:solidFill>
                <a:latin typeface="Century Schoolbook"/>
                <a:cs typeface="Century Schoolbook"/>
              </a:rPr>
              <a:t> </a:t>
            </a:r>
            <a:r>
              <a:rPr sz="2000" b="1" dirty="0">
                <a:solidFill>
                  <a:srgbClr val="FF0066"/>
                </a:solidFill>
                <a:latin typeface="Century Schoolbook"/>
                <a:cs typeface="Century Schoolbook"/>
              </a:rPr>
              <a:t>months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941" y="3702178"/>
            <a:ext cx="1228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8</a:t>
            </a:r>
            <a:r>
              <a:rPr sz="2000" b="1" spc="-80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9940" y="4403293"/>
            <a:ext cx="549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9</a:t>
            </a: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-</a:t>
            </a:r>
            <a:r>
              <a:rPr sz="2000" b="1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10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9226" y="3657067"/>
            <a:ext cx="4297680" cy="1077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">
              <a:lnSpc>
                <a:spcPct val="115100"/>
              </a:lnSpc>
              <a:spcBef>
                <a:spcPts val="95"/>
              </a:spcBef>
            </a:pPr>
            <a:r>
              <a:rPr sz="2000" b="1" dirty="0">
                <a:latin typeface="Century Schoolbook"/>
                <a:cs typeface="Century Schoolbook"/>
              </a:rPr>
              <a:t>Rolls</a:t>
            </a:r>
            <a:r>
              <a:rPr sz="2000" b="1" spc="-2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over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from</a:t>
            </a:r>
            <a:r>
              <a:rPr sz="2000" b="1" spc="-1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prone</a:t>
            </a:r>
            <a:r>
              <a:rPr sz="2000" b="1" spc="-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to</a:t>
            </a:r>
            <a:r>
              <a:rPr sz="2000" b="1" spc="-5" dirty="0">
                <a:latin typeface="Century Schoolbook"/>
                <a:cs typeface="Century Schoolbook"/>
              </a:rPr>
              <a:t> supine. </a:t>
            </a:r>
            <a:r>
              <a:rPr sz="2000" b="1" spc="-56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Sits</a:t>
            </a:r>
            <a:r>
              <a:rPr sz="2000" b="1" spc="10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well</a:t>
            </a:r>
            <a:r>
              <a:rPr sz="2000" b="1" spc="10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with</a:t>
            </a:r>
            <a:r>
              <a:rPr sz="2000" b="1" spc="8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no</a:t>
            </a:r>
            <a:r>
              <a:rPr sz="2000" b="1" spc="114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support </a:t>
            </a:r>
            <a:r>
              <a:rPr sz="2000" b="1" spc="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Creeps</a:t>
            </a:r>
            <a:r>
              <a:rPr sz="2000" b="1" spc="-25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and </a:t>
            </a:r>
            <a:r>
              <a:rPr sz="2000" b="1" spc="-5" dirty="0">
                <a:latin typeface="Century Schoolbook"/>
                <a:cs typeface="Century Schoolbook"/>
              </a:rPr>
              <a:t>pulls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self</a:t>
            </a:r>
            <a:r>
              <a:rPr sz="2000" b="1" spc="-25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upright.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9940" y="4709008"/>
            <a:ext cx="5593080" cy="17786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8460" indent="-366395">
              <a:spcBef>
                <a:spcPts val="459"/>
              </a:spcBef>
              <a:buAutoNum type="arabicPlain" startAt="11"/>
              <a:tabLst>
                <a:tab pos="379095" algn="l"/>
              </a:tabLst>
            </a:pP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</a:t>
            </a:r>
            <a:r>
              <a:rPr sz="2000" b="1" spc="-10" dirty="0">
                <a:solidFill>
                  <a:srgbClr val="D2601C"/>
                </a:solidFill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Stands</a:t>
            </a:r>
            <a:r>
              <a:rPr sz="2000" b="1" spc="1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unsupported.</a:t>
            </a:r>
            <a:endParaRPr sz="2000">
              <a:latin typeface="Century Schoolbook"/>
              <a:cs typeface="Century Schoolbook"/>
            </a:endParaRPr>
          </a:p>
          <a:p>
            <a:pPr marL="379095" marR="5080" indent="-379095">
              <a:lnSpc>
                <a:spcPct val="114999"/>
              </a:lnSpc>
              <a:buAutoNum type="arabicPlain" startAt="11"/>
              <a:tabLst>
                <a:tab pos="379095" algn="l"/>
                <a:tab pos="1507490" algn="l"/>
              </a:tabLst>
            </a:pPr>
            <a:r>
              <a:rPr sz="20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		</a:t>
            </a:r>
            <a:r>
              <a:rPr sz="2000" b="1" dirty="0">
                <a:latin typeface="Century Schoolbook"/>
                <a:cs typeface="Century Schoolbook"/>
              </a:rPr>
              <a:t>Walks supported. </a:t>
            </a:r>
            <a:r>
              <a:rPr sz="2000" b="1" spc="-5" dirty="0">
                <a:latin typeface="Century Schoolbook"/>
                <a:cs typeface="Century Schoolbook"/>
              </a:rPr>
              <a:t>Toddles’ way </a:t>
            </a:r>
            <a:r>
              <a:rPr sz="2000" b="1" spc="-56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and</a:t>
            </a:r>
            <a:r>
              <a:rPr sz="2000" b="1" spc="-1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cruises</a:t>
            </a:r>
            <a:r>
              <a:rPr sz="2000" b="1" spc="-30" dirty="0">
                <a:latin typeface="Century Schoolbook"/>
                <a:cs typeface="Century Schoolbook"/>
              </a:rPr>
              <a:t> </a:t>
            </a:r>
            <a:r>
              <a:rPr sz="2000" b="1" dirty="0">
                <a:latin typeface="Century Schoolbook"/>
                <a:cs typeface="Century Schoolbook"/>
              </a:rPr>
              <a:t>around </a:t>
            </a:r>
            <a:r>
              <a:rPr sz="2000" b="1" spc="-5" dirty="0">
                <a:latin typeface="Century Schoolbook"/>
                <a:cs typeface="Century Schoolbook"/>
              </a:rPr>
              <a:t>furniture.</a:t>
            </a:r>
            <a:endParaRPr sz="2000">
              <a:latin typeface="Century Schoolbook"/>
              <a:cs typeface="Century Schoolbook"/>
            </a:endParaRPr>
          </a:p>
          <a:p>
            <a:pPr marL="1472565">
              <a:spcBef>
                <a:spcPts val="360"/>
              </a:spcBef>
            </a:pPr>
            <a:r>
              <a:rPr sz="2000" b="1" dirty="0">
                <a:latin typeface="Century Schoolbook"/>
                <a:cs typeface="Century Schoolbook"/>
              </a:rPr>
              <a:t>Walks</a:t>
            </a:r>
            <a:r>
              <a:rPr sz="2000" b="1" spc="-50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well.</a:t>
            </a:r>
            <a:endParaRPr sz="2000">
              <a:latin typeface="Century Schoolbook"/>
              <a:cs typeface="Century Schoolbook"/>
            </a:endParaRPr>
          </a:p>
          <a:p>
            <a:pPr marL="1472565">
              <a:spcBef>
                <a:spcPts val="360"/>
              </a:spcBef>
            </a:pPr>
            <a:r>
              <a:rPr sz="2000" b="1" dirty="0">
                <a:latin typeface="Century Schoolbook"/>
                <a:cs typeface="Century Schoolbook"/>
              </a:rPr>
              <a:t>Starts</a:t>
            </a:r>
            <a:r>
              <a:rPr sz="2000" b="1" spc="-15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crawling</a:t>
            </a:r>
            <a:r>
              <a:rPr sz="2000" b="1" spc="-25" dirty="0">
                <a:latin typeface="Century Schoolbook"/>
                <a:cs typeface="Century Schoolbook"/>
              </a:rPr>
              <a:t> </a:t>
            </a:r>
            <a:r>
              <a:rPr sz="2000" b="1" spc="-5" dirty="0">
                <a:latin typeface="Century Schoolbook"/>
                <a:cs typeface="Century Schoolbook"/>
              </a:rPr>
              <a:t>upstairs.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2268" y="1258569"/>
            <a:ext cx="184666" cy="943610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200" dirty="0">
                <a:solidFill>
                  <a:srgbClr val="565F6C"/>
                </a:solidFill>
                <a:latin typeface="Verdana"/>
                <a:cs typeface="Verdana"/>
              </a:rPr>
              <a:t>26/11/2018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48851" y="5871768"/>
            <a:ext cx="226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5351" y="260350"/>
            <a:ext cx="2152649" cy="2152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3" y="896239"/>
            <a:ext cx="5911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b="0" dirty="0"/>
              <a:t>M</a:t>
            </a:r>
            <a:r>
              <a:rPr sz="2400" b="0" dirty="0"/>
              <a:t>OTOR</a:t>
            </a:r>
            <a:r>
              <a:rPr sz="2400" b="0" spc="155" dirty="0"/>
              <a:t> </a:t>
            </a:r>
            <a:r>
              <a:rPr sz="2400" b="0" spc="-5" dirty="0"/>
              <a:t>DEVELOPMENT</a:t>
            </a:r>
            <a:r>
              <a:rPr sz="2400" b="0" spc="165" dirty="0"/>
              <a:t> </a:t>
            </a:r>
            <a:r>
              <a:rPr sz="2400" b="0" spc="-5" dirty="0"/>
              <a:t>IN</a:t>
            </a:r>
            <a:r>
              <a:rPr sz="2400" b="0" spc="160" dirty="0"/>
              <a:t> </a:t>
            </a:r>
            <a:r>
              <a:rPr sz="2400" b="0" spc="-10" dirty="0"/>
              <a:t>INFANTS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00201" y="4162931"/>
          <a:ext cx="8686799" cy="107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6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220">
                <a:tc>
                  <a:txBody>
                    <a:bodyPr/>
                    <a:lstStyle/>
                    <a:p>
                      <a:pPr marR="2133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" dirty="0">
                          <a:latin typeface="Century Schoolbook"/>
                          <a:cs typeface="Century Schoolbook"/>
                        </a:rPr>
                        <a:t>9-11</a:t>
                      </a:r>
                      <a:r>
                        <a:rPr sz="2400" spc="-4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2400" spc="-5" dirty="0">
                          <a:latin typeface="Century Schoolbook"/>
                          <a:cs typeface="Century Schoolbook"/>
                        </a:rPr>
                        <a:t>months</a:t>
                      </a:r>
                      <a:endParaRPr sz="2400">
                        <a:latin typeface="Century Schoolbook"/>
                        <a:cs typeface="Century Schoolbook"/>
                      </a:endParaRPr>
                    </a:p>
                    <a:p>
                      <a:pPr marR="1784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creeping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85445" marR="484505" indent="52705">
                        <a:lnSpc>
                          <a:spcPct val="123500"/>
                        </a:lnSpc>
                        <a:spcBef>
                          <a:spcPts val="305"/>
                        </a:spcBef>
                      </a:pP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12</a:t>
                      </a:r>
                      <a:r>
                        <a:rPr sz="1800" b="1" spc="-8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b="1" dirty="0">
                          <a:latin typeface="Century Schoolbook"/>
                          <a:cs typeface="Century Schoolbook"/>
                        </a:rPr>
                        <a:t>months </a:t>
                      </a:r>
                      <a:r>
                        <a:rPr sz="1800" b="1" spc="-5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walks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2125" marR="568960" indent="55880">
                        <a:lnSpc>
                          <a:spcPct val="1235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Century Schoolbook"/>
                          <a:cs typeface="Century Schoolbook"/>
                        </a:rPr>
                        <a:t>Pa</a:t>
                      </a: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r</a:t>
                      </a:r>
                      <a:r>
                        <a:rPr sz="1800" b="1" dirty="0">
                          <a:latin typeface="Century Schoolbook"/>
                          <a:cs typeface="Century Schoolbook"/>
                        </a:rPr>
                        <a:t>a</a:t>
                      </a: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chute  reflex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7721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b="1" spc="-5" dirty="0">
                          <a:latin typeface="Century Schoolbook"/>
                          <a:cs typeface="Century Schoolbook"/>
                        </a:rPr>
                        <a:t>Walks</a:t>
                      </a:r>
                      <a:r>
                        <a:rPr sz="1600" b="1" spc="-4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600" b="1" spc="-10" dirty="0">
                          <a:latin typeface="Century Schoolbook"/>
                          <a:cs typeface="Century Schoolbook"/>
                        </a:rPr>
                        <a:t>well</a:t>
                      </a:r>
                      <a:endParaRPr sz="1600">
                        <a:latin typeface="Century Schoolbook"/>
                        <a:cs typeface="Century Schoolbook"/>
                      </a:endParaRPr>
                    </a:p>
                    <a:p>
                      <a:pPr marL="5765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12</a:t>
                      </a:r>
                      <a:r>
                        <a:rPr sz="1800" b="1" spc="-3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b="1" dirty="0">
                          <a:latin typeface="Century Schoolbook"/>
                          <a:cs typeface="Century Schoolbook"/>
                        </a:rPr>
                        <a:t>months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5" dirty="0">
                          <a:latin typeface="Century Schoolbook"/>
                          <a:cs typeface="Century Schoolbook"/>
                        </a:rPr>
                        <a:t>supported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b="1" spc="-5" dirty="0">
                          <a:latin typeface="Century Schoolbook"/>
                          <a:cs typeface="Century Schoolbook"/>
                        </a:rPr>
                        <a:t>6-12</a:t>
                      </a:r>
                      <a:r>
                        <a:rPr sz="1400" b="1" spc="-5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400" b="1" dirty="0">
                          <a:latin typeface="Century Schoolbook"/>
                          <a:cs typeface="Century Schoolbook"/>
                        </a:rPr>
                        <a:t>months</a:t>
                      </a:r>
                      <a:endParaRPr sz="1400">
                        <a:latin typeface="Century Schoolbook"/>
                        <a:cs typeface="Century Schoolbook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524001" y="1484375"/>
            <a:ext cx="7019925" cy="2665730"/>
            <a:chOff x="0" y="1484375"/>
            <a:chExt cx="7019925" cy="2665730"/>
          </a:xfrm>
        </p:grpSpPr>
        <p:pic>
          <p:nvPicPr>
            <p:cNvPr id="6" name="object 6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84375"/>
              <a:ext cx="2484501" cy="25923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501" y="1484375"/>
              <a:ext cx="4535424" cy="2665349"/>
            </a:xfrm>
            <a:prstGeom prst="rect">
              <a:avLst/>
            </a:prstGeom>
          </p:spPr>
        </p:pic>
      </p:grpSp>
      <p:pic>
        <p:nvPicPr>
          <p:cNvPr id="8" name="object 8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16951" y="1484376"/>
            <a:ext cx="2051049" cy="26653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4" y="254330"/>
            <a:ext cx="490283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900" u="sng" spc="5" dirty="0">
                <a:uFill>
                  <a:solidFill>
                    <a:srgbClr val="565F6C"/>
                  </a:solidFill>
                </a:uFill>
              </a:rPr>
              <a:t>F</a:t>
            </a:r>
            <a:r>
              <a:rPr lang="en-US" sz="2300" u="sng" spc="5" dirty="0">
                <a:uFill>
                  <a:solidFill>
                    <a:srgbClr val="565F6C"/>
                  </a:solidFill>
                </a:uFill>
              </a:rPr>
              <a:t>ine</a:t>
            </a:r>
            <a:r>
              <a:rPr lang="en-US" sz="2300" u="sng" spc="16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300" u="sng" spc="10" dirty="0">
                <a:uFill>
                  <a:solidFill>
                    <a:srgbClr val="565F6C"/>
                  </a:solidFill>
                </a:uFill>
              </a:rPr>
              <a:t>Motor</a:t>
            </a:r>
            <a:r>
              <a:rPr lang="en-US" sz="2300" u="sng" spc="170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lang="en-US" sz="2300" u="sng" spc="10" dirty="0">
                <a:uFill>
                  <a:solidFill>
                    <a:srgbClr val="565F6C"/>
                  </a:solidFill>
                </a:uFill>
              </a:rPr>
              <a:t>Development</a:t>
            </a:r>
            <a:endParaRPr lang="en-US" sz="2300" dirty="0"/>
          </a:p>
        </p:txBody>
      </p:sp>
      <p:sp>
        <p:nvSpPr>
          <p:cNvPr id="3" name="object 3"/>
          <p:cNvSpPr txBox="1"/>
          <p:nvPr/>
        </p:nvSpPr>
        <p:spPr>
          <a:xfrm>
            <a:off x="1998065" y="862076"/>
            <a:ext cx="7927340" cy="457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43840">
              <a:lnSpc>
                <a:spcPts val="2590"/>
              </a:lnSpc>
              <a:spcBef>
                <a:spcPts val="100"/>
              </a:spcBef>
              <a:buAutoNum type="arabicPlain"/>
              <a:tabLst>
                <a:tab pos="256540" algn="l"/>
                <a:tab pos="1699895" algn="l"/>
              </a:tabLst>
            </a:pPr>
            <a:r>
              <a:rPr sz="24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	</a:t>
            </a:r>
            <a:r>
              <a:rPr sz="2400" b="1" spc="-10" dirty="0">
                <a:latin typeface="Century Schoolbook"/>
                <a:cs typeface="Century Schoolbook"/>
              </a:rPr>
              <a:t>Follows</a:t>
            </a:r>
            <a:r>
              <a:rPr sz="2400" b="1" spc="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a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moving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object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to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midline.</a:t>
            </a:r>
            <a:endParaRPr sz="2400">
              <a:latin typeface="Century Schoolbook"/>
              <a:cs typeface="Century Schoolbook"/>
            </a:endParaRPr>
          </a:p>
          <a:p>
            <a:pPr marL="285115">
              <a:lnSpc>
                <a:spcPts val="2590"/>
              </a:lnSpc>
            </a:pPr>
            <a:r>
              <a:rPr sz="2400" b="1" spc="-5" dirty="0">
                <a:latin typeface="Century Schoolbook"/>
                <a:cs typeface="Century Schoolbook"/>
              </a:rPr>
              <a:t>Responds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to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sounds</a:t>
            </a:r>
            <a:r>
              <a:rPr sz="2400" b="1" spc="-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by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blinking.</a:t>
            </a:r>
            <a:endParaRPr sz="2400">
              <a:latin typeface="Century Schoolbook"/>
              <a:cs typeface="Century Schoolbook"/>
            </a:endParaRPr>
          </a:p>
          <a:p>
            <a:pPr marL="274320" indent="-262255">
              <a:lnSpc>
                <a:spcPts val="2590"/>
              </a:lnSpc>
              <a:spcBef>
                <a:spcPts val="25"/>
              </a:spcBef>
              <a:buAutoNum type="arabicPlain" startAt="2"/>
              <a:tabLst>
                <a:tab pos="274955" algn="l"/>
                <a:tab pos="1717675" algn="l"/>
              </a:tabLst>
            </a:pPr>
            <a:r>
              <a:rPr sz="2400" b="1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months	</a:t>
            </a:r>
            <a:r>
              <a:rPr sz="2400" b="1" spc="-5" dirty="0">
                <a:latin typeface="Century Schoolbook"/>
                <a:cs typeface="Century Schoolbook"/>
              </a:rPr>
              <a:t>Hands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often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open.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Grasp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reflex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is</a:t>
            </a:r>
            <a:endParaRPr sz="2400">
              <a:latin typeface="Century Schoolbook"/>
              <a:cs typeface="Century Schoolbook"/>
            </a:endParaRPr>
          </a:p>
          <a:p>
            <a:pPr marL="285115">
              <a:lnSpc>
                <a:spcPts val="2590"/>
              </a:lnSpc>
            </a:pPr>
            <a:r>
              <a:rPr sz="2400" b="1" spc="-5" dirty="0">
                <a:latin typeface="Century Schoolbook"/>
                <a:cs typeface="Century Schoolbook"/>
              </a:rPr>
              <a:t>fading</a:t>
            </a:r>
            <a:endParaRPr sz="2400">
              <a:latin typeface="Century Schoolbook"/>
              <a:cs typeface="Century Schoolbook"/>
            </a:endParaRPr>
          </a:p>
          <a:p>
            <a:pPr marL="285115" marR="185420" indent="-273050" algn="just">
              <a:lnSpc>
                <a:spcPct val="79600"/>
              </a:lnSpc>
              <a:spcBef>
                <a:spcPts val="610"/>
              </a:spcBef>
              <a:buAutoNum type="arabicPlain" startAt="3"/>
              <a:tabLst>
                <a:tab pos="274955" algn="l"/>
              </a:tabLst>
            </a:pPr>
            <a:r>
              <a:rPr sz="24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 </a:t>
            </a:r>
            <a:r>
              <a:rPr sz="2400" b="1" spc="-5" dirty="0">
                <a:latin typeface="Century Schoolbook"/>
                <a:cs typeface="Century Schoolbook"/>
              </a:rPr>
              <a:t>Hands </a:t>
            </a:r>
            <a:r>
              <a:rPr sz="2400" b="1" dirty="0">
                <a:latin typeface="Century Schoolbook"/>
                <a:cs typeface="Century Schoolbook"/>
              </a:rPr>
              <a:t>mostly open. </a:t>
            </a:r>
            <a:r>
              <a:rPr sz="2400" b="1" spc="-5" dirty="0">
                <a:latin typeface="Century Schoolbook"/>
                <a:cs typeface="Century Schoolbook"/>
              </a:rPr>
              <a:t>Regards his hands. </a:t>
            </a:r>
            <a:r>
              <a:rPr sz="2400" b="1" spc="-68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Can </a:t>
            </a:r>
            <a:r>
              <a:rPr sz="2400" b="1" spc="-5" dirty="0">
                <a:latin typeface="Century Schoolbook"/>
                <a:cs typeface="Century Schoolbook"/>
              </a:rPr>
              <a:t>hold </a:t>
            </a:r>
            <a:r>
              <a:rPr sz="2400" b="1" dirty="0">
                <a:latin typeface="Century Schoolbook"/>
                <a:cs typeface="Century Schoolbook"/>
              </a:rPr>
              <a:t>a </a:t>
            </a:r>
            <a:r>
              <a:rPr sz="2400" b="1" spc="-5" dirty="0">
                <a:latin typeface="Century Schoolbook"/>
                <a:cs typeface="Century Schoolbook"/>
              </a:rPr>
              <a:t>rattle if placed in his hand. </a:t>
            </a:r>
            <a:r>
              <a:rPr sz="2400" b="1" spc="-10" dirty="0">
                <a:latin typeface="Century Schoolbook"/>
                <a:cs typeface="Century Schoolbook"/>
              </a:rPr>
              <a:t>Follows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180</a:t>
            </a:r>
            <a:r>
              <a:rPr sz="2400" b="1" dirty="0">
                <a:latin typeface="Times New Roman"/>
                <a:cs typeface="Times New Roman"/>
              </a:rPr>
              <a:t>°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by </a:t>
            </a:r>
            <a:r>
              <a:rPr sz="2400" b="1" spc="-10" dirty="0">
                <a:latin typeface="Century Schoolbook"/>
                <a:cs typeface="Century Schoolbook"/>
              </a:rPr>
              <a:t>eye.</a:t>
            </a:r>
            <a:endParaRPr sz="2400">
              <a:latin typeface="Century Schoolbook"/>
              <a:cs typeface="Century Schoolbook"/>
            </a:endParaRPr>
          </a:p>
          <a:p>
            <a:pPr marL="285115" marR="212090" indent="-273050">
              <a:lnSpc>
                <a:spcPts val="2300"/>
              </a:lnSpc>
              <a:spcBef>
                <a:spcPts val="610"/>
              </a:spcBef>
              <a:buAutoNum type="arabicPlain" startAt="3"/>
              <a:tabLst>
                <a:tab pos="274955" algn="l"/>
              </a:tabLst>
            </a:pPr>
            <a:r>
              <a:rPr sz="2400" b="1" dirty="0">
                <a:solidFill>
                  <a:srgbClr val="FF0066"/>
                </a:solidFill>
                <a:latin typeface="Century Schoolbook"/>
                <a:cs typeface="Century Schoolbook"/>
              </a:rPr>
              <a:t>months </a:t>
            </a:r>
            <a:r>
              <a:rPr sz="2400" b="1" spc="-5" dirty="0">
                <a:latin typeface="Century Schoolbook"/>
                <a:cs typeface="Century Schoolbook"/>
              </a:rPr>
              <a:t>inspects </a:t>
            </a:r>
            <a:r>
              <a:rPr sz="2400" b="1" dirty="0">
                <a:latin typeface="Century Schoolbook"/>
                <a:cs typeface="Century Schoolbook"/>
              </a:rPr>
              <a:t>and </a:t>
            </a:r>
            <a:r>
              <a:rPr sz="2400" b="1" spc="-5" dirty="0">
                <a:latin typeface="Century Schoolbook"/>
                <a:cs typeface="Century Schoolbook"/>
              </a:rPr>
              <a:t>plays with hands. Tries </a:t>
            </a:r>
            <a:r>
              <a:rPr sz="2400" b="1" dirty="0">
                <a:latin typeface="Century Schoolbook"/>
                <a:cs typeface="Century Schoolbook"/>
              </a:rPr>
              <a:t>to </a:t>
            </a:r>
            <a:r>
              <a:rPr sz="2400" b="1" spc="-67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reach </a:t>
            </a:r>
            <a:r>
              <a:rPr sz="2400" b="1" dirty="0">
                <a:latin typeface="Century Schoolbook"/>
                <a:cs typeface="Century Schoolbook"/>
              </a:rPr>
              <a:t>objects </a:t>
            </a:r>
            <a:r>
              <a:rPr sz="2400" b="1" spc="-5" dirty="0">
                <a:latin typeface="Century Schoolbook"/>
                <a:cs typeface="Century Schoolbook"/>
              </a:rPr>
              <a:t>with hands. Grasps </a:t>
            </a:r>
            <a:r>
              <a:rPr sz="2400" b="1" dirty="0">
                <a:latin typeface="Century Schoolbook"/>
                <a:cs typeface="Century Schoolbook"/>
              </a:rPr>
              <a:t>objects </a:t>
            </a:r>
            <a:r>
              <a:rPr sz="2400" b="1" spc="-5" dirty="0">
                <a:latin typeface="Century Schoolbook"/>
                <a:cs typeface="Century Schoolbook"/>
              </a:rPr>
              <a:t>with </a:t>
            </a:r>
            <a:r>
              <a:rPr sz="2400" b="1" dirty="0">
                <a:latin typeface="Century Schoolbook"/>
                <a:cs typeface="Century Schoolbook"/>
              </a:rPr>
              <a:t> both</a:t>
            </a:r>
            <a:r>
              <a:rPr sz="2400" b="1" spc="-5" dirty="0">
                <a:latin typeface="Century Schoolbook"/>
                <a:cs typeface="Century Schoolbook"/>
              </a:rPr>
              <a:t> hands. </a:t>
            </a:r>
            <a:r>
              <a:rPr sz="2400" b="1" dirty="0">
                <a:latin typeface="Century Schoolbook"/>
                <a:cs typeface="Century Schoolbook"/>
              </a:rPr>
              <a:t>Can</a:t>
            </a:r>
            <a:r>
              <a:rPr sz="2400" b="1" spc="-5" dirty="0">
                <a:latin typeface="Century Schoolbook"/>
                <a:cs typeface="Century Schoolbook"/>
              </a:rPr>
              <a:t> carry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objects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to</a:t>
            </a:r>
            <a:r>
              <a:rPr sz="2400" b="1" spc="-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mouth</a:t>
            </a:r>
            <a:endParaRPr sz="2400">
              <a:latin typeface="Century Schoolbook"/>
              <a:cs typeface="Century Schoolbook"/>
            </a:endParaRPr>
          </a:p>
          <a:p>
            <a:pPr marL="274320" indent="-262255">
              <a:lnSpc>
                <a:spcPts val="2590"/>
              </a:lnSpc>
              <a:spcBef>
                <a:spcPts val="55"/>
              </a:spcBef>
              <a:buAutoNum type="arabicPlain" startAt="3"/>
              <a:tabLst>
                <a:tab pos="274955" algn="l"/>
                <a:tab pos="1717675" algn="l"/>
              </a:tabLst>
            </a:pPr>
            <a:r>
              <a:rPr sz="2400" b="1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months	</a:t>
            </a:r>
            <a:r>
              <a:rPr sz="2400" b="1" spc="-5" dirty="0">
                <a:latin typeface="Century Schoolbook"/>
                <a:cs typeface="Century Schoolbook"/>
              </a:rPr>
              <a:t>Turns</a:t>
            </a:r>
            <a:r>
              <a:rPr sz="2400" b="1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head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to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sound. </a:t>
            </a:r>
            <a:r>
              <a:rPr sz="2400" b="1" dirty="0">
                <a:latin typeface="Century Schoolbook"/>
                <a:cs typeface="Century Schoolbook"/>
              </a:rPr>
              <a:t>Brings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hands</a:t>
            </a:r>
            <a:endParaRPr sz="2400">
              <a:latin typeface="Century Schoolbook"/>
              <a:cs typeface="Century Schoolbook"/>
            </a:endParaRPr>
          </a:p>
          <a:p>
            <a:pPr marL="285115">
              <a:lnSpc>
                <a:spcPts val="2590"/>
              </a:lnSpc>
            </a:pPr>
            <a:r>
              <a:rPr sz="2400" b="1" spc="-5" dirty="0">
                <a:latin typeface="Century Schoolbook"/>
                <a:cs typeface="Century Schoolbook"/>
              </a:rPr>
              <a:t>together.</a:t>
            </a:r>
            <a:endParaRPr sz="2400">
              <a:latin typeface="Century Schoolbook"/>
              <a:cs typeface="Century Schoolbook"/>
            </a:endParaRPr>
          </a:p>
          <a:p>
            <a:pPr marL="274320" indent="-262255">
              <a:lnSpc>
                <a:spcPts val="2590"/>
              </a:lnSpc>
              <a:spcBef>
                <a:spcPts val="20"/>
              </a:spcBef>
              <a:buAutoNum type="arabicPlain" startAt="6"/>
              <a:tabLst>
                <a:tab pos="274955" algn="l"/>
                <a:tab pos="1717675" algn="l"/>
              </a:tabLst>
            </a:pPr>
            <a:r>
              <a:rPr sz="2400" b="1" dirty="0">
                <a:solidFill>
                  <a:srgbClr val="D2601C"/>
                </a:solidFill>
                <a:latin typeface="Century Schoolbook"/>
                <a:cs typeface="Century Schoolbook"/>
              </a:rPr>
              <a:t>months	</a:t>
            </a:r>
            <a:r>
              <a:rPr sz="2400" b="1" dirty="0">
                <a:latin typeface="Century Schoolbook"/>
                <a:cs typeface="Century Schoolbook"/>
              </a:rPr>
              <a:t>Able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to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reach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object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by</a:t>
            </a:r>
            <a:r>
              <a:rPr sz="2400" b="1" spc="-3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hand </a:t>
            </a:r>
            <a:r>
              <a:rPr sz="2400" b="1" dirty="0">
                <a:latin typeface="Century Schoolbook"/>
                <a:cs typeface="Century Schoolbook"/>
              </a:rPr>
              <a:t>and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get</a:t>
            </a:r>
            <a:r>
              <a:rPr sz="2400" b="1" spc="-2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it.</a:t>
            </a:r>
            <a:endParaRPr sz="2400">
              <a:latin typeface="Century Schoolbook"/>
              <a:cs typeface="Century Schoolbook"/>
            </a:endParaRPr>
          </a:p>
          <a:p>
            <a:pPr marL="285115">
              <a:lnSpc>
                <a:spcPts val="2590"/>
              </a:lnSpc>
            </a:pPr>
            <a:r>
              <a:rPr sz="2400" b="1" spc="-5" dirty="0">
                <a:latin typeface="Century Schoolbook"/>
                <a:cs typeface="Century Schoolbook"/>
              </a:rPr>
              <a:t>Grasps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feet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and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pull</a:t>
            </a:r>
            <a:r>
              <a:rPr sz="2400" b="1" spc="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to</a:t>
            </a:r>
            <a:r>
              <a:rPr sz="2400" b="1" spc="-10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mouth</a:t>
            </a:r>
            <a:endParaRPr sz="240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367412"/>
            <a:ext cx="54368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0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C</a:t>
            </a:r>
            <a:r>
              <a:rPr lang="en-US" sz="16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ont</a:t>
            </a:r>
            <a:r>
              <a:rPr lang="en-US" sz="20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.</a:t>
            </a:r>
            <a:r>
              <a:rPr lang="en-US" sz="2000" b="1" spc="-10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lang="en-US" sz="20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F</a:t>
            </a:r>
            <a:r>
              <a:rPr lang="en-US" sz="16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ine</a:t>
            </a:r>
            <a:r>
              <a:rPr lang="en-US" sz="1600" b="1" spc="105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lang="en-US" sz="1600" b="1" spc="-10" dirty="0">
                <a:solidFill>
                  <a:srgbClr val="565F6C"/>
                </a:solidFill>
                <a:latin typeface="Century Schoolbook"/>
                <a:cs typeface="Century Schoolbook"/>
              </a:rPr>
              <a:t>Motor</a:t>
            </a:r>
            <a:r>
              <a:rPr lang="en-US" sz="1600" b="1" spc="145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lang="en-US" sz="1600" b="1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Development</a:t>
            </a:r>
            <a:endParaRPr lang="en-US" sz="1600" dirty="0">
              <a:latin typeface="Century Schoolbook"/>
              <a:cs typeface="Century Schoolboo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891504"/>
            <a:ext cx="9906000" cy="96821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marR="5080" indent="-457200">
              <a:lnSpc>
                <a:spcPts val="2310"/>
              </a:lnSpc>
              <a:spcBef>
                <a:spcPts val="650"/>
              </a:spcBef>
              <a:tabLst>
                <a:tab pos="469265" algn="l"/>
                <a:tab pos="1913255" algn="l"/>
              </a:tabLst>
            </a:pPr>
            <a:r>
              <a:rPr sz="1650" spc="10" dirty="0">
                <a:solidFill>
                  <a:srgbClr val="D2601C"/>
                </a:solidFill>
              </a:rPr>
              <a:t>7.	</a:t>
            </a:r>
            <a:r>
              <a:rPr sz="2400" dirty="0">
                <a:solidFill>
                  <a:srgbClr val="D2601C"/>
                </a:solidFill>
              </a:rPr>
              <a:t>months	</a:t>
            </a:r>
            <a:r>
              <a:rPr sz="2400" dirty="0">
                <a:solidFill>
                  <a:srgbClr val="000000"/>
                </a:solidFill>
              </a:rPr>
              <a:t>Can transfer a </a:t>
            </a:r>
            <a:r>
              <a:rPr sz="2400" spc="-5" dirty="0">
                <a:solidFill>
                  <a:srgbClr val="000000"/>
                </a:solidFill>
              </a:rPr>
              <a:t>rattle from hands </a:t>
            </a:r>
            <a:r>
              <a:rPr sz="2400" dirty="0">
                <a:solidFill>
                  <a:srgbClr val="000000"/>
                </a:solidFill>
              </a:rPr>
              <a:t>to </a:t>
            </a:r>
            <a:r>
              <a:rPr sz="2400" spc="-67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hand. </a:t>
            </a:r>
            <a:r>
              <a:rPr sz="2400" dirty="0">
                <a:solidFill>
                  <a:srgbClr val="000000"/>
                </a:solidFill>
              </a:rPr>
              <a:t>Reaches objects and </a:t>
            </a:r>
            <a:r>
              <a:rPr sz="2400" spc="-5" dirty="0">
                <a:solidFill>
                  <a:srgbClr val="000000"/>
                </a:solidFill>
              </a:rPr>
              <a:t>brings </a:t>
            </a:r>
            <a:r>
              <a:rPr sz="2400" dirty="0">
                <a:solidFill>
                  <a:srgbClr val="000000"/>
                </a:solidFill>
              </a:rPr>
              <a:t>them to 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mouth. Has</a:t>
            </a:r>
            <a:r>
              <a:rPr sz="2400" dirty="0">
                <a:solidFill>
                  <a:srgbClr val="000000"/>
                </a:solidFill>
              </a:rPr>
              <a:t> ambidextrous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approach</a:t>
            </a:r>
            <a:endParaRPr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142999" y="2062026"/>
            <a:ext cx="10363201" cy="3729173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74955" marR="309880" indent="-274955">
              <a:lnSpc>
                <a:spcPts val="2300"/>
              </a:lnSpc>
              <a:spcBef>
                <a:spcPts val="660"/>
              </a:spcBef>
              <a:buAutoNum type="arabicPlain" startAt="8"/>
              <a:tabLst>
                <a:tab pos="274955" algn="l"/>
                <a:tab pos="1629410" algn="l"/>
              </a:tabLst>
            </a:pPr>
            <a:r>
              <a:rPr dirty="0">
                <a:solidFill>
                  <a:srgbClr val="D2601C"/>
                </a:solidFill>
              </a:rPr>
              <a:t>months	</a:t>
            </a:r>
            <a:r>
              <a:rPr spc="-5" dirty="0"/>
              <a:t>has beginning </a:t>
            </a:r>
            <a:r>
              <a:rPr dirty="0"/>
              <a:t>pincer </a:t>
            </a:r>
            <a:r>
              <a:rPr spc="-5" dirty="0"/>
              <a:t>grasp. </a:t>
            </a:r>
            <a:r>
              <a:rPr dirty="0"/>
              <a:t>Can </a:t>
            </a:r>
            <a:r>
              <a:rPr spc="-5" dirty="0"/>
              <a:t>feed </a:t>
            </a:r>
            <a:r>
              <a:rPr spc="-675" dirty="0"/>
              <a:t> </a:t>
            </a:r>
            <a:r>
              <a:rPr spc="-5" dirty="0"/>
              <a:t>himself</a:t>
            </a:r>
            <a:r>
              <a:rPr spc="-10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biscuit.</a:t>
            </a:r>
          </a:p>
          <a:p>
            <a:pPr marL="274320" indent="-262255">
              <a:lnSpc>
                <a:spcPts val="2595"/>
              </a:lnSpc>
              <a:spcBef>
                <a:spcPts val="45"/>
              </a:spcBef>
              <a:buAutoNum type="arabicPlain" startAt="8"/>
              <a:tabLst>
                <a:tab pos="274955" algn="l"/>
                <a:tab pos="1718310" algn="l"/>
              </a:tabLst>
            </a:pPr>
            <a:r>
              <a:rPr dirty="0">
                <a:solidFill>
                  <a:srgbClr val="D2601C"/>
                </a:solidFill>
              </a:rPr>
              <a:t>months	</a:t>
            </a:r>
            <a:r>
              <a:rPr spc="-5" dirty="0"/>
              <a:t>Tries</a:t>
            </a:r>
            <a:r>
              <a:rPr spc="-15" dirty="0"/>
              <a:t> </a:t>
            </a:r>
            <a:r>
              <a:rPr spc="-5" dirty="0"/>
              <a:t>picking</a:t>
            </a:r>
            <a:r>
              <a:rPr spc="-20" dirty="0"/>
              <a:t> </a:t>
            </a:r>
            <a:r>
              <a:rPr dirty="0"/>
              <a:t>things </a:t>
            </a:r>
            <a:r>
              <a:rPr spc="-5" dirty="0"/>
              <a:t>with</a:t>
            </a:r>
            <a:r>
              <a:rPr spc="-15" dirty="0"/>
              <a:t> </a:t>
            </a:r>
            <a:r>
              <a:rPr spc="-5" dirty="0"/>
              <a:t>fingers.</a:t>
            </a:r>
          </a:p>
          <a:p>
            <a:pPr marL="584200">
              <a:lnSpc>
                <a:spcPts val="2595"/>
              </a:lnSpc>
            </a:pPr>
            <a:r>
              <a:rPr dirty="0"/>
              <a:t>Preference</a:t>
            </a:r>
            <a:r>
              <a:rPr spc="-15" dirty="0"/>
              <a:t> </a:t>
            </a:r>
            <a:r>
              <a:rPr spc="-5" dirty="0"/>
              <a:t>for </a:t>
            </a:r>
            <a:r>
              <a:rPr dirty="0"/>
              <a:t>use</a:t>
            </a:r>
            <a:r>
              <a:rPr spc="-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5" dirty="0"/>
              <a:t>dominant</a:t>
            </a:r>
            <a:r>
              <a:rPr spc="5" dirty="0"/>
              <a:t> </a:t>
            </a:r>
            <a:r>
              <a:rPr spc="-5" dirty="0"/>
              <a:t>hand</a:t>
            </a:r>
          </a:p>
          <a:p>
            <a:pPr marL="448309" indent="-436245">
              <a:lnSpc>
                <a:spcPts val="2590"/>
              </a:lnSpc>
              <a:spcBef>
                <a:spcPts val="25"/>
              </a:spcBef>
              <a:buAutoNum type="arabicPlain" startAt="10"/>
              <a:tabLst>
                <a:tab pos="448945" algn="l"/>
              </a:tabLst>
            </a:pPr>
            <a:r>
              <a:rPr dirty="0">
                <a:solidFill>
                  <a:srgbClr val="FF0066"/>
                </a:solidFill>
              </a:rPr>
              <a:t>months</a:t>
            </a:r>
            <a:r>
              <a:rPr spc="5" dirty="0">
                <a:solidFill>
                  <a:srgbClr val="FF0066"/>
                </a:solidFill>
              </a:rPr>
              <a:t> </a:t>
            </a:r>
            <a:r>
              <a:rPr spc="-5" dirty="0"/>
              <a:t>Crude</a:t>
            </a:r>
            <a:r>
              <a:rPr spc="-20" dirty="0"/>
              <a:t> </a:t>
            </a:r>
            <a:r>
              <a:rPr spc="-5" dirty="0"/>
              <a:t>release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an</a:t>
            </a:r>
            <a:r>
              <a:rPr spc="-10" dirty="0"/>
              <a:t> </a:t>
            </a:r>
            <a:r>
              <a:rPr dirty="0"/>
              <a:t>object</a:t>
            </a:r>
            <a:r>
              <a:rPr spc="-20" dirty="0"/>
              <a:t> </a:t>
            </a:r>
            <a:r>
              <a:rPr dirty="0"/>
              <a:t>beginning.</a:t>
            </a:r>
          </a:p>
          <a:p>
            <a:pPr marL="584200">
              <a:lnSpc>
                <a:spcPts val="2590"/>
              </a:lnSpc>
            </a:pPr>
            <a:r>
              <a:rPr spc="-5" dirty="0"/>
              <a:t>Grasps</a:t>
            </a:r>
            <a:r>
              <a:rPr spc="-20" dirty="0"/>
              <a:t> </a:t>
            </a:r>
            <a:r>
              <a:rPr dirty="0"/>
              <a:t>bell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spc="-10" dirty="0"/>
              <a:t>handle.</a:t>
            </a:r>
          </a:p>
          <a:p>
            <a:pPr marL="448945" marR="175260" indent="-448945">
              <a:lnSpc>
                <a:spcPts val="2310"/>
              </a:lnSpc>
              <a:spcBef>
                <a:spcPts val="575"/>
              </a:spcBef>
              <a:buAutoNum type="arabicPlain" startAt="11"/>
              <a:tabLst>
                <a:tab pos="448945" algn="l"/>
                <a:tab pos="1804670" algn="l"/>
              </a:tabLst>
            </a:pPr>
            <a:r>
              <a:rPr dirty="0">
                <a:solidFill>
                  <a:srgbClr val="D2601C"/>
                </a:solidFill>
              </a:rPr>
              <a:t>months	</a:t>
            </a:r>
            <a:r>
              <a:rPr dirty="0"/>
              <a:t>Can</a:t>
            </a:r>
            <a:r>
              <a:rPr spc="-15" dirty="0"/>
              <a:t> </a:t>
            </a:r>
            <a:r>
              <a:rPr spc="-5" dirty="0"/>
              <a:t>use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5" dirty="0"/>
              <a:t>thumb </a:t>
            </a:r>
            <a:r>
              <a:rPr dirty="0"/>
              <a:t>and</a:t>
            </a:r>
            <a:r>
              <a:rPr spc="-10" dirty="0"/>
              <a:t> </a:t>
            </a:r>
            <a:r>
              <a:rPr spc="-5" dirty="0"/>
              <a:t>finger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pick</a:t>
            </a:r>
            <a:r>
              <a:rPr spc="-10" dirty="0"/>
              <a:t> </a:t>
            </a:r>
            <a:r>
              <a:rPr dirty="0"/>
              <a:t>a </a:t>
            </a:r>
            <a:r>
              <a:rPr spc="-675" dirty="0"/>
              <a:t> </a:t>
            </a:r>
            <a:r>
              <a:rPr spc="-5" dirty="0"/>
              <a:t>cube.</a:t>
            </a:r>
            <a:r>
              <a:rPr spc="-20" dirty="0"/>
              <a:t> </a:t>
            </a:r>
            <a:r>
              <a:rPr spc="-5" dirty="0"/>
              <a:t>Grasps</a:t>
            </a:r>
            <a:r>
              <a:rPr dirty="0"/>
              <a:t> by</a:t>
            </a:r>
            <a:r>
              <a:rPr spc="-25" dirty="0"/>
              <a:t> </a:t>
            </a:r>
            <a:r>
              <a:rPr dirty="0"/>
              <a:t>thumb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finger.</a:t>
            </a:r>
          </a:p>
          <a:p>
            <a:pPr marL="448945" marR="5080" indent="-448945">
              <a:lnSpc>
                <a:spcPct val="80100"/>
              </a:lnSpc>
              <a:spcBef>
                <a:spcPts val="600"/>
              </a:spcBef>
              <a:buAutoNum type="arabicPlain" startAt="11"/>
              <a:tabLst>
                <a:tab pos="448945" algn="l"/>
                <a:tab pos="1804670" algn="l"/>
              </a:tabLst>
            </a:pPr>
            <a:r>
              <a:rPr dirty="0">
                <a:solidFill>
                  <a:srgbClr val="D2601C"/>
                </a:solidFill>
              </a:rPr>
              <a:t>months	</a:t>
            </a:r>
            <a:r>
              <a:rPr dirty="0"/>
              <a:t>Can</a:t>
            </a:r>
            <a:r>
              <a:rPr spc="-5" dirty="0"/>
              <a:t> pick</a:t>
            </a:r>
            <a:r>
              <a:rPr spc="-10" dirty="0"/>
              <a:t> </a:t>
            </a:r>
            <a:r>
              <a:rPr spc="-5" dirty="0"/>
              <a:t>small</a:t>
            </a:r>
            <a:r>
              <a:rPr spc="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spc="-5" dirty="0">
                <a:latin typeface="Arial"/>
                <a:cs typeface="Arial"/>
              </a:rPr>
              <a:t>“</a:t>
            </a:r>
            <a:r>
              <a:rPr spc="-5" dirty="0"/>
              <a:t>pellets</a:t>
            </a:r>
            <a:r>
              <a:rPr spc="10" dirty="0"/>
              <a:t> </a:t>
            </a:r>
            <a:r>
              <a:rPr dirty="0"/>
              <a:t>"No </a:t>
            </a:r>
            <a:r>
              <a:rPr spc="5" dirty="0"/>
              <a:t> </a:t>
            </a:r>
            <a:r>
              <a:rPr spc="-5" dirty="0"/>
              <a:t>longer puts </a:t>
            </a:r>
            <a:r>
              <a:rPr dirty="0"/>
              <a:t>objects </a:t>
            </a:r>
            <a:r>
              <a:rPr spc="-5" dirty="0"/>
              <a:t>in </a:t>
            </a:r>
            <a:r>
              <a:rPr dirty="0"/>
              <a:t>mouth. Builds a </a:t>
            </a:r>
            <a:r>
              <a:rPr spc="-5" dirty="0"/>
              <a:t>tower </a:t>
            </a:r>
            <a:r>
              <a:rPr dirty="0"/>
              <a:t> of 2 </a:t>
            </a:r>
            <a:r>
              <a:rPr spc="-5" dirty="0"/>
              <a:t>blocks </a:t>
            </a:r>
            <a:r>
              <a:rPr dirty="0"/>
              <a:t>but </a:t>
            </a:r>
            <a:r>
              <a:rPr spc="-5" dirty="0"/>
              <a:t>fails</a:t>
            </a:r>
            <a:r>
              <a:rPr b="0" spc="-5" dirty="0"/>
              <a:t>. </a:t>
            </a:r>
            <a:r>
              <a:rPr spc="-5" dirty="0"/>
              <a:t>Throw objects. Holds cup </a:t>
            </a:r>
            <a:r>
              <a:rPr spc="-67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drink.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1" y="762000"/>
            <a:ext cx="70631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500" spc="-5" dirty="0"/>
              <a:t>P</a:t>
            </a:r>
            <a:r>
              <a:rPr lang="en-US" sz="2000" spc="-5" dirty="0"/>
              <a:t>sychosocial</a:t>
            </a:r>
            <a:r>
              <a:rPr lang="en-US" sz="2000" spc="120" dirty="0"/>
              <a:t> </a:t>
            </a:r>
            <a:r>
              <a:rPr lang="en-US" sz="2500" spc="-5" dirty="0"/>
              <a:t>D</a:t>
            </a:r>
            <a:r>
              <a:rPr lang="en-US" sz="2000" spc="-5" dirty="0"/>
              <a:t>evelopment</a:t>
            </a:r>
            <a:r>
              <a:rPr lang="en-US" sz="2000" spc="114" dirty="0"/>
              <a:t> </a:t>
            </a:r>
            <a:r>
              <a:rPr lang="en-US" sz="2000" dirty="0"/>
              <a:t>of</a:t>
            </a:r>
            <a:r>
              <a:rPr lang="en-US" sz="2000" spc="145" dirty="0"/>
              <a:t> </a:t>
            </a:r>
            <a:r>
              <a:rPr lang="en-US" sz="2000" dirty="0"/>
              <a:t>The</a:t>
            </a:r>
            <a:r>
              <a:rPr lang="en-US" sz="2000" spc="125" dirty="0"/>
              <a:t> </a:t>
            </a:r>
            <a:r>
              <a:rPr lang="en-US" sz="2500" dirty="0"/>
              <a:t>I</a:t>
            </a:r>
            <a:r>
              <a:rPr lang="en-US" sz="2000" dirty="0"/>
              <a:t>nfant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1" y="1653033"/>
            <a:ext cx="8502574" cy="172098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First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develops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a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sense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of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trust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when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fed</a:t>
            </a:r>
            <a:r>
              <a:rPr sz="2400" spc="-5" dirty="0">
                <a:latin typeface="Century Schoolbook"/>
                <a:cs typeface="Century Schoolbook"/>
              </a:rPr>
              <a:t> on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demand</a:t>
            </a:r>
            <a:endParaRPr sz="2400" dirty="0">
              <a:latin typeface="Century Schoolbook"/>
              <a:cs typeface="Century Schoolbook"/>
            </a:endParaRPr>
          </a:p>
          <a:p>
            <a:pPr marL="285115" marR="100330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By </a:t>
            </a:r>
            <a:r>
              <a:rPr sz="2400" dirty="0">
                <a:latin typeface="Century Schoolbook"/>
                <a:cs typeface="Century Schoolbook"/>
              </a:rPr>
              <a:t>2 </a:t>
            </a:r>
            <a:r>
              <a:rPr sz="2400" spc="-5" dirty="0">
                <a:latin typeface="Century Schoolbook"/>
                <a:cs typeface="Century Schoolbook"/>
              </a:rPr>
              <a:t>months distinguishes mother </a:t>
            </a:r>
            <a:r>
              <a:rPr sz="2400" dirty="0">
                <a:latin typeface="Century Schoolbook"/>
                <a:cs typeface="Century Schoolbook"/>
              </a:rPr>
              <a:t>or </a:t>
            </a:r>
            <a:r>
              <a:rPr sz="2400" spc="-5" dirty="0">
                <a:latin typeface="Century Schoolbook"/>
                <a:cs typeface="Century Schoolbook"/>
              </a:rPr>
              <a:t>primary </a:t>
            </a:r>
            <a:r>
              <a:rPr sz="2400" dirty="0">
                <a:latin typeface="Century Schoolbook"/>
                <a:cs typeface="Century Schoolbook"/>
              </a:rPr>
              <a:t>care </a:t>
            </a:r>
            <a:r>
              <a:rPr sz="2400" spc="-6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giver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Eventually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learns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that </a:t>
            </a:r>
            <a:r>
              <a:rPr sz="2400" dirty="0">
                <a:latin typeface="Century Schoolbook"/>
                <a:cs typeface="Century Schoolbook"/>
              </a:rPr>
              <a:t>not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every need</a:t>
            </a:r>
            <a:r>
              <a:rPr sz="2400" spc="-2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is</a:t>
            </a:r>
            <a:r>
              <a:rPr sz="2400" spc="-5" dirty="0">
                <a:latin typeface="Century Schoolbook"/>
                <a:cs typeface="Century Schoolbook"/>
              </a:rPr>
              <a:t> met</a:t>
            </a:r>
            <a:endParaRPr sz="2400" dirty="0">
              <a:latin typeface="Century Schoolbook"/>
              <a:cs typeface="Century Schoolbook"/>
            </a:endParaRPr>
          </a:p>
          <a:p>
            <a:pPr marL="285115"/>
            <a:r>
              <a:rPr sz="2400" dirty="0">
                <a:latin typeface="Century Schoolbook"/>
                <a:cs typeface="Century Schoolbook"/>
              </a:rPr>
              <a:t>immediately</a:t>
            </a:r>
            <a:r>
              <a:rPr sz="2400" spc="-5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on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demand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896494"/>
            <a:ext cx="8870188" cy="272882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5115" marR="5080" indent="-273050">
              <a:lnSpc>
                <a:spcPts val="2810"/>
              </a:lnSpc>
              <a:spcBef>
                <a:spcPts val="45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By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3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to </a:t>
            </a:r>
            <a:r>
              <a:rPr sz="2600" dirty="0">
                <a:latin typeface="Century Schoolbook"/>
                <a:cs typeface="Century Schoolbook"/>
              </a:rPr>
              <a:t>4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months: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smiles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response</a:t>
            </a:r>
            <a:r>
              <a:rPr sz="2600" spc="-1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to</a:t>
            </a:r>
            <a:r>
              <a:rPr sz="2600" spc="-3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smile of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others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.shows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interest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in other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family members</a:t>
            </a:r>
          </a:p>
          <a:p>
            <a:pPr marL="285115" marR="930910" indent="-273050">
              <a:lnSpc>
                <a:spcPts val="2810"/>
              </a:lnSpc>
              <a:spcBef>
                <a:spcPts val="60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By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7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to </a:t>
            </a:r>
            <a:r>
              <a:rPr sz="2600" dirty="0">
                <a:latin typeface="Century Schoolbook"/>
                <a:cs typeface="Century Schoolbook"/>
              </a:rPr>
              <a:t>8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months</a:t>
            </a:r>
            <a:r>
              <a:rPr sz="2600" spc="-4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:shows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fear</a:t>
            </a:r>
            <a:r>
              <a:rPr sz="2600" spc="-2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of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strangers </a:t>
            </a:r>
            <a:r>
              <a:rPr sz="2600" spc="-705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solidFill>
                  <a:srgbClr val="E80536"/>
                </a:solidFill>
                <a:latin typeface="Century Schoolbook"/>
                <a:cs typeface="Century Schoolbook"/>
              </a:rPr>
              <a:t>(strangers</a:t>
            </a:r>
            <a:r>
              <a:rPr sz="2600" spc="-45" dirty="0">
                <a:solidFill>
                  <a:srgbClr val="E80536"/>
                </a:solidFill>
                <a:latin typeface="Century Schoolbook"/>
                <a:cs typeface="Century Schoolbook"/>
              </a:rPr>
              <a:t> </a:t>
            </a:r>
            <a:r>
              <a:rPr sz="2600" spc="-5" dirty="0">
                <a:solidFill>
                  <a:srgbClr val="E80536"/>
                </a:solidFill>
                <a:latin typeface="Century Schoolbook"/>
                <a:cs typeface="Century Schoolbook"/>
              </a:rPr>
              <a:t>anxiety).</a:t>
            </a:r>
            <a:endParaRPr sz="2600" dirty="0">
              <a:latin typeface="Century Schoolbook"/>
              <a:cs typeface="Century Schoolbook"/>
            </a:endParaRPr>
          </a:p>
          <a:p>
            <a:pPr marL="285115" marR="346710" indent="-273050">
              <a:lnSpc>
                <a:spcPct val="89600"/>
              </a:lnSpc>
              <a:spcBef>
                <a:spcPts val="57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By 9 to 10 </a:t>
            </a:r>
            <a:r>
              <a:rPr sz="2600" spc="-5" dirty="0">
                <a:latin typeface="Century Schoolbook"/>
                <a:cs typeface="Century Schoolbook"/>
              </a:rPr>
              <a:t>months: play simple </a:t>
            </a:r>
            <a:r>
              <a:rPr sz="2600" dirty="0">
                <a:latin typeface="Century Schoolbook"/>
                <a:cs typeface="Century Schoolbook"/>
              </a:rPr>
              <a:t>games with 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adults </a:t>
            </a:r>
            <a:r>
              <a:rPr sz="2600" spc="-5" dirty="0">
                <a:latin typeface="Century Schoolbook"/>
                <a:cs typeface="Century Schoolbook"/>
              </a:rPr>
              <a:t>,e. g. </a:t>
            </a:r>
            <a:r>
              <a:rPr sz="2600" spc="-5" dirty="0">
                <a:latin typeface="Arial"/>
                <a:cs typeface="Arial"/>
              </a:rPr>
              <a:t>‘’</a:t>
            </a:r>
            <a:r>
              <a:rPr sz="2600" spc="-5" dirty="0">
                <a:latin typeface="Century Schoolbook"/>
                <a:cs typeface="Century Schoolbook"/>
              </a:rPr>
              <a:t>bye-bye</a:t>
            </a:r>
            <a:r>
              <a:rPr sz="2600" spc="-5" dirty="0">
                <a:latin typeface="Arial"/>
                <a:cs typeface="Arial"/>
              </a:rPr>
              <a:t>’’</a:t>
            </a:r>
            <a:r>
              <a:rPr sz="2600" spc="-5" dirty="0">
                <a:latin typeface="Century Schoolbook"/>
                <a:cs typeface="Century Schoolbook"/>
              </a:rPr>
              <a:t>. play </a:t>
            </a:r>
            <a:r>
              <a:rPr sz="2600" dirty="0">
                <a:latin typeface="Century Schoolbook"/>
                <a:cs typeface="Century Schoolbook"/>
              </a:rPr>
              <a:t>with adult games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such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as </a:t>
            </a:r>
            <a:r>
              <a:rPr sz="2600" spc="-5" dirty="0">
                <a:latin typeface="Arial"/>
                <a:cs typeface="Arial"/>
              </a:rPr>
              <a:t>‘’</a:t>
            </a:r>
            <a:r>
              <a:rPr sz="2600" spc="-5" dirty="0">
                <a:latin typeface="Century Schoolbook"/>
                <a:cs typeface="Century Schoolbook"/>
              </a:rPr>
              <a:t>peek-a-boo</a:t>
            </a:r>
            <a:r>
              <a:rPr sz="2600" spc="-5" dirty="0">
                <a:latin typeface="Arial"/>
                <a:cs typeface="Arial"/>
              </a:rPr>
              <a:t>’’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by</a:t>
            </a:r>
            <a:r>
              <a:rPr sz="2600" dirty="0">
                <a:latin typeface="Century Schoolbook"/>
                <a:cs typeface="Century Schoolbook"/>
              </a:rPr>
              <a:t> 10 </a:t>
            </a:r>
            <a:r>
              <a:rPr sz="2600" spc="-5" dirty="0">
                <a:latin typeface="Century Schoolbook"/>
                <a:cs typeface="Century Schoolbook"/>
              </a:rPr>
              <a:t>months</a:t>
            </a:r>
            <a:endParaRPr sz="26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4" y="705739"/>
            <a:ext cx="64789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200" b="0" spc="-10" dirty="0">
                <a:latin typeface="Arial"/>
                <a:cs typeface="Arial"/>
              </a:rPr>
              <a:t>’</a:t>
            </a:r>
            <a:r>
              <a:rPr sz="4200" b="0" spc="-10" dirty="0"/>
              <a:t>peek-a-boo</a:t>
            </a:r>
            <a:r>
              <a:rPr sz="4200" b="0" spc="-10" dirty="0">
                <a:latin typeface="Arial"/>
                <a:cs typeface="Arial"/>
              </a:rPr>
              <a:t>’’</a:t>
            </a:r>
            <a:r>
              <a:rPr sz="4200" b="0" spc="-35" dirty="0">
                <a:latin typeface="Arial"/>
                <a:cs typeface="Arial"/>
              </a:rPr>
              <a:t> </a:t>
            </a:r>
            <a:r>
              <a:rPr sz="4200" b="0" spc="-5" dirty="0"/>
              <a:t>by</a:t>
            </a:r>
            <a:r>
              <a:rPr sz="4200" b="0" spc="-25" dirty="0"/>
              <a:t> </a:t>
            </a:r>
            <a:r>
              <a:rPr sz="4200" b="0" dirty="0"/>
              <a:t>10</a:t>
            </a:r>
            <a:r>
              <a:rPr sz="4200" b="0" spc="-15" dirty="0"/>
              <a:t> </a:t>
            </a:r>
            <a:r>
              <a:rPr sz="4200" b="0" spc="-5" dirty="0"/>
              <a:t>months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113" y="1412876"/>
            <a:ext cx="6195949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268984"/>
            <a:ext cx="10896600" cy="316189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5115" marR="125095" indent="-273050">
              <a:lnSpc>
                <a:spcPts val="2690"/>
              </a:lnSpc>
              <a:spcBef>
                <a:spcPts val="74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  <a:tab pos="4563745" algn="l"/>
              </a:tabLst>
            </a:pPr>
            <a:r>
              <a:rPr sz="2800" spc="-5" dirty="0">
                <a:latin typeface="Century Schoolbook"/>
                <a:cs typeface="Century Schoolbook"/>
              </a:rPr>
              <a:t>He learns</a:t>
            </a:r>
            <a:r>
              <a:rPr sz="2800" spc="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to </a:t>
            </a:r>
            <a:r>
              <a:rPr sz="2800" spc="-10" dirty="0">
                <a:latin typeface="Century Schoolbook"/>
                <a:cs typeface="Century Schoolbook"/>
              </a:rPr>
              <a:t>trust</a:t>
            </a:r>
            <a:r>
              <a:rPr sz="2800" spc="-5" dirty="0">
                <a:latin typeface="Century Schoolbook"/>
                <a:cs typeface="Century Schoolbook"/>
              </a:rPr>
              <a:t> others</a:t>
            </a:r>
            <a:r>
              <a:rPr sz="2800" spc="-10" dirty="0">
                <a:latin typeface="Century Schoolbook"/>
                <a:cs typeface="Century Schoolbook"/>
              </a:rPr>
              <a:t> through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the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relief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of </a:t>
            </a:r>
            <a:r>
              <a:rPr sz="2800" spc="-76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basic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needs,</a:t>
            </a:r>
            <a:r>
              <a:rPr sz="2800" spc="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i.e.,</a:t>
            </a:r>
            <a:r>
              <a:rPr sz="2800" spc="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to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trust</a:t>
            </a:r>
            <a:r>
              <a:rPr lang="ar-IQ" sz="2800" spc="-1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those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who </a:t>
            </a:r>
            <a:r>
              <a:rPr sz="2800" spc="-10" dirty="0">
                <a:latin typeface="Century Schoolbook"/>
                <a:cs typeface="Century Schoolbook"/>
              </a:rPr>
              <a:t>give </a:t>
            </a:r>
            <a:r>
              <a:rPr sz="2800" spc="-5" dirty="0">
                <a:latin typeface="Century Schoolbook"/>
                <a:cs typeface="Century Schoolbook"/>
              </a:rPr>
              <a:t> pleasant</a:t>
            </a:r>
            <a:r>
              <a:rPr sz="2800" spc="2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sensations.</a:t>
            </a:r>
            <a:endParaRPr sz="2800" dirty="0">
              <a:latin typeface="Century Schoolbook"/>
              <a:cs typeface="Century Schoolbook"/>
            </a:endParaRPr>
          </a:p>
          <a:p>
            <a:pPr>
              <a:spcBef>
                <a:spcPts val="5"/>
              </a:spcBef>
              <a:buClr>
                <a:srgbClr val="FD8537"/>
              </a:buClr>
              <a:buFont typeface="Wingdings"/>
              <a:buChar char=""/>
            </a:pPr>
            <a:endParaRPr sz="325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ct val="8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sz="2800" spc="-5" dirty="0">
                <a:latin typeface="Century Schoolbook"/>
                <a:cs typeface="Century Schoolbook"/>
              </a:rPr>
              <a:t>Sense </a:t>
            </a:r>
            <a:r>
              <a:rPr sz="2800" dirty="0">
                <a:latin typeface="Century Schoolbook"/>
                <a:cs typeface="Century Schoolbook"/>
              </a:rPr>
              <a:t>of </a:t>
            </a:r>
            <a:r>
              <a:rPr sz="2800" spc="-5" dirty="0">
                <a:latin typeface="Century Schoolbook"/>
                <a:cs typeface="Century Schoolbook"/>
              </a:rPr>
              <a:t>trust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will</a:t>
            </a:r>
            <a:r>
              <a:rPr sz="2800" spc="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result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also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from</a:t>
            </a:r>
            <a:r>
              <a:rPr sz="2800" spc="-1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being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held, </a:t>
            </a:r>
            <a:r>
              <a:rPr sz="2800" spc="-76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talked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to,</a:t>
            </a:r>
            <a:r>
              <a:rPr sz="2800" spc="-2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cuddled,</a:t>
            </a:r>
            <a:r>
              <a:rPr sz="2800" spc="3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warmed,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and</a:t>
            </a:r>
            <a:r>
              <a:rPr sz="2800" spc="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so...</a:t>
            </a:r>
            <a:r>
              <a:rPr sz="2800" spc="-2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on.</a:t>
            </a:r>
            <a:endParaRPr sz="2800" dirty="0">
              <a:latin typeface="Century Schoolbook"/>
              <a:cs typeface="Century Schoolbook"/>
            </a:endParaRPr>
          </a:p>
          <a:p>
            <a:pPr>
              <a:spcBef>
                <a:spcPts val="20"/>
              </a:spcBef>
              <a:buClr>
                <a:srgbClr val="FD8537"/>
              </a:buClr>
              <a:buFont typeface="Wingdings"/>
              <a:buChar char=""/>
            </a:pPr>
            <a:endParaRPr sz="3200" dirty="0">
              <a:latin typeface="Century Schoolbook"/>
              <a:cs typeface="Century Schoolbook"/>
            </a:endParaRPr>
          </a:p>
          <a:p>
            <a:pPr marL="285115" marR="263525" indent="-273050">
              <a:lnSpc>
                <a:spcPts val="269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sz="2800" spc="-5" dirty="0">
                <a:latin typeface="Century Schoolbook"/>
                <a:cs typeface="Century Schoolbook"/>
              </a:rPr>
              <a:t>If </a:t>
            </a:r>
            <a:r>
              <a:rPr sz="2800" spc="-10" dirty="0">
                <a:latin typeface="Century Schoolbook"/>
                <a:cs typeface="Century Schoolbook"/>
              </a:rPr>
              <a:t>this</a:t>
            </a:r>
            <a:r>
              <a:rPr sz="2800" spc="2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sense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dirty="0">
                <a:latin typeface="Century Schoolbook"/>
                <a:cs typeface="Century Schoolbook"/>
              </a:rPr>
              <a:t>of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trust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in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others is</a:t>
            </a:r>
            <a:r>
              <a:rPr sz="2800" spc="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not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learned, </a:t>
            </a:r>
            <a:r>
              <a:rPr sz="2800" spc="-76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the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reverse,</a:t>
            </a:r>
            <a:r>
              <a:rPr sz="2800" spc="-1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a</a:t>
            </a:r>
            <a:r>
              <a:rPr sz="280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sense</a:t>
            </a:r>
            <a:r>
              <a:rPr sz="2800" spc="5" dirty="0">
                <a:latin typeface="Century Schoolbook"/>
                <a:cs typeface="Century Schoolbook"/>
              </a:rPr>
              <a:t> </a:t>
            </a:r>
            <a:r>
              <a:rPr sz="2800" dirty="0">
                <a:latin typeface="Century Schoolbook"/>
                <a:cs typeface="Century Schoolbook"/>
              </a:rPr>
              <a:t>of </a:t>
            </a:r>
            <a:r>
              <a:rPr sz="2800" spc="-10" dirty="0">
                <a:latin typeface="Century Schoolbook"/>
                <a:cs typeface="Century Schoolbook"/>
              </a:rPr>
              <a:t>mistrust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is.</a:t>
            </a:r>
            <a:r>
              <a:rPr sz="2800" spc="15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acquired</a:t>
            </a:r>
            <a:endParaRPr sz="2800" dirty="0">
              <a:latin typeface="Century Schoolbook"/>
              <a:cs typeface="Century School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8851" y="5888660"/>
            <a:ext cx="22669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896239"/>
            <a:ext cx="6229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b="0" spc="-10" dirty="0"/>
              <a:t>H</a:t>
            </a:r>
            <a:r>
              <a:rPr lang="en-US" sz="2400" b="0" spc="-10" dirty="0"/>
              <a:t>ealth</a:t>
            </a:r>
            <a:r>
              <a:rPr lang="en-US" sz="2400" b="0" spc="195" dirty="0"/>
              <a:t> </a:t>
            </a:r>
            <a:r>
              <a:rPr lang="en-US" sz="2400" b="0" spc="-5" dirty="0"/>
              <a:t>Promotion</a:t>
            </a:r>
            <a:r>
              <a:rPr lang="en-US" sz="2400" b="0" spc="150" dirty="0"/>
              <a:t> </a:t>
            </a:r>
            <a:r>
              <a:rPr lang="en-US" sz="2400" b="0" dirty="0"/>
              <a:t>of</a:t>
            </a:r>
            <a:r>
              <a:rPr lang="en-US" sz="2400" b="0" spc="160" dirty="0"/>
              <a:t> </a:t>
            </a:r>
            <a:r>
              <a:rPr lang="en-US" sz="2400" b="0" dirty="0"/>
              <a:t>The</a:t>
            </a:r>
            <a:r>
              <a:rPr lang="en-US" sz="2400" b="0" spc="160" dirty="0"/>
              <a:t> </a:t>
            </a:r>
            <a:r>
              <a:rPr lang="en-US" sz="2400" b="0" spc="-10" dirty="0"/>
              <a:t>Infant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552320"/>
            <a:ext cx="7846060" cy="224420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Nutrition</a:t>
            </a:r>
            <a:r>
              <a:rPr sz="2400" spc="-114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requirements</a:t>
            </a:r>
            <a:endParaRPr sz="240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Promoting</a:t>
            </a:r>
            <a:r>
              <a:rPr sz="2400" spc="-6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sleep</a:t>
            </a:r>
            <a:endParaRPr sz="240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Dental</a:t>
            </a:r>
            <a:r>
              <a:rPr sz="2400" spc="-6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care</a:t>
            </a:r>
            <a:endParaRPr sz="240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Accident</a:t>
            </a:r>
            <a:r>
              <a:rPr sz="2400" spc="-6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prevention</a:t>
            </a:r>
            <a:endParaRPr sz="240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Toy</a:t>
            </a:r>
            <a:r>
              <a:rPr sz="2400" spc="-5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selection</a:t>
            </a:r>
            <a:endParaRPr sz="240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3" y="408254"/>
            <a:ext cx="8530337" cy="96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en-US" sz="3100" b="0" spc="20" dirty="0"/>
              <a:t>S</a:t>
            </a:r>
            <a:r>
              <a:rPr lang="en-US" sz="2450" b="0" spc="20" dirty="0"/>
              <a:t>upplemental</a:t>
            </a:r>
            <a:r>
              <a:rPr lang="en-US" sz="2450" b="0" spc="114" dirty="0"/>
              <a:t> </a:t>
            </a:r>
            <a:r>
              <a:rPr lang="en-US" sz="3100" b="0" spc="15" dirty="0"/>
              <a:t>N</a:t>
            </a:r>
            <a:r>
              <a:rPr lang="en-US" sz="2450" b="0" spc="15" dirty="0"/>
              <a:t>utrients</a:t>
            </a:r>
            <a:r>
              <a:rPr lang="en-US" sz="2450" b="0" spc="140" dirty="0"/>
              <a:t> </a:t>
            </a:r>
            <a:r>
              <a:rPr lang="en-US" sz="3100" b="0" spc="15" dirty="0"/>
              <a:t>T</a:t>
            </a:r>
            <a:r>
              <a:rPr lang="en-US" sz="2450" b="0" spc="15" dirty="0"/>
              <a:t>hat</a:t>
            </a:r>
            <a:r>
              <a:rPr lang="en-US" sz="2450" b="0" spc="145" dirty="0"/>
              <a:t> </a:t>
            </a:r>
            <a:r>
              <a:rPr lang="en-US" sz="3100" b="0" spc="10" dirty="0"/>
              <a:t>M</a:t>
            </a:r>
            <a:r>
              <a:rPr lang="en-US" sz="2450" b="0" spc="10" dirty="0"/>
              <a:t>ay </a:t>
            </a:r>
            <a:r>
              <a:rPr lang="en-US" sz="2450" b="0" spc="-665" dirty="0"/>
              <a:t> </a:t>
            </a:r>
            <a:r>
              <a:rPr lang="en-US" sz="2450" b="0" spc="15" dirty="0"/>
              <a:t>Be</a:t>
            </a:r>
            <a:r>
              <a:rPr lang="en-US" sz="2450" b="0" spc="170" dirty="0"/>
              <a:t> </a:t>
            </a:r>
            <a:r>
              <a:rPr lang="en-US" sz="3100" b="0" spc="10" dirty="0"/>
              <a:t>P</a:t>
            </a:r>
            <a:r>
              <a:rPr lang="en-US" sz="2450" b="0" spc="10" dirty="0"/>
              <a:t>rescribed</a:t>
            </a:r>
            <a:r>
              <a:rPr lang="en-US" sz="2450" b="0" spc="170" dirty="0"/>
              <a:t> </a:t>
            </a:r>
            <a:r>
              <a:rPr lang="en-US" sz="2450" b="0" spc="20" dirty="0"/>
              <a:t>For</a:t>
            </a:r>
            <a:r>
              <a:rPr lang="en-US" sz="2450" b="0" spc="165" dirty="0"/>
              <a:t> </a:t>
            </a:r>
            <a:r>
              <a:rPr lang="en-US" sz="2450" b="0" spc="25" dirty="0"/>
              <a:t>The</a:t>
            </a:r>
            <a:r>
              <a:rPr lang="en-US" sz="2450" b="0" spc="150" dirty="0"/>
              <a:t> </a:t>
            </a:r>
            <a:r>
              <a:rPr lang="en-US" sz="3100" b="0" spc="15" dirty="0"/>
              <a:t>I</a:t>
            </a:r>
            <a:r>
              <a:rPr lang="en-US" sz="2450" b="0" spc="15" dirty="0"/>
              <a:t>nfant</a:t>
            </a:r>
            <a:endParaRPr lang="en-US" sz="2450" dirty="0"/>
          </a:p>
        </p:txBody>
      </p:sp>
      <p:sp>
        <p:nvSpPr>
          <p:cNvPr id="3" name="object 3"/>
          <p:cNvSpPr txBox="1"/>
          <p:nvPr/>
        </p:nvSpPr>
        <p:spPr>
          <a:xfrm>
            <a:off x="1752600" y="1828800"/>
            <a:ext cx="9067800" cy="212622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Vitamins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and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D</a:t>
            </a: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Iron</a:t>
            </a:r>
            <a:endParaRPr sz="2400" dirty="0">
              <a:latin typeface="Century Schoolbook"/>
              <a:cs typeface="Century Schoolbook"/>
            </a:endParaRPr>
          </a:p>
          <a:p>
            <a:pPr marL="652780" marR="5080" lvl="1" indent="-273050"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Breast-fed </a:t>
            </a:r>
            <a:r>
              <a:rPr sz="2100" dirty="0">
                <a:latin typeface="Century Schoolbook"/>
                <a:cs typeface="Century Schoolbook"/>
              </a:rPr>
              <a:t>infants need </a:t>
            </a:r>
            <a:r>
              <a:rPr sz="2100" spc="-5" dirty="0">
                <a:latin typeface="Century Schoolbook"/>
                <a:cs typeface="Century Schoolbook"/>
              </a:rPr>
              <a:t>supplements </a:t>
            </a:r>
            <a:r>
              <a:rPr sz="2100" dirty="0">
                <a:latin typeface="Century Schoolbook"/>
                <a:cs typeface="Century Schoolbook"/>
              </a:rPr>
              <a:t>of iron, </a:t>
            </a:r>
            <a:r>
              <a:rPr sz="2100" spc="-5" dirty="0">
                <a:latin typeface="Century Schoolbook"/>
                <a:cs typeface="Century Schoolbook"/>
              </a:rPr>
              <a:t>as </a:t>
            </a:r>
            <a:r>
              <a:rPr sz="2100" dirty="0">
                <a:latin typeface="Century Schoolbook"/>
                <a:cs typeface="Century Schoolbook"/>
              </a:rPr>
              <a:t>well </a:t>
            </a:r>
            <a:r>
              <a:rPr sz="2100" spc="-57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as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vitamin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D</a:t>
            </a:r>
          </a:p>
          <a:p>
            <a:pPr marL="652780" marR="368300" lvl="1" indent="-273050"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By </a:t>
            </a:r>
            <a:r>
              <a:rPr sz="2100" dirty="0">
                <a:latin typeface="Century Schoolbook"/>
                <a:cs typeface="Century Schoolbook"/>
              </a:rPr>
              <a:t>6 months of </a:t>
            </a:r>
            <a:r>
              <a:rPr sz="2100" spc="-5" dirty="0">
                <a:latin typeface="Century Schoolbook"/>
                <a:cs typeface="Century Schoolbook"/>
              </a:rPr>
              <a:t>age, </a:t>
            </a:r>
            <a:r>
              <a:rPr sz="2100" dirty="0">
                <a:latin typeface="Century Schoolbook"/>
                <a:cs typeface="Century Schoolbook"/>
              </a:rPr>
              <a:t>iron-rich foods </a:t>
            </a:r>
            <a:r>
              <a:rPr sz="2100" spc="-5" dirty="0">
                <a:latin typeface="Century Schoolbook"/>
                <a:cs typeface="Century Schoolbook"/>
              </a:rPr>
              <a:t>are </a:t>
            </a:r>
            <a:r>
              <a:rPr sz="2100" dirty="0">
                <a:latin typeface="Century Schoolbook"/>
                <a:cs typeface="Century Schoolbook"/>
              </a:rPr>
              <a:t>needed </a:t>
            </a:r>
            <a:r>
              <a:rPr sz="2100" spc="-5" dirty="0">
                <a:latin typeface="Century Schoolbook"/>
                <a:cs typeface="Century Schoolbook"/>
              </a:rPr>
              <a:t>as </a:t>
            </a:r>
            <a:r>
              <a:rPr sz="2100" spc="-57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supplements</a:t>
            </a:r>
            <a:endParaRPr sz="21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latin typeface="Century Schoolbook"/>
                <a:cs typeface="Century Schoolbook"/>
              </a:rPr>
              <a:t>Fluoride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08254"/>
            <a:ext cx="9601200" cy="96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en-US" sz="3100" b="0" spc="20" dirty="0"/>
              <a:t>C</a:t>
            </a:r>
            <a:r>
              <a:rPr lang="en-US" sz="2450" b="0" spc="20" dirty="0"/>
              <a:t>omponents</a:t>
            </a:r>
            <a:r>
              <a:rPr lang="en-US" sz="2450" b="0" spc="140" dirty="0"/>
              <a:t> </a:t>
            </a:r>
            <a:r>
              <a:rPr lang="en-US" sz="2450" b="0" spc="20" dirty="0"/>
              <a:t>of</a:t>
            </a:r>
            <a:r>
              <a:rPr lang="en-US" sz="2450" b="0" spc="145" dirty="0"/>
              <a:t> </a:t>
            </a:r>
            <a:r>
              <a:rPr lang="en-US" sz="3100" b="0" spc="15" dirty="0"/>
              <a:t>H</a:t>
            </a:r>
            <a:r>
              <a:rPr lang="en-US" sz="2450" b="0" spc="15" dirty="0"/>
              <a:t>ealth</a:t>
            </a:r>
            <a:r>
              <a:rPr lang="en-US" sz="2450" b="0" spc="160" dirty="0"/>
              <a:t> </a:t>
            </a:r>
            <a:r>
              <a:rPr lang="en-US" sz="3100" b="0" spc="15" dirty="0"/>
              <a:t>P</a:t>
            </a:r>
            <a:r>
              <a:rPr lang="en-US" sz="2450" b="0" spc="15" dirty="0"/>
              <a:t>romotion </a:t>
            </a:r>
            <a:r>
              <a:rPr lang="en-US" sz="2450" b="0" spc="-665" dirty="0"/>
              <a:t> </a:t>
            </a:r>
            <a:r>
              <a:rPr lang="en-US" sz="2450" b="0" spc="20" dirty="0"/>
              <a:t>and</a:t>
            </a:r>
            <a:r>
              <a:rPr lang="en-US" sz="2450" b="0" spc="160" dirty="0"/>
              <a:t> </a:t>
            </a:r>
            <a:r>
              <a:rPr lang="en-US" sz="3100" b="0" spc="20" dirty="0"/>
              <a:t>M</a:t>
            </a:r>
            <a:r>
              <a:rPr lang="en-US" sz="2450" b="0" spc="20" dirty="0"/>
              <a:t>aintenance</a:t>
            </a:r>
            <a:r>
              <a:rPr lang="en-US" sz="2450" b="0" spc="150" dirty="0"/>
              <a:t> </a:t>
            </a:r>
            <a:r>
              <a:rPr lang="en-US" sz="2450" b="0" spc="20" dirty="0"/>
              <a:t>of</a:t>
            </a:r>
            <a:r>
              <a:rPr lang="en-US" sz="2450" b="0" spc="155" dirty="0"/>
              <a:t> </a:t>
            </a:r>
            <a:r>
              <a:rPr lang="en-US" sz="2450" b="0" spc="25" dirty="0"/>
              <a:t>The</a:t>
            </a:r>
            <a:r>
              <a:rPr lang="en-US" sz="2450" b="0" spc="165" dirty="0"/>
              <a:t> </a:t>
            </a:r>
            <a:r>
              <a:rPr lang="en-US" sz="3100" b="0" spc="15" dirty="0"/>
              <a:t>I</a:t>
            </a:r>
            <a:r>
              <a:rPr lang="en-US" sz="2450" b="0" spc="15" dirty="0"/>
              <a:t>nfant</a:t>
            </a:r>
            <a:endParaRPr lang="en-US" sz="245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600200"/>
            <a:ext cx="6521277" cy="179792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Routine</a:t>
            </a:r>
            <a:r>
              <a:rPr sz="2400" spc="-5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checkups</a:t>
            </a: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Immunizations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Family</a:t>
            </a:r>
            <a:r>
              <a:rPr sz="2400" spc="-5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teaching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Education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about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accident</a:t>
            </a:r>
            <a:r>
              <a:rPr sz="2400" spc="-3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prevention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1" y="435229"/>
            <a:ext cx="444563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b="0" spc="-10" dirty="0"/>
              <a:t>W</a:t>
            </a:r>
            <a:r>
              <a:rPr lang="en-US" sz="2400" b="0" spc="-10" dirty="0"/>
              <a:t>ell</a:t>
            </a:r>
            <a:r>
              <a:rPr lang="en-US" sz="3000" b="0" spc="-10" dirty="0"/>
              <a:t>-b</a:t>
            </a:r>
            <a:r>
              <a:rPr lang="en-US" sz="2400" b="0" spc="-10" dirty="0"/>
              <a:t>aby</a:t>
            </a:r>
            <a:r>
              <a:rPr lang="en-US" sz="2400" b="0" spc="155" dirty="0"/>
              <a:t> </a:t>
            </a:r>
            <a:r>
              <a:rPr lang="en-US" sz="3000" b="0" spc="-5" dirty="0"/>
              <a:t>V</a:t>
            </a:r>
            <a:r>
              <a:rPr lang="en-US" sz="2400" b="0" spc="-5" dirty="0"/>
              <a:t>isits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914401" y="1378840"/>
            <a:ext cx="8275956" cy="40158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marR="5080" indent="-273050">
              <a:lnSpc>
                <a:spcPts val="2500"/>
              </a:lnSpc>
              <a:spcBef>
                <a:spcPts val="70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Occur</a:t>
            </a:r>
            <a:r>
              <a:rPr sz="2600" spc="-2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at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2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weeks,</a:t>
            </a:r>
            <a:r>
              <a:rPr sz="2600" spc="-3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and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at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2,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4, 6,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9,</a:t>
            </a:r>
            <a:r>
              <a:rPr sz="2600" spc="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10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and</a:t>
            </a:r>
            <a:r>
              <a:rPr sz="2600" spc="-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12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months</a:t>
            </a:r>
            <a:endParaRPr sz="2600" dirty="0">
              <a:latin typeface="Century Schoolbook"/>
              <a:cs typeface="Century Schoolbook"/>
            </a:endParaRPr>
          </a:p>
          <a:p>
            <a:pPr marL="285115" indent="-273050">
              <a:lnSpc>
                <a:spcPts val="3115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The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nurse</a:t>
            </a:r>
            <a:r>
              <a:rPr sz="2600" spc="-3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collects</a:t>
            </a:r>
            <a:r>
              <a:rPr sz="2600" spc="-1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data</a:t>
            </a:r>
            <a:r>
              <a:rPr sz="2600" spc="-25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regarding:</a:t>
            </a:r>
          </a:p>
          <a:p>
            <a:pPr marL="652780" lvl="1" indent="-273685">
              <a:lnSpc>
                <a:spcPts val="2375"/>
              </a:lnSpc>
              <a:spcBef>
                <a:spcPts val="5"/>
              </a:spcBef>
              <a:buClr>
                <a:srgbClr val="FD8537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200" spc="-5" dirty="0">
                <a:latin typeface="Century Schoolbook"/>
                <a:cs typeface="Century Schoolbook"/>
              </a:rPr>
              <a:t>Growth</a:t>
            </a:r>
            <a:r>
              <a:rPr sz="2200" spc="15" dirty="0">
                <a:latin typeface="Century Schoolbook"/>
                <a:cs typeface="Century Schoolbook"/>
              </a:rPr>
              <a:t> </a:t>
            </a:r>
            <a:r>
              <a:rPr sz="2200" spc="-10" dirty="0">
                <a:latin typeface="Century Schoolbook"/>
                <a:cs typeface="Century Schoolbook"/>
              </a:rPr>
              <a:t>and</a:t>
            </a:r>
            <a:r>
              <a:rPr sz="2200" spc="10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development</a:t>
            </a:r>
            <a:r>
              <a:rPr sz="2200" spc="-15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(weight,</a:t>
            </a:r>
            <a:r>
              <a:rPr sz="2200" spc="10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height,</a:t>
            </a:r>
            <a:r>
              <a:rPr sz="2200" spc="10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head</a:t>
            </a:r>
            <a:endParaRPr sz="2200" dirty="0">
              <a:latin typeface="Century Schoolbook"/>
              <a:cs typeface="Century Schoolbook"/>
            </a:endParaRPr>
          </a:p>
          <a:p>
            <a:pPr marL="652780">
              <a:lnSpc>
                <a:spcPts val="2375"/>
              </a:lnSpc>
            </a:pPr>
            <a:r>
              <a:rPr sz="2200" spc="-5" dirty="0">
                <a:latin typeface="Century Schoolbook"/>
                <a:cs typeface="Century Schoolbook"/>
              </a:rPr>
              <a:t>circumference)</a:t>
            </a:r>
            <a:endParaRPr sz="2200" dirty="0">
              <a:latin typeface="Century Schoolbook"/>
              <a:cs typeface="Century Schoolbook"/>
            </a:endParaRPr>
          </a:p>
          <a:p>
            <a:pPr marL="652780" lvl="1" indent="-273685">
              <a:buClr>
                <a:srgbClr val="FD8537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200" spc="-5" dirty="0">
                <a:latin typeface="Century Schoolbook"/>
                <a:cs typeface="Century Schoolbook"/>
              </a:rPr>
              <a:t>Nutrition</a:t>
            </a:r>
            <a:r>
              <a:rPr sz="2200" spc="-25" dirty="0">
                <a:latin typeface="Century Schoolbook"/>
                <a:cs typeface="Century Schoolbook"/>
              </a:rPr>
              <a:t> </a:t>
            </a:r>
            <a:r>
              <a:rPr sz="2200" spc="-10" dirty="0">
                <a:latin typeface="Century Schoolbook"/>
                <a:cs typeface="Century Schoolbook"/>
              </a:rPr>
              <a:t>and</a:t>
            </a:r>
            <a:r>
              <a:rPr sz="2200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sleep</a:t>
            </a:r>
            <a:endParaRPr sz="2200" dirty="0">
              <a:latin typeface="Century Schoolbook"/>
              <a:cs typeface="Century Schoolbook"/>
            </a:endParaRPr>
          </a:p>
          <a:p>
            <a:pPr marL="652780" lvl="1" indent="-273685">
              <a:buClr>
                <a:srgbClr val="FD8537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200" spc="-5" dirty="0">
                <a:latin typeface="Century Schoolbook"/>
                <a:cs typeface="Century Schoolbook"/>
              </a:rPr>
              <a:t>The caregiver–infant</a:t>
            </a:r>
            <a:r>
              <a:rPr sz="2200" spc="15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relationship</a:t>
            </a:r>
            <a:endParaRPr sz="2200" dirty="0">
              <a:latin typeface="Century Schoolbook"/>
              <a:cs typeface="Century Schoolbook"/>
            </a:endParaRPr>
          </a:p>
          <a:p>
            <a:pPr marL="652780" lvl="1" indent="-273685">
              <a:lnSpc>
                <a:spcPts val="2625"/>
              </a:lnSpc>
              <a:buClr>
                <a:srgbClr val="FD8537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200" spc="-10" dirty="0">
                <a:latin typeface="Century Schoolbook"/>
                <a:cs typeface="Century Schoolbook"/>
              </a:rPr>
              <a:t>Any</a:t>
            </a:r>
            <a:r>
              <a:rPr sz="2200" spc="-5" dirty="0">
                <a:latin typeface="Century Schoolbook"/>
                <a:cs typeface="Century Schoolbook"/>
              </a:rPr>
              <a:t> potential</a:t>
            </a:r>
            <a:r>
              <a:rPr sz="2200" spc="-35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problems</a:t>
            </a:r>
            <a:endParaRPr sz="2200" dirty="0">
              <a:latin typeface="Century Schoolbook"/>
              <a:cs typeface="Century Schoolbook"/>
            </a:endParaRPr>
          </a:p>
          <a:p>
            <a:pPr marL="285115" marR="403860" indent="-273050">
              <a:lnSpc>
                <a:spcPts val="2500"/>
              </a:lnSpc>
              <a:spcBef>
                <a:spcPts val="59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spc="-5" dirty="0">
                <a:latin typeface="Century Schoolbook"/>
                <a:cs typeface="Century Schoolbook"/>
              </a:rPr>
              <a:t>Immunizations are given </a:t>
            </a:r>
            <a:r>
              <a:rPr sz="2600" dirty="0">
                <a:latin typeface="Century Schoolbook"/>
                <a:cs typeface="Century Schoolbook"/>
              </a:rPr>
              <a:t>to </a:t>
            </a:r>
            <a:r>
              <a:rPr sz="2600" spc="-5" dirty="0">
                <a:latin typeface="Century Schoolbook"/>
                <a:cs typeface="Century Schoolbook"/>
              </a:rPr>
              <a:t>guard </a:t>
            </a:r>
            <a:r>
              <a:rPr sz="2600" dirty="0">
                <a:latin typeface="Century Schoolbook"/>
                <a:cs typeface="Century Schoolbook"/>
              </a:rPr>
              <a:t>against </a:t>
            </a:r>
            <a:r>
              <a:rPr sz="2600" spc="-710" dirty="0">
                <a:latin typeface="Century Schoolbook"/>
                <a:cs typeface="Century Schoolbook"/>
              </a:rPr>
              <a:t> </a:t>
            </a:r>
            <a:r>
              <a:rPr sz="2600" spc="-5" dirty="0">
                <a:latin typeface="Century Schoolbook"/>
                <a:cs typeface="Century Schoolbook"/>
              </a:rPr>
              <a:t>disease</a:t>
            </a:r>
            <a:endParaRPr sz="2600" dirty="0">
              <a:latin typeface="Century Schoolbook"/>
              <a:cs typeface="Century Schoolbook"/>
            </a:endParaRPr>
          </a:p>
          <a:p>
            <a:pPr marL="285115" indent="-273050">
              <a:lnSpc>
                <a:spcPts val="311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dirty="0">
                <a:latin typeface="Century Schoolbook"/>
                <a:cs typeface="Century Schoolbook"/>
              </a:rPr>
              <a:t>Family</a:t>
            </a:r>
            <a:r>
              <a:rPr sz="2600" spc="-5" dirty="0">
                <a:latin typeface="Century Schoolbook"/>
                <a:cs typeface="Century Schoolbook"/>
              </a:rPr>
              <a:t> teaching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is</a:t>
            </a:r>
            <a:r>
              <a:rPr sz="2600" spc="-20" dirty="0">
                <a:latin typeface="Century Schoolbook"/>
                <a:cs typeface="Century Schoolbook"/>
              </a:rPr>
              <a:t> </a:t>
            </a:r>
            <a:r>
              <a:rPr sz="2600" dirty="0">
                <a:latin typeface="Century Schoolbook"/>
                <a:cs typeface="Century Schoolbook"/>
              </a:rPr>
              <a:t>provided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1" y="609600"/>
            <a:ext cx="749617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000" b="0" spc="-10" dirty="0"/>
              <a:t>H</a:t>
            </a:r>
            <a:r>
              <a:rPr lang="en-US" sz="2400" b="0" spc="-10" dirty="0"/>
              <a:t>ealth</a:t>
            </a:r>
            <a:r>
              <a:rPr lang="en-US" sz="2400" b="0" spc="190" dirty="0"/>
              <a:t> </a:t>
            </a:r>
            <a:r>
              <a:rPr lang="en-US" sz="2400" b="0" spc="-5" dirty="0"/>
              <a:t>Protection</a:t>
            </a:r>
            <a:r>
              <a:rPr lang="en-US" sz="2400" b="0" spc="180" dirty="0"/>
              <a:t> </a:t>
            </a:r>
            <a:r>
              <a:rPr lang="en-US" sz="2400" b="0" dirty="0"/>
              <a:t>of</a:t>
            </a:r>
            <a:r>
              <a:rPr lang="en-US" sz="2400" b="0" spc="155" dirty="0"/>
              <a:t> </a:t>
            </a:r>
            <a:r>
              <a:rPr lang="en-US" sz="2400" b="0" dirty="0"/>
              <a:t>The</a:t>
            </a:r>
            <a:r>
              <a:rPr lang="en-US" sz="2400" b="0" spc="155" dirty="0"/>
              <a:t> </a:t>
            </a:r>
            <a:r>
              <a:rPr lang="en-US" sz="2400" b="0" spc="-10" dirty="0"/>
              <a:t>Infant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551129"/>
            <a:ext cx="9143999" cy="4281941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spcBef>
                <a:spcPts val="390"/>
              </a:spcBef>
            </a:pPr>
            <a:r>
              <a:rPr sz="2600" b="1" dirty="0">
                <a:latin typeface="Century Schoolbook"/>
                <a:cs typeface="Century Schoolbook"/>
              </a:rPr>
              <a:t>Immunization</a:t>
            </a:r>
            <a:endParaRPr sz="2600" dirty="0">
              <a:latin typeface="Century Schoolbook"/>
              <a:cs typeface="Century Schoolbook"/>
            </a:endParaRPr>
          </a:p>
          <a:p>
            <a:pPr marL="379730" indent="-367665">
              <a:spcBef>
                <a:spcPts val="29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379730" algn="l"/>
                <a:tab pos="380365" algn="l"/>
              </a:tabLst>
            </a:pPr>
            <a:r>
              <a:rPr sz="2600" b="1" dirty="0">
                <a:latin typeface="Century Schoolbook"/>
                <a:cs typeface="Century Schoolbook"/>
              </a:rPr>
              <a:t>BCG</a:t>
            </a:r>
            <a:r>
              <a:rPr sz="2600" b="1" spc="-2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(Tuberculosis)</a:t>
            </a:r>
            <a:endParaRPr sz="26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4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10" dirty="0">
                <a:latin typeface="Century Schoolbook"/>
                <a:cs typeface="Century Schoolbook"/>
              </a:rPr>
              <a:t>Hepatitis </a:t>
            </a:r>
            <a:r>
              <a:rPr sz="2200" b="1" spc="-5" dirty="0">
                <a:latin typeface="Century Schoolbook"/>
                <a:cs typeface="Century Schoolbook"/>
              </a:rPr>
              <a:t>A</a:t>
            </a:r>
            <a:r>
              <a:rPr sz="2200" b="1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and</a:t>
            </a:r>
            <a:r>
              <a:rPr sz="2200" b="1" spc="5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B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4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Polio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DPT</a:t>
            </a:r>
            <a:r>
              <a:rPr sz="2200" b="1" spc="15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(Diphtheria,</a:t>
            </a:r>
            <a:r>
              <a:rPr sz="2200" b="1" spc="35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Pertussis,</a:t>
            </a:r>
            <a:r>
              <a:rPr sz="2200" b="1" spc="15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and</a:t>
            </a:r>
            <a:r>
              <a:rPr sz="2200" b="1" spc="5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Tetanus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Measles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4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German</a:t>
            </a:r>
            <a:r>
              <a:rPr sz="2200" b="1" spc="15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measles</a:t>
            </a:r>
            <a:r>
              <a:rPr sz="2200" b="1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(rubella)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Mumps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4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Varicella</a:t>
            </a:r>
            <a:r>
              <a:rPr sz="2200" b="1" spc="5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(chickenpox)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10" dirty="0">
                <a:latin typeface="Century Schoolbook"/>
                <a:cs typeface="Century Schoolbook"/>
              </a:rPr>
              <a:t>Haemophilus</a:t>
            </a:r>
            <a:r>
              <a:rPr sz="2200" b="1" spc="50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influenza</a:t>
            </a:r>
            <a:r>
              <a:rPr sz="2200" b="1" spc="60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meningitis</a:t>
            </a:r>
            <a:r>
              <a:rPr sz="2200" b="1" spc="35" dirty="0">
                <a:latin typeface="Century Schoolbook"/>
                <a:cs typeface="Century Schoolbook"/>
              </a:rPr>
              <a:t> </a:t>
            </a:r>
            <a:r>
              <a:rPr sz="2200" b="1" spc="-10" dirty="0">
                <a:latin typeface="Century Schoolbook"/>
                <a:cs typeface="Century Schoolbook"/>
              </a:rPr>
              <a:t>(HIB)</a:t>
            </a:r>
            <a:endParaRPr sz="22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b="1" spc="-5" dirty="0">
                <a:latin typeface="Century Schoolbook"/>
                <a:cs typeface="Century Schoolbook"/>
              </a:rPr>
              <a:t>Pneumococcal</a:t>
            </a:r>
            <a:r>
              <a:rPr sz="2200" b="1" spc="25" dirty="0">
                <a:latin typeface="Century Schoolbook"/>
                <a:cs typeface="Century Schoolbook"/>
              </a:rPr>
              <a:t> </a:t>
            </a:r>
            <a:r>
              <a:rPr sz="2200" b="1" spc="-5" dirty="0">
                <a:latin typeface="Century Schoolbook"/>
                <a:cs typeface="Century Schoolbook"/>
              </a:rPr>
              <a:t>disease</a:t>
            </a:r>
            <a:endParaRPr sz="22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81000"/>
            <a:ext cx="5245353" cy="509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</a:t>
            </a:r>
            <a:r>
              <a:rPr lang="en-US" sz="255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njury</a:t>
            </a:r>
            <a:r>
              <a:rPr lang="en-US" sz="2550" u="sng" spc="1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550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Prevention</a:t>
            </a:r>
            <a:endParaRPr lang="en-US" sz="2550" dirty="0"/>
          </a:p>
        </p:txBody>
      </p:sp>
      <p:sp>
        <p:nvSpPr>
          <p:cNvPr id="3" name="object 3"/>
          <p:cNvSpPr txBox="1"/>
          <p:nvPr/>
        </p:nvSpPr>
        <p:spPr>
          <a:xfrm>
            <a:off x="838201" y="1258569"/>
            <a:ext cx="5295266" cy="269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-10" dirty="0">
                <a:latin typeface="Century Schoolbook"/>
                <a:cs typeface="Century Schoolbook"/>
              </a:rPr>
              <a:t>Falling</a:t>
            </a:r>
            <a:r>
              <a:rPr sz="2400" b="1" spc="-15" dirty="0">
                <a:latin typeface="Century Schoolbook"/>
                <a:cs typeface="Century Schoolbook"/>
              </a:rPr>
              <a:t> </a:t>
            </a:r>
            <a:r>
              <a:rPr sz="2400" b="1" dirty="0">
                <a:latin typeface="Century Schoolbook"/>
                <a:cs typeface="Century Schoolbook"/>
              </a:rPr>
              <a:t>down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Aspiration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Poisoning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Suffocation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dirty="0">
                <a:latin typeface="Century Schoolbook"/>
                <a:cs typeface="Century Schoolbook"/>
              </a:rPr>
              <a:t>Burns</a:t>
            </a:r>
            <a:endParaRPr sz="2400" dirty="0">
              <a:latin typeface="Century Schoolbook"/>
              <a:cs typeface="Century Schoolbook"/>
            </a:endParaRPr>
          </a:p>
          <a:p>
            <a:pPr marL="285115" indent="-273050"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-5" dirty="0">
                <a:latin typeface="Century Schoolbook"/>
                <a:cs typeface="Century Schoolbook"/>
              </a:rPr>
              <a:t>Motor</a:t>
            </a:r>
            <a:r>
              <a:rPr sz="2400" b="1" spc="-40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vehicle</a:t>
            </a:r>
            <a:r>
              <a:rPr sz="2400" b="1" spc="-25" dirty="0">
                <a:latin typeface="Century Schoolbook"/>
                <a:cs typeface="Century Schoolbook"/>
              </a:rPr>
              <a:t> </a:t>
            </a:r>
            <a:r>
              <a:rPr sz="2400" b="1" spc="-5" dirty="0">
                <a:latin typeface="Century Schoolbook"/>
                <a:cs typeface="Century Schoolbook"/>
              </a:rPr>
              <a:t>accidents</a:t>
            </a:r>
            <a:endParaRPr sz="24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04801"/>
            <a:ext cx="12313581" cy="57795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0795" marR="5080">
              <a:spcBef>
                <a:spcPts val="105"/>
              </a:spcBef>
            </a:pPr>
            <a:r>
              <a:rPr lang="en-US" dirty="0"/>
              <a:t>Health</a:t>
            </a:r>
            <a:r>
              <a:rPr lang="en-US" spc="-50" dirty="0"/>
              <a:t> </a:t>
            </a:r>
            <a:r>
              <a:rPr lang="en-US" spc="5" dirty="0"/>
              <a:t>Promotion</a:t>
            </a:r>
            <a:r>
              <a:rPr lang="en-US" spc="-60" dirty="0"/>
              <a:t> </a:t>
            </a:r>
            <a:r>
              <a:rPr lang="en-US" dirty="0"/>
              <a:t>of</a:t>
            </a:r>
            <a:r>
              <a:rPr lang="en-US" spc="-45" dirty="0"/>
              <a:t> </a:t>
            </a:r>
            <a:r>
              <a:rPr lang="en-US" dirty="0"/>
              <a:t>The </a:t>
            </a:r>
            <a:r>
              <a:rPr lang="en-US" spc="-905" dirty="0"/>
              <a:t> </a:t>
            </a:r>
            <a:r>
              <a:rPr lang="en-US" dirty="0"/>
              <a:t>Infant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295400"/>
            <a:ext cx="9448799" cy="351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dirty="0">
                <a:latin typeface="Century Schoolbook"/>
                <a:cs typeface="Century Schoolbook"/>
              </a:rPr>
              <a:t>a.</a:t>
            </a:r>
            <a:r>
              <a:rPr sz="3600" b="1" spc="-25" dirty="0">
                <a:latin typeface="Century Schoolbook"/>
                <a:cs typeface="Century Schoolbook"/>
              </a:rPr>
              <a:t> </a:t>
            </a:r>
            <a:r>
              <a:rPr sz="3600" b="1" spc="-5" dirty="0">
                <a:latin typeface="Century Schoolbook"/>
                <a:cs typeface="Century Schoolbook"/>
              </a:rPr>
              <a:t>Toy</a:t>
            </a:r>
            <a:r>
              <a:rPr sz="3600" b="1" spc="-30" dirty="0">
                <a:latin typeface="Century Schoolbook"/>
                <a:cs typeface="Century Schoolbook"/>
              </a:rPr>
              <a:t> </a:t>
            </a:r>
            <a:r>
              <a:rPr sz="3600" b="1" dirty="0">
                <a:latin typeface="Century Schoolbook"/>
                <a:cs typeface="Century Schoolbook"/>
              </a:rPr>
              <a:t>selection</a:t>
            </a:r>
            <a:endParaRPr sz="3600" dirty="0">
              <a:latin typeface="Century Schoolbook"/>
              <a:cs typeface="Century Schoolbook"/>
            </a:endParaRPr>
          </a:p>
          <a:p>
            <a:pPr marL="285115" marR="1043940" indent="-273050">
              <a:lnSpc>
                <a:spcPct val="80000"/>
              </a:lnSpc>
              <a:spcBef>
                <a:spcPts val="63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Infant</a:t>
            </a:r>
            <a:r>
              <a:rPr sz="2600" b="1" u="sng" spc="-2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toys</a:t>
            </a:r>
            <a:r>
              <a:rPr sz="2600" b="1" u="sng" spc="-1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serve</a:t>
            </a:r>
            <a:r>
              <a:rPr sz="2600" b="1" u="sng" spc="-5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several</a:t>
            </a:r>
            <a:r>
              <a:rPr sz="2600" b="1" u="sng" spc="-5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purposes, </a:t>
            </a:r>
            <a:r>
              <a:rPr sz="2600" b="1" spc="-730" dirty="0">
                <a:latin typeface="Century Schoolbook"/>
                <a:cs typeface="Century Schoolbook"/>
              </a:rPr>
              <a:t> </a:t>
            </a:r>
            <a:r>
              <a:rPr sz="26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including:</a:t>
            </a:r>
            <a:endParaRPr sz="2600" dirty="0">
              <a:latin typeface="Century Schoolbook"/>
              <a:cs typeface="Century Schoolbook"/>
            </a:endParaRPr>
          </a:p>
          <a:p>
            <a:pPr marL="285115" marR="1660525" indent="-273050">
              <a:lnSpc>
                <a:spcPts val="2500"/>
              </a:lnSpc>
              <a:spcBef>
                <a:spcPts val="57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dirty="0">
                <a:latin typeface="Century Schoolbook"/>
                <a:cs typeface="Century Schoolbook"/>
              </a:rPr>
              <a:t>a) Stimulation </a:t>
            </a:r>
            <a:r>
              <a:rPr sz="2600" b="1" spc="-5" dirty="0">
                <a:latin typeface="Century Schoolbook"/>
                <a:cs typeface="Century Schoolbook"/>
              </a:rPr>
              <a:t>for psychosocial </a:t>
            </a:r>
            <a:r>
              <a:rPr sz="2600" b="1" spc="-735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development</a:t>
            </a:r>
            <a:endParaRPr sz="2600" dirty="0">
              <a:latin typeface="Century Schoolbook"/>
              <a:cs typeface="Century Schoolbook"/>
            </a:endParaRPr>
          </a:p>
          <a:p>
            <a:pPr marL="285115" marR="5080" indent="-273050">
              <a:lnSpc>
                <a:spcPts val="2500"/>
              </a:lnSpc>
              <a:spcBef>
                <a:spcPts val="59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dirty="0">
                <a:latin typeface="Century Schoolbook"/>
                <a:cs typeface="Century Schoolbook"/>
              </a:rPr>
              <a:t>b)</a:t>
            </a:r>
            <a:r>
              <a:rPr sz="2600" b="1" spc="-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Diversion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for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relieving</a:t>
            </a:r>
            <a:r>
              <a:rPr sz="2600" b="1" spc="-5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boredom,</a:t>
            </a:r>
            <a:r>
              <a:rPr sz="2600" b="1" spc="-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pain, </a:t>
            </a:r>
            <a:r>
              <a:rPr sz="2600" b="1" spc="-7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and</a:t>
            </a:r>
            <a:r>
              <a:rPr sz="2600" b="1" spc="-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discomfort</a:t>
            </a:r>
            <a:endParaRPr sz="2600" dirty="0">
              <a:latin typeface="Century Schoolbook"/>
              <a:cs typeface="Century Schoolbook"/>
            </a:endParaRPr>
          </a:p>
          <a:p>
            <a:pPr marL="285115" marR="1216660" indent="-273050">
              <a:lnSpc>
                <a:spcPts val="2500"/>
              </a:lnSpc>
              <a:spcBef>
                <a:spcPts val="59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dirty="0">
                <a:latin typeface="Century Schoolbook"/>
                <a:cs typeface="Century Schoolbook"/>
              </a:rPr>
              <a:t>c)</a:t>
            </a:r>
            <a:r>
              <a:rPr sz="2600" b="1" spc="-1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A</a:t>
            </a:r>
            <a:r>
              <a:rPr sz="2600" b="1" spc="-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means</a:t>
            </a:r>
            <a:r>
              <a:rPr sz="2600" b="1" spc="-4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of</a:t>
            </a:r>
            <a:r>
              <a:rPr sz="2600" b="1" spc="-5" dirty="0">
                <a:latin typeface="Century Schoolbook"/>
                <a:cs typeface="Century Schoolbook"/>
              </a:rPr>
              <a:t> communicating</a:t>
            </a:r>
            <a:r>
              <a:rPr sz="2600" b="1" spc="-2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and </a:t>
            </a:r>
            <a:r>
              <a:rPr sz="2600" b="1" spc="-730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expressing</a:t>
            </a:r>
            <a:r>
              <a:rPr sz="2600" b="1" spc="-4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feelings</a:t>
            </a:r>
            <a:endParaRPr sz="2600" dirty="0">
              <a:latin typeface="Century Schoolbook"/>
              <a:cs typeface="Century Schoolbook"/>
            </a:endParaRPr>
          </a:p>
          <a:p>
            <a:pPr marL="285115" marR="925194" indent="-273050">
              <a:lnSpc>
                <a:spcPct val="80000"/>
              </a:lnSpc>
              <a:spcBef>
                <a:spcPts val="62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5750" algn="l"/>
              </a:tabLst>
            </a:pPr>
            <a:r>
              <a:rPr sz="2600" b="1" dirty="0">
                <a:latin typeface="Century Schoolbook"/>
                <a:cs typeface="Century Schoolbook"/>
              </a:rPr>
              <a:t>d) Aid </a:t>
            </a:r>
            <a:r>
              <a:rPr sz="2600" b="1" spc="-5" dirty="0">
                <a:latin typeface="Century Schoolbook"/>
                <a:cs typeface="Century Schoolbook"/>
              </a:rPr>
              <a:t>in </a:t>
            </a:r>
            <a:r>
              <a:rPr sz="2600" b="1" dirty="0">
                <a:latin typeface="Century Schoolbook"/>
                <a:cs typeface="Century Schoolbook"/>
              </a:rPr>
              <a:t>the </a:t>
            </a:r>
            <a:r>
              <a:rPr sz="2600" b="1" spc="-5" dirty="0">
                <a:latin typeface="Century Schoolbook"/>
                <a:cs typeface="Century Schoolbook"/>
              </a:rPr>
              <a:t>development </a:t>
            </a:r>
            <a:r>
              <a:rPr sz="2600" b="1" dirty="0">
                <a:latin typeface="Century Schoolbook"/>
                <a:cs typeface="Century Schoolbook"/>
              </a:rPr>
              <a:t>of sensor </a:t>
            </a:r>
            <a:r>
              <a:rPr sz="2600" b="1" spc="-735" dirty="0">
                <a:latin typeface="Century Schoolbook"/>
                <a:cs typeface="Century Schoolbook"/>
              </a:rPr>
              <a:t> </a:t>
            </a:r>
            <a:r>
              <a:rPr sz="2600" b="1" dirty="0">
                <a:latin typeface="Century Schoolbook"/>
                <a:cs typeface="Century Schoolbook"/>
              </a:rPr>
              <a:t>motor</a:t>
            </a:r>
            <a:r>
              <a:rPr sz="2600" b="1" spc="-10" dirty="0">
                <a:latin typeface="Century Schoolbook"/>
                <a:cs typeface="Century Schoolbook"/>
              </a:rPr>
              <a:t> </a:t>
            </a:r>
            <a:r>
              <a:rPr sz="2600" b="1" spc="-5" dirty="0">
                <a:latin typeface="Century Schoolbook"/>
                <a:cs typeface="Century Schoolbook"/>
              </a:rPr>
              <a:t>skills</a:t>
            </a:r>
            <a:endParaRPr sz="26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1" y="316814"/>
            <a:ext cx="4332222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400" b="0" spc="10" dirty="0"/>
              <a:t>D</a:t>
            </a:r>
            <a:r>
              <a:rPr lang="en-US" sz="2700" b="0" spc="10" dirty="0"/>
              <a:t>ental</a:t>
            </a:r>
            <a:r>
              <a:rPr lang="en-US" sz="2700" b="0" spc="114" dirty="0"/>
              <a:t> </a:t>
            </a:r>
            <a:r>
              <a:rPr lang="en-US" sz="2700" b="0" spc="15" dirty="0"/>
              <a:t>Health</a:t>
            </a:r>
            <a:endParaRPr lang="en-US"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152907"/>
            <a:ext cx="9677399" cy="3537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433070" indent="-273050">
              <a:spcBef>
                <a:spcPts val="105"/>
              </a:spcBef>
              <a:buClr>
                <a:srgbClr val="FD8537"/>
              </a:buClr>
              <a:buSzPct val="70312"/>
              <a:buFont typeface="Wingdings"/>
              <a:buChar char=""/>
              <a:tabLst>
                <a:tab pos="285750" algn="l"/>
              </a:tabLst>
            </a:pPr>
            <a:r>
              <a:rPr sz="3200" spc="-5" dirty="0">
                <a:latin typeface="Century Schoolbook"/>
                <a:cs typeface="Century Schoolbook"/>
              </a:rPr>
              <a:t>1. </a:t>
            </a:r>
            <a:r>
              <a:rPr sz="3200" dirty="0">
                <a:latin typeface="Century Schoolbook"/>
                <a:cs typeface="Century Schoolbook"/>
              </a:rPr>
              <a:t>An </a:t>
            </a:r>
            <a:r>
              <a:rPr sz="3200" spc="-5" dirty="0">
                <a:latin typeface="Century Schoolbook"/>
                <a:cs typeface="Century Schoolbook"/>
              </a:rPr>
              <a:t>infant's primary </a:t>
            </a:r>
            <a:r>
              <a:rPr sz="3200" dirty="0">
                <a:latin typeface="Century Schoolbook"/>
                <a:cs typeface="Century Schoolbook"/>
              </a:rPr>
              <a:t>(deciduous) </a:t>
            </a:r>
            <a:r>
              <a:rPr sz="3200" spc="-875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teeth </a:t>
            </a:r>
            <a:r>
              <a:rPr sz="3200" dirty="0">
                <a:latin typeface="Century Schoolbook"/>
                <a:cs typeface="Century Schoolbook"/>
              </a:rPr>
              <a:t>erupt </a:t>
            </a:r>
            <a:r>
              <a:rPr sz="3200" spc="-5" dirty="0">
                <a:latin typeface="Century Schoolbook"/>
                <a:cs typeface="Century Schoolbook"/>
              </a:rPr>
              <a:t>at about age </a:t>
            </a:r>
            <a:r>
              <a:rPr sz="3200" dirty="0">
                <a:latin typeface="Century Schoolbook"/>
                <a:cs typeface="Century Schoolbook"/>
              </a:rPr>
              <a:t>6 </a:t>
            </a:r>
            <a:r>
              <a:rPr sz="3200" spc="-5" dirty="0">
                <a:latin typeface="Century Schoolbook"/>
                <a:cs typeface="Century Schoolbook"/>
              </a:rPr>
              <a:t>months. </a:t>
            </a:r>
            <a:r>
              <a:rPr sz="3200" spc="-87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Assessment </a:t>
            </a:r>
            <a:r>
              <a:rPr sz="3200" spc="-5" dirty="0">
                <a:latin typeface="Century Schoolbook"/>
                <a:cs typeface="Century Schoolbook"/>
              </a:rPr>
              <a:t>guide: age </a:t>
            </a:r>
            <a:r>
              <a:rPr sz="3200" dirty="0">
                <a:latin typeface="Century Schoolbook"/>
                <a:cs typeface="Century Schoolbook"/>
              </a:rPr>
              <a:t>of child in </a:t>
            </a:r>
            <a:r>
              <a:rPr sz="3200" spc="5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months minus</a:t>
            </a:r>
            <a:r>
              <a:rPr sz="3200" spc="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6</a:t>
            </a:r>
            <a:r>
              <a:rPr sz="3200" spc="-1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months</a:t>
            </a:r>
            <a:r>
              <a:rPr sz="320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equals' </a:t>
            </a:r>
            <a:r>
              <a:rPr sz="3200" dirty="0">
                <a:latin typeface="Century Schoolbook"/>
                <a:cs typeface="Century Schoolbook"/>
              </a:rPr>
              <a:t> number</a:t>
            </a:r>
            <a:r>
              <a:rPr sz="3200" spc="-2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of</a:t>
            </a:r>
            <a:r>
              <a:rPr sz="3200" spc="-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primary</a:t>
            </a:r>
            <a:r>
              <a:rPr sz="3200" spc="-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teeth.</a:t>
            </a:r>
          </a:p>
          <a:p>
            <a:pPr marL="285115" marR="5080" indent="-273050">
              <a:spcBef>
                <a:spcPts val="600"/>
              </a:spcBef>
              <a:buClr>
                <a:srgbClr val="FD8537"/>
              </a:buClr>
              <a:buSzPct val="70312"/>
              <a:buFont typeface="Wingdings"/>
              <a:buChar char=""/>
              <a:tabLst>
                <a:tab pos="285750" algn="l"/>
              </a:tabLst>
            </a:pPr>
            <a:r>
              <a:rPr sz="3200" spc="-5" dirty="0">
                <a:latin typeface="Century Schoolbook"/>
                <a:cs typeface="Century Schoolbook"/>
              </a:rPr>
              <a:t>2. Clean an infant's teeth </a:t>
            </a:r>
            <a:r>
              <a:rPr sz="3200" dirty="0">
                <a:latin typeface="Century Schoolbook"/>
                <a:cs typeface="Century Schoolbook"/>
              </a:rPr>
              <a:t>with a </a:t>
            </a:r>
            <a:r>
              <a:rPr sz="3200" spc="5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damp </a:t>
            </a:r>
            <a:r>
              <a:rPr sz="3200" dirty="0">
                <a:latin typeface="Century Schoolbook"/>
                <a:cs typeface="Century Schoolbook"/>
              </a:rPr>
              <a:t>cloth; </a:t>
            </a:r>
            <a:r>
              <a:rPr sz="3200" spc="-5" dirty="0">
                <a:latin typeface="Century Schoolbook"/>
                <a:cs typeface="Century Schoolbook"/>
              </a:rPr>
              <a:t>brushing </a:t>
            </a:r>
            <a:r>
              <a:rPr sz="3200" dirty="0">
                <a:latin typeface="Century Schoolbook"/>
                <a:cs typeface="Century Schoolbook"/>
              </a:rPr>
              <a:t>is </a:t>
            </a:r>
            <a:r>
              <a:rPr sz="3200" spc="-5" dirty="0">
                <a:latin typeface="Century Schoolbook"/>
                <a:cs typeface="Century Schoolbook"/>
              </a:rPr>
              <a:t>too </a:t>
            </a:r>
            <a:r>
              <a:rPr sz="3200" dirty="0">
                <a:latin typeface="Century Schoolbook"/>
                <a:cs typeface="Century Schoolbook"/>
              </a:rPr>
              <a:t>harsh for </a:t>
            </a:r>
            <a:r>
              <a:rPr sz="3200" spc="-875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the</a:t>
            </a:r>
            <a:r>
              <a:rPr sz="3200" spc="-2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infant's</a:t>
            </a:r>
            <a:r>
              <a:rPr sz="3200" spc="-2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tender</a:t>
            </a:r>
            <a:r>
              <a:rPr sz="3200" spc="-2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gums.</a:t>
            </a:r>
            <a:endParaRPr sz="32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935228"/>
            <a:ext cx="9601199" cy="30450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879475" indent="-273050">
              <a:spcBef>
                <a:spcPts val="105"/>
              </a:spcBef>
              <a:buClr>
                <a:srgbClr val="FD8537"/>
              </a:buClr>
              <a:buSzPct val="68965"/>
              <a:buFont typeface="Wingdings"/>
              <a:buChar char=""/>
              <a:tabLst>
                <a:tab pos="285750" algn="l"/>
              </a:tabLst>
            </a:pPr>
            <a:r>
              <a:rPr sz="2900" b="1" dirty="0">
                <a:latin typeface="Century Schoolbook"/>
                <a:cs typeface="Century Schoolbook"/>
              </a:rPr>
              <a:t>3.</a:t>
            </a:r>
            <a:r>
              <a:rPr sz="2900" b="1" spc="-2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Assess</a:t>
            </a:r>
            <a:r>
              <a:rPr sz="3200" spc="-2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the</a:t>
            </a:r>
            <a:r>
              <a:rPr sz="3200" spc="-1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need</a:t>
            </a:r>
            <a:r>
              <a:rPr sz="3200" spc="-3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for</a:t>
            </a:r>
            <a:r>
              <a:rPr sz="3200" spc="-1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a</a:t>
            </a:r>
            <a:r>
              <a:rPr sz="3200" spc="-1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fluoride </a:t>
            </a:r>
            <a:r>
              <a:rPr sz="3200" spc="-87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supplement; consult with </a:t>
            </a:r>
            <a:r>
              <a:rPr sz="3200" spc="-5" dirty="0">
                <a:latin typeface="Century Schoolbook"/>
                <a:cs typeface="Century Schoolbook"/>
              </a:rPr>
              <a:t>the </a:t>
            </a:r>
            <a:r>
              <a:rPr sz="320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physician.</a:t>
            </a:r>
            <a:endParaRPr sz="3200" dirty="0">
              <a:latin typeface="Century Schoolbook"/>
              <a:cs typeface="Century Schoolbook"/>
            </a:endParaRPr>
          </a:p>
          <a:p>
            <a:pPr marL="285115" marR="5080" indent="-273050">
              <a:spcBef>
                <a:spcPts val="600"/>
              </a:spcBef>
              <a:buClr>
                <a:srgbClr val="FD8537"/>
              </a:buClr>
              <a:buSzPct val="70312"/>
              <a:buFont typeface="Wingdings"/>
              <a:buChar char=""/>
              <a:tabLst>
                <a:tab pos="285750" algn="l"/>
              </a:tabLst>
            </a:pPr>
            <a:r>
              <a:rPr sz="3200" spc="-5" dirty="0">
                <a:latin typeface="Century Schoolbook"/>
                <a:cs typeface="Century Schoolbook"/>
              </a:rPr>
              <a:t>4. </a:t>
            </a:r>
            <a:r>
              <a:rPr sz="3200" dirty="0">
                <a:latin typeface="Century Schoolbook"/>
                <a:cs typeface="Century Schoolbook"/>
              </a:rPr>
              <a:t>Despite</a:t>
            </a:r>
            <a:r>
              <a:rPr sz="3200" spc="-30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a</a:t>
            </a:r>
            <a:r>
              <a:rPr sz="3200" spc="-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widespread</a:t>
            </a:r>
            <a:r>
              <a:rPr sz="3200" spc="-3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belief</a:t>
            </a:r>
            <a:r>
              <a:rPr sz="3200" spc="-3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to the </a:t>
            </a:r>
            <a:r>
              <a:rPr sz="3200" spc="-87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contrary, </a:t>
            </a:r>
            <a:r>
              <a:rPr sz="3200" spc="-5" dirty="0">
                <a:latin typeface="Century Schoolbook"/>
                <a:cs typeface="Century Schoolbook"/>
              </a:rPr>
              <a:t>fever, vomiting, and </a:t>
            </a:r>
            <a:r>
              <a:rPr sz="3200" dirty="0">
                <a:latin typeface="Century Schoolbook"/>
                <a:cs typeface="Century Schoolbook"/>
              </a:rPr>
              <a:t> </a:t>
            </a:r>
            <a:r>
              <a:rPr sz="3200" spc="-5" dirty="0">
                <a:latin typeface="Century Schoolbook"/>
                <a:cs typeface="Century Schoolbook"/>
              </a:rPr>
              <a:t>diarrhea </a:t>
            </a:r>
            <a:r>
              <a:rPr sz="3200" dirty="0">
                <a:latin typeface="Century Schoolbook"/>
                <a:cs typeface="Century Schoolbook"/>
              </a:rPr>
              <a:t>usually </a:t>
            </a:r>
            <a:r>
              <a:rPr sz="3200" spc="-5" dirty="0">
                <a:latin typeface="Century Schoolbook"/>
                <a:cs typeface="Century Schoolbook"/>
              </a:rPr>
              <a:t>are </a:t>
            </a:r>
            <a:r>
              <a:rPr sz="3200" dirty="0">
                <a:latin typeface="Century Schoolbook"/>
                <a:cs typeface="Century Schoolbook"/>
              </a:rPr>
              <a:t>not associated </a:t>
            </a:r>
            <a:r>
              <a:rPr sz="3200" spc="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with teething </a:t>
            </a:r>
            <a:r>
              <a:rPr sz="3200" spc="-5" dirty="0">
                <a:latin typeface="Century Schoolbook"/>
                <a:cs typeface="Century Schoolbook"/>
              </a:rPr>
              <a:t>but </a:t>
            </a:r>
            <a:r>
              <a:rPr sz="3200" dirty="0">
                <a:latin typeface="Century Schoolbook"/>
                <a:cs typeface="Century Schoolbook"/>
              </a:rPr>
              <a:t>rather indicate </a:t>
            </a:r>
            <a:r>
              <a:rPr sz="3200" spc="5" dirty="0">
                <a:latin typeface="Century Schoolbook"/>
                <a:cs typeface="Century Schoolbook"/>
              </a:rPr>
              <a:t> </a:t>
            </a:r>
            <a:r>
              <a:rPr sz="3200" dirty="0">
                <a:latin typeface="Century Schoolbook"/>
                <a:cs typeface="Century Schoolbook"/>
              </a:rPr>
              <a:t>illness.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2BFA77-7F13-59F8-014E-C1C67DC6EA6E}"/>
              </a:ext>
            </a:extLst>
          </p:cNvPr>
          <p:cNvSpPr txBox="1"/>
          <p:nvPr/>
        </p:nvSpPr>
        <p:spPr>
          <a:xfrm>
            <a:off x="244475" y="261938"/>
            <a:ext cx="11691938" cy="212566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5043" name="Text Placeholder 1">
            <a:extLst>
              <a:ext uri="{FF2B5EF4-FFF2-40B4-BE49-F238E27FC236}">
                <a16:creationId xmlns:a16="http://schemas.microsoft.com/office/drawing/2014/main" id="{51192D33-4BD6-8803-6162-4BCD07099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1087438"/>
            <a:ext cx="44148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Thank</a:t>
            </a: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굴림" panose="020B0600000101010101" pitchFamily="34" charset="-127"/>
                <a:cs typeface="+mn-cs"/>
              </a:rPr>
              <a:t> </a:t>
            </a: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you</a:t>
            </a:r>
            <a:endParaRPr kumimoji="0" lang="ko-KR" alt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 pitchFamily="34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15044" name="مربع نص 2">
            <a:extLst>
              <a:ext uri="{FF2B5EF4-FFF2-40B4-BE49-F238E27FC236}">
                <a16:creationId xmlns:a16="http://schemas.microsoft.com/office/drawing/2014/main" id="{0A789539-0ADA-DC85-D3FD-12359B761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3429000"/>
            <a:ext cx="5649913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IQ" sz="11500" b="0" i="0" u="none" strike="noStrike" kern="1200" cap="none" spc="0" normalizeH="0" baseline="0" noProof="0" dirty="0">
                <a:ln>
                  <a:noFill/>
                </a:ln>
                <a:solidFill>
                  <a:srgbClr val="137333"/>
                </a:solidFill>
                <a:effectLst/>
                <a:uLnTx/>
                <a:uFillTx/>
                <a:latin typeface="Google Sans Display"/>
                <a:ea typeface="+mn-ea"/>
                <a:cs typeface="+mn-cs"/>
              </a:rPr>
              <a:t>cs5jm5o</a:t>
            </a:r>
            <a:endParaRPr kumimoji="0" lang="ar-IQ" altLang="ar-IQ" sz="1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045" name="مربع نص 4">
            <a:extLst>
              <a:ext uri="{FF2B5EF4-FFF2-40B4-BE49-F238E27FC236}">
                <a16:creationId xmlns:a16="http://schemas.microsoft.com/office/drawing/2014/main" id="{40801630-0E58-CCA8-4AEE-1C78B0A0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2787650"/>
            <a:ext cx="1619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ar-IQ" altLang="ar-IQ" sz="2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رمز الصف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t Started with 3D">
  <a:themeElements>
    <a:clrScheme name="أخضر أصفر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2_Get Started with 3D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2032</Words>
  <Application>Microsoft Office PowerPoint</Application>
  <PresentationFormat>شاشة عريضة</PresentationFormat>
  <Paragraphs>242</Paragraphs>
  <Slides>38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12</vt:i4>
      </vt:variant>
      <vt:variant>
        <vt:lpstr>نسق</vt:lpstr>
      </vt:variant>
      <vt:variant>
        <vt:i4>3</vt:i4>
      </vt:variant>
      <vt:variant>
        <vt:lpstr>عناوين الشرائح</vt:lpstr>
      </vt:variant>
      <vt:variant>
        <vt:i4>38</vt:i4>
      </vt:variant>
    </vt:vector>
  </HeadingPairs>
  <TitlesOfParts>
    <vt:vector size="53" baseType="lpstr">
      <vt:lpstr>Arial</vt:lpstr>
      <vt:lpstr>Calibri</vt:lpstr>
      <vt:lpstr>Century Schoolbook</vt:lpstr>
      <vt:lpstr>Google Sans Display</vt:lpstr>
      <vt:lpstr>Segoe UI</vt:lpstr>
      <vt:lpstr>Segoe UI Light</vt:lpstr>
      <vt:lpstr>Segoe UI Semibold</vt:lpstr>
      <vt:lpstr>Segoe UI Variable Small Semibol</vt:lpstr>
      <vt:lpstr>Times New Roman</vt:lpstr>
      <vt:lpstr>Verdana</vt:lpstr>
      <vt:lpstr>Wingdings</vt:lpstr>
      <vt:lpstr>Wingdings 2</vt:lpstr>
      <vt:lpstr>Office Theme</vt:lpstr>
      <vt:lpstr>Get Started with 3D</vt:lpstr>
      <vt:lpstr>2_Get Started with 3D</vt:lpstr>
      <vt:lpstr>Growth and Development of  The Infant and Toddler </vt:lpstr>
      <vt:lpstr>Assessment of Normal Growth &amp;  Development of The Infant</vt:lpstr>
      <vt:lpstr>[1]. Growth During The  Intrauterine Period</vt:lpstr>
      <vt:lpstr>[2]. Growth During The Postnatal Period. (Newborn Assessment)</vt:lpstr>
      <vt:lpstr>Head circumference measurement</vt:lpstr>
      <vt:lpstr>Main fontanels on the head of the  newborn</vt:lpstr>
      <vt:lpstr>Growth of Chest and Abdomen:</vt:lpstr>
      <vt:lpstr>4. GROWTH IN LENGTH:</vt:lpstr>
      <vt:lpstr>5. GROWTH IN WEIGHT:</vt:lpstr>
      <vt:lpstr>B. PHYSIOLOGICAL GROWTH:</vt:lpstr>
      <vt:lpstr>DEVELOPMENT:</vt:lpstr>
      <vt:lpstr>عرض تقديمي في PowerPoint</vt:lpstr>
      <vt:lpstr>Infant Normal Growth &amp;  Development</vt:lpstr>
      <vt:lpstr>NORMAL INFANT</vt:lpstr>
      <vt:lpstr>Normal Infant</vt:lpstr>
      <vt:lpstr>Growth of Head:</vt:lpstr>
      <vt:lpstr>CHEST CIRCUMFERENCE:</vt:lpstr>
      <vt:lpstr>Eruption of The Milk Teeth (Deciduous  Teeth)</vt:lpstr>
      <vt:lpstr>Eruption of The Milk Teeth</vt:lpstr>
      <vt:lpstr>Gross Motor Development</vt:lpstr>
      <vt:lpstr>Cont. Gross Motor Development.</vt:lpstr>
      <vt:lpstr>MOTOR DEVELOPMENT IN INFANTS</vt:lpstr>
      <vt:lpstr>Fine Motor Development</vt:lpstr>
      <vt:lpstr>7. months Can transfer a rattle from hands to  hand. Reaches objects and brings them to  mouth. Has ambidextrous approach</vt:lpstr>
      <vt:lpstr>Psychosocial Development of The Infant</vt:lpstr>
      <vt:lpstr>عرض تقديمي في PowerPoint</vt:lpstr>
      <vt:lpstr>’peek-a-boo’’ by 10 months</vt:lpstr>
      <vt:lpstr>عرض تقديمي في PowerPoint</vt:lpstr>
      <vt:lpstr>Health Promotion of The Infant</vt:lpstr>
      <vt:lpstr>Supplemental Nutrients That May  Be Prescribed For The Infant</vt:lpstr>
      <vt:lpstr>Components of Health Promotion  and Maintenance of The Infant</vt:lpstr>
      <vt:lpstr>Well-baby Visits</vt:lpstr>
      <vt:lpstr>Health Protection of The Infant</vt:lpstr>
      <vt:lpstr>Injury Prevention</vt:lpstr>
      <vt:lpstr>Health Promotion of The  Infant</vt:lpstr>
      <vt:lpstr>Dental Health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and Development of the Infant: 28 Days to 1 Year</dc:title>
  <dc:creator>292</dc:creator>
  <cp:lastModifiedBy>green lanter</cp:lastModifiedBy>
  <cp:revision>3</cp:revision>
  <dcterms:created xsi:type="dcterms:W3CDTF">2023-09-24T19:38:23Z</dcterms:created>
  <dcterms:modified xsi:type="dcterms:W3CDTF">2023-10-20T10:31:22Z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2023-09-24T00:00:00Z</vt:filetime>
  </property>
</Properties>
</file>