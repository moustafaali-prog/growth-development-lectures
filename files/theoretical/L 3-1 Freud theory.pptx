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handoutMasterIdLst>
    <p:handoutMasterId r:id="rId31"/>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F71B7A-E59A-424E-A587-B16F44D8EE3C}" type="datetimeFigureOut">
              <a:rPr lang="en-US" smtClean="0"/>
              <a:t>10/4/2023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E20A95-3331-42AA-ABA1-C43A8DD461A4}" type="slidenum">
              <a:rPr lang="en-US" smtClean="0"/>
              <a:t>‹#›</a:t>
            </a:fld>
            <a:endParaRPr lang="en-US"/>
          </a:p>
        </p:txBody>
      </p:sp>
    </p:spTree>
    <p:extLst>
      <p:ext uri="{BB962C8B-B14F-4D97-AF65-F5344CB8AC3E}">
        <p14:creationId xmlns:p14="http://schemas.microsoft.com/office/powerpoint/2010/main" val="28836181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9C4CE-D837-4575-A2F1-EB793C65EDB7}" type="datetimeFigureOut">
              <a:rPr lang="en-US" smtClean="0"/>
              <a:t>10/4/2023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E9D40D-FA30-43BB-8EC3-4C9FC161507D}" type="slidenum">
              <a:rPr lang="en-US" smtClean="0"/>
              <a:t>‹#›</a:t>
            </a:fld>
            <a:endParaRPr lang="en-US"/>
          </a:p>
        </p:txBody>
      </p:sp>
    </p:spTree>
    <p:extLst>
      <p:ext uri="{BB962C8B-B14F-4D97-AF65-F5344CB8AC3E}">
        <p14:creationId xmlns:p14="http://schemas.microsoft.com/office/powerpoint/2010/main" val="151361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885154-1C45-4C5D-8B1E-2416BECCE5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687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a:t>
            </a:fld>
            <a:endParaRPr lang="en-US"/>
          </a:p>
        </p:txBody>
      </p:sp>
    </p:spTree>
    <p:extLst>
      <p:ext uri="{BB962C8B-B14F-4D97-AF65-F5344CB8AC3E}">
        <p14:creationId xmlns:p14="http://schemas.microsoft.com/office/powerpoint/2010/main" val="3360338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885154-1C45-4C5D-8B1E-2416BECCE5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3690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4</a:t>
            </a:fld>
            <a:endParaRPr lang="en-US"/>
          </a:p>
        </p:txBody>
      </p:sp>
    </p:spTree>
    <p:extLst>
      <p:ext uri="{BB962C8B-B14F-4D97-AF65-F5344CB8AC3E}">
        <p14:creationId xmlns:p14="http://schemas.microsoft.com/office/powerpoint/2010/main" val="2127627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5</a:t>
            </a:fld>
            <a:endParaRPr lang="en-US"/>
          </a:p>
        </p:txBody>
      </p:sp>
    </p:spTree>
    <p:extLst>
      <p:ext uri="{BB962C8B-B14F-4D97-AF65-F5344CB8AC3E}">
        <p14:creationId xmlns:p14="http://schemas.microsoft.com/office/powerpoint/2010/main" val="3203512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6</a:t>
            </a:fld>
            <a:endParaRPr lang="en-US"/>
          </a:p>
        </p:txBody>
      </p:sp>
    </p:spTree>
    <p:extLst>
      <p:ext uri="{BB962C8B-B14F-4D97-AF65-F5344CB8AC3E}">
        <p14:creationId xmlns:p14="http://schemas.microsoft.com/office/powerpoint/2010/main" val="2817840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7</a:t>
            </a:fld>
            <a:endParaRPr lang="en-US"/>
          </a:p>
        </p:txBody>
      </p:sp>
    </p:spTree>
    <p:extLst>
      <p:ext uri="{BB962C8B-B14F-4D97-AF65-F5344CB8AC3E}">
        <p14:creationId xmlns:p14="http://schemas.microsoft.com/office/powerpoint/2010/main" val="689431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8</a:t>
            </a:fld>
            <a:endParaRPr lang="en-US"/>
          </a:p>
        </p:txBody>
      </p:sp>
    </p:spTree>
    <p:extLst>
      <p:ext uri="{BB962C8B-B14F-4D97-AF65-F5344CB8AC3E}">
        <p14:creationId xmlns:p14="http://schemas.microsoft.com/office/powerpoint/2010/main" val="3134134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9</a:t>
            </a:fld>
            <a:endParaRPr lang="en-US"/>
          </a:p>
        </p:txBody>
      </p:sp>
    </p:spTree>
    <p:extLst>
      <p:ext uri="{BB962C8B-B14F-4D97-AF65-F5344CB8AC3E}">
        <p14:creationId xmlns:p14="http://schemas.microsoft.com/office/powerpoint/2010/main" val="2108613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10</a:t>
            </a:fld>
            <a:endParaRPr lang="en-US"/>
          </a:p>
        </p:txBody>
      </p:sp>
    </p:spTree>
    <p:extLst>
      <p:ext uri="{BB962C8B-B14F-4D97-AF65-F5344CB8AC3E}">
        <p14:creationId xmlns:p14="http://schemas.microsoft.com/office/powerpoint/2010/main" val="288621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11</a:t>
            </a:fld>
            <a:endParaRPr lang="en-US"/>
          </a:p>
        </p:txBody>
      </p:sp>
    </p:spTree>
    <p:extLst>
      <p:ext uri="{BB962C8B-B14F-4D97-AF65-F5344CB8AC3E}">
        <p14:creationId xmlns:p14="http://schemas.microsoft.com/office/powerpoint/2010/main" val="4160628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12</a:t>
            </a:fld>
            <a:endParaRPr lang="en-US"/>
          </a:p>
        </p:txBody>
      </p:sp>
    </p:spTree>
    <p:extLst>
      <p:ext uri="{BB962C8B-B14F-4D97-AF65-F5344CB8AC3E}">
        <p14:creationId xmlns:p14="http://schemas.microsoft.com/office/powerpoint/2010/main" val="2439870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13</a:t>
            </a:fld>
            <a:endParaRPr lang="en-US"/>
          </a:p>
        </p:txBody>
      </p:sp>
    </p:spTree>
    <p:extLst>
      <p:ext uri="{BB962C8B-B14F-4D97-AF65-F5344CB8AC3E}">
        <p14:creationId xmlns:p14="http://schemas.microsoft.com/office/powerpoint/2010/main" val="3309513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14</a:t>
            </a:fld>
            <a:endParaRPr lang="en-US"/>
          </a:p>
        </p:txBody>
      </p:sp>
    </p:spTree>
    <p:extLst>
      <p:ext uri="{BB962C8B-B14F-4D97-AF65-F5344CB8AC3E}">
        <p14:creationId xmlns:p14="http://schemas.microsoft.com/office/powerpoint/2010/main" val="264750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15</a:t>
            </a:fld>
            <a:endParaRPr lang="en-US"/>
          </a:p>
        </p:txBody>
      </p:sp>
    </p:spTree>
    <p:extLst>
      <p:ext uri="{BB962C8B-B14F-4D97-AF65-F5344CB8AC3E}">
        <p14:creationId xmlns:p14="http://schemas.microsoft.com/office/powerpoint/2010/main" val="88602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16</a:t>
            </a:fld>
            <a:endParaRPr lang="en-US"/>
          </a:p>
        </p:txBody>
      </p:sp>
    </p:spTree>
    <p:extLst>
      <p:ext uri="{BB962C8B-B14F-4D97-AF65-F5344CB8AC3E}">
        <p14:creationId xmlns:p14="http://schemas.microsoft.com/office/powerpoint/2010/main" val="4210855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17</a:t>
            </a:fld>
            <a:endParaRPr lang="en-US"/>
          </a:p>
        </p:txBody>
      </p:sp>
    </p:spTree>
    <p:extLst>
      <p:ext uri="{BB962C8B-B14F-4D97-AF65-F5344CB8AC3E}">
        <p14:creationId xmlns:p14="http://schemas.microsoft.com/office/powerpoint/2010/main" val="1993256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18</a:t>
            </a:fld>
            <a:endParaRPr lang="en-US"/>
          </a:p>
        </p:txBody>
      </p:sp>
    </p:spTree>
    <p:extLst>
      <p:ext uri="{BB962C8B-B14F-4D97-AF65-F5344CB8AC3E}">
        <p14:creationId xmlns:p14="http://schemas.microsoft.com/office/powerpoint/2010/main" val="755120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19</a:t>
            </a:fld>
            <a:endParaRPr lang="en-US"/>
          </a:p>
        </p:txBody>
      </p:sp>
    </p:spTree>
    <p:extLst>
      <p:ext uri="{BB962C8B-B14F-4D97-AF65-F5344CB8AC3E}">
        <p14:creationId xmlns:p14="http://schemas.microsoft.com/office/powerpoint/2010/main" val="2438406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20</a:t>
            </a:fld>
            <a:endParaRPr lang="en-US"/>
          </a:p>
        </p:txBody>
      </p:sp>
    </p:spTree>
    <p:extLst>
      <p:ext uri="{BB962C8B-B14F-4D97-AF65-F5344CB8AC3E}">
        <p14:creationId xmlns:p14="http://schemas.microsoft.com/office/powerpoint/2010/main" val="3227781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E9D40D-FA30-43BB-8EC3-4C9FC161507D}" type="slidenum">
              <a:rPr lang="en-US" smtClean="0"/>
              <a:t>21</a:t>
            </a:fld>
            <a:endParaRPr lang="en-US"/>
          </a:p>
        </p:txBody>
      </p:sp>
    </p:spTree>
    <p:extLst>
      <p:ext uri="{BB962C8B-B14F-4D97-AF65-F5344CB8AC3E}">
        <p14:creationId xmlns:p14="http://schemas.microsoft.com/office/powerpoint/2010/main" val="4094568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22</a:t>
            </a:fld>
            <a:endParaRPr lang="en-US"/>
          </a:p>
        </p:txBody>
      </p:sp>
    </p:spTree>
    <p:extLst>
      <p:ext uri="{BB962C8B-B14F-4D97-AF65-F5344CB8AC3E}">
        <p14:creationId xmlns:p14="http://schemas.microsoft.com/office/powerpoint/2010/main" val="38157449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23</a:t>
            </a:fld>
            <a:endParaRPr lang="en-US"/>
          </a:p>
        </p:txBody>
      </p:sp>
    </p:spTree>
    <p:extLst>
      <p:ext uri="{BB962C8B-B14F-4D97-AF65-F5344CB8AC3E}">
        <p14:creationId xmlns:p14="http://schemas.microsoft.com/office/powerpoint/2010/main" val="19726062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24</a:t>
            </a:fld>
            <a:endParaRPr lang="en-US"/>
          </a:p>
        </p:txBody>
      </p:sp>
    </p:spTree>
    <p:extLst>
      <p:ext uri="{BB962C8B-B14F-4D97-AF65-F5344CB8AC3E}">
        <p14:creationId xmlns:p14="http://schemas.microsoft.com/office/powerpoint/2010/main" val="16671082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25</a:t>
            </a:fld>
            <a:endParaRPr lang="en-US"/>
          </a:p>
        </p:txBody>
      </p:sp>
    </p:spTree>
    <p:extLst>
      <p:ext uri="{BB962C8B-B14F-4D97-AF65-F5344CB8AC3E}">
        <p14:creationId xmlns:p14="http://schemas.microsoft.com/office/powerpoint/2010/main" val="20941887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26</a:t>
            </a:fld>
            <a:endParaRPr lang="en-US"/>
          </a:p>
        </p:txBody>
      </p:sp>
    </p:spTree>
    <p:extLst>
      <p:ext uri="{BB962C8B-B14F-4D97-AF65-F5344CB8AC3E}">
        <p14:creationId xmlns:p14="http://schemas.microsoft.com/office/powerpoint/2010/main" val="1502827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27</a:t>
            </a:fld>
            <a:endParaRPr lang="en-US"/>
          </a:p>
        </p:txBody>
      </p:sp>
    </p:spTree>
    <p:extLst>
      <p:ext uri="{BB962C8B-B14F-4D97-AF65-F5344CB8AC3E}">
        <p14:creationId xmlns:p14="http://schemas.microsoft.com/office/powerpoint/2010/main" val="735553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28</a:t>
            </a:fld>
            <a:endParaRPr lang="en-US"/>
          </a:p>
        </p:txBody>
      </p:sp>
    </p:spTree>
    <p:extLst>
      <p:ext uri="{BB962C8B-B14F-4D97-AF65-F5344CB8AC3E}">
        <p14:creationId xmlns:p14="http://schemas.microsoft.com/office/powerpoint/2010/main" val="40413349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2689925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618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57752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72825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3757059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326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78341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4013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69138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10/4/2023</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4233380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10/4/2023</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5193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microsoft.com/office/2007/relationships/hdphoto" Target="../media/hdphoto4.wdp"/></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microsoft.com/office/2007/relationships/hdphoto" Target="../media/hdphoto5.wdp"/></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6.wdp"/></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microsoft.com/office/2007/relationships/hdphoto" Target="../media/hdphoto7.wd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39151" y="252538"/>
            <a:ext cx="11704320" cy="6372666"/>
          </a:xfrm>
          <a:prstGeom prst="rect">
            <a:avLst/>
          </a:prstGeom>
          <a:solidFill>
            <a:schemeClr val="accent1"/>
          </a:solidFill>
          <a:ln>
            <a:solidFill>
              <a:srgbClr val="315D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dirty="0"/>
              <a:t>Theories of Child Personality Development:</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dirty="0"/>
              <a:t>Freud Theory of  Psychosexual</a:t>
            </a:r>
          </a:p>
          <a:p>
            <a:endParaRPr lang="en-US" dirty="0"/>
          </a:p>
        </p:txBody>
      </p:sp>
      <p:pic>
        <p:nvPicPr>
          <p:cNvPr id="7" name="Grid" descr="grid plane">
            <a:extLst>
              <a:ext uri="{FF2B5EF4-FFF2-40B4-BE49-F238E27FC236}">
                <a16:creationId xmlns:a16="http://schemas.microsoft.com/office/drawing/2014/main" id="{71F5A0B2-7584-4034-8919-A5F2C482F46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t="-308" r="-943" b="64954"/>
          <a:stretch/>
        </p:blipFill>
        <p:spPr>
          <a:xfrm>
            <a:off x="487680" y="5530243"/>
            <a:ext cx="11704320" cy="1075219"/>
          </a:xfrm>
          <a:prstGeom prst="rect">
            <a:avLst/>
          </a:prstGeom>
        </p:spPr>
      </p:pic>
      <p:sp>
        <p:nvSpPr>
          <p:cNvPr id="4" name="Subtitle 2">
            <a:extLst>
              <a:ext uri="{FF2B5EF4-FFF2-40B4-BE49-F238E27FC236}">
                <a16:creationId xmlns:a16="http://schemas.microsoft.com/office/drawing/2014/main" id="{97ABC611-F6C1-DA31-BDD4-21A5AEA201DB}"/>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Growth and Developments </a:t>
            </a:r>
          </a:p>
        </p:txBody>
      </p:sp>
    </p:spTree>
    <p:extLst>
      <p:ext uri="{BB962C8B-B14F-4D97-AF65-F5344CB8AC3E}">
        <p14:creationId xmlns:p14="http://schemas.microsoft.com/office/powerpoint/2010/main" val="1733819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604211"/>
            <a:ext cx="9704690" cy="4572752"/>
          </a:xfrm>
        </p:spPr>
        <p:txBody>
          <a:bodyPr>
            <a:normAutofit/>
          </a:bodyPr>
          <a:lstStyle/>
          <a:p>
            <a:r>
              <a:rPr lang="en-US" sz="2800" dirty="0">
                <a:solidFill>
                  <a:schemeClr val="tx1">
                    <a:lumMod val="85000"/>
                    <a:lumOff val="15000"/>
                  </a:schemeClr>
                </a:solidFill>
                <a:latin typeface="Segoe UI Semibold" panose="020B0702040204020203" pitchFamily="34" charset="0"/>
                <a:cs typeface="Segoe UI Semibold" panose="020B0702040204020203" pitchFamily="34" charset="0"/>
              </a:rPr>
              <a:t>After mastering the contents of this lecture, you should be able to:</a:t>
            </a:r>
          </a:p>
          <a:p>
            <a:endParaRPr lang="en-US" sz="2800" dirty="0">
              <a:solidFill>
                <a:schemeClr val="tx1">
                  <a:lumMod val="85000"/>
                  <a:lumOff val="15000"/>
                </a:schemeClr>
              </a:solidFill>
              <a:latin typeface="Segoe UI Semibold" panose="020B0702040204020203" pitchFamily="34" charset="0"/>
              <a:cs typeface="Segoe UI Semibold" panose="020B0702040204020203" pitchFamily="34" charset="0"/>
            </a:endParaRPr>
          </a:p>
        </p:txBody>
      </p:sp>
      <p:sp>
        <p:nvSpPr>
          <p:cNvPr id="3" name="Title 2"/>
          <p:cNvSpPr>
            <a:spLocks noGrp="1"/>
          </p:cNvSpPr>
          <p:nvPr>
            <p:ph type="title"/>
          </p:nvPr>
        </p:nvSpPr>
        <p:spPr/>
        <p:txBody>
          <a:bodyPr>
            <a:normAutofit/>
          </a:bodyPr>
          <a:lstStyle/>
          <a:p>
            <a:r>
              <a:rPr lang="pt-BR" sz="3600" dirty="0"/>
              <a:t>O B J E C T I V E S</a:t>
            </a:r>
            <a:endParaRPr lang="en-US" sz="3600" dirty="0"/>
          </a:p>
        </p:txBody>
      </p:sp>
      <p:cxnSp>
        <p:nvCxnSpPr>
          <p:cNvPr id="4"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0309124" y="1196391"/>
            <a:ext cx="1425185" cy="1425185"/>
          </a:xfrm>
          <a:prstGeom prst="rect">
            <a:avLst/>
          </a:prstGeom>
        </p:spPr>
      </p:pic>
      <p:sp>
        <p:nvSpPr>
          <p:cNvPr id="6" name="Content Placeholder 4"/>
          <p:cNvSpPr txBox="1">
            <a:spLocks/>
          </p:cNvSpPr>
          <p:nvPr/>
        </p:nvSpPr>
        <p:spPr>
          <a:xfrm>
            <a:off x="1186020" y="2587104"/>
            <a:ext cx="10254064" cy="39290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spcAft>
                <a:spcPts val="1200"/>
              </a:spcAft>
              <a:buSzPct val="25000"/>
              <a:buFont typeface="Segoe UI" panose="020B0502040204020203" pitchFamily="34" charset="0"/>
              <a:buChar char=" "/>
              <a:defRPr sz="1200" kern="1200">
                <a:solidFill>
                  <a:schemeClr val="tx1"/>
                </a:solidFill>
                <a:latin typeface="+mn-lt"/>
                <a:ea typeface="+mn-ea"/>
                <a:cs typeface="+mn-cs"/>
              </a:defRPr>
            </a:lvl1pPr>
            <a:lvl2pPr marL="401638" indent="7938" algn="l" defTabSz="914400" rtl="0" eaLnBrk="1" latinLnBrk="0" hangingPunct="1">
              <a:lnSpc>
                <a:spcPct val="90000"/>
              </a:lnSpc>
              <a:spcBef>
                <a:spcPts val="600"/>
              </a:spcBef>
              <a:spcAft>
                <a:spcPts val="1200"/>
              </a:spcAft>
              <a:buFont typeface="Segoe UI" panose="020B0502040204020203" pitchFamily="34" charset="0"/>
              <a:buChar char=" "/>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egoe UI" panose="020B0502040204020203" pitchFamily="34" charset="0"/>
              <a:buChar char=" "/>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Identify the major concepts of selected theories of development.</a:t>
            </a:r>
          </a:p>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Compare the major points of view related to the formulation of selected developmental theories.</a:t>
            </a:r>
          </a:p>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Assess the relevance of selected theories of development to nursing care of children, adults, and old age.</a:t>
            </a:r>
          </a:p>
          <a:p>
            <a:pPr marL="342900" indent="-342900">
              <a:buSzPct val="100000"/>
              <a:buFont typeface="Arial" panose="020B0604020202020204" pitchFamily="34" charset="0"/>
              <a:buChar char="•"/>
            </a:pPr>
            <a:endParaRPr lang="en-US" sz="2400" dirty="0"/>
          </a:p>
        </p:txBody>
      </p:sp>
      <p:sp>
        <p:nvSpPr>
          <p:cNvPr id="7" name="Oval 6">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776760" y="2545371"/>
            <a:ext cx="447360" cy="4514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8" name="Oval 7">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776760" y="3381541"/>
            <a:ext cx="447360" cy="4514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sp>
        <p:nvSpPr>
          <p:cNvPr id="9" name="Oval 8">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776760" y="4325928"/>
            <a:ext cx="447360" cy="4514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spTree>
    <p:extLst>
      <p:ext uri="{BB962C8B-B14F-4D97-AF65-F5344CB8AC3E}">
        <p14:creationId xmlns:p14="http://schemas.microsoft.com/office/powerpoint/2010/main" val="3052708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7484" y="0"/>
            <a:ext cx="12044516" cy="6725265"/>
          </a:xfrm>
          <a:prstGeom prst="rect">
            <a:avLst/>
          </a:prstGeom>
          <a:noFill/>
          <a:ln w="2476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 name="Text Placeholder 1"/>
          <p:cNvSpPr txBox="1">
            <a:spLocks/>
          </p:cNvSpPr>
          <p:nvPr/>
        </p:nvSpPr>
        <p:spPr>
          <a:xfrm>
            <a:off x="720803" y="1203158"/>
            <a:ext cx="4607312" cy="232182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en-US" altLang="ko-KR" sz="4266" b="1" u="sng" dirty="0">
                <a:solidFill>
                  <a:srgbClr val="E7E6E6">
                    <a:lumMod val="50000"/>
                  </a:srgbClr>
                </a:solidFill>
                <a:uFill>
                  <a:solidFill>
                    <a:schemeClr val="accent1"/>
                  </a:solidFill>
                </a:uFill>
                <a:latin typeface="Segoe UI Light"/>
                <a:cs typeface="Arial" pitchFamily="34" charset="0"/>
              </a:rPr>
              <a:t>Sigmund Freud </a:t>
            </a:r>
            <a:endParaRPr kumimoji="0" lang="ko-KR" altLang="en-US" sz="4266" b="1" i="0" u="sng" strike="noStrike" kern="1200" cap="none" spc="0" normalizeH="0" noProof="0" dirty="0">
              <a:ln>
                <a:noFill/>
              </a:ln>
              <a:solidFill>
                <a:srgbClr val="E7E6E6">
                  <a:lumMod val="50000"/>
                </a:srgbClr>
              </a:solidFill>
              <a:effectLst/>
              <a:uLnTx/>
              <a:uFill>
                <a:solidFill>
                  <a:schemeClr val="accent1"/>
                </a:solidFill>
              </a:uFill>
              <a:latin typeface="Segoe UI Light"/>
              <a:cs typeface="Arial" pitchFamily="34" charset="0"/>
            </a:endParaRPr>
          </a:p>
        </p:txBody>
      </p:sp>
      <p:sp>
        <p:nvSpPr>
          <p:cNvPr id="7" name="TextBox 6"/>
          <p:cNvSpPr txBox="1"/>
          <p:nvPr/>
        </p:nvSpPr>
        <p:spPr>
          <a:xfrm>
            <a:off x="1127448" y="3524986"/>
            <a:ext cx="4896544" cy="1569660"/>
          </a:xfrm>
          <a:prstGeom prst="rect">
            <a:avLst/>
          </a:prstGeom>
          <a:noFill/>
        </p:spPr>
        <p:txBody>
          <a:bodyPr wrap="square" rtlCol="0">
            <a:spAutoFit/>
          </a:bodyPr>
          <a:lstStyle/>
          <a:p>
            <a:pPr lvl="0"/>
            <a:r>
              <a:rPr lang="en-US" altLang="ko-KR" sz="2400" dirty="0">
                <a:solidFill>
                  <a:srgbClr val="404040"/>
                </a:solidFill>
              </a:rPr>
              <a:t>Sigmund Freud was born May 6, 1856</a:t>
            </a:r>
            <a:br>
              <a:rPr lang="en-US" altLang="ko-KR" sz="2400" dirty="0">
                <a:solidFill>
                  <a:srgbClr val="404040"/>
                </a:solidFill>
              </a:rPr>
            </a:br>
            <a:r>
              <a:rPr lang="en-US" altLang="ko-KR" sz="2400" dirty="0">
                <a:solidFill>
                  <a:srgbClr val="404040"/>
                </a:solidFill>
              </a:rPr>
              <a:t>Died September 23, 1939</a:t>
            </a:r>
            <a:br>
              <a:rPr lang="en-US" altLang="ko-KR" sz="2400" dirty="0">
                <a:solidFill>
                  <a:srgbClr val="404040"/>
                </a:solidFill>
              </a:rPr>
            </a:br>
            <a:endParaRPr lang="en-US" altLang="ko-KR" sz="2400" dirty="0">
              <a:solidFill>
                <a:srgbClr val="404040"/>
              </a:solidFill>
            </a:endParaRPr>
          </a:p>
        </p:txBody>
      </p:sp>
      <p:cxnSp>
        <p:nvCxnSpPr>
          <p:cNvPr id="10" name="Straight Connector 9"/>
          <p:cNvCxnSpPr/>
          <p:nvPr/>
        </p:nvCxnSpPr>
        <p:spPr>
          <a:xfrm flipH="1">
            <a:off x="618501" y="1196391"/>
            <a:ext cx="10972800" cy="0"/>
          </a:xfrm>
          <a:prstGeom prst="line">
            <a:avLst/>
          </a:prstGeom>
          <a:ln w="38100">
            <a:solidFill>
              <a:srgbClr val="F5F5F5"/>
            </a:solidFill>
          </a:ln>
        </p:spPr>
        <p:style>
          <a:lnRef idx="1">
            <a:schemeClr val="accent1"/>
          </a:lnRef>
          <a:fillRef idx="0">
            <a:schemeClr val="accent1"/>
          </a:fillRef>
          <a:effectRef idx="0">
            <a:schemeClr val="accent1"/>
          </a:effectRef>
          <a:fontRef idx="minor">
            <a:schemeClr val="tx1"/>
          </a:fontRef>
        </p:style>
      </p:cxnSp>
      <p:pic>
        <p:nvPicPr>
          <p:cNvPr id="8" name="Picture 6" descr="freud"/>
          <p:cNvPicPr>
            <a:picLocks noGrp="1" noChangeAspect="1" noChangeArrowheads="1"/>
          </p:cNvPicPr>
          <p:nvPr>
            <p:ph type="pic" idx="13"/>
          </p:nvPr>
        </p:nvPicPr>
        <p:blipFill>
          <a:blip r:embed="rId3">
            <a:extLst>
              <a:ext uri="{28A0092B-C50C-407E-A947-70E740481C1C}">
                <a14:useLocalDpi xmlns:a14="http://schemas.microsoft.com/office/drawing/2010/main" val="0"/>
              </a:ext>
            </a:extLst>
          </a:blip>
          <a:srcRect l="3245" r="3245"/>
          <a:stretch>
            <a:fillRect/>
          </a:stretch>
        </p:blipFill>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14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chor="ctr">
            <a:normAutofit/>
          </a:bodyPr>
          <a:lstStyle/>
          <a:p>
            <a:pPr marL="457200" indent="-457200">
              <a:buClr>
                <a:schemeClr val="accent1"/>
              </a:buClr>
              <a:buSzPct val="100000"/>
              <a:buFont typeface="Wingdings" panose="05000000000000000000" pitchFamily="2" charset="2"/>
              <a:buChar char="Ø"/>
            </a:pPr>
            <a:r>
              <a:rPr lang="en-US" sz="3200" dirty="0">
                <a:solidFill>
                  <a:srgbClr val="404040"/>
                </a:solidFill>
              </a:rPr>
              <a:t>Sigmund Freud introduced a number of concepts about development that are still recognized today.</a:t>
            </a:r>
          </a:p>
          <a:p>
            <a:pPr marL="457200" indent="-457200">
              <a:buClr>
                <a:schemeClr val="accent1"/>
              </a:buClr>
              <a:buSzPct val="100000"/>
              <a:buFont typeface="Wingdings" panose="05000000000000000000" pitchFamily="2" charset="2"/>
              <a:buChar char="Ø"/>
            </a:pPr>
            <a:endParaRPr lang="en-US" sz="3200" dirty="0">
              <a:solidFill>
                <a:srgbClr val="404040"/>
              </a:solidFill>
            </a:endParaRPr>
          </a:p>
        </p:txBody>
      </p:sp>
      <p:sp>
        <p:nvSpPr>
          <p:cNvPr id="3" name="Title 2"/>
          <p:cNvSpPr>
            <a:spLocks noGrp="1"/>
          </p:cNvSpPr>
          <p:nvPr>
            <p:ph type="title"/>
          </p:nvPr>
        </p:nvSpPr>
        <p:spPr/>
        <p:txBody>
          <a:bodyPr>
            <a:normAutofit/>
          </a:bodyPr>
          <a:lstStyle/>
          <a:p>
            <a:r>
              <a:rPr lang="en-US" sz="3600" dirty="0"/>
              <a:t>Freud's Motivational theory of Personality</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082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457200" indent="-457200">
              <a:buClr>
                <a:schemeClr val="accent1"/>
              </a:buClr>
              <a:buSzPct val="100000"/>
              <a:buFont typeface="Wingdings" panose="05000000000000000000" pitchFamily="2" charset="2"/>
              <a:buChar char="Ø"/>
            </a:pPr>
            <a:r>
              <a:rPr lang="en-US" sz="3200" dirty="0">
                <a:solidFill>
                  <a:srgbClr val="404040"/>
                </a:solidFill>
                <a:latin typeface="Segoe UI Semibold" panose="020B0702040204020203" pitchFamily="34" charset="0"/>
                <a:cs typeface="Segoe UI Semibold" panose="020B0702040204020203" pitchFamily="34" charset="0"/>
              </a:rPr>
              <a:t>The unconscious mind: </a:t>
            </a:r>
            <a:r>
              <a:rPr lang="en-US" sz="2800" dirty="0">
                <a:solidFill>
                  <a:srgbClr val="404040"/>
                </a:solidFill>
              </a:rPr>
              <a:t>is the mental life of a person of which the person is unaware. This concept of the unconscious is one of Freud's major contributions to the field of psychiatry.</a:t>
            </a:r>
          </a:p>
          <a:p>
            <a:pPr marL="457200" indent="-457200">
              <a:buClr>
                <a:schemeClr val="accent1"/>
              </a:buClr>
              <a:buSzPct val="100000"/>
              <a:buFont typeface="Wingdings" panose="05000000000000000000" pitchFamily="2" charset="2"/>
              <a:buChar char="Ø"/>
            </a:pPr>
            <a:r>
              <a:rPr lang="en-US" sz="3200" dirty="0">
                <a:solidFill>
                  <a:srgbClr val="404040"/>
                </a:solidFill>
                <a:latin typeface="Segoe UI Semibold" panose="020B0702040204020203" pitchFamily="34" charset="0"/>
                <a:cs typeface="Segoe UI Semibold" panose="020B0702040204020203" pitchFamily="34" charset="0"/>
              </a:rPr>
              <a:t>Defense mechanisms / adaptive mechanisms:</a:t>
            </a:r>
            <a:r>
              <a:rPr lang="en-US" sz="2800" dirty="0">
                <a:solidFill>
                  <a:srgbClr val="404040"/>
                </a:solidFill>
              </a:rPr>
              <a:t> as they are more commonly called today, are the result of conflicts </a:t>
            </a:r>
            <a:r>
              <a:rPr lang="en-US" sz="3200" dirty="0">
                <a:solidFill>
                  <a:schemeClr val="accent1"/>
                </a:solidFill>
                <a:latin typeface="Segoe UI Semibold" panose="020B0702040204020203" pitchFamily="34" charset="0"/>
                <a:cs typeface="Segoe UI Semibold" panose="020B0702040204020203" pitchFamily="34" charset="0"/>
              </a:rPr>
              <a:t>between inner impulses and the anxiety that attends these conflicts.</a:t>
            </a:r>
          </a:p>
        </p:txBody>
      </p:sp>
      <p:sp>
        <p:nvSpPr>
          <p:cNvPr id="3" name="Title 2"/>
          <p:cNvSpPr>
            <a:spLocks noGrp="1"/>
          </p:cNvSpPr>
          <p:nvPr>
            <p:ph type="title"/>
          </p:nvPr>
        </p:nvSpPr>
        <p:spPr/>
        <p:txBody>
          <a:bodyPr>
            <a:normAutofit/>
          </a:bodyPr>
          <a:lstStyle/>
          <a:p>
            <a:r>
              <a:rPr lang="en-US" sz="3600" dirty="0"/>
              <a:t>Freud’s concepts about development</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10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latin typeface="Segoe UI Semibold" panose="020B0702040204020203" pitchFamily="34" charset="0"/>
                <a:cs typeface="Segoe UI Semibold" panose="020B0702040204020203" pitchFamily="34" charset="0"/>
              </a:rPr>
              <a:t>The Id: </a:t>
            </a:r>
            <a:r>
              <a:rPr lang="en-US" sz="2400" dirty="0">
                <a:solidFill>
                  <a:srgbClr val="404040"/>
                </a:solidFill>
                <a:cs typeface="Segoe UI Semibold" panose="020B0702040204020203" pitchFamily="34" charset="0"/>
              </a:rPr>
              <a:t>Is the source of instinctive  </a:t>
            </a:r>
            <a:r>
              <a:rPr lang="ar-IQ" sz="2400" dirty="0">
                <a:solidFill>
                  <a:srgbClr val="404040"/>
                </a:solidFill>
                <a:cs typeface="Segoe UI Semibold" panose="020B0702040204020203" pitchFamily="34" charset="0"/>
              </a:rPr>
              <a:t>غريزية </a:t>
            </a:r>
            <a:r>
              <a:rPr lang="en-US" sz="2400" dirty="0">
                <a:solidFill>
                  <a:srgbClr val="404040"/>
                </a:solidFill>
                <a:cs typeface="Segoe UI Semibold" panose="020B0702040204020203" pitchFamily="34" charset="0"/>
              </a:rPr>
              <a:t>and unconscious urges, and also the source of all pleasure and gratification.</a:t>
            </a:r>
          </a:p>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cs typeface="Segoe UI Semibold" panose="020B0702040204020203" pitchFamily="34" charset="0"/>
              </a:rPr>
              <a:t>*</a:t>
            </a:r>
            <a:r>
              <a:rPr lang="en-US" sz="2800" dirty="0">
                <a:solidFill>
                  <a:srgbClr val="404040"/>
                </a:solidFill>
                <a:latin typeface="Segoe UI Semibold" panose="020B0702040204020203" pitchFamily="34" charset="0"/>
                <a:cs typeface="Segoe UI Semibold" panose="020B0702040204020203" pitchFamily="34" charset="0"/>
              </a:rPr>
              <a:t>The ego: </a:t>
            </a:r>
            <a:r>
              <a:rPr lang="ar-IQ" sz="2800" dirty="0">
                <a:solidFill>
                  <a:srgbClr val="404040"/>
                </a:solidFill>
                <a:latin typeface="Segoe UI Semibold" panose="020B0702040204020203" pitchFamily="34" charset="0"/>
                <a:cs typeface="Segoe UI Semibold" panose="020B0702040204020203" pitchFamily="34" charset="0"/>
              </a:rPr>
              <a:t>الأنا </a:t>
            </a:r>
            <a:r>
              <a:rPr lang="en-US" sz="2400" dirty="0">
                <a:solidFill>
                  <a:srgbClr val="404040"/>
                </a:solidFill>
                <a:cs typeface="Segoe UI Semibold" panose="020B0702040204020203" pitchFamily="34" charset="0"/>
              </a:rPr>
              <a:t>is formed by the person to make effective contact with social and physical needs. Through the ego, the id impulses are satisfied. The ego seeks pleasure and avoids pain in rational way that society approves. </a:t>
            </a:r>
          </a:p>
        </p:txBody>
      </p:sp>
      <p:sp>
        <p:nvSpPr>
          <p:cNvPr id="3" name="Title 2"/>
          <p:cNvSpPr>
            <a:spLocks noGrp="1"/>
          </p:cNvSpPr>
          <p:nvPr>
            <p:ph type="title"/>
          </p:nvPr>
        </p:nvSpPr>
        <p:spPr/>
        <p:txBody>
          <a:bodyPr>
            <a:normAutofit/>
          </a:bodyPr>
          <a:lstStyle/>
          <a:p>
            <a:r>
              <a:rPr lang="en-US" sz="3600" dirty="0"/>
              <a:t>Freud’s concepts about development</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11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latin typeface="Segoe UI Semibold" panose="020B0702040204020203" pitchFamily="34" charset="0"/>
              </a:rPr>
              <a:t>The Superego:</a:t>
            </a:r>
            <a:r>
              <a:rPr lang="ar-IQ" sz="2800" dirty="0">
                <a:solidFill>
                  <a:srgbClr val="404040"/>
                </a:solidFill>
                <a:latin typeface="Segoe UI Semibold" panose="020B0702040204020203" pitchFamily="34" charset="0"/>
                <a:cs typeface="Segoe UI Semibold" panose="020B0702040204020203" pitchFamily="34" charset="0"/>
              </a:rPr>
              <a:t>الأنا العليا </a:t>
            </a:r>
            <a:r>
              <a:rPr lang="en-US" sz="2800" dirty="0">
                <a:solidFill>
                  <a:srgbClr val="404040"/>
                </a:solidFill>
                <a:latin typeface="Segoe UI Semibold" panose="020B0702040204020203" pitchFamily="34" charset="0"/>
                <a:cs typeface="Segoe UI Semibold" panose="020B0702040204020203" pitchFamily="34" charset="0"/>
              </a:rPr>
              <a:t> </a:t>
            </a:r>
            <a:r>
              <a:rPr lang="en-US" sz="2400" dirty="0">
                <a:solidFill>
                  <a:srgbClr val="404040"/>
                </a:solidFill>
              </a:rPr>
              <a:t>This is conscience of the personality, a control on the id. The superego reminds the person of what would be ideal behaviors and what behaviors are totally unacceptable. The superego is the source of feeling of guilt, shame, and inhibition.</a:t>
            </a:r>
          </a:p>
        </p:txBody>
      </p:sp>
      <p:sp>
        <p:nvSpPr>
          <p:cNvPr id="3" name="Title 2"/>
          <p:cNvSpPr>
            <a:spLocks noGrp="1"/>
          </p:cNvSpPr>
          <p:nvPr>
            <p:ph type="title"/>
          </p:nvPr>
        </p:nvSpPr>
        <p:spPr/>
        <p:txBody>
          <a:bodyPr>
            <a:normAutofit/>
          </a:bodyPr>
          <a:lstStyle/>
          <a:p>
            <a:r>
              <a:rPr lang="en-US" sz="3600" dirty="0"/>
              <a:t>Freud’s concepts about development</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2983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Freud proposed that the development of personality advanced through several </a:t>
            </a:r>
            <a:r>
              <a:rPr lang="en-US" sz="3200" dirty="0">
                <a:solidFill>
                  <a:schemeClr val="accent1"/>
                </a:solidFill>
                <a:latin typeface="Segoe UI Semibold" panose="020B0702040204020203" pitchFamily="34" charset="0"/>
                <a:cs typeface="Segoe UI Semibold" panose="020B0702040204020203" pitchFamily="34" charset="0"/>
              </a:rPr>
              <a:t>psychosexual stages</a:t>
            </a:r>
            <a:r>
              <a:rPr lang="en-US" sz="2800" dirty="0">
                <a:solidFill>
                  <a:srgbClr val="404040"/>
                </a:solidFill>
              </a:rPr>
              <a:t>.</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In each of these stages, the libidinal energy found a particular focus </a:t>
            </a:r>
            <a:r>
              <a:rPr lang="en-US" sz="3200" dirty="0">
                <a:solidFill>
                  <a:srgbClr val="404040"/>
                </a:solidFill>
                <a:latin typeface="Segoe UI Semibold" panose="020B0702040204020203" pitchFamily="34" charset="0"/>
                <a:cs typeface="Segoe UI Semibold" panose="020B0702040204020203" pitchFamily="34" charset="0"/>
              </a:rPr>
              <a:t>if </a:t>
            </a:r>
            <a:r>
              <a:rPr lang="en-US" sz="2800" dirty="0">
                <a:solidFill>
                  <a:srgbClr val="404040"/>
                </a:solidFill>
              </a:rPr>
              <a:t> the individual progressed through each stage without serious difficulties.</a:t>
            </a:r>
            <a:endParaRPr lang="en-US" sz="2400" dirty="0">
              <a:solidFill>
                <a:srgbClr val="404040"/>
              </a:solidFill>
            </a:endParaRPr>
          </a:p>
        </p:txBody>
      </p:sp>
      <p:sp>
        <p:nvSpPr>
          <p:cNvPr id="3" name="Title 2"/>
          <p:cNvSpPr>
            <a:spLocks noGrp="1"/>
          </p:cNvSpPr>
          <p:nvPr>
            <p:ph type="title"/>
          </p:nvPr>
        </p:nvSpPr>
        <p:spPr/>
        <p:txBody>
          <a:bodyPr>
            <a:normAutofit/>
          </a:bodyPr>
          <a:lstStyle/>
          <a:p>
            <a:r>
              <a:rPr lang="en-US" sz="3600" dirty="0"/>
              <a:t>Personality development</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58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Disturbances in the form of </a:t>
            </a:r>
            <a:r>
              <a:rPr lang="en-US" sz="3200" dirty="0">
                <a:solidFill>
                  <a:schemeClr val="accent1"/>
                </a:solidFill>
                <a:latin typeface="Segoe UI Semibold" panose="020B0702040204020203" pitchFamily="34" charset="0"/>
                <a:cs typeface="Segoe UI Semibold" panose="020B0702040204020203" pitchFamily="34" charset="0"/>
              </a:rPr>
              <a:t>frustration</a:t>
            </a:r>
            <a:r>
              <a:rPr lang="en-US" sz="2800" dirty="0">
                <a:solidFill>
                  <a:srgbClr val="404040"/>
                </a:solidFill>
              </a:rPr>
              <a:t> or </a:t>
            </a:r>
            <a:r>
              <a:rPr lang="en-US" sz="3200" dirty="0">
                <a:solidFill>
                  <a:schemeClr val="accent1"/>
                </a:solidFill>
                <a:latin typeface="Segoe UI Semibold" panose="020B0702040204020203" pitchFamily="34" charset="0"/>
                <a:cs typeface="Segoe UI Semibold" panose="020B0702040204020203" pitchFamily="34" charset="0"/>
              </a:rPr>
              <a:t>excessive</a:t>
            </a:r>
            <a:r>
              <a:rPr lang="en-US" sz="3200" dirty="0">
                <a:solidFill>
                  <a:srgbClr val="404040"/>
                </a:solidFill>
                <a:latin typeface="Segoe UI Semibold" panose="020B0702040204020203" pitchFamily="34" charset="0"/>
                <a:cs typeface="Segoe UI Semibold" panose="020B0702040204020203" pitchFamily="34" charset="0"/>
              </a:rPr>
              <a:t> </a:t>
            </a:r>
            <a:r>
              <a:rPr lang="en-US" sz="3200" dirty="0">
                <a:solidFill>
                  <a:schemeClr val="accent1"/>
                </a:solidFill>
                <a:latin typeface="Segoe UI Semibold" panose="020B0702040204020203" pitchFamily="34" charset="0"/>
                <a:cs typeface="Segoe UI Semibold" panose="020B0702040204020203" pitchFamily="34" charset="0"/>
              </a:rPr>
              <a:t>gratification</a:t>
            </a:r>
            <a:r>
              <a:rPr lang="en-US" sz="3200" dirty="0">
                <a:solidFill>
                  <a:srgbClr val="404040"/>
                </a:solidFill>
                <a:latin typeface="Segoe UI Semibold" panose="020B0702040204020203" pitchFamily="34" charset="0"/>
                <a:cs typeface="Segoe UI Semibold" panose="020B0702040204020203" pitchFamily="34" charset="0"/>
              </a:rPr>
              <a:t> </a:t>
            </a:r>
            <a:r>
              <a:rPr lang="en-US" sz="2800" dirty="0">
                <a:solidFill>
                  <a:srgbClr val="404040"/>
                </a:solidFill>
              </a:rPr>
              <a:t>during one of the stages could lead to </a:t>
            </a:r>
            <a:r>
              <a:rPr lang="en-US" sz="3200" dirty="0">
                <a:solidFill>
                  <a:schemeClr val="accent1"/>
                </a:solidFill>
                <a:latin typeface="Segoe UI Semibold" panose="020B0702040204020203" pitchFamily="34" charset="0"/>
                <a:cs typeface="Segoe UI Semibold" panose="020B0702040204020203" pitchFamily="34" charset="0"/>
              </a:rPr>
              <a:t>fixation</a:t>
            </a:r>
            <a:r>
              <a:rPr lang="en-US" sz="2800" dirty="0">
                <a:solidFill>
                  <a:srgbClr val="404040"/>
                </a:solidFill>
              </a:rPr>
              <a:t> at that stage, meaning that some of the libidinal energy of the adult would have to be used to satisfy responding appropriately to that stage rather than responding appropriate for an adult.</a:t>
            </a:r>
          </a:p>
        </p:txBody>
      </p:sp>
      <p:sp>
        <p:nvSpPr>
          <p:cNvPr id="3" name="Title 2"/>
          <p:cNvSpPr>
            <a:spLocks noGrp="1"/>
          </p:cNvSpPr>
          <p:nvPr>
            <p:ph type="title"/>
          </p:nvPr>
        </p:nvSpPr>
        <p:spPr/>
        <p:txBody>
          <a:bodyPr>
            <a:normAutofit/>
          </a:bodyPr>
          <a:lstStyle/>
          <a:p>
            <a:r>
              <a:rPr lang="en-US" sz="3600" dirty="0"/>
              <a:t>Personality development</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38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a:t>
            </a:r>
            <a:r>
              <a:rPr lang="en-US" sz="3200" dirty="0">
                <a:solidFill>
                  <a:schemeClr val="accent1"/>
                </a:solidFill>
                <a:latin typeface="Segoe UI Semibold" panose="020B0702040204020203" pitchFamily="34" charset="0"/>
                <a:cs typeface="Segoe UI Semibold" panose="020B0702040204020203" pitchFamily="34" charset="0"/>
              </a:rPr>
              <a:t>Oral</a:t>
            </a:r>
            <a:r>
              <a:rPr lang="en-US" sz="2800" dirty="0">
                <a:solidFill>
                  <a:srgbClr val="404040"/>
                </a:solidFill>
              </a:rPr>
              <a:t> Stage (0 – 12 months)</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a:t>
            </a:r>
            <a:r>
              <a:rPr lang="en-US" sz="3200" dirty="0">
                <a:solidFill>
                  <a:schemeClr val="accent1"/>
                </a:solidFill>
                <a:latin typeface="Segoe UI Semibold" panose="020B0702040204020203" pitchFamily="34" charset="0"/>
                <a:cs typeface="Segoe UI Semibold" panose="020B0702040204020203" pitchFamily="34" charset="0"/>
              </a:rPr>
              <a:t>Anal</a:t>
            </a:r>
            <a:r>
              <a:rPr lang="en-US" sz="2800" dirty="0">
                <a:solidFill>
                  <a:srgbClr val="404040"/>
                </a:solidFill>
              </a:rPr>
              <a:t> Stage (1 – 3 years)</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a:t>
            </a:r>
            <a:r>
              <a:rPr lang="en-US" sz="3200" dirty="0">
                <a:solidFill>
                  <a:schemeClr val="accent1"/>
                </a:solidFill>
                <a:latin typeface="Segoe UI Semibold" panose="020B0702040204020203" pitchFamily="34" charset="0"/>
                <a:cs typeface="Segoe UI Semibold" panose="020B0702040204020203" pitchFamily="34" charset="0"/>
              </a:rPr>
              <a:t>Phallic</a:t>
            </a:r>
            <a:r>
              <a:rPr lang="en-US" sz="2800" dirty="0">
                <a:solidFill>
                  <a:srgbClr val="404040"/>
                </a:solidFill>
              </a:rPr>
              <a:t> Stage (3 – 6 years)</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a:t>
            </a:r>
            <a:r>
              <a:rPr lang="en-US" sz="3200" dirty="0">
                <a:solidFill>
                  <a:schemeClr val="accent1"/>
                </a:solidFill>
                <a:latin typeface="Segoe UI Semibold" panose="020B0702040204020203" pitchFamily="34" charset="0"/>
                <a:cs typeface="Segoe UI Semibold" panose="020B0702040204020203" pitchFamily="34" charset="0"/>
              </a:rPr>
              <a:t>period of Latency </a:t>
            </a:r>
            <a:r>
              <a:rPr lang="en-US" sz="2800" dirty="0">
                <a:solidFill>
                  <a:srgbClr val="404040"/>
                </a:solidFill>
              </a:rPr>
              <a:t>(6 – 12 years)</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Adolescence and adulthood {</a:t>
            </a:r>
            <a:r>
              <a:rPr lang="en-US" sz="3200" dirty="0">
                <a:solidFill>
                  <a:schemeClr val="accent1"/>
                </a:solidFill>
                <a:latin typeface="Segoe UI Semibold" panose="020B0702040204020203" pitchFamily="34" charset="0"/>
                <a:cs typeface="Segoe UI Semibold" panose="020B0702040204020203" pitchFamily="34" charset="0"/>
              </a:rPr>
              <a:t>Genital</a:t>
            </a:r>
            <a:r>
              <a:rPr lang="en-US" sz="2800" dirty="0">
                <a:solidFill>
                  <a:srgbClr val="404040"/>
                </a:solidFill>
              </a:rPr>
              <a:t> Stage} (12+ years)</a:t>
            </a:r>
          </a:p>
        </p:txBody>
      </p:sp>
      <p:sp>
        <p:nvSpPr>
          <p:cNvPr id="3" name="Title 2"/>
          <p:cNvSpPr>
            <a:spLocks noGrp="1"/>
          </p:cNvSpPr>
          <p:nvPr>
            <p:ph type="title"/>
          </p:nvPr>
        </p:nvSpPr>
        <p:spPr/>
        <p:txBody>
          <a:bodyPr>
            <a:normAutofit/>
          </a:bodyPr>
          <a:lstStyle/>
          <a:p>
            <a:r>
              <a:rPr lang="en-US" sz="3600" dirty="0"/>
              <a:t>Freud Psychosexual Stages of Development</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26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 0 L 0.25 0 E" pathEditMode="relative" ptsTypes="">
                                      <p:cBhvr>
                                        <p:cTn id="6" dur="2000" fill="hold"/>
                                        <p:tgtEl>
                                          <p:spTgt spid="4">
                                            <p:txEl>
                                              <p:pRg st="0" end="0"/>
                                            </p:txEl>
                                          </p:spTgt>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0 0 L 0.25 0 E" pathEditMode="relative" ptsTypes="">
                                      <p:cBhvr>
                                        <p:cTn id="10" dur="2000" fill="hold"/>
                                        <p:tgtEl>
                                          <p:spTgt spid="4">
                                            <p:txEl>
                                              <p:pRg st="1" end="1"/>
                                            </p:txEl>
                                          </p:spTgt>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0 0 L 0.25 0 E" pathEditMode="relative" ptsTypes="">
                                      <p:cBhvr>
                                        <p:cTn id="14" dur="2000" fill="hold"/>
                                        <p:tgtEl>
                                          <p:spTgt spid="4">
                                            <p:txEl>
                                              <p:pRg st="2" end="2"/>
                                            </p:txEl>
                                          </p:spTgt>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grpId="0" nodeType="clickEffect">
                                  <p:stCondLst>
                                    <p:cond delay="0"/>
                                  </p:stCondLst>
                                  <p:childTnLst>
                                    <p:animMotion origin="layout" path="M 0 0 L 0.25 0 E" pathEditMode="relative" ptsTypes="">
                                      <p:cBhvr>
                                        <p:cTn id="18" dur="2000" fill="hold"/>
                                        <p:tgtEl>
                                          <p:spTgt spid="4">
                                            <p:txEl>
                                              <p:pRg st="3" end="3"/>
                                            </p:txEl>
                                          </p:spTgt>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grpId="0" nodeType="clickEffect">
                                  <p:stCondLst>
                                    <p:cond delay="0"/>
                                  </p:stCondLst>
                                  <p:childTnLst>
                                    <p:animMotion origin="layout" path="M 0 0 L 0.25 0 E" pathEditMode="relative" ptsTypes="">
                                      <p:cBhvr>
                                        <p:cTn id="22" dur="2000" fill="hold"/>
                                        <p:tgtEl>
                                          <p:spTgt spid="4">
                                            <p:txEl>
                                              <p:pRg st="4" end="4"/>
                                            </p:tx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first psychosexual stage. This stage lasts from birth to the first year of life. Libidinal energy centers on oral activities, particularly feeding and weaning.</a:t>
            </a:r>
          </a:p>
          <a:p>
            <a:pPr marL="457200" indent="-457200">
              <a:lnSpc>
                <a:spcPct val="120000"/>
              </a:lnSpc>
              <a:buClr>
                <a:schemeClr val="accent1"/>
              </a:buClr>
              <a:buSzPct val="100000"/>
              <a:buFont typeface="Wingdings" panose="05000000000000000000" pitchFamily="2" charset="2"/>
              <a:buChar char="Ø"/>
            </a:pPr>
            <a:r>
              <a:rPr lang="en-US" sz="3200" dirty="0">
                <a:solidFill>
                  <a:schemeClr val="accent1"/>
                </a:solidFill>
                <a:latin typeface="Segoe UI Semibold" panose="020B0702040204020203" pitchFamily="34" charset="0"/>
                <a:cs typeface="Segoe UI Semibold" panose="020B0702040204020203" pitchFamily="34" charset="0"/>
              </a:rPr>
              <a:t>Mouth is the center of pleasure.</a:t>
            </a:r>
          </a:p>
        </p:txBody>
      </p:sp>
      <p:sp>
        <p:nvSpPr>
          <p:cNvPr id="3" name="Title 2"/>
          <p:cNvSpPr>
            <a:spLocks noGrp="1"/>
          </p:cNvSpPr>
          <p:nvPr>
            <p:ph type="title"/>
          </p:nvPr>
        </p:nvSpPr>
        <p:spPr/>
        <p:txBody>
          <a:bodyPr>
            <a:normAutofit/>
          </a:bodyPr>
          <a:lstStyle/>
          <a:p>
            <a:r>
              <a:rPr lang="en-US" sz="3600" dirty="0"/>
              <a:t>The Oral Stage     (0 – 12 month)</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spTree>
    <p:extLst>
      <p:ext uri="{BB962C8B-B14F-4D97-AF65-F5344CB8AC3E}">
        <p14:creationId xmlns:p14="http://schemas.microsoft.com/office/powerpoint/2010/main" val="424851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3200" dirty="0">
                <a:solidFill>
                  <a:schemeClr val="accent1"/>
                </a:solidFill>
                <a:latin typeface="Segoe UI Semibold" panose="020B0702040204020203" pitchFamily="34" charset="0"/>
                <a:cs typeface="Segoe UI Semibold" panose="020B0702040204020203" pitchFamily="34" charset="0"/>
              </a:rPr>
              <a:t>Fixation</a:t>
            </a:r>
            <a:r>
              <a:rPr lang="en-US" sz="2800" dirty="0">
                <a:solidFill>
                  <a:srgbClr val="404040"/>
                </a:solidFill>
              </a:rPr>
              <a:t> at this stage means that a high level of oral activity may be shown by the adult. </a:t>
            </a:r>
          </a:p>
          <a:p>
            <a:pPr marL="914400" indent="-457200">
              <a:lnSpc>
                <a:spcPct val="120000"/>
              </a:lnSpc>
              <a:buClr>
                <a:schemeClr val="accent1"/>
              </a:buClr>
              <a:buSzPct val="100000"/>
              <a:buFont typeface="Vladimir Script" panose="03050402040407070305" pitchFamily="66" charset="0"/>
              <a:buChar char="-"/>
            </a:pPr>
            <a:r>
              <a:rPr lang="en-US" sz="2400" dirty="0">
                <a:solidFill>
                  <a:srgbClr val="404040"/>
                </a:solidFill>
              </a:rPr>
              <a:t>E.g. Fixation at the oral stage may be represented by activities such as excessive gum-chewing, fingernail butting, talking, or eating.</a:t>
            </a:r>
            <a:endParaRPr lang="en-US" sz="2800" dirty="0">
              <a:solidFill>
                <a:srgbClr val="404040"/>
              </a:solidFill>
            </a:endParaRP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These behaviors are thought to occur because the person either has been </a:t>
            </a:r>
            <a:r>
              <a:rPr lang="en-US" sz="3200" dirty="0">
                <a:solidFill>
                  <a:schemeClr val="accent1"/>
                </a:solidFill>
                <a:latin typeface="Segoe UI Semibold" panose="020B0702040204020203" pitchFamily="34" charset="0"/>
                <a:cs typeface="Segoe UI Semibold" panose="020B0702040204020203" pitchFamily="34" charset="0"/>
              </a:rPr>
              <a:t>satisfied too much during the oral stage or because the person has not had enough satisfaction </a:t>
            </a:r>
            <a:r>
              <a:rPr lang="en-US" sz="2800" dirty="0">
                <a:solidFill>
                  <a:srgbClr val="404040"/>
                </a:solidFill>
              </a:rPr>
              <a:t>during the stage.</a:t>
            </a:r>
          </a:p>
        </p:txBody>
      </p:sp>
      <p:sp>
        <p:nvSpPr>
          <p:cNvPr id="3" name="Title 2"/>
          <p:cNvSpPr>
            <a:spLocks noGrp="1"/>
          </p:cNvSpPr>
          <p:nvPr>
            <p:ph type="title"/>
          </p:nvPr>
        </p:nvSpPr>
        <p:spPr/>
        <p:txBody>
          <a:bodyPr>
            <a:normAutofit/>
          </a:bodyPr>
          <a:lstStyle/>
          <a:p>
            <a:r>
              <a:rPr lang="en-US" sz="3600" dirty="0"/>
              <a:t>The Oral Stage     (0 – 12 month)</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811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anal stage is the second psychosexual stage. Anus and rectum are the centers of pleasure. This stage occurs during toilet training. </a:t>
            </a:r>
            <a:endParaRPr lang="en-US" sz="3200" dirty="0">
              <a:solidFill>
                <a:schemeClr val="accent1"/>
              </a:solidFill>
              <a:latin typeface="Segoe UI Semibold" panose="020B0702040204020203" pitchFamily="34" charset="0"/>
              <a:cs typeface="Segoe UI Semibold" panose="020B0702040204020203" pitchFamily="34" charset="0"/>
            </a:endParaRP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Fixation at the anal stage may result in adult difficulties with the given </a:t>
            </a:r>
            <a:r>
              <a:rPr lang="en-US" sz="3200" dirty="0">
                <a:solidFill>
                  <a:schemeClr val="accent1"/>
                </a:solidFill>
                <a:latin typeface="Segoe UI Semibold" panose="020B0702040204020203" pitchFamily="34" charset="0"/>
                <a:cs typeface="Segoe UI Semibold" panose="020B0702040204020203" pitchFamily="34" charset="0"/>
              </a:rPr>
              <a:t>obsessive compulsive personality traits, </a:t>
            </a:r>
            <a:r>
              <a:rPr lang="en-US" sz="2800" dirty="0">
                <a:solidFill>
                  <a:srgbClr val="404040"/>
                </a:solidFill>
                <a:cs typeface="Segoe UI Semibold" panose="020B0702040204020203" pitchFamily="34" charset="0"/>
              </a:rPr>
              <a:t>such as </a:t>
            </a:r>
            <a:r>
              <a:rPr lang="en-US" sz="3200" dirty="0">
                <a:solidFill>
                  <a:schemeClr val="accent1"/>
                </a:solidFill>
                <a:latin typeface="Segoe UI Semibold" panose="020B0702040204020203" pitchFamily="34" charset="0"/>
                <a:cs typeface="Segoe UI Semibold" panose="020B0702040204020203" pitchFamily="34" charset="0"/>
              </a:rPr>
              <a:t>obstinacy, stinginess, cruelty, temper and conflicts between neatness and sloppiness.</a:t>
            </a:r>
          </a:p>
        </p:txBody>
      </p:sp>
      <p:sp>
        <p:nvSpPr>
          <p:cNvPr id="3" name="Title 2"/>
          <p:cNvSpPr>
            <a:spLocks noGrp="1"/>
          </p:cNvSpPr>
          <p:nvPr>
            <p:ph type="title"/>
          </p:nvPr>
        </p:nvSpPr>
        <p:spPr/>
        <p:txBody>
          <a:bodyPr>
            <a:normAutofit/>
          </a:bodyPr>
          <a:lstStyle/>
          <a:p>
            <a:r>
              <a:rPr lang="en-US" sz="3600" dirty="0"/>
              <a:t>The Anal Stage   (1 – 3 years)</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1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In this stage, the source of libidinal pleasure is in the genitalia. Characteristic behavior at this time include exploration of genitals, infantile masturbation, and interest in the anatomical differences between the sexes.</a:t>
            </a:r>
          </a:p>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 Inability to achieve adult sexuality and responsiveness may result from fixation at this stage. </a:t>
            </a:r>
          </a:p>
          <a:p>
            <a:pPr marL="457200" indent="-457200">
              <a:lnSpc>
                <a:spcPct val="120000"/>
              </a:lnSpc>
              <a:buClr>
                <a:schemeClr val="accent1"/>
              </a:buClr>
              <a:buSzPct val="100000"/>
              <a:buFont typeface="Wingdings" panose="05000000000000000000" pitchFamily="2" charset="2"/>
              <a:buChar char="Ø"/>
            </a:pPr>
            <a:r>
              <a:rPr lang="en-US" sz="2800" dirty="0">
                <a:solidFill>
                  <a:schemeClr val="accent1"/>
                </a:solidFill>
                <a:latin typeface="Segoe UI Semibold" panose="020B0702040204020203" pitchFamily="34" charset="0"/>
                <a:cs typeface="Segoe UI Semibold" panose="020B0702040204020203" pitchFamily="34" charset="0"/>
              </a:rPr>
              <a:t>Freud believed this was the period when what he called the Oedipal complex (for boys) and the Electra complex (for girls) had to be resolved.</a:t>
            </a:r>
          </a:p>
        </p:txBody>
      </p:sp>
      <p:sp>
        <p:nvSpPr>
          <p:cNvPr id="3" name="Title 2"/>
          <p:cNvSpPr>
            <a:spLocks noGrp="1"/>
          </p:cNvSpPr>
          <p:nvPr>
            <p:ph type="title"/>
          </p:nvPr>
        </p:nvSpPr>
        <p:spPr/>
        <p:txBody>
          <a:bodyPr>
            <a:normAutofit/>
          </a:bodyPr>
          <a:lstStyle/>
          <a:p>
            <a:r>
              <a:rPr lang="en-US" sz="3600" dirty="0"/>
              <a:t>The Phallic Stage (3 – 6 years)</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9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Freud proposed that a child has sexual desires for the parent of the opposite sex and feels competition with the parent of the same sex. However, fear of punishment causes the child to identify with the parent of the same sex and to adopt similar behaviors.</a:t>
            </a:r>
          </a:p>
          <a:p>
            <a:pPr marL="457200" indent="-457200">
              <a:lnSpc>
                <a:spcPct val="120000"/>
              </a:lnSpc>
              <a:buClr>
                <a:schemeClr val="accent1"/>
              </a:buClr>
              <a:buSzPct val="100000"/>
              <a:buFont typeface="Wingdings" panose="05000000000000000000" pitchFamily="2" charset="2"/>
              <a:buChar char="Ø"/>
            </a:pPr>
            <a:r>
              <a:rPr lang="en-US" sz="2800" dirty="0">
                <a:solidFill>
                  <a:schemeClr val="accent1"/>
                </a:solidFill>
                <a:latin typeface="Segoe UI Semibold" panose="020B0702040204020203" pitchFamily="34" charset="0"/>
                <a:cs typeface="Segoe UI Semibold" panose="020B0702040204020203" pitchFamily="34" charset="0"/>
              </a:rPr>
              <a:t>According to Freud, failure to complete this identification process may result in incomplete gender identity, difficulties in authority situation, or homosexuality</a:t>
            </a:r>
          </a:p>
          <a:p>
            <a:pPr marL="457200" indent="-457200">
              <a:lnSpc>
                <a:spcPct val="120000"/>
              </a:lnSpc>
              <a:buClr>
                <a:schemeClr val="accent1"/>
              </a:buClr>
              <a:buSzPct val="100000"/>
              <a:buFont typeface="Wingdings" panose="05000000000000000000" pitchFamily="2" charset="2"/>
              <a:buChar char="Ø"/>
            </a:pPr>
            <a:endParaRPr lang="en-US" sz="2400" dirty="0">
              <a:solidFill>
                <a:srgbClr val="404040"/>
              </a:solidFill>
            </a:endParaRPr>
          </a:p>
        </p:txBody>
      </p:sp>
      <p:sp>
        <p:nvSpPr>
          <p:cNvPr id="3" name="Title 2"/>
          <p:cNvSpPr>
            <a:spLocks noGrp="1"/>
          </p:cNvSpPr>
          <p:nvPr>
            <p:ph type="title"/>
          </p:nvPr>
        </p:nvSpPr>
        <p:spPr/>
        <p:txBody>
          <a:bodyPr>
            <a:normAutofit/>
          </a:bodyPr>
          <a:lstStyle/>
          <a:p>
            <a:r>
              <a:rPr lang="en-US" sz="3600" dirty="0"/>
              <a:t>The Phallic Stage (3 – 6 years)</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58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At the end of the phallic stage about the age of 5 or 6 years, Freud believed the child entered a latency stage. </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Which means the psychosexual concerns no longer existed. </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During this period, libidinal energies are reduced dramatically</a:t>
            </a:r>
          </a:p>
          <a:p>
            <a:pPr marL="457200" indent="-457200">
              <a:lnSpc>
                <a:spcPct val="120000"/>
              </a:lnSpc>
              <a:buClr>
                <a:schemeClr val="accent1"/>
              </a:buClr>
              <a:buSzPct val="100000"/>
              <a:buFont typeface="Wingdings" panose="05000000000000000000" pitchFamily="2" charset="2"/>
              <a:buChar char="Ø"/>
            </a:pPr>
            <a:endParaRPr lang="en-US" sz="2800" dirty="0">
              <a:solidFill>
                <a:srgbClr val="404040"/>
              </a:solidFill>
            </a:endParaRPr>
          </a:p>
        </p:txBody>
      </p:sp>
      <p:sp>
        <p:nvSpPr>
          <p:cNvPr id="3" name="Title 2"/>
          <p:cNvSpPr>
            <a:spLocks noGrp="1"/>
          </p:cNvSpPr>
          <p:nvPr>
            <p:ph type="title"/>
          </p:nvPr>
        </p:nvSpPr>
        <p:spPr/>
        <p:txBody>
          <a:bodyPr>
            <a:normAutofit/>
          </a:bodyPr>
          <a:lstStyle/>
          <a:p>
            <a:r>
              <a:rPr lang="en-US" sz="3600" dirty="0"/>
              <a:t>The period of Latency (6 – 12 years)</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22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With the onset of puberty, a person goes into the final stage of development. At this point, the libidinal energies are </a:t>
            </a:r>
            <a:r>
              <a:rPr lang="en-US" sz="2800" dirty="0" err="1">
                <a:solidFill>
                  <a:srgbClr val="404040"/>
                </a:solidFill>
              </a:rPr>
              <a:t>rearoused</a:t>
            </a:r>
            <a:r>
              <a:rPr lang="en-US" sz="2800" dirty="0">
                <a:solidFill>
                  <a:srgbClr val="404040"/>
                </a:solidFill>
              </a:rPr>
              <a:t>, and the individual attempts to achieve adult sexuality. </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If there have been difficulties at earlier stage, the giving and receiving of adult mature love may be difficult or impossible to achieve.</a:t>
            </a:r>
          </a:p>
          <a:p>
            <a:pPr marL="457200" indent="-457200">
              <a:lnSpc>
                <a:spcPct val="120000"/>
              </a:lnSpc>
              <a:buClr>
                <a:schemeClr val="accent1"/>
              </a:buClr>
              <a:buSzPct val="100000"/>
              <a:buFont typeface="Wingdings" panose="05000000000000000000" pitchFamily="2" charset="2"/>
              <a:buChar char="Ø"/>
            </a:pPr>
            <a:endParaRPr lang="en-US" sz="2800" dirty="0">
              <a:solidFill>
                <a:srgbClr val="404040"/>
              </a:solidFill>
            </a:endParaRPr>
          </a:p>
        </p:txBody>
      </p:sp>
      <p:sp>
        <p:nvSpPr>
          <p:cNvPr id="3" name="Title 2"/>
          <p:cNvSpPr>
            <a:spLocks noGrp="1"/>
          </p:cNvSpPr>
          <p:nvPr>
            <p:ph type="title"/>
          </p:nvPr>
        </p:nvSpPr>
        <p:spPr/>
        <p:txBody>
          <a:bodyPr>
            <a:normAutofit fontScale="90000"/>
          </a:bodyPr>
          <a:lstStyle/>
          <a:p>
            <a:r>
              <a:rPr lang="en-US" sz="3600" dirty="0"/>
              <a:t>The Adolescence and adulthood {Genital Stage} (12 years &gt;</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197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4" grpId="1"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a:lnSpc>
                <a:spcPct val="120000"/>
              </a:lnSpc>
              <a:buClr>
                <a:schemeClr val="accent1"/>
              </a:buClr>
              <a:buSzPct val="100000"/>
              <a:buNone/>
            </a:pPr>
            <a:r>
              <a:rPr lang="en-US" sz="3200" dirty="0">
                <a:solidFill>
                  <a:schemeClr val="accent1"/>
                </a:solidFill>
                <a:latin typeface="Segoe UI Semibold" panose="020B0702040204020203" pitchFamily="34" charset="0"/>
                <a:cs typeface="Segoe UI Semibold" panose="020B0702040204020203" pitchFamily="34" charset="0"/>
              </a:rPr>
              <a:t>Example:</a:t>
            </a:r>
          </a:p>
          <a:p>
            <a:pPr marL="914400" indent="-457200">
              <a:lnSpc>
                <a:spcPct val="120000"/>
              </a:lnSpc>
              <a:buClr>
                <a:schemeClr val="accent1"/>
              </a:buClr>
              <a:buSzPct val="100000"/>
              <a:buFont typeface="Vladimir Script" panose="03050402040407070305" pitchFamily="66" charset="0"/>
              <a:buChar char="-"/>
            </a:pPr>
            <a:r>
              <a:rPr lang="en-US" sz="2800" dirty="0">
                <a:solidFill>
                  <a:srgbClr val="404040"/>
                </a:solidFill>
              </a:rPr>
              <a:t>Suppose a person experiences considerable frustration during the period of toilet training. It is possible that the residual fixation may cause the person to be stingy, stubborn, or extremely fussy. All such characteristics might prevail against the mature expression of giving and receiving love.</a:t>
            </a:r>
          </a:p>
          <a:p>
            <a:pPr marL="457200" indent="-457200">
              <a:lnSpc>
                <a:spcPct val="120000"/>
              </a:lnSpc>
              <a:buClr>
                <a:schemeClr val="accent1"/>
              </a:buClr>
              <a:buSzPct val="100000"/>
              <a:buFont typeface="Wingdings" panose="05000000000000000000" pitchFamily="2" charset="2"/>
              <a:buChar char="Ø"/>
            </a:pPr>
            <a:endParaRPr lang="en-US" sz="2800" dirty="0">
              <a:solidFill>
                <a:srgbClr val="404040"/>
              </a:solidFill>
            </a:endParaRPr>
          </a:p>
        </p:txBody>
      </p:sp>
      <p:sp>
        <p:nvSpPr>
          <p:cNvPr id="3" name="Title 2"/>
          <p:cNvSpPr>
            <a:spLocks noGrp="1"/>
          </p:cNvSpPr>
          <p:nvPr>
            <p:ph type="title"/>
          </p:nvPr>
        </p:nvSpPr>
        <p:spPr/>
        <p:txBody>
          <a:bodyPr>
            <a:normAutofit fontScale="90000"/>
          </a:bodyPr>
          <a:lstStyle/>
          <a:p>
            <a:r>
              <a:rPr lang="en-US" sz="3600" dirty="0"/>
              <a:t>The Adolescence and adulthood {Genital Stage} (12 years &gt;</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0566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3"/>
          <p:cNvSpPr txBox="1"/>
          <p:nvPr/>
        </p:nvSpPr>
        <p:spPr>
          <a:xfrm>
            <a:off x="244929" y="261258"/>
            <a:ext cx="11691257" cy="2127100"/>
          </a:xfrm>
          <a:prstGeom prst="rect">
            <a:avLst/>
          </a:prstGeom>
          <a:solidFill>
            <a:schemeClr val="accent1"/>
          </a:solidFill>
          <a:ln>
            <a:solidFill>
              <a:schemeClr val="accent1"/>
            </a:solidFill>
          </a:ln>
        </p:spPr>
        <p:txBody>
          <a:bodyPr vert="horz" wrap="square" lIns="91440" tIns="45720" rIns="91440" bIns="45720" rtlCol="0">
            <a:noAutofit/>
          </a:bodyPr>
          <a:lstStyle/>
          <a:p>
            <a:pPr marL="0" indent="0" algn="l">
              <a:lnSpc>
                <a:spcPts val="1800"/>
              </a:lnSpc>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itle 2"/>
          <p:cNvSpPr>
            <a:spLocks noGrp="1"/>
          </p:cNvSpPr>
          <p:nvPr>
            <p:ph type="title"/>
          </p:nvPr>
        </p:nvSpPr>
        <p:spPr/>
        <p:txBody>
          <a:bodyPr>
            <a:normAutofit/>
          </a:bodyPr>
          <a:lstStyle/>
          <a:p>
            <a:r>
              <a:rPr lang="en-US" sz="3600" dirty="0"/>
              <a:t>Ego Defense Mechanisms</a:t>
            </a:r>
          </a:p>
        </p:txBody>
      </p:sp>
      <p:sp>
        <p:nvSpPr>
          <p:cNvPr id="2" name="Content Placeholder 1"/>
          <p:cNvSpPr>
            <a:spLocks noGrp="1"/>
          </p:cNvSpPr>
          <p:nvPr>
            <p:ph sz="quarter" idx="13"/>
          </p:nvPr>
        </p:nvSpPr>
        <p:spPr/>
        <p:txBody>
          <a:bodyPr/>
          <a:lstStyle/>
          <a:p>
            <a:pPr marL="457200" indent="-457200">
              <a:lnSpc>
                <a:spcPct val="120000"/>
              </a:lnSpc>
              <a:buClr>
                <a:schemeClr val="accent1"/>
              </a:buClr>
              <a:buSzPct val="100000"/>
              <a:buFont typeface="Wingdings" panose="05000000000000000000" pitchFamily="2" charset="2"/>
              <a:buChar char="Ø"/>
            </a:pPr>
            <a:r>
              <a:rPr lang="en-US" dirty="0">
                <a:solidFill>
                  <a:srgbClr val="404040"/>
                </a:solidFill>
              </a:rPr>
              <a:t>Freud proposed that actions or events that insult the superego and damage to one's self-image result in anxiety in the ego.</a:t>
            </a:r>
          </a:p>
          <a:p>
            <a:pPr marL="457200" indent="-457200">
              <a:lnSpc>
                <a:spcPct val="120000"/>
              </a:lnSpc>
              <a:buClr>
                <a:schemeClr val="accent1"/>
              </a:buClr>
              <a:buSzPct val="100000"/>
              <a:buFont typeface="Wingdings" panose="05000000000000000000" pitchFamily="2" charset="2"/>
              <a:buChar char="Ø"/>
            </a:pPr>
            <a:r>
              <a:rPr lang="en-US" dirty="0">
                <a:solidFill>
                  <a:srgbClr val="404040"/>
                </a:solidFill>
              </a:rPr>
              <a:t>To keep this damage and anxiety to a minimum, a person develops and uses ego defense mechanisms as a way of protecting the self.</a:t>
            </a:r>
          </a:p>
          <a:p>
            <a:endParaRPr lang="en-US" dirty="0"/>
          </a:p>
        </p:txBody>
      </p:sp>
    </p:spTree>
    <p:extLst>
      <p:ext uri="{BB962C8B-B14F-4D97-AF65-F5344CB8AC3E}">
        <p14:creationId xmlns:p14="http://schemas.microsoft.com/office/powerpoint/2010/main" val="414602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04435" y="1604211"/>
            <a:ext cx="8539566" cy="4572752"/>
          </a:xfrm>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It is the first step in all defense mechanisms and the most  prevalent. </a:t>
            </a:r>
          </a:p>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Sustained repression requires psychic energy (anxiety) This may result in an abnormal personality pattern</a:t>
            </a:r>
          </a:p>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It is well-known defense mechanism. Repression acts to keep information out of conscious awareness. However, these memories don't just disappear; they continue to influence our behavior. For example, a person who has repressed memories of abuse suffered as a child may later have difficulty forming relationships</a:t>
            </a:r>
          </a:p>
        </p:txBody>
      </p:sp>
      <p:sp>
        <p:nvSpPr>
          <p:cNvPr id="3" name="Title 2"/>
          <p:cNvSpPr>
            <a:spLocks noGrp="1"/>
          </p:cNvSpPr>
          <p:nvPr>
            <p:ph type="title"/>
          </p:nvPr>
        </p:nvSpPr>
        <p:spPr/>
        <p:txBody>
          <a:bodyPr>
            <a:normAutofit/>
          </a:bodyPr>
          <a:lstStyle/>
          <a:p>
            <a:r>
              <a:rPr lang="en-US" sz="3600" dirty="0"/>
              <a:t>Repression</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9035604" y="1727333"/>
            <a:ext cx="2940088" cy="2998839"/>
          </a:xfrm>
          <a:prstGeom prst="rect">
            <a:avLst/>
          </a:prstGeom>
        </p:spPr>
      </p:pic>
    </p:spTree>
    <p:extLst>
      <p:ext uri="{BB962C8B-B14F-4D97-AF65-F5344CB8AC3E}">
        <p14:creationId xmlns:p14="http://schemas.microsoft.com/office/powerpoint/2010/main" val="343973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It is a defense mechanism that allows us to act out unacceptable impulses by converting these behaviors into a more acceptable form. For example, a person experiencing extreme anger might take up kick-boxing as a means of venting frustration. Freud believed that sublimation was a sign of maturity that allows people to function normally in socially acceptable ways. </a:t>
            </a:r>
          </a:p>
        </p:txBody>
      </p:sp>
      <p:sp>
        <p:nvSpPr>
          <p:cNvPr id="3" name="Title 2"/>
          <p:cNvSpPr>
            <a:spLocks noGrp="1"/>
          </p:cNvSpPr>
          <p:nvPr>
            <p:ph type="title"/>
          </p:nvPr>
        </p:nvSpPr>
        <p:spPr/>
        <p:txBody>
          <a:bodyPr>
            <a:normAutofit/>
          </a:bodyPr>
          <a:lstStyle/>
          <a:p>
            <a:r>
              <a:rPr lang="en-US" sz="3600" dirty="0"/>
              <a:t>Sublimation</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412361" y="4142082"/>
            <a:ext cx="1302773" cy="2442700"/>
          </a:xfrm>
          <a:prstGeom prst="rect">
            <a:avLst/>
          </a:prstGeom>
        </p:spPr>
      </p:pic>
    </p:spTree>
    <p:extLst>
      <p:ext uri="{BB962C8B-B14F-4D97-AF65-F5344CB8AC3E}">
        <p14:creationId xmlns:p14="http://schemas.microsoft.com/office/powerpoint/2010/main" val="1099780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04433" y="1604211"/>
            <a:ext cx="7713657" cy="4572752"/>
          </a:xfrm>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The most common defense mechanisms after regression</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A person who acts for a reason that is considered unacceptable  may account for that action by claiming it was done for some other, acceptable reason</a:t>
            </a:r>
          </a:p>
        </p:txBody>
      </p:sp>
      <p:sp>
        <p:nvSpPr>
          <p:cNvPr id="3" name="Title 2"/>
          <p:cNvSpPr>
            <a:spLocks noGrp="1"/>
          </p:cNvSpPr>
          <p:nvPr>
            <p:ph type="title"/>
          </p:nvPr>
        </p:nvSpPr>
        <p:spPr/>
        <p:txBody>
          <a:bodyPr>
            <a:normAutofit/>
          </a:bodyPr>
          <a:lstStyle/>
          <a:p>
            <a:r>
              <a:rPr lang="en-US" sz="3600" dirty="0"/>
              <a:t>Rationalization</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8465574" y="2264327"/>
            <a:ext cx="3416958" cy="2565397"/>
          </a:xfrm>
          <a:prstGeom prst="rect">
            <a:avLst/>
          </a:prstGeom>
        </p:spPr>
      </p:pic>
    </p:spTree>
    <p:extLst>
      <p:ext uri="{BB962C8B-B14F-4D97-AF65-F5344CB8AC3E}">
        <p14:creationId xmlns:p14="http://schemas.microsoft.com/office/powerpoint/2010/main" val="253577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04434" y="1604211"/>
            <a:ext cx="8259347" cy="4572752"/>
          </a:xfrm>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People who attribute their unacceptable feelings to others</a:t>
            </a:r>
          </a:p>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Projection may allow the person to express sentiments or beliefs that would produce anxiety if they were accepted as his or her own</a:t>
            </a:r>
          </a:p>
          <a:p>
            <a:pPr marL="457200" indent="-457200">
              <a:lnSpc>
                <a:spcPct val="120000"/>
              </a:lnSpc>
              <a:buClr>
                <a:schemeClr val="accent1"/>
              </a:buClr>
              <a:buSzPct val="100000"/>
              <a:buFont typeface="Wingdings" panose="05000000000000000000" pitchFamily="2" charset="2"/>
              <a:buChar char="Ø"/>
            </a:pPr>
            <a:r>
              <a:rPr lang="en-US" sz="2800" dirty="0">
                <a:solidFill>
                  <a:schemeClr val="accent1"/>
                </a:solidFill>
                <a:latin typeface="Segoe UI Semibold" panose="020B0702040204020203" pitchFamily="34" charset="0"/>
                <a:cs typeface="Segoe UI Semibold" panose="020B0702040204020203" pitchFamily="34" charset="0"/>
              </a:rPr>
              <a:t>For example, if you have a strong dislike for someone, you might instead believe that he or she does not like you </a:t>
            </a:r>
          </a:p>
          <a:p>
            <a:pPr marL="457200" indent="-457200">
              <a:lnSpc>
                <a:spcPct val="120000"/>
              </a:lnSpc>
              <a:buClr>
                <a:schemeClr val="accent1"/>
              </a:buClr>
              <a:buSzPct val="100000"/>
              <a:buFont typeface="Wingdings" panose="05000000000000000000" pitchFamily="2" charset="2"/>
              <a:buChar char="Ø"/>
            </a:pPr>
            <a:endParaRPr lang="en-US" sz="2400" dirty="0">
              <a:solidFill>
                <a:srgbClr val="404040"/>
              </a:solidFill>
            </a:endParaRPr>
          </a:p>
        </p:txBody>
      </p:sp>
      <p:sp>
        <p:nvSpPr>
          <p:cNvPr id="3" name="Title 2"/>
          <p:cNvSpPr>
            <a:spLocks noGrp="1"/>
          </p:cNvSpPr>
          <p:nvPr>
            <p:ph type="title"/>
          </p:nvPr>
        </p:nvSpPr>
        <p:spPr/>
        <p:txBody>
          <a:bodyPr>
            <a:normAutofit/>
          </a:bodyPr>
          <a:lstStyle/>
          <a:p>
            <a:r>
              <a:rPr lang="en-US" sz="3600" dirty="0"/>
              <a:t>Projection</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tretch>
            <a:fillRect/>
          </a:stretch>
        </p:blipFill>
        <p:spPr>
          <a:xfrm>
            <a:off x="9015225" y="1751693"/>
            <a:ext cx="2837811" cy="3513480"/>
          </a:xfrm>
          <a:prstGeom prst="rect">
            <a:avLst/>
          </a:prstGeom>
        </p:spPr>
      </p:pic>
    </p:spTree>
    <p:extLst>
      <p:ext uri="{BB962C8B-B14F-4D97-AF65-F5344CB8AC3E}">
        <p14:creationId xmlns:p14="http://schemas.microsoft.com/office/powerpoint/2010/main" val="168624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04433" y="1604211"/>
            <a:ext cx="8628057" cy="4572752"/>
          </a:xfrm>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Displacement occurs when aggressive reactions are directed  toward some  ‘’ innocent stimulus rather than the one producing anger’’ </a:t>
            </a:r>
          </a:p>
          <a:p>
            <a:pPr marL="457200" indent="-457200">
              <a:lnSpc>
                <a:spcPct val="120000"/>
              </a:lnSpc>
              <a:buClr>
                <a:schemeClr val="accent1"/>
              </a:buClr>
              <a:buSzPct val="100000"/>
              <a:buFont typeface="Wingdings" panose="05000000000000000000" pitchFamily="2" charset="2"/>
              <a:buChar char="Ø"/>
            </a:pPr>
            <a:r>
              <a:rPr lang="en-US" sz="2800" dirty="0">
                <a:solidFill>
                  <a:schemeClr val="accent1"/>
                </a:solidFill>
                <a:latin typeface="Segoe UI Semibold" panose="020B0702040204020203" pitchFamily="34" charset="0"/>
                <a:cs typeface="Segoe UI Semibold" panose="020B0702040204020203" pitchFamily="34" charset="0"/>
              </a:rPr>
              <a:t>express our anger towards a person or object that poses no threat (such as our spouse, children or pets). </a:t>
            </a:r>
          </a:p>
          <a:p>
            <a:pPr marL="457200" indent="-457200">
              <a:lnSpc>
                <a:spcPct val="120000"/>
              </a:lnSpc>
              <a:buClr>
                <a:schemeClr val="accent1"/>
              </a:buClr>
              <a:buSzPct val="100000"/>
              <a:buFont typeface="Wingdings" panose="05000000000000000000" pitchFamily="2" charset="2"/>
              <a:buChar char="Ø"/>
            </a:pPr>
            <a:r>
              <a:rPr lang="en-US" sz="2400" dirty="0">
                <a:solidFill>
                  <a:srgbClr val="404040"/>
                </a:solidFill>
              </a:rPr>
              <a:t>This is done because direct attack upon the hostility producing stimulus is viewed as too stressful, and yet relief is desired</a:t>
            </a:r>
          </a:p>
          <a:p>
            <a:pPr marL="457200" indent="-457200">
              <a:lnSpc>
                <a:spcPct val="120000"/>
              </a:lnSpc>
              <a:buClr>
                <a:schemeClr val="accent1"/>
              </a:buClr>
              <a:buSzPct val="100000"/>
              <a:buFont typeface="Wingdings" panose="05000000000000000000" pitchFamily="2" charset="2"/>
              <a:buChar char="Ø"/>
            </a:pPr>
            <a:endParaRPr lang="en-US" sz="2400" dirty="0">
              <a:solidFill>
                <a:srgbClr val="404040"/>
              </a:solidFill>
            </a:endParaRPr>
          </a:p>
        </p:txBody>
      </p:sp>
      <p:sp>
        <p:nvSpPr>
          <p:cNvPr id="3" name="Title 2"/>
          <p:cNvSpPr>
            <a:spLocks noGrp="1"/>
          </p:cNvSpPr>
          <p:nvPr>
            <p:ph type="title"/>
          </p:nvPr>
        </p:nvSpPr>
        <p:spPr/>
        <p:txBody>
          <a:bodyPr>
            <a:normAutofit/>
          </a:bodyPr>
          <a:lstStyle/>
          <a:p>
            <a:r>
              <a:rPr lang="en-US" sz="3600" dirty="0"/>
              <a:t>Displacement</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20000" contrast="40000"/>
                    </a14:imgEffect>
                  </a14:imgLayer>
                </a14:imgProps>
              </a:ext>
            </a:extLst>
          </a:blip>
          <a:srcRect t="1199"/>
          <a:stretch/>
        </p:blipFill>
        <p:spPr>
          <a:xfrm>
            <a:off x="9119880" y="1961535"/>
            <a:ext cx="2771775" cy="3905489"/>
          </a:xfrm>
          <a:prstGeom prst="rect">
            <a:avLst/>
          </a:prstGeom>
        </p:spPr>
      </p:pic>
    </p:spTree>
    <p:extLst>
      <p:ext uri="{BB962C8B-B14F-4D97-AF65-F5344CB8AC3E}">
        <p14:creationId xmlns:p14="http://schemas.microsoft.com/office/powerpoint/2010/main" val="224509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04434" y="1604211"/>
            <a:ext cx="7551424" cy="4572752"/>
          </a:xfrm>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A person who adopts an attitude that is appropriate to a younger age level may be showing regression</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Adopting a more childlike attitude may allow the person to avoid responsibilities and not lose face</a:t>
            </a:r>
          </a:p>
          <a:p>
            <a:pPr marL="457200" indent="-457200">
              <a:lnSpc>
                <a:spcPct val="120000"/>
              </a:lnSpc>
              <a:buClr>
                <a:schemeClr val="accent1"/>
              </a:buClr>
              <a:buSzPct val="100000"/>
              <a:buFont typeface="Wingdings" panose="05000000000000000000" pitchFamily="2" charset="2"/>
              <a:buChar char="Ø"/>
            </a:pPr>
            <a:endParaRPr lang="en-US" sz="2800" dirty="0">
              <a:solidFill>
                <a:srgbClr val="404040"/>
              </a:solidFill>
            </a:endParaRPr>
          </a:p>
        </p:txBody>
      </p:sp>
      <p:sp>
        <p:nvSpPr>
          <p:cNvPr id="3" name="Title 2"/>
          <p:cNvSpPr>
            <a:spLocks noGrp="1"/>
          </p:cNvSpPr>
          <p:nvPr>
            <p:ph type="title"/>
          </p:nvPr>
        </p:nvSpPr>
        <p:spPr/>
        <p:txBody>
          <a:bodyPr>
            <a:normAutofit/>
          </a:bodyPr>
          <a:lstStyle/>
          <a:p>
            <a:r>
              <a:rPr lang="en-US" sz="3600" dirty="0"/>
              <a:t>Regression</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8332456" y="1944154"/>
            <a:ext cx="3324225" cy="2914650"/>
          </a:xfrm>
          <a:prstGeom prst="rect">
            <a:avLst/>
          </a:prstGeom>
          <a:effectLst>
            <a:softEdge rad="31750"/>
          </a:effectLst>
        </p:spPr>
      </p:pic>
    </p:spTree>
    <p:extLst>
      <p:ext uri="{BB962C8B-B14F-4D97-AF65-F5344CB8AC3E}">
        <p14:creationId xmlns:p14="http://schemas.microsoft.com/office/powerpoint/2010/main" val="309115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When confronted by stressful events, people sometimes abandon coping strategies and revert to patterns of behavior used earlier in development. Anna Freud called this defense mechanism regression, suggesting that people act out behaviors from the stage of psychosexual development in which they are fixated.</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 </a:t>
            </a:r>
            <a:r>
              <a:rPr lang="en-US" sz="3200" dirty="0">
                <a:solidFill>
                  <a:schemeClr val="accent1"/>
                </a:solidFill>
                <a:latin typeface="Segoe UI Semibold" panose="020B0702040204020203" pitchFamily="34" charset="0"/>
                <a:cs typeface="Segoe UI Semibold" panose="020B0702040204020203" pitchFamily="34" charset="0"/>
              </a:rPr>
              <a:t>For example, an individual fixated at an earlier developmental stage might cry or sulk  </a:t>
            </a:r>
            <a:r>
              <a:rPr lang="ar-IQ" sz="3200" dirty="0">
                <a:solidFill>
                  <a:schemeClr val="accent1"/>
                </a:solidFill>
                <a:latin typeface="Segoe UI Semibold" panose="020B0702040204020203" pitchFamily="34" charset="0"/>
                <a:cs typeface="Segoe UI Semibold" panose="020B0702040204020203" pitchFamily="34" charset="0"/>
              </a:rPr>
              <a:t>نكد</a:t>
            </a:r>
            <a:r>
              <a:rPr lang="en-US" sz="3200" dirty="0">
                <a:solidFill>
                  <a:schemeClr val="accent1"/>
                </a:solidFill>
                <a:latin typeface="Segoe UI Semibold" panose="020B0702040204020203" pitchFamily="34" charset="0"/>
                <a:cs typeface="Segoe UI Semibold" panose="020B0702040204020203" pitchFamily="34" charset="0"/>
              </a:rPr>
              <a:t>upon hearing unpleasant news. </a:t>
            </a:r>
          </a:p>
        </p:txBody>
      </p:sp>
      <p:sp>
        <p:nvSpPr>
          <p:cNvPr id="3" name="Title 2"/>
          <p:cNvSpPr>
            <a:spLocks noGrp="1"/>
          </p:cNvSpPr>
          <p:nvPr>
            <p:ph type="title"/>
          </p:nvPr>
        </p:nvSpPr>
        <p:spPr/>
        <p:txBody>
          <a:bodyPr>
            <a:normAutofit/>
          </a:bodyPr>
          <a:lstStyle/>
          <a:p>
            <a:r>
              <a:rPr lang="en-US" sz="3600" dirty="0"/>
              <a:t>Regression</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7590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Behaviors associated with regression can vary greatly depending upon which stage the person is fixated at:</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An individual fixated at the oral stage might begin eating or smoking excessively, or might become very verbally aggressive.</a:t>
            </a:r>
          </a:p>
          <a:p>
            <a:pPr marL="457200" indent="-457200">
              <a:lnSpc>
                <a:spcPct val="120000"/>
              </a:lnSpc>
              <a:buClr>
                <a:schemeClr val="accent1"/>
              </a:buClr>
              <a:buSzPct val="100000"/>
              <a:buFont typeface="Wingdings" panose="05000000000000000000" pitchFamily="2" charset="2"/>
              <a:buChar char="Ø"/>
            </a:pPr>
            <a:r>
              <a:rPr lang="en-US" sz="2800" dirty="0">
                <a:solidFill>
                  <a:srgbClr val="404040"/>
                </a:solidFill>
              </a:rPr>
              <a:t>A fixation at the anal stage might result in excessive tidiness or messiness.</a:t>
            </a:r>
          </a:p>
        </p:txBody>
      </p:sp>
      <p:sp>
        <p:nvSpPr>
          <p:cNvPr id="3" name="Title 2"/>
          <p:cNvSpPr>
            <a:spLocks noGrp="1"/>
          </p:cNvSpPr>
          <p:nvPr>
            <p:ph type="title"/>
          </p:nvPr>
        </p:nvSpPr>
        <p:spPr/>
        <p:txBody>
          <a:bodyPr>
            <a:normAutofit/>
          </a:bodyPr>
          <a:lstStyle/>
          <a:p>
            <a:r>
              <a:rPr lang="en-US" sz="3600" dirty="0"/>
              <a:t>Regression</a:t>
            </a:r>
          </a:p>
        </p:txBody>
      </p:sp>
      <p:cxnSp>
        <p:nvCxnSpPr>
          <p:cNvPr id="5" name="Straight Connector 3"/>
          <p:cNvCxnSpPr/>
          <p:nvPr/>
        </p:nvCxnSpPr>
        <p:spPr>
          <a:xfrm flipH="1">
            <a:off x="618501" y="1196391"/>
            <a:ext cx="10972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05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4929" y="261258"/>
            <a:ext cx="11691257" cy="2127100"/>
          </a:xfrm>
          <a:prstGeom prst="rect">
            <a:avLst/>
          </a:prstGeom>
          <a:solidFill>
            <a:schemeClr val="accent1"/>
          </a:solidFill>
          <a:ln>
            <a:solidFill>
              <a:schemeClr val="accent1"/>
            </a:solidFill>
          </a:ln>
        </p:spPr>
        <p:txBody>
          <a:bodyPr vert="horz" wrap="square" lIns="91440" tIns="45720" rIns="91440" bIns="45720" rtlCol="0">
            <a:noAutofit/>
          </a:bodyPr>
          <a:lstStyle/>
          <a:p>
            <a:pPr marL="0" indent="0" algn="l">
              <a:lnSpc>
                <a:spcPts val="1800"/>
              </a:lnSpc>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7" name="Text Placeholder 1"/>
          <p:cNvSpPr txBox="1">
            <a:spLocks/>
          </p:cNvSpPr>
          <p:nvPr/>
        </p:nvSpPr>
        <p:spPr>
          <a:xfrm>
            <a:off x="3959352" y="1088148"/>
            <a:ext cx="4415341" cy="768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4800" dirty="0">
                <a:solidFill>
                  <a:schemeClr val="bg1"/>
                </a:solidFill>
                <a:latin typeface="+mj-lt"/>
              </a:rPr>
              <a:t>Thank</a:t>
            </a:r>
            <a:r>
              <a:rPr lang="en-US" altLang="ko-KR" sz="4800" dirty="0">
                <a:solidFill>
                  <a:schemeClr val="bg1"/>
                </a:solidFill>
              </a:rPr>
              <a:t> </a:t>
            </a:r>
            <a:r>
              <a:rPr lang="en-US" altLang="ko-KR" sz="4800" dirty="0">
                <a:solidFill>
                  <a:schemeClr val="bg1"/>
                </a:solidFill>
                <a:latin typeface="+mj-lt"/>
              </a:rPr>
              <a:t>you</a:t>
            </a:r>
            <a:endParaRPr lang="ko-KR" altLang="en-US" sz="4800" dirty="0">
              <a:solidFill>
                <a:schemeClr val="bg1"/>
              </a:solidFill>
              <a:latin typeface="+mj-lt"/>
            </a:endParaRPr>
          </a:p>
        </p:txBody>
      </p:sp>
    </p:spTree>
    <p:extLst>
      <p:ext uri="{BB962C8B-B14F-4D97-AF65-F5344CB8AC3E}">
        <p14:creationId xmlns:p14="http://schemas.microsoft.com/office/powerpoint/2010/main" val="2861505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1083</TotalTime>
  <Words>1592</Words>
  <Application>Microsoft Office PowerPoint</Application>
  <PresentationFormat>شاشة عريضة</PresentationFormat>
  <Paragraphs>128</Paragraphs>
  <Slides>28</Slides>
  <Notes>28</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28</vt:i4>
      </vt:variant>
    </vt:vector>
  </HeadingPairs>
  <TitlesOfParts>
    <vt:vector size="37" baseType="lpstr">
      <vt:lpstr>Arial</vt:lpstr>
      <vt:lpstr>Calibri</vt:lpstr>
      <vt:lpstr>Segoe UI</vt:lpstr>
      <vt:lpstr>Segoe UI Light</vt:lpstr>
      <vt:lpstr>Segoe UI Semibold</vt:lpstr>
      <vt:lpstr>Segoe UI Variable Small Semibol</vt:lpstr>
      <vt:lpstr>Vladimir Script</vt:lpstr>
      <vt:lpstr>Wingdings</vt:lpstr>
      <vt:lpstr>Get Started with 3D</vt:lpstr>
      <vt:lpstr>Theories of Child Personality Development:</vt:lpstr>
      <vt:lpstr>O B J E C T I V E S</vt:lpstr>
      <vt:lpstr>عرض تقديمي في PowerPoint</vt:lpstr>
      <vt:lpstr>Freud's Motivational theory of Personality</vt:lpstr>
      <vt:lpstr>Freud’s concepts about development</vt:lpstr>
      <vt:lpstr>Freud’s concepts about development</vt:lpstr>
      <vt:lpstr>Freud’s concepts about development</vt:lpstr>
      <vt:lpstr>Personality development</vt:lpstr>
      <vt:lpstr>Personality development</vt:lpstr>
      <vt:lpstr>Freud Psychosexual Stages of Development</vt:lpstr>
      <vt:lpstr>The Oral Stage     (0 – 12 month)</vt:lpstr>
      <vt:lpstr>The Oral Stage     (0 – 12 month)</vt:lpstr>
      <vt:lpstr>The Anal Stage   (1 – 3 years)</vt:lpstr>
      <vt:lpstr>The Phallic Stage (3 – 6 years)</vt:lpstr>
      <vt:lpstr>The Phallic Stage (3 – 6 years)</vt:lpstr>
      <vt:lpstr>The period of Latency (6 – 12 years)</vt:lpstr>
      <vt:lpstr>The Adolescence and adulthood {Genital Stage} (12 years &gt;</vt:lpstr>
      <vt:lpstr>The Adolescence and adulthood {Genital Stage} (12 years &gt;</vt:lpstr>
      <vt:lpstr>Ego Defense Mechanisms</vt:lpstr>
      <vt:lpstr>Repression</vt:lpstr>
      <vt:lpstr>Sublimation</vt:lpstr>
      <vt:lpstr>Rationalization</vt:lpstr>
      <vt:lpstr>Projection</vt:lpstr>
      <vt:lpstr>Displacement</vt:lpstr>
      <vt:lpstr>Regression</vt:lpstr>
      <vt:lpstr>Regression</vt:lpstr>
      <vt:lpstr>Regression</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Pain Management in Children</dc:title>
  <dc:creator>green lanter</dc:creator>
  <cp:lastModifiedBy>green lanter</cp:lastModifiedBy>
  <cp:revision>78</cp:revision>
  <dcterms:created xsi:type="dcterms:W3CDTF">2018-09-28T19:59:37Z</dcterms:created>
  <dcterms:modified xsi:type="dcterms:W3CDTF">2023-10-04T19:44:29Z</dcterms:modified>
</cp:coreProperties>
</file>