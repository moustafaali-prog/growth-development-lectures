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0" r:id="rId2"/>
  </p:sldMasterIdLst>
  <p:notesMasterIdLst>
    <p:notesMasterId r:id="rId29"/>
  </p:notesMasterIdLst>
  <p:sldIdLst>
    <p:sldId id="257" r:id="rId3"/>
    <p:sldId id="258" r:id="rId4"/>
    <p:sldId id="259" r:id="rId5"/>
    <p:sldId id="267" r:id="rId6"/>
    <p:sldId id="260" r:id="rId7"/>
    <p:sldId id="261" r:id="rId8"/>
    <p:sldId id="269" r:id="rId9"/>
    <p:sldId id="270" r:id="rId10"/>
    <p:sldId id="271" r:id="rId11"/>
    <p:sldId id="274" r:id="rId12"/>
    <p:sldId id="272" r:id="rId13"/>
    <p:sldId id="273" r:id="rId14"/>
    <p:sldId id="276" r:id="rId15"/>
    <p:sldId id="277" r:id="rId16"/>
    <p:sldId id="278" r:id="rId17"/>
    <p:sldId id="289" r:id="rId18"/>
    <p:sldId id="279" r:id="rId19"/>
    <p:sldId id="280" r:id="rId20"/>
    <p:sldId id="281" r:id="rId21"/>
    <p:sldId id="282" r:id="rId22"/>
    <p:sldId id="283" r:id="rId23"/>
    <p:sldId id="284" r:id="rId24"/>
    <p:sldId id="285" r:id="rId25"/>
    <p:sldId id="286" r:id="rId26"/>
    <p:sldId id="288" r:id="rId27"/>
    <p:sldId id="28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24726"/>
    <a:srgbClr val="000000"/>
    <a:srgbClr val="404040"/>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407" autoAdjust="0"/>
  </p:normalViewPr>
  <p:slideViewPr>
    <p:cSldViewPr snapToGrid="0">
      <p:cViewPr varScale="1">
        <p:scale>
          <a:sx n="46" d="100"/>
          <a:sy n="46" d="100"/>
        </p:scale>
        <p:origin x="43"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34B93E-504E-4062-949B-ADE101C03C08}" type="datetimeFigureOut">
              <a:rPr lang="en-US" smtClean="0"/>
              <a:t>10/4/2023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885154-1C45-4C5D-8B1E-2416BECCE50C}" type="slidenum">
              <a:rPr lang="en-US" smtClean="0"/>
              <a:t>‹#›</a:t>
            </a:fld>
            <a:endParaRPr lang="en-US"/>
          </a:p>
        </p:txBody>
      </p:sp>
    </p:spTree>
    <p:extLst>
      <p:ext uri="{BB962C8B-B14F-4D97-AF65-F5344CB8AC3E}">
        <p14:creationId xmlns:p14="http://schemas.microsoft.com/office/powerpoint/2010/main" val="393052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9885154-1C45-4C5D-8B1E-2416BECCE50C}" type="slidenum">
              <a:rPr lang="en-US" smtClean="0"/>
              <a:t>1</a:t>
            </a:fld>
            <a:endParaRPr lang="en-US"/>
          </a:p>
        </p:txBody>
      </p:sp>
    </p:spTree>
    <p:extLst>
      <p:ext uri="{BB962C8B-B14F-4D97-AF65-F5344CB8AC3E}">
        <p14:creationId xmlns:p14="http://schemas.microsoft.com/office/powerpoint/2010/main" val="3342864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61EA0F-A667-4B49-8422-0062BC55E24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47877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1039536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67360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66227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38254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2132695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06787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22783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6215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userDrawn="1"/>
        </p:nvSpPr>
        <p:spPr>
          <a:xfrm flipH="1">
            <a:off x="6480043" y="1508788"/>
            <a:ext cx="5711957" cy="3840427"/>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9"/>
          </a:p>
        </p:txBody>
      </p:sp>
      <p:sp>
        <p:nvSpPr>
          <p:cNvPr id="8" name="Picture Placeholder 2"/>
          <p:cNvSpPr>
            <a:spLocks noGrp="1"/>
          </p:cNvSpPr>
          <p:nvPr>
            <p:ph type="pic" idx="13" hasCustomPrompt="1"/>
          </p:nvPr>
        </p:nvSpPr>
        <p:spPr>
          <a:xfrm>
            <a:off x="7110273" y="0"/>
            <a:ext cx="4451498" cy="685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r>
              <a:rPr lang="en-US" altLang="ko-KR" dirty="0"/>
              <a:t>Your Picture Here</a:t>
            </a:r>
            <a:endParaRPr lang="ko-KR" altLang="en-US" dirty="0"/>
          </a:p>
        </p:txBody>
      </p:sp>
    </p:spTree>
    <p:extLst>
      <p:ext uri="{BB962C8B-B14F-4D97-AF65-F5344CB8AC3E}">
        <p14:creationId xmlns:p14="http://schemas.microsoft.com/office/powerpoint/2010/main" val="3990971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a:lstStyle/>
          <a:p>
            <a:pPr lvl="0"/>
            <a:endParaRPr lang="ar-JO" noProof="0"/>
          </a:p>
        </p:txBody>
      </p:sp>
      <p:sp>
        <p:nvSpPr>
          <p:cNvPr id="4" name="Rectangle 4"/>
          <p:cNvSpPr>
            <a:spLocks noGrp="1" noChangeArrowheads="1"/>
          </p:cNvSpPr>
          <p:nvPr>
            <p:ph type="dt" sz="half" idx="10"/>
          </p:nvPr>
        </p:nvSpPr>
        <p:spPr>
          <a:ln/>
        </p:spPr>
        <p:txBody>
          <a:bodyPr/>
          <a:lstStyle>
            <a:lvl1pPr>
              <a:defRPr/>
            </a:lvl1pPr>
          </a:lstStyle>
          <a:p>
            <a:pPr>
              <a:defRPr/>
            </a:pPr>
            <a:fld id="{5137BD0D-AF44-4EF4-B0BC-3F954D96C8A3}" type="datetime1">
              <a:rPr lang="en-US"/>
              <a:pPr>
                <a:defRPr/>
              </a:pPr>
              <a:t>10/4/2023</a:t>
            </a:fld>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93C65A56-3191-4507-AE7B-C8F476156A03}" type="slidenum">
              <a:rPr lang="ar-SA" altLang="en-US"/>
              <a:pPr/>
              <a:t>‹#›</a:t>
            </a:fld>
            <a:endParaRPr lang="en-US" altLang="en-US"/>
          </a:p>
        </p:txBody>
      </p:sp>
    </p:spTree>
    <p:extLst>
      <p:ext uri="{BB962C8B-B14F-4D97-AF65-F5344CB8AC3E}">
        <p14:creationId xmlns:p14="http://schemas.microsoft.com/office/powerpoint/2010/main" val="1668549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24029596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8206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157793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53353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30524085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27216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941593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16016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Basic Layout">
    <p:spTree>
      <p:nvGrpSpPr>
        <p:cNvPr id="1" name=""/>
        <p:cNvGrpSpPr/>
        <p:nvPr/>
      </p:nvGrpSpPr>
      <p:grpSpPr>
        <a:xfrm>
          <a:off x="0" y="0"/>
          <a:ext cx="0" cy="0"/>
          <a:chOff x="0" y="0"/>
          <a:chExt cx="0" cy="0"/>
        </a:xfrm>
      </p:grpSpPr>
      <p:sp>
        <p:nvSpPr>
          <p:cNvPr id="2" name="Rectangle 1"/>
          <p:cNvSpPr/>
          <p:nvPr userDrawn="1"/>
        </p:nvSpPr>
        <p:spPr>
          <a:xfrm>
            <a:off x="0" y="4533123"/>
            <a:ext cx="12192000" cy="232487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a:p>
        </p:txBody>
      </p:sp>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Oval 3"/>
          <p:cNvSpPr/>
          <p:nvPr userDrawn="1"/>
        </p:nvSpPr>
        <p:spPr>
          <a:xfrm>
            <a:off x="5391415" y="3813043"/>
            <a:ext cx="1440160" cy="1440160"/>
          </a:xfrm>
          <a:prstGeom prst="ellipse">
            <a:avLst/>
          </a:pr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pic>
        <p:nvPicPr>
          <p:cNvPr id="5"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877409" y="4013590"/>
            <a:ext cx="468171" cy="1039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6000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22401" y="990600"/>
            <a:ext cx="9347199" cy="2235203"/>
          </a:xfrm>
        </p:spPr>
        <p:txBody>
          <a:bodyPr anchor="b">
            <a:normAutofit/>
          </a:bodyPr>
          <a:lstStyle>
            <a:lvl1pPr algn="ctr">
              <a:lnSpc>
                <a:spcPct val="9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422401" y="3733800"/>
            <a:ext cx="9347199" cy="1219200"/>
          </a:xfrm>
        </p:spPr>
        <p:txBody>
          <a:bodyPr anchor="t"/>
          <a:lstStyle>
            <a:lvl1pPr marL="0" indent="0" algn="ctr">
              <a:spcBef>
                <a:spcPts val="0"/>
              </a:spcBef>
              <a:buNone/>
              <a:defRPr sz="2000" cap="all"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8E36636D-D922-432D-A958-524484B5923D}" type="datetimeFigureOut">
              <a:rPr lang="en-US"/>
              <a:pPr/>
              <a:t>10/4/2023</a:t>
            </a:fld>
            <a:endParaRPr/>
          </a:p>
        </p:txBody>
      </p:sp>
      <p:sp>
        <p:nvSpPr>
          <p:cNvPr id="6" name="Slide Number Placeholder 5"/>
          <p:cNvSpPr>
            <a:spLocks noGrp="1"/>
          </p:cNvSpPr>
          <p:nvPr>
            <p:ph type="sldNum" sz="quarter" idx="12"/>
          </p:nvPr>
        </p:nvSpPr>
        <p:spPr/>
        <p:txBody>
          <a:bodyPr/>
          <a:lstStyle/>
          <a:p>
            <a:fld id="{DF28FB93-0A08-4E7D-8E63-9EFA29F1E093}" type="slidenum">
              <a:rPr/>
              <a:pPr/>
              <a:t>‹#›</a:t>
            </a:fld>
            <a:endParaRPr/>
          </a:p>
        </p:txBody>
      </p:sp>
      <p:grpSp>
        <p:nvGrpSpPr>
          <p:cNvPr id="13" name="Group 12"/>
          <p:cNvGrpSpPr/>
          <p:nvPr/>
        </p:nvGrpSpPr>
        <p:grpSpPr>
          <a:xfrm>
            <a:off x="3274635" y="3475736"/>
            <a:ext cx="5642734" cy="54864"/>
            <a:chOff x="2455975" y="2588441"/>
            <a:chExt cx="4232051" cy="41148"/>
          </a:xfrm>
        </p:grpSpPr>
        <p:sp>
          <p:nvSpPr>
            <p:cNvPr id="14" name="Oval 13"/>
            <p:cNvSpPr/>
            <p:nvPr/>
          </p:nvSpPr>
          <p:spPr>
            <a:xfrm>
              <a:off x="6642306" y="2588441"/>
              <a:ext cx="45720" cy="41148"/>
            </a:xfrm>
            <a:prstGeom prst="ellipse">
              <a:avLst/>
            </a:prstGeom>
            <a:solidFill>
              <a:schemeClr val="tx1"/>
            </a:solidFill>
            <a:ln w="26425" cap="flat" cmpd="sng" algn="ctr">
              <a:solidFill>
                <a:schemeClr val="tx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sysClr val="window" lastClr="FFFFFF"/>
                </a:solidFill>
                <a:effectLst/>
                <a:uLnTx/>
                <a:uFillTx/>
                <a:latin typeface="Constantia"/>
                <a:ea typeface="+mn-ea"/>
                <a:cs typeface="+mn-cs"/>
              </a:endParaRPr>
            </a:p>
          </p:txBody>
        </p:sp>
        <p:sp>
          <p:nvSpPr>
            <p:cNvPr id="15" name="Oval 14"/>
            <p:cNvSpPr/>
            <p:nvPr/>
          </p:nvSpPr>
          <p:spPr>
            <a:xfrm>
              <a:off x="2455975" y="2588441"/>
              <a:ext cx="45720" cy="41148"/>
            </a:xfrm>
            <a:prstGeom prst="ellipse">
              <a:avLst/>
            </a:prstGeom>
            <a:solidFill>
              <a:schemeClr val="tx1"/>
            </a:solidFill>
            <a:ln w="26425" cap="flat" cmpd="sng" algn="ctr">
              <a:solidFill>
                <a:schemeClr val="tx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sysClr val="window" lastClr="FFFFFF"/>
                </a:solidFill>
                <a:effectLst/>
                <a:uLnTx/>
                <a:uFillTx/>
                <a:latin typeface="Constantia"/>
                <a:ea typeface="+mn-ea"/>
                <a:cs typeface="+mn-cs"/>
              </a:endParaRPr>
            </a:p>
          </p:txBody>
        </p:sp>
        <p:grpSp>
          <p:nvGrpSpPr>
            <p:cNvPr id="16" name="Group 15"/>
            <p:cNvGrpSpPr/>
            <p:nvPr/>
          </p:nvGrpSpPr>
          <p:grpSpPr>
            <a:xfrm>
              <a:off x="2563229" y="2594391"/>
              <a:ext cx="4023360" cy="29249"/>
              <a:chOff x="2550323" y="3458731"/>
              <a:chExt cx="4023360" cy="38998"/>
            </a:xfrm>
          </p:grpSpPr>
          <p:cxnSp>
            <p:nvCxnSpPr>
              <p:cNvPr id="17" name="Straight Connector 16"/>
              <p:cNvCxnSpPr/>
              <p:nvPr/>
            </p:nvCxnSpPr>
            <p:spPr>
              <a:xfrm>
                <a:off x="2550323" y="3458731"/>
                <a:ext cx="4023360" cy="0"/>
              </a:xfrm>
              <a:prstGeom prst="line">
                <a:avLst/>
              </a:prstGeom>
              <a:noFill/>
              <a:ln w="12700" cap="flat" cmpd="sng" algn="ctr">
                <a:solidFill>
                  <a:schemeClr val="tx1"/>
                </a:solidFill>
                <a:prstDash val="solid"/>
              </a:ln>
              <a:effectLst/>
            </p:spPr>
          </p:cxnSp>
          <p:cxnSp>
            <p:nvCxnSpPr>
              <p:cNvPr id="18" name="Straight Connector 17"/>
              <p:cNvCxnSpPr/>
              <p:nvPr/>
            </p:nvCxnSpPr>
            <p:spPr>
              <a:xfrm>
                <a:off x="2550323" y="3497729"/>
                <a:ext cx="4023360" cy="0"/>
              </a:xfrm>
              <a:prstGeom prst="line">
                <a:avLst/>
              </a:prstGeom>
              <a:noFill/>
              <a:ln w="12700" cap="flat" cmpd="sng" algn="ctr">
                <a:solidFill>
                  <a:schemeClr val="tx1"/>
                </a:solidFill>
                <a:prstDash val="solid"/>
              </a:ln>
              <a:effectLst/>
            </p:spPr>
          </p:cxnSp>
        </p:grpSp>
      </p:grpSp>
    </p:spTree>
    <p:extLst>
      <p:ext uri="{BB962C8B-B14F-4D97-AF65-F5344CB8AC3E}">
        <p14:creationId xmlns:p14="http://schemas.microsoft.com/office/powerpoint/2010/main" val="4018419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10363200" cy="1219200"/>
          </a:xfrm>
        </p:spPr>
        <p:txBody>
          <a:bodyPr/>
          <a:lstStyle/>
          <a:p>
            <a:r>
              <a:rPr lang="en-CA"/>
              <a:t>Click to edit Master title style</a:t>
            </a:r>
            <a:endParaRPr lang="en-US"/>
          </a:p>
        </p:txBody>
      </p:sp>
      <p:sp>
        <p:nvSpPr>
          <p:cNvPr id="3" name="Table Placeholder 2"/>
          <p:cNvSpPr>
            <a:spLocks noGrp="1"/>
          </p:cNvSpPr>
          <p:nvPr>
            <p:ph type="tbl" idx="1"/>
          </p:nvPr>
        </p:nvSpPr>
        <p:spPr>
          <a:xfrm>
            <a:off x="914400" y="1641475"/>
            <a:ext cx="10363200" cy="4454525"/>
          </a:xfrm>
        </p:spPr>
        <p:txBody>
          <a:bodyPr/>
          <a:lstStyle/>
          <a:p>
            <a:pPr lvl="0"/>
            <a:endParaRPr lang="en-US" noProof="0"/>
          </a:p>
        </p:txBody>
      </p:sp>
    </p:spTree>
    <p:extLst>
      <p:ext uri="{BB962C8B-B14F-4D97-AF65-F5344CB8AC3E}">
        <p14:creationId xmlns:p14="http://schemas.microsoft.com/office/powerpoint/2010/main" val="21211919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17084" y="1905000"/>
            <a:ext cx="5304367" cy="419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724651" y="1905000"/>
            <a:ext cx="5306483" cy="419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FB0611C2-B6D9-4B74-8CBF-F809ED5A9672}" type="slidenum">
              <a:rPr lang="en-US" altLang="en-US"/>
              <a:pPr/>
              <a:t>‹#›</a:t>
            </a:fld>
            <a:endParaRPr lang="en-US" altLang="en-US"/>
          </a:p>
        </p:txBody>
      </p:sp>
    </p:spTree>
    <p:extLst>
      <p:ext uri="{BB962C8B-B14F-4D97-AF65-F5344CB8AC3E}">
        <p14:creationId xmlns:p14="http://schemas.microsoft.com/office/powerpoint/2010/main" val="2504338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10/4/2023</a:t>
            </a:fld>
            <a:endParaRPr lang="en-US"/>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34379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83" r:id="rId10"/>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10/4/2023</a:t>
            </a:fld>
            <a:endParaRPr lang="en-US"/>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3309056"/>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4.png"/><Relationship Id="rId1" Type="http://schemas.openxmlformats.org/officeDocument/2006/relationships/slideLayout" Target="../slideLayouts/slideLayout2.xml"/><Relationship Id="rId5" Type="http://schemas.microsoft.com/office/2007/relationships/hdphoto" Target="../media/hdphoto6.wdp"/><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p:txBody>
          <a:bodyPr/>
          <a:lstStyle/>
          <a:p>
            <a:r>
              <a:rPr lang="en-US" dirty="0"/>
              <a:t>Theories of Child Personality Development:</a:t>
            </a:r>
          </a:p>
        </p:txBody>
      </p:sp>
      <p:sp>
        <p:nvSpPr>
          <p:cNvPr id="3" name="Subtitle 2">
            <a:extLst>
              <a:ext uri="{FF2B5EF4-FFF2-40B4-BE49-F238E27FC236}">
                <a16:creationId xmlns:a16="http://schemas.microsoft.com/office/drawing/2014/main" id="{3C322DE6-C2BE-4B53-BC28-C43EBD0052AA}"/>
              </a:ext>
            </a:extLst>
          </p:cNvPr>
          <p:cNvSpPr>
            <a:spLocks noGrp="1"/>
          </p:cNvSpPr>
          <p:nvPr>
            <p:ph type="subTitle" idx="1"/>
          </p:nvPr>
        </p:nvSpPr>
        <p:spPr/>
        <p:txBody>
          <a:bodyPr/>
          <a:lstStyle/>
          <a:p>
            <a:r>
              <a:rPr lang="en-US" dirty="0"/>
              <a:t>Erikson’s Theory of Psychosocial Development</a:t>
            </a:r>
          </a:p>
        </p:txBody>
      </p:sp>
      <p:sp>
        <p:nvSpPr>
          <p:cNvPr id="6" name="Subtitle 2">
            <a:extLst>
              <a:ext uri="{FF2B5EF4-FFF2-40B4-BE49-F238E27FC236}">
                <a16:creationId xmlns:a16="http://schemas.microsoft.com/office/drawing/2014/main" id="{9F21D19B-D4DA-E2D4-FB15-0735F2B346EF}"/>
              </a:ext>
            </a:extLst>
          </p:cNvPr>
          <p:cNvSpPr txBox="1">
            <a:spLocks noChangeArrowheads="1"/>
          </p:cNvSpPr>
          <p:nvPr/>
        </p:nvSpPr>
        <p:spPr bwMode="auto">
          <a:xfrm>
            <a:off x="8256588" y="4389438"/>
            <a:ext cx="268605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514350">
              <a:lnSpc>
                <a:spcPct val="90000"/>
              </a:lnSpc>
              <a:spcBef>
                <a:spcPts val="750"/>
              </a:spcBef>
              <a:buFont typeface="Arial" panose="020B0604020202020204" pitchFamily="34" charset="0"/>
              <a:buChar char="•"/>
              <a:defRPr sz="2100">
                <a:solidFill>
                  <a:schemeClr val="tx1"/>
                </a:solidFill>
                <a:latin typeface="Segoe UI" panose="020B0502040204020203" pitchFamily="34" charset="0"/>
              </a:defRPr>
            </a:lvl1pPr>
            <a:lvl2pPr marL="685800" indent="-171450" defTabSz="514350">
              <a:lnSpc>
                <a:spcPct val="90000"/>
              </a:lnSpc>
              <a:spcBef>
                <a:spcPts val="375"/>
              </a:spcBef>
              <a:buFont typeface="Arial" panose="020B0604020202020204" pitchFamily="34" charset="0"/>
              <a:buChar char="•"/>
              <a:defRPr>
                <a:solidFill>
                  <a:schemeClr val="tx1"/>
                </a:solidFill>
                <a:latin typeface="Segoe UI" panose="020B0502040204020203" pitchFamily="34" charset="0"/>
              </a:defRPr>
            </a:lvl2pPr>
            <a:lvl3pPr marL="1143000" indent="-171450" defTabSz="514350">
              <a:lnSpc>
                <a:spcPct val="90000"/>
              </a:lnSpc>
              <a:spcBef>
                <a:spcPts val="375"/>
              </a:spcBef>
              <a:buFont typeface="Arial" panose="020B0604020202020204" pitchFamily="34" charset="0"/>
              <a:buChar char="•"/>
              <a:defRPr sz="1500">
                <a:solidFill>
                  <a:schemeClr val="tx1"/>
                </a:solidFill>
                <a:latin typeface="Segoe UI" panose="020B0502040204020203" pitchFamily="34" charset="0"/>
              </a:defRPr>
            </a:lvl3pPr>
            <a:lvl4pPr marL="16002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4pPr>
            <a:lvl5pPr marL="20574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5pPr>
            <a:lvl6pPr marL="25146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6pPr>
            <a:lvl7pPr marL="29718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7pPr>
            <a:lvl8pPr marL="34290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8pPr>
            <a:lvl9pPr marL="38862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9pPr>
          </a:lstStyle>
          <a:p>
            <a:pPr eaLnBrk="1" hangingPunct="1">
              <a:lnSpc>
                <a:spcPct val="100000"/>
              </a:lnSpc>
              <a:spcBef>
                <a:spcPts val="563"/>
              </a:spcBef>
              <a:buFont typeface="Arial" panose="020B0604020202020204" pitchFamily="34" charset="0"/>
              <a:buNone/>
            </a:pPr>
            <a:r>
              <a:rPr lang="en-US" altLang="ar-IQ" sz="1200" dirty="0">
                <a:solidFill>
                  <a:srgbClr val="FFFFFF"/>
                </a:solidFill>
                <a:latin typeface="Segoe UI Light" panose="020B0502040204020203" pitchFamily="34" charset="0"/>
                <a:cs typeface="Segoe UI Light" panose="020B0502040204020203" pitchFamily="34" charset="0"/>
              </a:rPr>
              <a:t>Third Stage</a:t>
            </a:r>
          </a:p>
          <a:p>
            <a:pPr eaLnBrk="1" hangingPunct="1">
              <a:lnSpc>
                <a:spcPct val="100000"/>
              </a:lnSpc>
              <a:spcBef>
                <a:spcPts val="563"/>
              </a:spcBef>
              <a:buFont typeface="Arial" panose="020B0604020202020204" pitchFamily="34" charset="0"/>
              <a:buNone/>
            </a:pPr>
            <a:r>
              <a:rPr lang="en-US" altLang="ar-IQ" sz="1200" dirty="0">
                <a:solidFill>
                  <a:srgbClr val="FFFFFF"/>
                </a:solidFill>
                <a:latin typeface="Segoe UI Variable Small Semibol" pitchFamily="2" charset="0"/>
                <a:cs typeface="Segoe UI Light" panose="020B0502040204020203" pitchFamily="34" charset="0"/>
              </a:rPr>
              <a:t>Dr. Moustafa Alshammari</a:t>
            </a:r>
          </a:p>
          <a:p>
            <a:pPr eaLnBrk="1" hangingPunct="1">
              <a:lnSpc>
                <a:spcPct val="100000"/>
              </a:lnSpc>
              <a:spcBef>
                <a:spcPts val="563"/>
              </a:spcBef>
              <a:buFont typeface="Arial" panose="020B0604020202020204" pitchFamily="34" charset="0"/>
              <a:buNone/>
            </a:pPr>
            <a:r>
              <a:rPr lang="en-US" altLang="ar-IQ" sz="1200" dirty="0">
                <a:solidFill>
                  <a:srgbClr val="FFFFFF"/>
                </a:solidFill>
                <a:latin typeface="Segoe UI Light" panose="020B0502040204020203" pitchFamily="34" charset="0"/>
                <a:cs typeface="Segoe UI Light" panose="020B0502040204020203" pitchFamily="34" charset="0"/>
              </a:rPr>
              <a:t>Growth and Developments </a:t>
            </a:r>
          </a:p>
        </p:txBody>
      </p:sp>
    </p:spTree>
    <p:extLst>
      <p:ext uri="{BB962C8B-B14F-4D97-AF65-F5344CB8AC3E}">
        <p14:creationId xmlns:p14="http://schemas.microsoft.com/office/powerpoint/2010/main" val="1795628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t>Learning Objectives</a:t>
            </a:r>
          </a:p>
        </p:txBody>
      </p:sp>
      <p:sp>
        <p:nvSpPr>
          <p:cNvPr id="5" name="Content Placeholder 4"/>
          <p:cNvSpPr>
            <a:spLocks noGrp="1"/>
          </p:cNvSpPr>
          <p:nvPr>
            <p:ph idx="1"/>
          </p:nvPr>
        </p:nvSpPr>
        <p:spPr>
          <a:xfrm>
            <a:off x="1333500" y="2247899"/>
            <a:ext cx="10254064" cy="3929063"/>
          </a:xfrm>
        </p:spPr>
        <p:txBody>
          <a:bodyPr>
            <a:normAutofit/>
          </a:bodyPr>
          <a:lstStyle/>
          <a:p>
            <a:pPr>
              <a:lnSpc>
                <a:spcPct val="100000"/>
              </a:lnSpc>
            </a:pPr>
            <a:r>
              <a:rPr lang="en-US" sz="2400" dirty="0">
                <a:solidFill>
                  <a:prstClr val="black">
                    <a:lumMod val="75000"/>
                    <a:lumOff val="25000"/>
                  </a:prstClr>
                </a:solidFill>
                <a:latin typeface="Segoe UI" panose="020B0502040204020203" pitchFamily="34" charset="0"/>
                <a:cs typeface="Segoe UI" panose="020B0502040204020203" pitchFamily="34" charset="0"/>
              </a:rPr>
              <a:t>Identify the major concepts of selected theories of development.</a:t>
            </a:r>
          </a:p>
          <a:p>
            <a:pPr>
              <a:lnSpc>
                <a:spcPct val="100000"/>
              </a:lnSpc>
            </a:pPr>
            <a:r>
              <a:rPr lang="en-US" sz="2400" dirty="0">
                <a:solidFill>
                  <a:prstClr val="black">
                    <a:lumMod val="75000"/>
                    <a:lumOff val="25000"/>
                  </a:prstClr>
                </a:solidFill>
                <a:latin typeface="Segoe UI" panose="020B0502040204020203" pitchFamily="34" charset="0"/>
                <a:cs typeface="Segoe UI" panose="020B0502040204020203" pitchFamily="34" charset="0"/>
              </a:rPr>
              <a:t>Compare the major points of view related to the formulation of selected developmental theories.</a:t>
            </a:r>
          </a:p>
          <a:p>
            <a:pPr>
              <a:lnSpc>
                <a:spcPct val="100000"/>
              </a:lnSpc>
            </a:pPr>
            <a:r>
              <a:rPr lang="en-US" sz="2400" dirty="0">
                <a:solidFill>
                  <a:prstClr val="black">
                    <a:lumMod val="75000"/>
                    <a:lumOff val="25000"/>
                  </a:prstClr>
                </a:solidFill>
                <a:latin typeface="Segoe UI" panose="020B0502040204020203" pitchFamily="34" charset="0"/>
                <a:cs typeface="Segoe UI" panose="020B0502040204020203" pitchFamily="34" charset="0"/>
              </a:rPr>
              <a:t>Assess the relevance of selected theories of development to nursing care of children, adults, and old age.</a:t>
            </a:r>
          </a:p>
          <a:p>
            <a:pPr marL="342900" indent="-342900">
              <a:buSzPct val="100000"/>
              <a:buFont typeface="Arial" panose="020B0604020202020204" pitchFamily="34" charset="0"/>
              <a:buChar char="•"/>
            </a:pPr>
            <a:endParaRPr lang="en-US" sz="2400" dirty="0"/>
          </a:p>
        </p:txBody>
      </p:sp>
      <p:sp>
        <p:nvSpPr>
          <p:cNvPr id="6" name="Rectangle 5"/>
          <p:cNvSpPr/>
          <p:nvPr/>
        </p:nvSpPr>
        <p:spPr>
          <a:xfrm>
            <a:off x="762000" y="1398979"/>
            <a:ext cx="8648700" cy="523220"/>
          </a:xfrm>
          <a:prstGeom prst="rect">
            <a:avLst/>
          </a:prstGeom>
        </p:spPr>
        <p:txBody>
          <a:bodyPr wrap="square">
            <a:spAutoFit/>
          </a:bodyPr>
          <a:lstStyle/>
          <a:p>
            <a:r>
              <a:rPr lang="en-US" sz="2400" dirty="0">
                <a:solidFill>
                  <a:prstClr val="black">
                    <a:lumMod val="75000"/>
                    <a:lumOff val="25000"/>
                  </a:prstClr>
                </a:solidFill>
                <a:latin typeface="Segoe UI" panose="020B0502040204020203" pitchFamily="34" charset="0"/>
                <a:cs typeface="Segoe UI" panose="020B0502040204020203" pitchFamily="34" charset="0"/>
              </a:rPr>
              <a:t>Mastery of </a:t>
            </a:r>
            <a:r>
              <a:rPr lang="en-US" sz="2800" dirty="0">
                <a:solidFill>
                  <a:srgbClr val="404040"/>
                </a:solidFill>
                <a:latin typeface="Segoe UI" panose="020B0502040204020203" pitchFamily="34" charset="0"/>
                <a:cs typeface="Segoe UI" panose="020B0502040204020203" pitchFamily="34" charset="0"/>
              </a:rPr>
              <a:t>content</a:t>
            </a:r>
            <a:r>
              <a:rPr lang="en-US" sz="2400" dirty="0">
                <a:solidFill>
                  <a:prstClr val="black">
                    <a:lumMod val="75000"/>
                    <a:lumOff val="25000"/>
                  </a:prstClr>
                </a:solidFill>
                <a:latin typeface="Segoe UI" panose="020B0502040204020203" pitchFamily="34" charset="0"/>
                <a:cs typeface="Segoe UI" panose="020B0502040204020203" pitchFamily="34" charset="0"/>
              </a:rPr>
              <a:t> in this lecture will enable the student to: </a:t>
            </a:r>
          </a:p>
        </p:txBody>
      </p:sp>
      <p:sp>
        <p:nvSpPr>
          <p:cNvPr id="7" name="Oval 6">
            <a:extLst>
              <a:ext uri="{FF2B5EF4-FFF2-40B4-BE49-F238E27FC236}">
                <a16:creationId xmlns:a16="http://schemas.microsoft.com/office/drawing/2014/main" id="{13572B26-98AF-4AA8-9A0F-435FBBFB6E5E}"/>
              </a:ext>
              <a:ext uri="{C183D7F6-B498-43B3-948B-1728B52AA6E4}">
                <adec:decorative xmlns:adec="http://schemas.microsoft.com/office/drawing/2017/decorative" val="1"/>
              </a:ext>
            </a:extLst>
          </p:cNvPr>
          <p:cNvSpPr/>
          <p:nvPr/>
        </p:nvSpPr>
        <p:spPr bwMode="blackWhite">
          <a:xfrm>
            <a:off x="924240" y="2206166"/>
            <a:ext cx="447360" cy="451413"/>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sp>
        <p:nvSpPr>
          <p:cNvPr id="8" name="Oval 7">
            <a:extLst>
              <a:ext uri="{FF2B5EF4-FFF2-40B4-BE49-F238E27FC236}">
                <a16:creationId xmlns:a16="http://schemas.microsoft.com/office/drawing/2014/main" id="{13572B26-98AF-4AA8-9A0F-435FBBFB6E5E}"/>
              </a:ext>
              <a:ext uri="{C183D7F6-B498-43B3-948B-1728B52AA6E4}">
                <adec:decorative xmlns:adec="http://schemas.microsoft.com/office/drawing/2017/decorative" val="1"/>
              </a:ext>
            </a:extLst>
          </p:cNvPr>
          <p:cNvSpPr/>
          <p:nvPr/>
        </p:nvSpPr>
        <p:spPr bwMode="blackWhite">
          <a:xfrm>
            <a:off x="924240" y="3042336"/>
            <a:ext cx="447360" cy="451413"/>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sp>
        <p:nvSpPr>
          <p:cNvPr id="9" name="Oval 8">
            <a:extLst>
              <a:ext uri="{FF2B5EF4-FFF2-40B4-BE49-F238E27FC236}">
                <a16:creationId xmlns:a16="http://schemas.microsoft.com/office/drawing/2014/main" id="{13572B26-98AF-4AA8-9A0F-435FBBFB6E5E}"/>
              </a:ext>
              <a:ext uri="{C183D7F6-B498-43B3-948B-1728B52AA6E4}">
                <adec:decorative xmlns:adec="http://schemas.microsoft.com/office/drawing/2017/decorative" val="1"/>
              </a:ext>
            </a:extLst>
          </p:cNvPr>
          <p:cNvSpPr/>
          <p:nvPr/>
        </p:nvSpPr>
        <p:spPr bwMode="blackWhite">
          <a:xfrm>
            <a:off x="924240" y="3986723"/>
            <a:ext cx="447360" cy="451413"/>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pic>
        <p:nvPicPr>
          <p:cNvPr id="11" name="Picture 10"/>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0403011" y="1238124"/>
            <a:ext cx="1425185" cy="1425185"/>
          </a:xfrm>
          <a:prstGeom prst="rect">
            <a:avLst/>
          </a:prstGeom>
        </p:spPr>
      </p:pic>
    </p:spTree>
    <p:extLst>
      <p:ext uri="{BB962C8B-B14F-4D97-AF65-F5344CB8AC3E}">
        <p14:creationId xmlns:p14="http://schemas.microsoft.com/office/powerpoint/2010/main" val="1751260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t>Erikson's Concept of Development</a:t>
            </a:r>
          </a:p>
        </p:txBody>
      </p:sp>
      <p:sp>
        <p:nvSpPr>
          <p:cNvPr id="5" name="Content Placeholder 4"/>
          <p:cNvSpPr>
            <a:spLocks noGrp="1"/>
          </p:cNvSpPr>
          <p:nvPr>
            <p:ph idx="1"/>
          </p:nvPr>
        </p:nvSpPr>
        <p:spPr>
          <a:xfrm>
            <a:off x="1106905" y="1604211"/>
            <a:ext cx="10480659" cy="4572752"/>
          </a:xfrm>
        </p:spPr>
        <p:txBody>
          <a:bodyPr anchor="ctr">
            <a:normAutofit/>
          </a:bodyPr>
          <a:lstStyle/>
          <a:p>
            <a:pPr algn="ctr">
              <a:lnSpc>
                <a:spcPct val="150000"/>
              </a:lnSpc>
              <a:buSzPct val="100000"/>
              <a:buNone/>
            </a:pPr>
            <a:r>
              <a:rPr lang="en-US" sz="2400" dirty="0">
                <a:solidFill>
                  <a:srgbClr val="404040"/>
                </a:solidFill>
              </a:rPr>
              <a:t>Erik Erikson's stages’ theory of </a:t>
            </a:r>
            <a:r>
              <a:rPr lang="en-US" sz="2800" dirty="0">
                <a:solidFill>
                  <a:srgbClr val="D24726"/>
                </a:solidFill>
                <a:latin typeface="Segoe UI Semibold" panose="020B0702040204020203" pitchFamily="34" charset="0"/>
                <a:cs typeface="Segoe UI Semibold" panose="020B0702040204020203" pitchFamily="34" charset="0"/>
              </a:rPr>
              <a:t>psychosocial development </a:t>
            </a:r>
            <a:r>
              <a:rPr lang="en-US" sz="2400" dirty="0">
                <a:solidFill>
                  <a:srgbClr val="404040"/>
                </a:solidFill>
              </a:rPr>
              <a:t>contributed to our understanding of personality development throughout the lifespan.</a:t>
            </a:r>
          </a:p>
        </p:txBody>
      </p:sp>
      <p:pic>
        <p:nvPicPr>
          <p:cNvPr id="2" name="Picture 1"/>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16738" y="2374177"/>
            <a:ext cx="1097280" cy="1097280"/>
          </a:xfrm>
          <a:prstGeom prst="rect">
            <a:avLst/>
          </a:prstGeom>
        </p:spPr>
      </p:pic>
    </p:spTree>
    <p:extLst>
      <p:ext uri="{BB962C8B-B14F-4D97-AF65-F5344CB8AC3E}">
        <p14:creationId xmlns:p14="http://schemas.microsoft.com/office/powerpoint/2010/main" val="1641083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p:cNvSpPr txBox="1">
            <a:spLocks/>
          </p:cNvSpPr>
          <p:nvPr/>
        </p:nvSpPr>
        <p:spPr>
          <a:xfrm>
            <a:off x="720803" y="1203158"/>
            <a:ext cx="4607312" cy="2321828"/>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ko-KR" sz="4266" b="1" u="sng" dirty="0">
                <a:solidFill>
                  <a:schemeClr val="bg2">
                    <a:lumMod val="50000"/>
                  </a:schemeClr>
                </a:solidFill>
                <a:uFill>
                  <a:solidFill>
                    <a:srgbClr val="D24726"/>
                  </a:solidFill>
                </a:uFill>
                <a:latin typeface="+mj-lt"/>
                <a:cs typeface="Arial" pitchFamily="34" charset="0"/>
              </a:rPr>
              <a:t>Erik Erikson </a:t>
            </a:r>
            <a:endParaRPr lang="ko-KR" altLang="en-US" sz="4266" b="1" u="sng" dirty="0">
              <a:solidFill>
                <a:schemeClr val="bg2">
                  <a:lumMod val="50000"/>
                </a:schemeClr>
              </a:solidFill>
              <a:uFill>
                <a:solidFill>
                  <a:srgbClr val="D24726"/>
                </a:solidFill>
              </a:uFill>
              <a:latin typeface="+mj-lt"/>
              <a:cs typeface="Arial" pitchFamily="34" charset="0"/>
            </a:endParaRPr>
          </a:p>
        </p:txBody>
      </p:sp>
      <p:sp>
        <p:nvSpPr>
          <p:cNvPr id="7" name="TextBox 6"/>
          <p:cNvSpPr txBox="1"/>
          <p:nvPr/>
        </p:nvSpPr>
        <p:spPr>
          <a:xfrm>
            <a:off x="1127448" y="3524986"/>
            <a:ext cx="4896544" cy="1015663"/>
          </a:xfrm>
          <a:prstGeom prst="rect">
            <a:avLst/>
          </a:prstGeom>
          <a:noFill/>
        </p:spPr>
        <p:txBody>
          <a:bodyPr wrap="square" rtlCol="0">
            <a:spAutoFit/>
          </a:bodyPr>
          <a:lstStyle/>
          <a:p>
            <a:r>
              <a:rPr lang="en-US" altLang="ko-KR" sz="2000" dirty="0">
                <a:solidFill>
                  <a:srgbClr val="404040"/>
                </a:solidFill>
                <a:cs typeface="Arial" pitchFamily="34" charset="0"/>
              </a:rPr>
              <a:t>Erik Erikson was born June 15, 1902. </a:t>
            </a:r>
            <a:br>
              <a:rPr lang="en-US" altLang="ko-KR" sz="2000" dirty="0">
                <a:solidFill>
                  <a:srgbClr val="404040"/>
                </a:solidFill>
                <a:cs typeface="Arial" pitchFamily="34" charset="0"/>
              </a:rPr>
            </a:br>
            <a:r>
              <a:rPr lang="en-US" altLang="ko-KR" sz="2000" dirty="0">
                <a:solidFill>
                  <a:srgbClr val="404040"/>
                </a:solidFill>
                <a:cs typeface="Arial" pitchFamily="34" charset="0"/>
              </a:rPr>
              <a:t>Died May 12, 1994. </a:t>
            </a:r>
            <a:br>
              <a:rPr lang="en-US" altLang="ko-KR" sz="2000" dirty="0">
                <a:solidFill>
                  <a:srgbClr val="404040"/>
                </a:solidFill>
                <a:cs typeface="Arial" pitchFamily="34" charset="0"/>
              </a:rPr>
            </a:br>
            <a:endParaRPr lang="en-US" altLang="ko-KR" sz="2000" dirty="0">
              <a:solidFill>
                <a:srgbClr val="404040"/>
              </a:solidFill>
              <a:cs typeface="Arial" pitchFamily="34" charset="0"/>
            </a:endParaRPr>
          </a:p>
        </p:txBody>
      </p:sp>
      <p:cxnSp>
        <p:nvCxnSpPr>
          <p:cNvPr id="10" name="Straight Connector 9"/>
          <p:cNvCxnSpPr/>
          <p:nvPr/>
        </p:nvCxnSpPr>
        <p:spPr>
          <a:xfrm flipH="1">
            <a:off x="618501" y="1196391"/>
            <a:ext cx="10972800" cy="0"/>
          </a:xfrm>
          <a:prstGeom prst="line">
            <a:avLst/>
          </a:prstGeom>
          <a:ln w="38100">
            <a:solidFill>
              <a:srgbClr val="F5F5F5"/>
            </a:solidFill>
          </a:ln>
        </p:spPr>
        <p:style>
          <a:lnRef idx="1">
            <a:schemeClr val="accent1"/>
          </a:lnRef>
          <a:fillRef idx="0">
            <a:schemeClr val="accent1"/>
          </a:fillRef>
          <a:effectRef idx="0">
            <a:schemeClr val="accent1"/>
          </a:effectRef>
          <a:fontRef idx="minor">
            <a:schemeClr val="tx1"/>
          </a:fontRef>
        </p:style>
      </p:cxnSp>
      <p:pic>
        <p:nvPicPr>
          <p:cNvPr id="11" name="Picture Placeholder 10"/>
          <p:cNvPicPr>
            <a:picLocks noGrp="1" noChangeAspect="1"/>
          </p:cNvPicPr>
          <p:nvPr>
            <p:ph type="pic" idx="13"/>
          </p:nvPr>
        </p:nvPicPr>
        <p:blipFill>
          <a:blip r:embed="rId2">
            <a:extLst>
              <a:ext uri="{BEBA8EAE-BF5A-486C-A8C5-ECC9F3942E4B}">
                <a14:imgProps xmlns:a14="http://schemas.microsoft.com/office/drawing/2010/main">
                  <a14:imgLayer r:embed="rId3">
                    <a14:imgEffect>
                      <a14:colorTemperature colorTemp="11200"/>
                    </a14:imgEffect>
                    <a14:imgEffect>
                      <a14:saturation sat="200000"/>
                    </a14:imgEffect>
                  </a14:imgLayer>
                </a14:imgProps>
              </a:ext>
              <a:ext uri="{28A0092B-C50C-407E-A947-70E740481C1C}">
                <a14:useLocalDpi xmlns:a14="http://schemas.microsoft.com/office/drawing/2010/main" val="0"/>
              </a:ext>
            </a:extLst>
          </a:blip>
          <a:srcRect l="890" r="890"/>
          <a:stretch>
            <a:fillRect/>
          </a:stretch>
        </p:blipFill>
        <p:spPr>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3477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70000" lnSpcReduction="20000"/>
          </a:bodyPr>
          <a:lstStyle/>
          <a:p>
            <a:pPr marL="342900" indent="-342900">
              <a:buClr>
                <a:srgbClr val="D24726"/>
              </a:buClr>
              <a:buSzPct val="100000"/>
              <a:buFont typeface="Wingdings 2" panose="05020102010507070707" pitchFamily="18" charset="2"/>
              <a:buChar char=""/>
            </a:pPr>
            <a:r>
              <a:rPr lang="en-US" sz="2400" dirty="0">
                <a:solidFill>
                  <a:srgbClr val="404040"/>
                </a:solidFill>
              </a:rPr>
              <a:t>Erickson defines </a:t>
            </a:r>
            <a:r>
              <a:rPr lang="en-US" sz="2800" dirty="0">
                <a:solidFill>
                  <a:srgbClr val="D24726"/>
                </a:solidFill>
                <a:latin typeface="Segoe UI Semibold" panose="020B0702040204020203" pitchFamily="34" charset="0"/>
                <a:cs typeface="Segoe UI Semibold" panose="020B0702040204020203" pitchFamily="34" charset="0"/>
              </a:rPr>
              <a:t>eight</a:t>
            </a:r>
            <a:r>
              <a:rPr lang="en-US" sz="2400" dirty="0">
                <a:solidFill>
                  <a:srgbClr val="404040"/>
                </a:solidFill>
              </a:rPr>
              <a:t> developmental phases.</a:t>
            </a:r>
          </a:p>
          <a:p>
            <a:pPr marL="342900" indent="-342900">
              <a:buClr>
                <a:srgbClr val="D24726"/>
              </a:buClr>
              <a:buSzPct val="100000"/>
              <a:buFont typeface="Wingdings 2" panose="05020102010507070707" pitchFamily="18" charset="2"/>
              <a:buChar char=""/>
            </a:pPr>
            <a:r>
              <a:rPr lang="en-US" sz="2400" dirty="0">
                <a:solidFill>
                  <a:srgbClr val="404040"/>
                </a:solidFill>
              </a:rPr>
              <a:t>Five of these phases attribute to childhood and three attribute to adulthood.</a:t>
            </a:r>
          </a:p>
          <a:p>
            <a:pPr marL="342900" indent="-342900">
              <a:buClr>
                <a:srgbClr val="D24726"/>
              </a:buClr>
              <a:buSzPct val="100000"/>
              <a:buFont typeface="Wingdings 2" panose="05020102010507070707" pitchFamily="18" charset="2"/>
              <a:buChar char=""/>
            </a:pPr>
            <a:r>
              <a:rPr lang="en-US" sz="2400" dirty="0">
                <a:solidFill>
                  <a:srgbClr val="404040"/>
                </a:solidFill>
              </a:rPr>
              <a:t>Uses the word </a:t>
            </a:r>
            <a:r>
              <a:rPr lang="en-US" sz="2800" dirty="0">
                <a:solidFill>
                  <a:srgbClr val="D24726"/>
                </a:solidFill>
                <a:latin typeface="Segoe UI Semibold" panose="020B0702040204020203" pitchFamily="34" charset="0"/>
                <a:cs typeface="Segoe UI Semibold" panose="020B0702040204020203" pitchFamily="34" charset="0"/>
              </a:rPr>
              <a:t>sense</a:t>
            </a:r>
            <a:r>
              <a:rPr lang="en-US" sz="2400" dirty="0">
                <a:solidFill>
                  <a:srgbClr val="404040"/>
                </a:solidFill>
              </a:rPr>
              <a:t> to describe the affective states being dealt with in the progression (sequences) of development in each phase. </a:t>
            </a:r>
          </a:p>
          <a:p>
            <a:pPr marL="342900" indent="-342900">
              <a:buClr>
                <a:srgbClr val="D24726"/>
              </a:buClr>
              <a:buSzPct val="100000"/>
              <a:buFont typeface="Wingdings 2" panose="05020102010507070707" pitchFamily="18" charset="2"/>
              <a:buChar char=""/>
            </a:pPr>
            <a:endParaRPr lang="en-US" sz="2400" dirty="0">
              <a:solidFill>
                <a:srgbClr val="404040"/>
              </a:solidFill>
            </a:endParaRPr>
          </a:p>
        </p:txBody>
      </p:sp>
      <p:sp>
        <p:nvSpPr>
          <p:cNvPr id="3" name="Title 2"/>
          <p:cNvSpPr>
            <a:spLocks noGrp="1"/>
          </p:cNvSpPr>
          <p:nvPr>
            <p:ph type="title"/>
          </p:nvPr>
        </p:nvSpPr>
        <p:spPr/>
        <p:txBody>
          <a:bodyPr>
            <a:normAutofit/>
          </a:bodyPr>
          <a:lstStyle/>
          <a:p>
            <a:r>
              <a:rPr lang="en-US" sz="4000" dirty="0"/>
              <a:t>Erikson's Concept of Development</a:t>
            </a:r>
          </a:p>
        </p:txBody>
      </p:sp>
      <p:pic>
        <p:nvPicPr>
          <p:cNvPr id="6" name="Content Placeholder 5"/>
          <p:cNvPicPr>
            <a:picLocks noGrp="1" noChangeAspect="1"/>
          </p:cNvPicPr>
          <p:nvPr>
            <p:ph idx="13"/>
          </p:nvPr>
        </p:nvPicPr>
        <p:blipFill>
          <a:blip r:embed="rId2">
            <a:extLst>
              <a:ext uri="{BEBA8EAE-BF5A-486C-A8C5-ECC9F3942E4B}">
                <a14:imgProps xmlns:a14="http://schemas.microsoft.com/office/drawing/2010/main">
                  <a14:imgLayer r:embed="rId3">
                    <a14:imgEffect>
                      <a14:colorTemperature colorTemp="72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824538" y="1555750"/>
            <a:ext cx="4286250" cy="4572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65966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t>Development for Erickson is Tridimensional:</a:t>
            </a:r>
          </a:p>
        </p:txBody>
      </p:sp>
      <p:sp>
        <p:nvSpPr>
          <p:cNvPr id="5" name="Content Placeholder 4"/>
          <p:cNvSpPr>
            <a:spLocks noGrp="1"/>
          </p:cNvSpPr>
          <p:nvPr>
            <p:ph idx="1"/>
          </p:nvPr>
        </p:nvSpPr>
        <p:spPr/>
        <p:txBody>
          <a:bodyPr>
            <a:normAutofit/>
          </a:bodyPr>
          <a:lstStyle/>
          <a:p>
            <a:pPr marL="571500" lvl="0" indent="-571500" fontAlgn="base">
              <a:lnSpc>
                <a:spcPct val="100000"/>
              </a:lnSpc>
              <a:spcBef>
                <a:spcPct val="20000"/>
              </a:spcBef>
              <a:spcAft>
                <a:spcPct val="0"/>
              </a:spcAft>
              <a:buClr>
                <a:srgbClr val="D24726"/>
              </a:buClr>
              <a:buSzPct val="140000"/>
              <a:buFont typeface="+mj-lt"/>
              <a:buAutoNum type="arabicPeriod"/>
            </a:pPr>
            <a:r>
              <a:rPr lang="en-US" altLang="en-US" sz="2800" kern="0" dirty="0">
                <a:solidFill>
                  <a:srgbClr val="404040"/>
                </a:solidFill>
              </a:rPr>
              <a:t>There is the progression from one phase to another.</a:t>
            </a:r>
          </a:p>
          <a:p>
            <a:pPr marL="571500" lvl="0" indent="-571500" fontAlgn="base">
              <a:lnSpc>
                <a:spcPct val="100000"/>
              </a:lnSpc>
              <a:spcBef>
                <a:spcPct val="20000"/>
              </a:spcBef>
              <a:spcAft>
                <a:spcPct val="0"/>
              </a:spcAft>
              <a:buClr>
                <a:srgbClr val="D24726"/>
              </a:buClr>
              <a:buSzPct val="140000"/>
              <a:buFont typeface="+mj-lt"/>
              <a:buAutoNum type="arabicPeriod"/>
            </a:pPr>
            <a:r>
              <a:rPr lang="en-US" altLang="en-US" sz="2800" kern="0" dirty="0">
                <a:solidFill>
                  <a:srgbClr val="404040"/>
                </a:solidFill>
              </a:rPr>
              <a:t>Development involves a set of mutual </a:t>
            </a:r>
            <a:r>
              <a:rPr lang="en-US" altLang="en-US" sz="1600" kern="0" dirty="0">
                <a:solidFill>
                  <a:srgbClr val="404040"/>
                </a:solidFill>
              </a:rPr>
              <a:t>(shared) </a:t>
            </a:r>
            <a:r>
              <a:rPr lang="en-US" altLang="en-US" sz="2800" kern="0" dirty="0">
                <a:solidFill>
                  <a:srgbClr val="404040"/>
                </a:solidFill>
              </a:rPr>
              <a:t>feelings:</a:t>
            </a:r>
            <a:r>
              <a:rPr lang="en-US" altLang="en-US" sz="2100" kern="0" dirty="0">
                <a:solidFill>
                  <a:srgbClr val="404040"/>
                </a:solidFill>
              </a:rPr>
              <a:t> </a:t>
            </a:r>
          </a:p>
          <a:p>
            <a:pPr marL="1492250" lvl="3" indent="-728663" fontAlgn="base">
              <a:lnSpc>
                <a:spcPct val="100000"/>
              </a:lnSpc>
              <a:spcBef>
                <a:spcPct val="20000"/>
              </a:spcBef>
              <a:spcAft>
                <a:spcPct val="0"/>
              </a:spcAft>
              <a:buClr>
                <a:srgbClr val="D24726"/>
              </a:buClr>
              <a:buSzPct val="70000"/>
              <a:buFont typeface="Wingdings 3" panose="05040102010807070707" pitchFamily="18" charset="2"/>
              <a:buChar char=""/>
            </a:pPr>
            <a:r>
              <a:rPr lang="en-US" altLang="en-US" kern="0" dirty="0">
                <a:solidFill>
                  <a:srgbClr val="404040"/>
                </a:solidFill>
              </a:rPr>
              <a:t>Between infant and </a:t>
            </a:r>
            <a:r>
              <a:rPr lang="en-US" altLang="en-US" kern="0" dirty="0">
                <a:solidFill>
                  <a:srgbClr val="D24726"/>
                </a:solidFill>
              </a:rPr>
              <a:t>one-child-caring person (mother).</a:t>
            </a:r>
          </a:p>
          <a:p>
            <a:pPr marL="1492250" lvl="3" indent="-728663" fontAlgn="base">
              <a:lnSpc>
                <a:spcPct val="100000"/>
              </a:lnSpc>
              <a:spcBef>
                <a:spcPct val="20000"/>
              </a:spcBef>
              <a:spcAft>
                <a:spcPct val="0"/>
              </a:spcAft>
              <a:buClr>
                <a:srgbClr val="D24726"/>
              </a:buClr>
              <a:buSzPct val="70000"/>
              <a:buFont typeface="Wingdings 3" panose="05040102010807070707" pitchFamily="18" charset="2"/>
              <a:buChar char=""/>
            </a:pPr>
            <a:r>
              <a:rPr lang="en-US" altLang="en-US" kern="0" dirty="0">
                <a:solidFill>
                  <a:srgbClr val="404040"/>
                </a:solidFill>
              </a:rPr>
              <a:t>Between child and child </a:t>
            </a:r>
            <a:r>
              <a:rPr lang="en-US" altLang="en-US" kern="0" dirty="0">
                <a:solidFill>
                  <a:srgbClr val="D24726"/>
                </a:solidFill>
              </a:rPr>
              <a:t>caring persons </a:t>
            </a:r>
            <a:r>
              <a:rPr lang="en-US" altLang="en-US" kern="0" dirty="0">
                <a:solidFill>
                  <a:srgbClr val="000000"/>
                </a:solidFill>
              </a:rPr>
              <a:t>later.</a:t>
            </a:r>
          </a:p>
          <a:p>
            <a:pPr marL="1492250" lvl="3" indent="-728663" fontAlgn="base">
              <a:lnSpc>
                <a:spcPct val="100000"/>
              </a:lnSpc>
              <a:spcBef>
                <a:spcPct val="20000"/>
              </a:spcBef>
              <a:spcAft>
                <a:spcPct val="0"/>
              </a:spcAft>
              <a:buClr>
                <a:srgbClr val="D24726"/>
              </a:buClr>
              <a:buSzPct val="70000"/>
              <a:buFont typeface="Wingdings 3" panose="05040102010807070707" pitchFamily="18" charset="2"/>
              <a:buChar char=""/>
            </a:pPr>
            <a:r>
              <a:rPr lang="en-US" altLang="en-US" kern="0" dirty="0">
                <a:solidFill>
                  <a:srgbClr val="404040"/>
                </a:solidFill>
              </a:rPr>
              <a:t>Between child and </a:t>
            </a:r>
            <a:r>
              <a:rPr lang="en-US" altLang="en-US" kern="0" dirty="0">
                <a:solidFill>
                  <a:srgbClr val="D24726"/>
                </a:solidFill>
              </a:rPr>
              <a:t>peers</a:t>
            </a:r>
            <a:r>
              <a:rPr lang="en-US" altLang="en-US" kern="0" dirty="0">
                <a:solidFill>
                  <a:srgbClr val="000000"/>
                </a:solidFill>
              </a:rPr>
              <a:t>.</a:t>
            </a:r>
          </a:p>
          <a:p>
            <a:pPr marL="1492250" lvl="3" indent="-728663" fontAlgn="base">
              <a:lnSpc>
                <a:spcPct val="100000"/>
              </a:lnSpc>
              <a:spcBef>
                <a:spcPct val="20000"/>
              </a:spcBef>
              <a:spcAft>
                <a:spcPct val="0"/>
              </a:spcAft>
              <a:buClr>
                <a:srgbClr val="D24726"/>
              </a:buClr>
              <a:buSzPct val="70000"/>
              <a:buFont typeface="Wingdings 3" panose="05040102010807070707" pitchFamily="18" charset="2"/>
              <a:buChar char=""/>
            </a:pPr>
            <a:r>
              <a:rPr lang="en-US" altLang="en-US" kern="0" dirty="0">
                <a:solidFill>
                  <a:srgbClr val="404040"/>
                </a:solidFill>
              </a:rPr>
              <a:t>Then between </a:t>
            </a:r>
            <a:r>
              <a:rPr lang="en-US" altLang="en-US" kern="0" dirty="0">
                <a:solidFill>
                  <a:srgbClr val="D24726"/>
                </a:solidFill>
              </a:rPr>
              <a:t>adolescent and his peers</a:t>
            </a:r>
            <a:r>
              <a:rPr lang="en-US" altLang="en-US" kern="0" dirty="0">
                <a:solidFill>
                  <a:srgbClr val="000000"/>
                </a:solidFill>
              </a:rPr>
              <a:t>.</a:t>
            </a:r>
          </a:p>
          <a:p>
            <a:pPr marL="1492250" lvl="3" indent="-728663" fontAlgn="base">
              <a:lnSpc>
                <a:spcPct val="100000"/>
              </a:lnSpc>
              <a:spcBef>
                <a:spcPct val="20000"/>
              </a:spcBef>
              <a:spcAft>
                <a:spcPct val="0"/>
              </a:spcAft>
              <a:buClr>
                <a:srgbClr val="D24726"/>
              </a:buClr>
              <a:buSzPct val="70000"/>
              <a:buFont typeface="Wingdings 3" panose="05040102010807070707" pitchFamily="18" charset="2"/>
              <a:buChar char=""/>
            </a:pPr>
            <a:r>
              <a:rPr lang="en-US" altLang="en-US" kern="0" dirty="0">
                <a:solidFill>
                  <a:srgbClr val="404040"/>
                </a:solidFill>
              </a:rPr>
              <a:t>In early adulthood, mutuality is between </a:t>
            </a:r>
            <a:r>
              <a:rPr lang="en-US" altLang="en-US" kern="0" dirty="0">
                <a:solidFill>
                  <a:srgbClr val="D24726"/>
                </a:solidFill>
              </a:rPr>
              <a:t>intimate friends and parents</a:t>
            </a:r>
            <a:r>
              <a:rPr lang="en-US" altLang="en-US" kern="0" dirty="0">
                <a:solidFill>
                  <a:srgbClr val="FF3300"/>
                </a:solidFill>
              </a:rPr>
              <a:t>. </a:t>
            </a:r>
          </a:p>
          <a:p>
            <a:pPr marL="1492250" lvl="3" indent="-728663" fontAlgn="base">
              <a:lnSpc>
                <a:spcPct val="100000"/>
              </a:lnSpc>
              <a:spcBef>
                <a:spcPct val="20000"/>
              </a:spcBef>
              <a:spcAft>
                <a:spcPct val="0"/>
              </a:spcAft>
              <a:buClr>
                <a:srgbClr val="D24726"/>
              </a:buClr>
              <a:buSzPct val="70000"/>
              <a:buFont typeface="Wingdings 3" panose="05040102010807070707" pitchFamily="18" charset="2"/>
              <a:buChar char=""/>
            </a:pPr>
            <a:r>
              <a:rPr lang="en-US" altLang="en-US" kern="0" dirty="0">
                <a:solidFill>
                  <a:srgbClr val="404040"/>
                </a:solidFill>
              </a:rPr>
              <a:t>Later between </a:t>
            </a:r>
            <a:r>
              <a:rPr lang="en-US" altLang="en-US" kern="0" dirty="0">
                <a:solidFill>
                  <a:srgbClr val="D24726"/>
                </a:solidFill>
              </a:rPr>
              <a:t>generations</a:t>
            </a:r>
            <a:r>
              <a:rPr lang="en-US" altLang="en-US" kern="0" dirty="0">
                <a:solidFill>
                  <a:srgbClr val="000000"/>
                </a:solidFill>
              </a:rPr>
              <a:t>.</a:t>
            </a:r>
            <a:endParaRPr lang="ar-JO" altLang="en-US" kern="0" dirty="0">
              <a:solidFill>
                <a:srgbClr val="000000"/>
              </a:solidFill>
            </a:endParaRPr>
          </a:p>
          <a:p>
            <a:pPr marL="571500" indent="-571500" fontAlgn="base">
              <a:lnSpc>
                <a:spcPct val="100000"/>
              </a:lnSpc>
              <a:spcBef>
                <a:spcPct val="20000"/>
              </a:spcBef>
              <a:spcAft>
                <a:spcPct val="0"/>
              </a:spcAft>
              <a:buClr>
                <a:srgbClr val="D24726"/>
              </a:buClr>
              <a:buSzPct val="140000"/>
              <a:buFont typeface="+mj-lt"/>
              <a:buAutoNum type="arabicPeriod"/>
            </a:pPr>
            <a:r>
              <a:rPr lang="en-US" altLang="en-US" sz="2600" kern="0" dirty="0">
                <a:solidFill>
                  <a:srgbClr val="000000"/>
                </a:solidFill>
              </a:rPr>
              <a:t> </a:t>
            </a:r>
            <a:r>
              <a:rPr lang="en-US" altLang="en-US" sz="2800" kern="0" dirty="0">
                <a:solidFill>
                  <a:srgbClr val="404040"/>
                </a:solidFill>
              </a:rPr>
              <a:t>Development is relative</a:t>
            </a:r>
            <a:r>
              <a:rPr lang="en-US" altLang="en-US" sz="2800" kern="0" dirty="0">
                <a:solidFill>
                  <a:srgbClr val="000000"/>
                </a:solidFill>
              </a:rPr>
              <a:t>.</a:t>
            </a:r>
          </a:p>
          <a:p>
            <a:pPr marL="342900" indent="-342900">
              <a:buSzPct val="100000"/>
              <a:buFont typeface="Arial" panose="020B0604020202020204" pitchFamily="34" charset="0"/>
              <a:buChar char="•"/>
            </a:pPr>
            <a:endParaRPr lang="en-US" sz="2400" dirty="0"/>
          </a:p>
        </p:txBody>
      </p:sp>
    </p:spTree>
    <p:extLst>
      <p:ext uri="{BB962C8B-B14F-4D97-AF65-F5344CB8AC3E}">
        <p14:creationId xmlns:p14="http://schemas.microsoft.com/office/powerpoint/2010/main" val="4193848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t>Stage  :  A sense of basic trust  V.S mistrust </a:t>
            </a:r>
            <a:r>
              <a:rPr lang="en-US" sz="2400" dirty="0"/>
              <a:t>(birth – 1 year)</a:t>
            </a:r>
            <a:r>
              <a:rPr lang="en-US" sz="3600" dirty="0"/>
              <a:t> </a:t>
            </a:r>
          </a:p>
        </p:txBody>
      </p:sp>
      <p:sp>
        <p:nvSpPr>
          <p:cNvPr id="4" name="Content Placeholder 3"/>
          <p:cNvSpPr>
            <a:spLocks noGrp="1"/>
          </p:cNvSpPr>
          <p:nvPr>
            <p:ph idx="1"/>
          </p:nvPr>
        </p:nvSpPr>
        <p:spPr>
          <a:xfrm>
            <a:off x="604434" y="1604211"/>
            <a:ext cx="7697356" cy="4572752"/>
          </a:xfrm>
        </p:spPr>
        <p:txBody>
          <a:bodyPr/>
          <a:lstStyle/>
          <a:p>
            <a:pPr marL="342900" indent="-342900">
              <a:buClr>
                <a:srgbClr val="D24726"/>
              </a:buClr>
              <a:buSzPct val="100000"/>
              <a:buFont typeface="Wingdings 2" panose="05020102010507070707" pitchFamily="18" charset="2"/>
              <a:buChar char=""/>
            </a:pPr>
            <a:r>
              <a:rPr lang="en-US" altLang="en-US" sz="2400" dirty="0">
                <a:solidFill>
                  <a:srgbClr val="404040"/>
                </a:solidFill>
              </a:rPr>
              <a:t>Affective development, that is, emotional development, is started in the very early experience of this phase.</a:t>
            </a:r>
          </a:p>
          <a:p>
            <a:pPr marL="342900" indent="-342900">
              <a:buClr>
                <a:srgbClr val="D24726"/>
              </a:buClr>
              <a:buSzPct val="100000"/>
              <a:buFont typeface="Wingdings 2" panose="05020102010507070707" pitchFamily="18" charset="2"/>
              <a:buChar char=""/>
            </a:pPr>
            <a:r>
              <a:rPr lang="en-US" altLang="en-US" sz="2400" dirty="0">
                <a:solidFill>
                  <a:srgbClr val="404040"/>
                </a:solidFill>
              </a:rPr>
              <a:t>Infants are born with their basic abilities needed for extra-uterine survival, such </a:t>
            </a:r>
            <a:r>
              <a:rPr lang="en-US" altLang="en-US" sz="2800" dirty="0">
                <a:solidFill>
                  <a:srgbClr val="D24726"/>
                </a:solidFill>
                <a:latin typeface="Segoe UI Semibold" panose="020B0702040204020203" pitchFamily="34" charset="0"/>
                <a:cs typeface="Segoe UI Semibold" panose="020B0702040204020203" pitchFamily="34" charset="0"/>
              </a:rPr>
              <a:t>as respiration, thermoregulation and digestion</a:t>
            </a:r>
            <a:r>
              <a:rPr lang="en-US" altLang="en-US" sz="2400" dirty="0"/>
              <a:t>. </a:t>
            </a:r>
          </a:p>
          <a:p>
            <a:pPr marL="342900" indent="-342900">
              <a:buClr>
                <a:srgbClr val="D24726"/>
              </a:buClr>
              <a:buSzPct val="100000"/>
              <a:buFont typeface="Wingdings 2" panose="05020102010507070707" pitchFamily="18" charset="2"/>
              <a:buChar char=""/>
            </a:pPr>
            <a:r>
              <a:rPr lang="en-US" altLang="en-US" sz="2400" dirty="0">
                <a:solidFill>
                  <a:srgbClr val="404040"/>
                </a:solidFill>
              </a:rPr>
              <a:t>They cannot survive without </a:t>
            </a:r>
            <a:r>
              <a:rPr lang="en-US" altLang="en-US" sz="2800" dirty="0">
                <a:solidFill>
                  <a:srgbClr val="D24726"/>
                </a:solidFill>
                <a:latin typeface="Segoe UI Semibold" panose="020B0702040204020203" pitchFamily="34" charset="0"/>
                <a:cs typeface="Segoe UI Semibold" panose="020B0702040204020203" pitchFamily="34" charset="0"/>
              </a:rPr>
              <a:t>the care given </a:t>
            </a:r>
            <a:r>
              <a:rPr lang="en-US" altLang="en-US" sz="2400" dirty="0">
                <a:solidFill>
                  <a:srgbClr val="404040"/>
                </a:solidFill>
              </a:rPr>
              <a:t>to provide for those </a:t>
            </a:r>
            <a:r>
              <a:rPr lang="en-US" altLang="en-US" sz="2800" dirty="0">
                <a:solidFill>
                  <a:srgbClr val="D24726"/>
                </a:solidFill>
                <a:latin typeface="Segoe UI Semibold" panose="020B0702040204020203" pitchFamily="34" charset="0"/>
                <a:cs typeface="Segoe UI Semibold" panose="020B0702040204020203" pitchFamily="34" charset="0"/>
              </a:rPr>
              <a:t>essential needs</a:t>
            </a:r>
            <a:r>
              <a:rPr lang="en-US" altLang="en-US" sz="2400" dirty="0"/>
              <a:t> such as </a:t>
            </a:r>
            <a:r>
              <a:rPr lang="en-US" altLang="en-US" sz="2800" dirty="0">
                <a:solidFill>
                  <a:srgbClr val="D24726"/>
                </a:solidFill>
                <a:latin typeface="Segoe UI Semibold" panose="020B0702040204020203" pitchFamily="34" charset="0"/>
                <a:cs typeface="Segoe UI Semibold" panose="020B0702040204020203" pitchFamily="34" charset="0"/>
              </a:rPr>
              <a:t>food, warmth and, security.</a:t>
            </a:r>
          </a:p>
          <a:p>
            <a:endParaRPr lang="en-US" dirty="0"/>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688475" y="410357"/>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1</a:t>
            </a:r>
          </a:p>
        </p:txBody>
      </p:sp>
      <p:pic>
        <p:nvPicPr>
          <p:cNvPr id="9" name="Picture 8"/>
          <p:cNvPicPr>
            <a:picLocks noChangeAspect="1"/>
          </p:cNvPicPr>
          <p:nvPr/>
        </p:nvPicPr>
        <p:blipFill>
          <a:blip r:embed="rId2">
            <a:duotone>
              <a:schemeClr val="accent3">
                <a:shade val="45000"/>
                <a:satMod val="135000"/>
              </a:schemeClr>
              <a:prstClr val="white"/>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8038919" y="1913689"/>
            <a:ext cx="3548647" cy="3548647"/>
          </a:xfrm>
          <a:prstGeom prst="rect">
            <a:avLst/>
          </a:prstGeom>
        </p:spPr>
      </p:pic>
      <p:sp>
        <p:nvSpPr>
          <p:cNvPr id="10" name="Rectangle 9">
            <a:extLst>
              <a:ext uri="{FF2B5EF4-FFF2-40B4-BE49-F238E27FC236}">
                <a16:creationId xmlns:a16="http://schemas.microsoft.com/office/drawing/2014/main" id="{DA5D818A-6772-4140-9BA1-3E5C4AC85004}"/>
              </a:ext>
              <a:ext uri="{C183D7F6-B498-43B3-948B-1728B52AA6E4}">
                <adec:decorative xmlns:adec="http://schemas.microsoft.com/office/drawing/2017/decorative" val="1"/>
              </a:ext>
            </a:extLst>
          </p:cNvPr>
          <p:cNvSpPr/>
          <p:nvPr/>
        </p:nvSpPr>
        <p:spPr>
          <a:xfrm rot="16200000">
            <a:off x="9417374" y="3229738"/>
            <a:ext cx="4269288" cy="821550"/>
          </a:xfrm>
          <a:prstGeom prst="rect">
            <a:avLst/>
          </a:prstGeom>
          <a:gradFill flip="none" rotWithShape="1">
            <a:gsLst>
              <a:gs pos="0">
                <a:srgbClr val="F5F5F5">
                  <a:alpha val="0"/>
                </a:srgbClr>
              </a:gs>
              <a:gs pos="100000">
                <a:srgbClr val="F5F5F5"/>
              </a:gs>
              <a:gs pos="58000">
                <a:srgbClr val="F5F5F5">
                  <a:alpha val="86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a:p>
        </p:txBody>
      </p:sp>
    </p:spTree>
    <p:extLst>
      <p:ext uri="{BB962C8B-B14F-4D97-AF65-F5344CB8AC3E}">
        <p14:creationId xmlns:p14="http://schemas.microsoft.com/office/powerpoint/2010/main" val="3934279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4" grpId="1"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t>Stage  :  A sense of basic trust  V.S mistrust </a:t>
            </a:r>
            <a:r>
              <a:rPr lang="en-US" sz="2400" dirty="0"/>
              <a:t>(birth – 1 year)</a:t>
            </a:r>
            <a:r>
              <a:rPr lang="en-US" sz="3600" dirty="0"/>
              <a:t> </a:t>
            </a:r>
          </a:p>
        </p:txBody>
      </p:sp>
      <p:sp>
        <p:nvSpPr>
          <p:cNvPr id="4" name="Content Placeholder 3"/>
          <p:cNvSpPr>
            <a:spLocks noGrp="1"/>
          </p:cNvSpPr>
          <p:nvPr>
            <p:ph idx="1"/>
          </p:nvPr>
        </p:nvSpPr>
        <p:spPr/>
        <p:txBody>
          <a:bodyPr/>
          <a:lstStyle/>
          <a:p>
            <a:pPr marL="342900" indent="-342900">
              <a:buClr>
                <a:srgbClr val="D24726"/>
              </a:buClr>
              <a:buSzPct val="100000"/>
              <a:buFont typeface="Wingdings 2" panose="05020102010507070707" pitchFamily="18" charset="2"/>
              <a:buChar char=""/>
            </a:pPr>
            <a:r>
              <a:rPr lang="en-US" altLang="en-US" sz="2400" dirty="0">
                <a:solidFill>
                  <a:srgbClr val="404040"/>
                </a:solidFill>
              </a:rPr>
              <a:t>For the newborn, a sense of </a:t>
            </a:r>
            <a:r>
              <a:rPr lang="en-US" altLang="en-US" sz="2800" dirty="0">
                <a:solidFill>
                  <a:srgbClr val="D24726"/>
                </a:solidFill>
                <a:latin typeface="Segoe UI Semibold" panose="020B0702040204020203" pitchFamily="34" charset="0"/>
                <a:cs typeface="Segoe UI Semibold" panose="020B0702040204020203" pitchFamily="34" charset="0"/>
              </a:rPr>
              <a:t>trust</a:t>
            </a:r>
            <a:r>
              <a:rPr lang="en-US" altLang="en-US" sz="2400" dirty="0"/>
              <a:t> </a:t>
            </a:r>
            <a:r>
              <a:rPr lang="en-US" altLang="en-US" sz="2400" dirty="0">
                <a:solidFill>
                  <a:srgbClr val="404040"/>
                </a:solidFill>
              </a:rPr>
              <a:t>requires a feeling of physical comfort and a minimum amount of uncertainty </a:t>
            </a:r>
            <a:r>
              <a:rPr lang="en-US" altLang="en-US" sz="1800" dirty="0">
                <a:solidFill>
                  <a:srgbClr val="404040"/>
                </a:solidFill>
              </a:rPr>
              <a:t>(insecurity) </a:t>
            </a:r>
            <a:r>
              <a:rPr lang="en-US" altLang="en-US" sz="2400" dirty="0">
                <a:solidFill>
                  <a:srgbClr val="404040"/>
                </a:solidFill>
              </a:rPr>
              <a:t>and discomfort. </a:t>
            </a:r>
          </a:p>
          <a:p>
            <a:pPr marL="342900" indent="-342900">
              <a:buClr>
                <a:srgbClr val="D24726"/>
              </a:buClr>
              <a:buSzPct val="100000"/>
              <a:buFont typeface="Wingdings 2" panose="05020102010507070707" pitchFamily="18" charset="2"/>
              <a:buChar char=""/>
            </a:pPr>
            <a:r>
              <a:rPr lang="en-US" altLang="en-US" sz="2400" dirty="0">
                <a:solidFill>
                  <a:srgbClr val="404040"/>
                </a:solidFill>
              </a:rPr>
              <a:t>In contrast, a sense of </a:t>
            </a:r>
            <a:r>
              <a:rPr lang="en-US" altLang="en-US" sz="2800" dirty="0">
                <a:solidFill>
                  <a:srgbClr val="D24726"/>
                </a:solidFill>
                <a:latin typeface="Segoe UI Semibold" panose="020B0702040204020203" pitchFamily="34" charset="0"/>
                <a:cs typeface="Segoe UI Semibold" panose="020B0702040204020203" pitchFamily="34" charset="0"/>
              </a:rPr>
              <a:t>mistrust</a:t>
            </a:r>
            <a:r>
              <a:rPr lang="en-US" altLang="en-US" sz="2400" dirty="0"/>
              <a:t> </a:t>
            </a:r>
            <a:r>
              <a:rPr lang="en-US" altLang="en-US" sz="2400" dirty="0">
                <a:solidFill>
                  <a:srgbClr val="404040"/>
                </a:solidFill>
              </a:rPr>
              <a:t>arises</a:t>
            </a:r>
            <a:r>
              <a:rPr lang="en-US" altLang="en-US" sz="2400" dirty="0"/>
              <a:t> </a:t>
            </a:r>
            <a:r>
              <a:rPr lang="en-US" altLang="en-US" sz="2800" dirty="0">
                <a:solidFill>
                  <a:srgbClr val="D24726"/>
                </a:solidFill>
                <a:latin typeface="Segoe UI Semibold" panose="020B0702040204020203" pitchFamily="34" charset="0"/>
                <a:cs typeface="Segoe UI Semibold" panose="020B0702040204020203" pitchFamily="34" charset="0"/>
              </a:rPr>
              <a:t>with</a:t>
            </a:r>
            <a:r>
              <a:rPr lang="en-US" altLang="en-US" sz="2400" dirty="0"/>
              <a:t> </a:t>
            </a:r>
            <a:r>
              <a:rPr lang="en-US" altLang="en-US" sz="2400" dirty="0">
                <a:solidFill>
                  <a:srgbClr val="404040"/>
                </a:solidFill>
              </a:rPr>
              <a:t>unsatisfactory physical experiences and the association of frustration with them.</a:t>
            </a:r>
          </a:p>
          <a:p>
            <a:pPr marL="457200" indent="-457200">
              <a:buClr>
                <a:srgbClr val="D24726"/>
              </a:buClr>
              <a:buSzPct val="100000"/>
              <a:buFont typeface="Wingdings 2" panose="05020102010507070707" pitchFamily="18" charset="2"/>
              <a:buChar char=""/>
            </a:pPr>
            <a:r>
              <a:rPr lang="en-US" altLang="en-US" sz="2800" dirty="0">
                <a:solidFill>
                  <a:srgbClr val="D24726"/>
                </a:solidFill>
                <a:latin typeface="Segoe UI Semibold" panose="020B0702040204020203" pitchFamily="34" charset="0"/>
                <a:cs typeface="Segoe UI Semibold" panose="020B0702040204020203" pitchFamily="34" charset="0"/>
              </a:rPr>
              <a:t>Frustration </a:t>
            </a:r>
            <a:r>
              <a:rPr lang="en-US" altLang="en-US" sz="2400" dirty="0"/>
              <a:t>&gt; </a:t>
            </a:r>
            <a:r>
              <a:rPr lang="en-US" altLang="en-US" sz="2400" dirty="0">
                <a:solidFill>
                  <a:srgbClr val="404040"/>
                </a:solidFill>
              </a:rPr>
              <a:t>feeling of fear and lack of hope for finding the desired change.</a:t>
            </a:r>
          </a:p>
          <a:p>
            <a:pPr marL="457200" indent="-457200">
              <a:buClr>
                <a:srgbClr val="D24726"/>
              </a:buClr>
              <a:buSzPct val="100000"/>
              <a:buFont typeface="Wingdings 2" panose="05020102010507070707" pitchFamily="18" charset="2"/>
              <a:buChar char=""/>
            </a:pPr>
            <a:r>
              <a:rPr lang="en-US" altLang="en-US" sz="2800" dirty="0">
                <a:solidFill>
                  <a:srgbClr val="D24726"/>
                </a:solidFill>
                <a:latin typeface="Segoe UI Semibold" panose="020B0702040204020203" pitchFamily="34" charset="0"/>
                <a:cs typeface="Segoe UI Semibold" panose="020B0702040204020203" pitchFamily="34" charset="0"/>
              </a:rPr>
              <a:t>Trust</a:t>
            </a:r>
            <a:r>
              <a:rPr lang="en-US" altLang="en-US" sz="2400" dirty="0"/>
              <a:t> &gt; </a:t>
            </a:r>
            <a:r>
              <a:rPr lang="en-US" altLang="en-US" sz="2400" dirty="0">
                <a:solidFill>
                  <a:srgbClr val="404040"/>
                </a:solidFill>
              </a:rPr>
              <a:t>helps the infant to feel confident in himself as well as in others.</a:t>
            </a:r>
          </a:p>
          <a:p>
            <a:pPr>
              <a:buNone/>
            </a:pPr>
            <a:endParaRPr lang="en-US" dirty="0"/>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688475" y="410357"/>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1</a:t>
            </a:r>
          </a:p>
        </p:txBody>
      </p:sp>
    </p:spTree>
    <p:extLst>
      <p:ext uri="{BB962C8B-B14F-4D97-AF65-F5344CB8AC3E}">
        <p14:creationId xmlns:p14="http://schemas.microsoft.com/office/powerpoint/2010/main" val="125094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t>Stage  :  A sense of basic trust  V.S mistrust </a:t>
            </a:r>
            <a:r>
              <a:rPr lang="en-US" sz="2400" dirty="0"/>
              <a:t>(birth – 1 year)</a:t>
            </a:r>
            <a:r>
              <a:rPr lang="en-US" sz="3600" dirty="0"/>
              <a:t> </a:t>
            </a:r>
          </a:p>
        </p:txBody>
      </p:sp>
      <p:sp>
        <p:nvSpPr>
          <p:cNvPr id="4" name="Content Placeholder 3"/>
          <p:cNvSpPr>
            <a:spLocks noGrp="1"/>
          </p:cNvSpPr>
          <p:nvPr>
            <p:ph idx="1"/>
          </p:nvPr>
        </p:nvSpPr>
        <p:spPr/>
        <p:txBody>
          <a:bodyPr>
            <a:normAutofit/>
          </a:bodyPr>
          <a:lstStyle/>
          <a:p>
            <a:pPr marL="342900" lvl="0" indent="-342900" fontAlgn="base">
              <a:buClr>
                <a:srgbClr val="D24726"/>
              </a:buClr>
              <a:buSzPct val="100000"/>
              <a:buFont typeface="Wingdings 2" panose="05020102010507070707" pitchFamily="18" charset="2"/>
              <a:buChar char=""/>
            </a:pPr>
            <a:r>
              <a:rPr lang="en-US" altLang="en-US" sz="2800" dirty="0">
                <a:solidFill>
                  <a:srgbClr val="D24726"/>
                </a:solidFill>
                <a:latin typeface="Segoe UI Semibold" panose="020B0702040204020203" pitchFamily="34" charset="0"/>
                <a:cs typeface="Segoe UI Semibold" panose="020B0702040204020203" pitchFamily="34" charset="0"/>
              </a:rPr>
              <a:t>During the first 3 to 4 months</a:t>
            </a:r>
            <a:r>
              <a:rPr lang="en-US" altLang="en-US" sz="2400" dirty="0"/>
              <a:t>:</a:t>
            </a:r>
          </a:p>
          <a:p>
            <a:pPr marL="793750" lvl="0" indent="-342900" fontAlgn="base">
              <a:buClr>
                <a:srgbClr val="D24726"/>
              </a:buClr>
              <a:buSzPct val="100000"/>
              <a:buFont typeface="Vladimir Script" panose="03050402040407070305" pitchFamily="66" charset="0"/>
              <a:buChar char="-"/>
            </a:pPr>
            <a:r>
              <a:rPr lang="en-US" altLang="en-US" sz="2400" dirty="0">
                <a:solidFill>
                  <a:srgbClr val="404040"/>
                </a:solidFill>
              </a:rPr>
              <a:t>Much of the infant's routine centers around the intake of food, light, sound and around general bodily tactile stimulations. </a:t>
            </a:r>
          </a:p>
          <a:p>
            <a:pPr marL="793750" lvl="0" indent="-342900" fontAlgn="base">
              <a:buClr>
                <a:srgbClr val="D24726"/>
              </a:buClr>
              <a:buSzPct val="100000"/>
              <a:buFont typeface="Vladimir Script" panose="03050402040407070305" pitchFamily="66" charset="0"/>
              <a:buChar char="-"/>
            </a:pPr>
            <a:r>
              <a:rPr lang="en-US" altLang="en-US" sz="2400" dirty="0">
                <a:solidFill>
                  <a:srgbClr val="404040"/>
                </a:solidFill>
              </a:rPr>
              <a:t>Oral contact and sucking alleviate (relieve) discomfort while providing them with a source of satisfaction. </a:t>
            </a:r>
          </a:p>
          <a:p>
            <a:pPr marL="342900" lvl="0" indent="-342900" fontAlgn="base">
              <a:lnSpc>
                <a:spcPct val="100000"/>
              </a:lnSpc>
              <a:buClr>
                <a:srgbClr val="D24726"/>
              </a:buClr>
              <a:buSzPct val="100000"/>
              <a:buFont typeface="Wingdings 2" panose="05020102010507070707" pitchFamily="18" charset="2"/>
              <a:buChar char=""/>
            </a:pPr>
            <a:r>
              <a:rPr lang="en-US" altLang="en-US" sz="2800" dirty="0">
                <a:solidFill>
                  <a:srgbClr val="D24726"/>
                </a:solidFill>
                <a:latin typeface="Segoe UI Semibold" panose="020B0702040204020203" pitchFamily="34" charset="0"/>
                <a:cs typeface="Segoe UI Semibold" panose="020B0702040204020203" pitchFamily="34" charset="0"/>
              </a:rPr>
              <a:t>Love and pleasure of dependency</a:t>
            </a:r>
            <a:r>
              <a:rPr lang="en-US" altLang="en-US" sz="2600" dirty="0"/>
              <a:t>,</a:t>
            </a:r>
          </a:p>
          <a:p>
            <a:pPr marL="793750" indent="-342900" fontAlgn="base">
              <a:buClr>
                <a:srgbClr val="D24726"/>
              </a:buClr>
              <a:buSzPct val="100000"/>
              <a:buFont typeface="Vladimir Script" panose="03050402040407070305" pitchFamily="66" charset="0"/>
              <a:buChar char="-"/>
            </a:pPr>
            <a:r>
              <a:rPr lang="en-US" altLang="en-US" sz="2400" dirty="0">
                <a:solidFill>
                  <a:srgbClr val="404040"/>
                </a:solidFill>
              </a:rPr>
              <a:t>Important in this phase, are given or provided to the child through his mother or the care giver by her comforting warmth, smile, and way of talking, as well as through the quality of care.</a:t>
            </a:r>
          </a:p>
          <a:p>
            <a:pPr marL="342900" lvl="0" indent="-342900" fontAlgn="base">
              <a:lnSpc>
                <a:spcPct val="80000"/>
              </a:lnSpc>
              <a:spcBef>
                <a:spcPct val="20000"/>
              </a:spcBef>
              <a:spcAft>
                <a:spcPct val="0"/>
              </a:spcAft>
              <a:buClr>
                <a:srgbClr val="000000"/>
              </a:buClr>
              <a:buSzPct val="65000"/>
              <a:buNone/>
            </a:pPr>
            <a:endParaRPr lang="en-US" altLang="en-US" sz="2400" kern="0" dirty="0">
              <a:solidFill>
                <a:srgbClr val="000000"/>
              </a:solidFill>
              <a:latin typeface="Arial"/>
              <a:cs typeface="Arial"/>
            </a:endParaRPr>
          </a:p>
          <a:p>
            <a:pPr>
              <a:buNone/>
            </a:pPr>
            <a:endParaRPr lang="en-US" dirty="0"/>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688475" y="410357"/>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1</a:t>
            </a:r>
          </a:p>
        </p:txBody>
      </p:sp>
    </p:spTree>
    <p:extLst>
      <p:ext uri="{BB962C8B-B14F-4D97-AF65-F5344CB8AC3E}">
        <p14:creationId xmlns:p14="http://schemas.microsoft.com/office/powerpoint/2010/main" val="2565368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t>Stage  :  A sense of basic trust  V.S mistrust </a:t>
            </a:r>
            <a:r>
              <a:rPr lang="en-US" sz="2400" dirty="0"/>
              <a:t>(birth – 1 year)</a:t>
            </a:r>
            <a:r>
              <a:rPr lang="en-US" sz="3600" dirty="0"/>
              <a:t> </a:t>
            </a:r>
          </a:p>
        </p:txBody>
      </p:sp>
      <p:sp>
        <p:nvSpPr>
          <p:cNvPr id="4" name="Content Placeholder 3"/>
          <p:cNvSpPr>
            <a:spLocks noGrp="1"/>
          </p:cNvSpPr>
          <p:nvPr>
            <p:ph idx="1"/>
          </p:nvPr>
        </p:nvSpPr>
        <p:spPr/>
        <p:txBody>
          <a:bodyPr>
            <a:normAutofit/>
          </a:bodyPr>
          <a:lstStyle/>
          <a:p>
            <a:pPr marL="342900" indent="-342900" fontAlgn="base">
              <a:buClr>
                <a:srgbClr val="D24726"/>
              </a:buClr>
              <a:buSzPct val="100000"/>
              <a:buFont typeface="Wingdings 2" panose="05020102010507070707" pitchFamily="18" charset="2"/>
              <a:buChar char=""/>
            </a:pPr>
            <a:r>
              <a:rPr lang="en-US" altLang="en-US" sz="2400" dirty="0">
                <a:solidFill>
                  <a:srgbClr val="404040"/>
                </a:solidFill>
                <a:latin typeface="Segoe UI Semibold" panose="020B0702040204020203" pitchFamily="34" charset="0"/>
                <a:cs typeface="Segoe UI Semibold" panose="020B0702040204020203" pitchFamily="34" charset="0"/>
              </a:rPr>
              <a:t>The infant develops a sense of trust when he learns that his outside world is a </a:t>
            </a:r>
            <a:r>
              <a:rPr lang="en-US" altLang="en-US" sz="2800" dirty="0">
                <a:solidFill>
                  <a:srgbClr val="D24726"/>
                </a:solidFill>
                <a:latin typeface="Segoe UI Semibold" panose="020B0702040204020203" pitchFamily="34" charset="0"/>
                <a:cs typeface="Segoe UI Semibold" panose="020B0702040204020203" pitchFamily="34" charset="0"/>
              </a:rPr>
              <a:t>giving one</a:t>
            </a:r>
            <a:r>
              <a:rPr lang="en-US" altLang="en-US" sz="2400" dirty="0">
                <a:solidFill>
                  <a:srgbClr val="404040"/>
                </a:solidFill>
                <a:latin typeface="Segoe UI Semibold" panose="020B0702040204020203" pitchFamily="34" charset="0"/>
                <a:cs typeface="Segoe UI Semibold" panose="020B0702040204020203" pitchFamily="34" charset="0"/>
              </a:rPr>
              <a:t> and when </a:t>
            </a:r>
            <a:r>
              <a:rPr lang="en-US" altLang="en-US" sz="2800" dirty="0">
                <a:solidFill>
                  <a:srgbClr val="D24726"/>
                </a:solidFill>
                <a:latin typeface="Segoe UI Semibold" panose="020B0702040204020203" pitchFamily="34" charset="0"/>
                <a:cs typeface="Segoe UI Semibold" panose="020B0702040204020203" pitchFamily="34" charset="0"/>
              </a:rPr>
              <a:t>his needs are satisfied properly</a:t>
            </a:r>
            <a:r>
              <a:rPr lang="en-US" altLang="en-US" sz="2400" dirty="0">
                <a:solidFill>
                  <a:srgbClr val="404040"/>
                </a:solidFill>
                <a:latin typeface="Segoe UI Semibold" panose="020B0702040204020203" pitchFamily="34" charset="0"/>
                <a:cs typeface="Segoe UI Semibold" panose="020B0702040204020203" pitchFamily="34" charset="0"/>
              </a:rPr>
              <a:t>.</a:t>
            </a:r>
            <a:endParaRPr lang="ar-IQ" altLang="en-US" sz="2400" dirty="0">
              <a:solidFill>
                <a:srgbClr val="404040"/>
              </a:solidFill>
              <a:latin typeface="Segoe UI Semibold" panose="020B0702040204020203" pitchFamily="34" charset="0"/>
              <a:cs typeface="Segoe UI Semibold" panose="020B0702040204020203" pitchFamily="34" charset="0"/>
            </a:endParaRPr>
          </a:p>
          <a:p>
            <a:pPr fontAlgn="base">
              <a:buClr>
                <a:srgbClr val="D24726"/>
              </a:buClr>
              <a:buSzPct val="100000"/>
              <a:buNone/>
            </a:pPr>
            <a:r>
              <a:rPr lang="en-US" altLang="en-US" sz="2400" dirty="0">
                <a:solidFill>
                  <a:srgbClr val="404040"/>
                </a:solidFill>
                <a:latin typeface="Segoe UI Semibold" panose="020B0702040204020203" pitchFamily="34" charset="0"/>
                <a:cs typeface="Segoe UI Semibold" panose="020B0702040204020203" pitchFamily="34" charset="0"/>
              </a:rPr>
              <a:t> </a:t>
            </a:r>
          </a:p>
          <a:p>
            <a:pPr marL="342900" lvl="0" indent="-342900" fontAlgn="base">
              <a:buClr>
                <a:srgbClr val="D24726"/>
              </a:buClr>
              <a:buSzPct val="100000"/>
              <a:buFont typeface="Wingdings 2" panose="05020102010507070707" pitchFamily="18" charset="2"/>
              <a:buChar char=""/>
            </a:pPr>
            <a:r>
              <a:rPr lang="en-US" altLang="en-US" sz="2800" dirty="0">
                <a:solidFill>
                  <a:srgbClr val="D24726"/>
                </a:solidFill>
                <a:latin typeface="Segoe UI Semibold" panose="020B0702040204020203" pitchFamily="34" charset="0"/>
                <a:cs typeface="Segoe UI Semibold" panose="020B0702040204020203" pitchFamily="34" charset="0"/>
              </a:rPr>
              <a:t>A sense of mistrust </a:t>
            </a:r>
            <a:r>
              <a:rPr lang="en-US" altLang="en-US" sz="2400" dirty="0">
                <a:solidFill>
                  <a:srgbClr val="404040"/>
                </a:solidFill>
                <a:latin typeface="Segoe UI Semibold" panose="020B0702040204020203" pitchFamily="34" charset="0"/>
                <a:cs typeface="Segoe UI Semibold" panose="020B0702040204020203" pitchFamily="34" charset="0"/>
              </a:rPr>
              <a:t>develops when there is </a:t>
            </a:r>
            <a:r>
              <a:rPr lang="en-US" altLang="en-US" sz="2800" dirty="0">
                <a:solidFill>
                  <a:srgbClr val="D24726"/>
                </a:solidFill>
                <a:latin typeface="Segoe UI Semibold" panose="020B0702040204020203" pitchFamily="34" charset="0"/>
                <a:cs typeface="Segoe UI Semibold" panose="020B0702040204020203" pitchFamily="34" charset="0"/>
              </a:rPr>
              <a:t>too much or too little frustration</a:t>
            </a:r>
            <a:r>
              <a:rPr lang="en-US" altLang="en-US" sz="2400" dirty="0">
                <a:solidFill>
                  <a:srgbClr val="404040"/>
                </a:solidFill>
                <a:latin typeface="Segoe UI Semibold" panose="020B0702040204020203" pitchFamily="34" charset="0"/>
                <a:cs typeface="Segoe UI Semibold" panose="020B0702040204020203" pitchFamily="34" charset="0"/>
              </a:rPr>
              <a:t> resulting from too late gratification (satisfaction) of needs.</a:t>
            </a:r>
          </a:p>
          <a:p>
            <a:pPr>
              <a:buNone/>
            </a:pPr>
            <a:endParaRPr lang="en-US" dirty="0"/>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688475" y="410357"/>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1</a:t>
            </a:r>
          </a:p>
        </p:txBody>
      </p:sp>
    </p:spTree>
    <p:extLst>
      <p:ext uri="{BB962C8B-B14F-4D97-AF65-F5344CB8AC3E}">
        <p14:creationId xmlns:p14="http://schemas.microsoft.com/office/powerpoint/2010/main" val="974191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600" dirty="0"/>
              <a:t>Stage    : A sense of autonomy V.S doubt and shame </a:t>
            </a:r>
            <a:r>
              <a:rPr lang="en-US" sz="2400" dirty="0"/>
              <a:t>(1- 3 yrs.)</a:t>
            </a:r>
            <a:r>
              <a:rPr lang="en-US" sz="3600" dirty="0"/>
              <a:t> </a:t>
            </a:r>
          </a:p>
        </p:txBody>
      </p:sp>
      <p:sp>
        <p:nvSpPr>
          <p:cNvPr id="4" name="Content Placeholder 3"/>
          <p:cNvSpPr>
            <a:spLocks noGrp="1"/>
          </p:cNvSpPr>
          <p:nvPr>
            <p:ph idx="1"/>
          </p:nvPr>
        </p:nvSpPr>
        <p:spPr>
          <a:xfrm>
            <a:off x="604433" y="1604211"/>
            <a:ext cx="7517217" cy="4572752"/>
          </a:xfrm>
        </p:spPr>
        <p:txBody>
          <a:bodyPr>
            <a:normAutofit fontScale="92500"/>
          </a:bodyPr>
          <a:lstStyle/>
          <a:p>
            <a:pPr marL="342900" lvl="0" indent="-342900" fontAlgn="base">
              <a:lnSpc>
                <a:spcPct val="110000"/>
              </a:lnSpc>
              <a:buClr>
                <a:srgbClr val="D24726"/>
              </a:buClr>
              <a:buSzPct val="100000"/>
              <a:buFont typeface="Wingdings 2" panose="05020102010507070707" pitchFamily="18" charset="2"/>
              <a:buChar char=""/>
            </a:pPr>
            <a:r>
              <a:rPr lang="en-US" altLang="en-US" sz="2400" dirty="0">
                <a:solidFill>
                  <a:srgbClr val="404040"/>
                </a:solidFill>
                <a:cs typeface="Segoe UI Semibold" panose="020B0702040204020203" pitchFamily="34" charset="0"/>
              </a:rPr>
              <a:t>When the infant gains trust in his outside world and way of life, he is ready to acquire a sense of autonomy and he realizes his will.</a:t>
            </a:r>
          </a:p>
          <a:p>
            <a:pPr marL="342900" lvl="0" indent="-342900" fontAlgn="base">
              <a:lnSpc>
                <a:spcPct val="110000"/>
              </a:lnSpc>
              <a:buClr>
                <a:srgbClr val="D24726"/>
              </a:buClr>
              <a:buSzPct val="100000"/>
              <a:buFont typeface="Wingdings 2" panose="05020102010507070707" pitchFamily="18" charset="2"/>
              <a:buChar char=""/>
            </a:pPr>
            <a:endParaRPr lang="en-US" altLang="en-US" sz="2400" dirty="0">
              <a:cs typeface="Segoe UI Semibold" panose="020B0702040204020203" pitchFamily="34" charset="0"/>
            </a:endParaRPr>
          </a:p>
          <a:p>
            <a:pPr marL="342900" lvl="0" indent="-342900" fontAlgn="base">
              <a:lnSpc>
                <a:spcPct val="110000"/>
              </a:lnSpc>
              <a:buClr>
                <a:srgbClr val="D24726"/>
              </a:buClr>
              <a:buSzPct val="100000"/>
              <a:buFont typeface="Wingdings 2" panose="05020102010507070707" pitchFamily="18" charset="2"/>
              <a:buChar char=""/>
            </a:pPr>
            <a:r>
              <a:rPr lang="en-US" altLang="en-US" sz="2400" dirty="0">
                <a:solidFill>
                  <a:srgbClr val="404040"/>
                </a:solidFill>
                <a:cs typeface="Segoe UI Semibold" panose="020B0702040204020203" pitchFamily="34" charset="0"/>
              </a:rPr>
              <a:t>He starts to </a:t>
            </a:r>
            <a:r>
              <a:rPr lang="en-US" altLang="en-US" sz="2800" dirty="0">
                <a:solidFill>
                  <a:srgbClr val="D24726"/>
                </a:solidFill>
                <a:latin typeface="Segoe UI Semibold" panose="020B0702040204020203" pitchFamily="34" charset="0"/>
                <a:cs typeface="Segoe UI Semibold" panose="020B0702040204020203" pitchFamily="34" charset="0"/>
              </a:rPr>
              <a:t>practice being independent</a:t>
            </a:r>
            <a:r>
              <a:rPr lang="en-US" altLang="en-US" sz="2400" dirty="0">
                <a:cs typeface="Segoe UI Semibold" panose="020B0702040204020203" pitchFamily="34" charset="0"/>
              </a:rPr>
              <a:t>; </a:t>
            </a:r>
            <a:r>
              <a:rPr lang="en-US" altLang="en-US" sz="2400" dirty="0">
                <a:solidFill>
                  <a:srgbClr val="404040"/>
                </a:solidFill>
                <a:cs typeface="Segoe UI Semibold" panose="020B0702040204020203" pitchFamily="34" charset="0"/>
              </a:rPr>
              <a:t>however</a:t>
            </a:r>
            <a:r>
              <a:rPr lang="en-US" altLang="en-US" sz="2400" dirty="0">
                <a:cs typeface="Segoe UI Semibold" panose="020B0702040204020203" pitchFamily="34" charset="0"/>
              </a:rPr>
              <a:t>, his </a:t>
            </a:r>
            <a:r>
              <a:rPr lang="en-US" altLang="en-US" sz="2800" dirty="0">
                <a:solidFill>
                  <a:srgbClr val="D24726"/>
                </a:solidFill>
                <a:latin typeface="Segoe UI Semibold" panose="020B0702040204020203" pitchFamily="34" charset="0"/>
                <a:cs typeface="Segoe UI Semibold" panose="020B0702040204020203" pitchFamily="34" charset="0"/>
              </a:rPr>
              <a:t>continued dependencies create a sense of doubt in his abilities and capacities, and also create a sense of shame </a:t>
            </a:r>
            <a:r>
              <a:rPr lang="en-US" altLang="en-US" sz="2400" dirty="0">
                <a:solidFill>
                  <a:srgbClr val="404040"/>
                </a:solidFill>
                <a:cs typeface="Segoe UI Semibold" panose="020B0702040204020203" pitchFamily="34" charset="0"/>
              </a:rPr>
              <a:t>for continuing to be dependent on his mother. </a:t>
            </a:r>
          </a:p>
          <a:p>
            <a:pPr marL="342900" lvl="0" indent="-342900" fontAlgn="base">
              <a:lnSpc>
                <a:spcPct val="80000"/>
              </a:lnSpc>
              <a:spcBef>
                <a:spcPct val="20000"/>
              </a:spcBef>
              <a:spcAft>
                <a:spcPct val="0"/>
              </a:spcAft>
              <a:buClr>
                <a:srgbClr val="000000"/>
              </a:buClr>
              <a:buSzPct val="65000"/>
              <a:buNone/>
            </a:pPr>
            <a:endParaRPr lang="en-US" altLang="en-US" sz="2400" kern="0" dirty="0">
              <a:solidFill>
                <a:srgbClr val="000000"/>
              </a:solidFill>
              <a:cs typeface="Arial"/>
            </a:endParaRPr>
          </a:p>
          <a:p>
            <a:pPr>
              <a:buNone/>
            </a:pPr>
            <a:endParaRPr lang="en-US" dirty="0"/>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640349" y="389662"/>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2</a:t>
            </a:r>
          </a:p>
        </p:txBody>
      </p:sp>
      <p:pic>
        <p:nvPicPr>
          <p:cNvPr id="2" name="Picture 1"/>
          <p:cNvPicPr>
            <a:picLocks noChangeAspect="1"/>
          </p:cNvPicPr>
          <p:nvPr/>
        </p:nvPicPr>
        <p:blipFill>
          <a:blip r:embed="rId2">
            <a:duotone>
              <a:schemeClr val="accent3">
                <a:shade val="45000"/>
                <a:satMod val="135000"/>
              </a:schemeClr>
              <a:prstClr val="white"/>
            </a:duotone>
            <a:extLst>
              <a:ext uri="{BEBA8EAE-BF5A-486C-A8C5-ECC9F3942E4B}">
                <a14:imgProps xmlns:a14="http://schemas.microsoft.com/office/drawing/2010/main">
                  <a14:imgLayer r:embed="rId3">
                    <a14:imgEffect>
                      <a14:colorTemperature colorTemp="112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325453" y="1268455"/>
            <a:ext cx="3262113" cy="4908508"/>
          </a:xfrm>
          <a:prstGeom prst="rect">
            <a:avLst/>
          </a:prstGeom>
        </p:spPr>
      </p:pic>
      <p:sp>
        <p:nvSpPr>
          <p:cNvPr id="7" name="Rectangle 9">
            <a:extLst>
              <a:ext uri="{FF2B5EF4-FFF2-40B4-BE49-F238E27FC236}">
                <a16:creationId xmlns:a16="http://schemas.microsoft.com/office/drawing/2014/main" id="{DA5D818A-6772-4140-9BA1-3E5C4AC85004}"/>
              </a:ext>
              <a:ext uri="{C183D7F6-B498-43B3-948B-1728B52AA6E4}">
                <adec:decorative xmlns:adec="http://schemas.microsoft.com/office/drawing/2017/decorative" val="1"/>
              </a:ext>
            </a:extLst>
          </p:cNvPr>
          <p:cNvSpPr/>
          <p:nvPr/>
        </p:nvSpPr>
        <p:spPr>
          <a:xfrm rot="16200000">
            <a:off x="8843064" y="3432460"/>
            <a:ext cx="4908508" cy="580497"/>
          </a:xfrm>
          <a:prstGeom prst="rect">
            <a:avLst/>
          </a:prstGeom>
          <a:gradFill flip="none" rotWithShape="1">
            <a:gsLst>
              <a:gs pos="0">
                <a:srgbClr val="F5F5F5">
                  <a:alpha val="0"/>
                </a:srgbClr>
              </a:gs>
              <a:gs pos="100000">
                <a:srgbClr val="F5F5F5"/>
              </a:gs>
              <a:gs pos="58000">
                <a:srgbClr val="F5F5F5">
                  <a:alpha val="86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a:p>
        </p:txBody>
      </p:sp>
    </p:spTree>
    <p:extLst>
      <p:ext uri="{BB962C8B-B14F-4D97-AF65-F5344CB8AC3E}">
        <p14:creationId xmlns:p14="http://schemas.microsoft.com/office/powerpoint/2010/main" val="200520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600" dirty="0"/>
              <a:t>Stage  :  : A sense of autonomy V.S doubt and shame </a:t>
            </a:r>
            <a:r>
              <a:rPr lang="en-US" sz="2400" dirty="0"/>
              <a:t>(1- 3 yrs.)</a:t>
            </a:r>
            <a:r>
              <a:rPr lang="en-US" sz="3600" dirty="0"/>
              <a:t> </a:t>
            </a:r>
          </a:p>
        </p:txBody>
      </p:sp>
      <p:sp>
        <p:nvSpPr>
          <p:cNvPr id="4" name="Content Placeholder 3"/>
          <p:cNvSpPr>
            <a:spLocks noGrp="1"/>
          </p:cNvSpPr>
          <p:nvPr>
            <p:ph idx="1"/>
          </p:nvPr>
        </p:nvSpPr>
        <p:spPr>
          <a:xfrm>
            <a:off x="604433" y="1604211"/>
            <a:ext cx="10103672" cy="4572752"/>
          </a:xfrm>
        </p:spPr>
        <p:txBody>
          <a:bodyPr>
            <a:normAutofit/>
          </a:bodyPr>
          <a:lstStyle/>
          <a:p>
            <a:pPr lvl="0" fontAlgn="base">
              <a:lnSpc>
                <a:spcPct val="110000"/>
              </a:lnSpc>
              <a:buClr>
                <a:srgbClr val="D24726"/>
              </a:buClr>
              <a:buSzPct val="100000"/>
              <a:buNone/>
            </a:pPr>
            <a:r>
              <a:rPr lang="en-US" altLang="en-US" sz="2800" dirty="0">
                <a:solidFill>
                  <a:srgbClr val="404040"/>
                </a:solidFill>
                <a:latin typeface="Segoe UI Semibold" panose="020B0702040204020203" pitchFamily="34" charset="0"/>
                <a:cs typeface="Segoe UI Semibold" panose="020B0702040204020203" pitchFamily="34" charset="0"/>
              </a:rPr>
              <a:t>Specific developmental tasks a toddler will deal with:</a:t>
            </a:r>
            <a:endParaRPr lang="en-US" altLang="en-US" sz="2400" dirty="0">
              <a:solidFill>
                <a:srgbClr val="404040"/>
              </a:solidFill>
              <a:cs typeface="Segoe UI Semibold" panose="020B0702040204020203" pitchFamily="34" charset="0"/>
            </a:endParaRPr>
          </a:p>
          <a:p>
            <a:pPr marL="457200" lvl="0" indent="-457200" fontAlgn="base">
              <a:lnSpc>
                <a:spcPct val="110000"/>
              </a:lnSpc>
              <a:buClr>
                <a:srgbClr val="D24726"/>
              </a:buClr>
              <a:buSzPct val="150000"/>
              <a:buFont typeface="+mj-lt"/>
              <a:buAutoNum type="arabicPeriod"/>
            </a:pPr>
            <a:r>
              <a:rPr lang="en-US" altLang="en-US" sz="2400" dirty="0">
                <a:solidFill>
                  <a:srgbClr val="404040"/>
                </a:solidFill>
                <a:cs typeface="Segoe UI Semibold" panose="020B0702040204020203" pitchFamily="34" charset="0"/>
              </a:rPr>
              <a:t>Differentiation of himself from others, particularly his mother.</a:t>
            </a:r>
          </a:p>
          <a:p>
            <a:pPr marL="457200" lvl="0" indent="-457200" fontAlgn="base">
              <a:lnSpc>
                <a:spcPct val="110000"/>
              </a:lnSpc>
              <a:buClr>
                <a:srgbClr val="D24726"/>
              </a:buClr>
              <a:buSzPct val="150000"/>
              <a:buFont typeface="+mj-lt"/>
              <a:buAutoNum type="arabicPeriod"/>
            </a:pPr>
            <a:r>
              <a:rPr lang="en-US" altLang="en-US" sz="2400" dirty="0">
                <a:solidFill>
                  <a:srgbClr val="404040"/>
                </a:solidFill>
                <a:cs typeface="Segoe UI Semibold" panose="020B0702040204020203" pitchFamily="34" charset="0"/>
              </a:rPr>
              <a:t>Toleration of separation from mother, parents, and family.</a:t>
            </a:r>
          </a:p>
          <a:p>
            <a:pPr marL="457200" lvl="0" indent="-457200" fontAlgn="base">
              <a:lnSpc>
                <a:spcPct val="110000"/>
              </a:lnSpc>
              <a:buClr>
                <a:srgbClr val="D24726"/>
              </a:buClr>
              <a:buSzPct val="150000"/>
              <a:buFont typeface="+mj-lt"/>
              <a:buAutoNum type="arabicPeriod"/>
            </a:pPr>
            <a:r>
              <a:rPr lang="en-US" altLang="en-US" sz="2400" dirty="0">
                <a:solidFill>
                  <a:srgbClr val="404040"/>
                </a:solidFill>
                <a:cs typeface="Segoe UI Semibold" panose="020B0702040204020203" pitchFamily="34" charset="0"/>
              </a:rPr>
              <a:t>Ability to interact with others in less egocentric (selfish), autistic manner.</a:t>
            </a:r>
          </a:p>
          <a:p>
            <a:pPr marL="342900" lvl="0" indent="-342900" fontAlgn="base">
              <a:lnSpc>
                <a:spcPct val="80000"/>
              </a:lnSpc>
              <a:spcBef>
                <a:spcPct val="20000"/>
              </a:spcBef>
              <a:spcAft>
                <a:spcPct val="0"/>
              </a:spcAft>
              <a:buClr>
                <a:srgbClr val="000000"/>
              </a:buClr>
              <a:buSzPct val="65000"/>
              <a:buNone/>
            </a:pPr>
            <a:endParaRPr lang="en-US" altLang="en-US" sz="2400" kern="0" dirty="0">
              <a:solidFill>
                <a:srgbClr val="000000"/>
              </a:solidFill>
              <a:cs typeface="Arial"/>
            </a:endParaRPr>
          </a:p>
          <a:p>
            <a:pPr>
              <a:buNone/>
            </a:pPr>
            <a:endParaRPr lang="en-US" dirty="0"/>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688475" y="410357"/>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2</a:t>
            </a:r>
          </a:p>
        </p:txBody>
      </p:sp>
      <p:sp>
        <p:nvSpPr>
          <p:cNvPr id="7" name="Rectangle 9">
            <a:extLst>
              <a:ext uri="{FF2B5EF4-FFF2-40B4-BE49-F238E27FC236}">
                <a16:creationId xmlns:a16="http://schemas.microsoft.com/office/drawing/2014/main" id="{DA5D818A-6772-4140-9BA1-3E5C4AC85004}"/>
              </a:ext>
              <a:ext uri="{C183D7F6-B498-43B3-948B-1728B52AA6E4}">
                <adec:decorative xmlns:adec="http://schemas.microsoft.com/office/drawing/2017/decorative" val="1"/>
              </a:ext>
            </a:extLst>
          </p:cNvPr>
          <p:cNvSpPr/>
          <p:nvPr/>
        </p:nvSpPr>
        <p:spPr>
          <a:xfrm rot="16200000">
            <a:off x="8843064" y="3432460"/>
            <a:ext cx="4908508" cy="580497"/>
          </a:xfrm>
          <a:prstGeom prst="rect">
            <a:avLst/>
          </a:prstGeom>
          <a:gradFill flip="none" rotWithShape="1">
            <a:gsLst>
              <a:gs pos="0">
                <a:srgbClr val="F5F5F5">
                  <a:alpha val="0"/>
                </a:srgbClr>
              </a:gs>
              <a:gs pos="100000">
                <a:srgbClr val="F5F5F5"/>
              </a:gs>
              <a:gs pos="58000">
                <a:srgbClr val="F5F5F5">
                  <a:alpha val="86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a:p>
        </p:txBody>
      </p:sp>
    </p:spTree>
    <p:extLst>
      <p:ext uri="{BB962C8B-B14F-4D97-AF65-F5344CB8AC3E}">
        <p14:creationId xmlns:p14="http://schemas.microsoft.com/office/powerpoint/2010/main" val="4279807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600" dirty="0"/>
              <a:t>Stage  :  : A sense of autonomy V.S doubt and shame </a:t>
            </a:r>
            <a:r>
              <a:rPr lang="en-US" sz="2400" dirty="0"/>
              <a:t>(1- 3 yrs.)</a:t>
            </a:r>
            <a:r>
              <a:rPr lang="en-US" sz="3600" dirty="0"/>
              <a:t> </a:t>
            </a:r>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688475" y="410357"/>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2</a:t>
            </a:r>
          </a:p>
        </p:txBody>
      </p:sp>
      <p:sp>
        <p:nvSpPr>
          <p:cNvPr id="2" name="Rectangle 1"/>
          <p:cNvSpPr/>
          <p:nvPr/>
        </p:nvSpPr>
        <p:spPr>
          <a:xfrm>
            <a:off x="604433" y="1433977"/>
            <a:ext cx="6097567" cy="529119"/>
          </a:xfrm>
          <a:prstGeom prst="rect">
            <a:avLst/>
          </a:prstGeom>
        </p:spPr>
        <p:txBody>
          <a:bodyPr wrap="none">
            <a:spAutoFit/>
          </a:bodyPr>
          <a:lstStyle/>
          <a:p>
            <a:pPr lvl="0" fontAlgn="base">
              <a:lnSpc>
                <a:spcPct val="110000"/>
              </a:lnSpc>
              <a:spcBef>
                <a:spcPts val="1000"/>
              </a:spcBef>
              <a:spcAft>
                <a:spcPts val="1200"/>
              </a:spcAft>
              <a:buClr>
                <a:srgbClr val="D24726"/>
              </a:buClr>
              <a:buSzPct val="100000"/>
            </a:pPr>
            <a:r>
              <a:rPr lang="en-US" altLang="en-US" sz="2800" dirty="0">
                <a:solidFill>
                  <a:srgbClr val="404040"/>
                </a:solidFill>
                <a:latin typeface="Segoe UI Semibold" panose="020B0702040204020203" pitchFamily="34" charset="0"/>
                <a:cs typeface="Segoe UI Semibold" panose="020B0702040204020203" pitchFamily="34" charset="0"/>
              </a:rPr>
              <a:t>Characteristics of typical autonomy: </a:t>
            </a:r>
          </a:p>
        </p:txBody>
      </p:sp>
      <p:pic>
        <p:nvPicPr>
          <p:cNvPr id="5" name="Picture 4"/>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816229" y="2928527"/>
            <a:ext cx="952633" cy="952633"/>
          </a:xfrm>
          <a:prstGeom prst="rect">
            <a:avLst/>
          </a:prstGeom>
        </p:spPr>
      </p:pic>
      <p:sp>
        <p:nvSpPr>
          <p:cNvPr id="8" name="Rectangle 7"/>
          <p:cNvSpPr/>
          <p:nvPr/>
        </p:nvSpPr>
        <p:spPr>
          <a:xfrm>
            <a:off x="542483" y="3897753"/>
            <a:ext cx="3500127" cy="1463991"/>
          </a:xfrm>
          <a:prstGeom prst="rect">
            <a:avLst/>
          </a:prstGeom>
        </p:spPr>
        <p:txBody>
          <a:bodyPr wrap="square">
            <a:spAutoFit/>
          </a:bodyPr>
          <a:lstStyle/>
          <a:p>
            <a:pPr algn="ctr"/>
            <a:r>
              <a:rPr lang="en-US" altLang="en-US" sz="2800" dirty="0">
                <a:solidFill>
                  <a:srgbClr val="D24726"/>
                </a:solidFill>
                <a:latin typeface="Segoe UI Semibold" panose="020B0702040204020203" pitchFamily="34" charset="0"/>
                <a:cs typeface="Segoe UI Semibold" panose="020B0702040204020203" pitchFamily="34" charset="0"/>
              </a:rPr>
              <a:t>Negativism</a:t>
            </a:r>
          </a:p>
          <a:p>
            <a:pPr lvl="0" algn="ctr" fontAlgn="base">
              <a:lnSpc>
                <a:spcPct val="110000"/>
              </a:lnSpc>
              <a:spcBef>
                <a:spcPts val="1000"/>
              </a:spcBef>
              <a:spcAft>
                <a:spcPts val="1200"/>
              </a:spcAft>
              <a:buClr>
                <a:srgbClr val="D24726"/>
              </a:buClr>
              <a:buSzPct val="150000"/>
            </a:pPr>
            <a:r>
              <a:rPr lang="en-US" altLang="en-US" sz="2400" dirty="0">
                <a:solidFill>
                  <a:srgbClr val="404040"/>
                </a:solidFill>
                <a:cs typeface="Segoe UI Semibold" panose="020B0702040204020203" pitchFamily="34" charset="0"/>
              </a:rPr>
              <a:t>the toddler starts to use the word "No"</a:t>
            </a:r>
          </a:p>
        </p:txBody>
      </p:sp>
      <p:sp>
        <p:nvSpPr>
          <p:cNvPr id="9" name="Rectangle 8"/>
          <p:cNvSpPr/>
          <p:nvPr/>
        </p:nvSpPr>
        <p:spPr>
          <a:xfrm>
            <a:off x="6095999" y="3897753"/>
            <a:ext cx="4227096" cy="2276521"/>
          </a:xfrm>
          <a:prstGeom prst="rect">
            <a:avLst/>
          </a:prstGeom>
        </p:spPr>
        <p:txBody>
          <a:bodyPr wrap="square">
            <a:spAutoFit/>
          </a:bodyPr>
          <a:lstStyle/>
          <a:p>
            <a:pPr algn="ctr"/>
            <a:r>
              <a:rPr lang="en-US" altLang="en-US" sz="2800" dirty="0">
                <a:solidFill>
                  <a:srgbClr val="D24726"/>
                </a:solidFill>
                <a:latin typeface="Segoe UI Semibold" panose="020B0702040204020203" pitchFamily="34" charset="0"/>
                <a:cs typeface="Segoe UI Semibold" panose="020B0702040204020203" pitchFamily="34" charset="0"/>
              </a:rPr>
              <a:t>Ritualism</a:t>
            </a:r>
          </a:p>
          <a:p>
            <a:pPr lvl="0" algn="ctr" fontAlgn="base">
              <a:lnSpc>
                <a:spcPct val="110000"/>
              </a:lnSpc>
              <a:spcBef>
                <a:spcPts val="1000"/>
              </a:spcBef>
              <a:spcAft>
                <a:spcPts val="1200"/>
              </a:spcAft>
              <a:buClr>
                <a:srgbClr val="D24726"/>
              </a:buClr>
              <a:buSzPct val="150000"/>
            </a:pPr>
            <a:r>
              <a:rPr lang="en-US" altLang="en-US" sz="2400" dirty="0">
                <a:solidFill>
                  <a:srgbClr val="404040"/>
                </a:solidFill>
                <a:cs typeface="Segoe UI Semibold" panose="020B0702040204020203" pitchFamily="34" charset="0"/>
              </a:rPr>
              <a:t>doing certain actions or behaving in a ritual manner i.e. repeat certain behavior several times.</a:t>
            </a:r>
          </a:p>
        </p:txBody>
      </p:sp>
      <p:pic>
        <p:nvPicPr>
          <p:cNvPr id="11" name="Picture 10"/>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733230" y="2875238"/>
            <a:ext cx="952633" cy="952633"/>
          </a:xfrm>
          <a:prstGeom prst="rect">
            <a:avLst/>
          </a:prstGeom>
        </p:spPr>
      </p:pic>
    </p:spTree>
    <p:extLst>
      <p:ext uri="{BB962C8B-B14F-4D97-AF65-F5344CB8AC3E}">
        <p14:creationId xmlns:p14="http://schemas.microsoft.com/office/powerpoint/2010/main" val="358059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600" dirty="0"/>
              <a:t>Stage    : A sense of autonomy V.S doubt and shame </a:t>
            </a:r>
            <a:r>
              <a:rPr lang="en-US" sz="2400" dirty="0"/>
              <a:t>(1- 3 yrs.)</a:t>
            </a:r>
            <a:r>
              <a:rPr lang="en-US" sz="3600" dirty="0"/>
              <a:t> </a:t>
            </a:r>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688475" y="410357"/>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2</a:t>
            </a:r>
          </a:p>
        </p:txBody>
      </p:sp>
      <p:sp>
        <p:nvSpPr>
          <p:cNvPr id="2" name="Rectangle 1"/>
          <p:cNvSpPr/>
          <p:nvPr/>
        </p:nvSpPr>
        <p:spPr>
          <a:xfrm>
            <a:off x="604433" y="1433977"/>
            <a:ext cx="6097567" cy="566309"/>
          </a:xfrm>
          <a:prstGeom prst="rect">
            <a:avLst/>
          </a:prstGeom>
        </p:spPr>
        <p:txBody>
          <a:bodyPr wrap="none">
            <a:spAutoFit/>
          </a:bodyPr>
          <a:lstStyle/>
          <a:p>
            <a:pPr lvl="0" fontAlgn="base">
              <a:lnSpc>
                <a:spcPct val="110000"/>
              </a:lnSpc>
              <a:spcBef>
                <a:spcPts val="1000"/>
              </a:spcBef>
              <a:spcAft>
                <a:spcPts val="1200"/>
              </a:spcAft>
              <a:buClr>
                <a:srgbClr val="D24726"/>
              </a:buClr>
              <a:buSzPct val="100000"/>
            </a:pPr>
            <a:r>
              <a:rPr lang="en-US" altLang="en-US" sz="2800" dirty="0">
                <a:solidFill>
                  <a:srgbClr val="404040"/>
                </a:solidFill>
                <a:latin typeface="Segoe UI Semibold" panose="020B0702040204020203" pitchFamily="34" charset="0"/>
                <a:cs typeface="Segoe UI Semibold" panose="020B0702040204020203" pitchFamily="34" charset="0"/>
              </a:rPr>
              <a:t>Characteristics of typical autonomy: </a:t>
            </a:r>
          </a:p>
        </p:txBody>
      </p:sp>
      <p:sp>
        <p:nvSpPr>
          <p:cNvPr id="12" name="Rectangle 11"/>
          <p:cNvSpPr/>
          <p:nvPr/>
        </p:nvSpPr>
        <p:spPr>
          <a:xfrm>
            <a:off x="420992" y="3501566"/>
            <a:ext cx="4824777" cy="2748573"/>
          </a:xfrm>
          <a:prstGeom prst="rect">
            <a:avLst/>
          </a:prstGeom>
        </p:spPr>
        <p:txBody>
          <a:bodyPr wrap="square">
            <a:spAutoFit/>
          </a:bodyPr>
          <a:lstStyle/>
          <a:p>
            <a:pPr algn="ctr"/>
            <a:r>
              <a:rPr lang="en-US" sz="2800" dirty="0">
                <a:solidFill>
                  <a:srgbClr val="D24726"/>
                </a:solidFill>
                <a:latin typeface="Segoe UI Semibold" panose="020B0702040204020203" pitchFamily="34" charset="0"/>
                <a:cs typeface="Segoe UI Semibold" panose="020B0702040204020203" pitchFamily="34" charset="0"/>
              </a:rPr>
              <a:t>Emotions becomes very strongly expressed</a:t>
            </a:r>
            <a:endParaRPr lang="en-US" sz="2000" dirty="0"/>
          </a:p>
          <a:p>
            <a:pPr algn="ctr" fontAlgn="base">
              <a:lnSpc>
                <a:spcPct val="110000"/>
              </a:lnSpc>
              <a:spcBef>
                <a:spcPts val="1000"/>
              </a:spcBef>
              <a:spcAft>
                <a:spcPts val="1200"/>
              </a:spcAft>
              <a:buClr>
                <a:srgbClr val="D24726"/>
              </a:buClr>
              <a:buSzPct val="150000"/>
            </a:pPr>
            <a:r>
              <a:rPr lang="en-US" sz="2000" dirty="0">
                <a:solidFill>
                  <a:srgbClr val="404040"/>
                </a:solidFill>
                <a:cs typeface="Segoe UI Semibold" panose="020B0702040204020203" pitchFamily="34" charset="0"/>
              </a:rPr>
              <a:t>e.g. one minute the child can be involved in an activity and the next minute he might be violently angry because he was unable to manipulate a toy or to open a box or a door.</a:t>
            </a:r>
          </a:p>
        </p:txBody>
      </p:sp>
      <p:sp>
        <p:nvSpPr>
          <p:cNvPr id="4" name="Rectangle 3"/>
          <p:cNvSpPr/>
          <p:nvPr/>
        </p:nvSpPr>
        <p:spPr>
          <a:xfrm>
            <a:off x="6702000" y="3501566"/>
            <a:ext cx="4824777" cy="2317686"/>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en-US" sz="2800" dirty="0">
                <a:solidFill>
                  <a:srgbClr val="D24726"/>
                </a:solidFill>
                <a:latin typeface="Segoe UI Semibold" panose="020B0702040204020203" pitchFamily="34" charset="0"/>
                <a:cs typeface="Segoe UI Semibold" panose="020B0702040204020203" pitchFamily="34" charset="0"/>
              </a:rPr>
              <a:t>Temperament</a:t>
            </a:r>
          </a:p>
          <a:p>
            <a:pPr lvl="0" indent="-342900" algn="ctr" fontAlgn="base">
              <a:lnSpc>
                <a:spcPct val="110000"/>
              </a:lnSpc>
              <a:spcBef>
                <a:spcPts val="1000"/>
              </a:spcBef>
              <a:spcAft>
                <a:spcPts val="1200"/>
              </a:spcAft>
              <a:buClr>
                <a:srgbClr val="D24726"/>
              </a:buClr>
              <a:buSzPct val="150000"/>
            </a:pPr>
            <a:r>
              <a:rPr lang="en-US" altLang="en-US" sz="2000" dirty="0">
                <a:solidFill>
                  <a:srgbClr val="404040"/>
                </a:solidFill>
                <a:cs typeface="Segoe UI Semibold" panose="020B0702040204020203" pitchFamily="34" charset="0"/>
              </a:rPr>
              <a:t>(is the manner of thinking, behaving or reacting characteristic of an individual and refers to the way in which a person deals with life) may appear if he is scolded for doing something wrong.</a:t>
            </a:r>
          </a:p>
        </p:txBody>
      </p:sp>
      <p:pic>
        <p:nvPicPr>
          <p:cNvPr id="7" name="Picture 6"/>
          <p:cNvPicPr>
            <a:picLocks noChangeAspect="1"/>
          </p:cNvPicPr>
          <p:nvPr/>
        </p:nvPicPr>
        <p:blipFill>
          <a:blip r:embed="rId2" cstate="print">
            <a:duotone>
              <a:schemeClr val="accent3">
                <a:shade val="45000"/>
                <a:satMod val="135000"/>
              </a:schemeClr>
              <a:prstClr val="white"/>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2147580" y="2106274"/>
            <a:ext cx="1371600" cy="1289303"/>
          </a:xfrm>
          <a:prstGeom prst="rect">
            <a:avLst/>
          </a:prstGeom>
        </p:spPr>
      </p:pic>
      <p:pic>
        <p:nvPicPr>
          <p:cNvPr id="10" name="Picture 9"/>
          <p:cNvPicPr>
            <a:picLocks noChangeAspect="1"/>
          </p:cNvPicPr>
          <p:nvPr/>
        </p:nvPicPr>
        <p:blipFill>
          <a:blip r:embed="rId4">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8061159" y="2000286"/>
            <a:ext cx="2165684" cy="1395291"/>
          </a:xfrm>
          <a:prstGeom prst="rect">
            <a:avLst/>
          </a:prstGeom>
        </p:spPr>
      </p:pic>
    </p:spTree>
    <p:extLst>
      <p:ext uri="{BB962C8B-B14F-4D97-AF65-F5344CB8AC3E}">
        <p14:creationId xmlns:p14="http://schemas.microsoft.com/office/powerpoint/2010/main" val="370433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2"/>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7"/>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t>Stage   : A sense of initiative and V.S guilt </a:t>
            </a:r>
            <a:r>
              <a:rPr lang="en-US" sz="2400" dirty="0"/>
              <a:t>(3/4 – 5 yrs.)</a:t>
            </a:r>
            <a:r>
              <a:rPr lang="en-US" sz="3600" dirty="0"/>
              <a:t> </a:t>
            </a:r>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738586" y="405931"/>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3</a:t>
            </a:r>
          </a:p>
        </p:txBody>
      </p:sp>
      <p:sp>
        <p:nvSpPr>
          <p:cNvPr id="9" name="Content Placeholder 8"/>
          <p:cNvSpPr>
            <a:spLocks noGrp="1"/>
          </p:cNvSpPr>
          <p:nvPr>
            <p:ph idx="1"/>
          </p:nvPr>
        </p:nvSpPr>
        <p:spPr/>
        <p:txBody>
          <a:bodyPr>
            <a:normAutofit/>
          </a:bodyPr>
          <a:lstStyle/>
          <a:p>
            <a:pPr marL="457200" indent="-457200">
              <a:buClr>
                <a:srgbClr val="D24726"/>
              </a:buClr>
              <a:buSzPct val="100000"/>
              <a:buFont typeface="Wingdings 2" panose="05020102010507070707" pitchFamily="18" charset="2"/>
              <a:buChar char=""/>
            </a:pPr>
            <a:r>
              <a:rPr lang="en-US" sz="2400" dirty="0">
                <a:solidFill>
                  <a:srgbClr val="404040"/>
                </a:solidFill>
              </a:rPr>
              <a:t>The child in this phase starts to be more active and positive in performing certain tasks.</a:t>
            </a:r>
          </a:p>
          <a:p>
            <a:pPr marL="457200" indent="-457200">
              <a:buClr>
                <a:srgbClr val="D24726"/>
              </a:buClr>
              <a:buSzPct val="100000"/>
              <a:buFont typeface="Wingdings 2" panose="05020102010507070707" pitchFamily="18" charset="2"/>
              <a:buChar char=""/>
            </a:pPr>
            <a:r>
              <a:rPr lang="en-US" sz="2400" dirty="0">
                <a:solidFill>
                  <a:srgbClr val="404040"/>
                </a:solidFill>
              </a:rPr>
              <a:t>Erickson refers to these developmental years as the </a:t>
            </a:r>
            <a:r>
              <a:rPr lang="en-US" sz="2800" dirty="0">
                <a:solidFill>
                  <a:srgbClr val="D24726"/>
                </a:solidFill>
                <a:latin typeface="Segoe UI Semibold" panose="020B0702040204020203" pitchFamily="34" charset="0"/>
                <a:cs typeface="Segoe UI Semibold" panose="020B0702040204020203" pitchFamily="34" charset="0"/>
              </a:rPr>
              <a:t>"Play age".</a:t>
            </a:r>
            <a:endParaRPr lang="en-US" sz="2400" dirty="0">
              <a:solidFill>
                <a:srgbClr val="D24726"/>
              </a:solidFill>
              <a:latin typeface="Segoe UI Semibold" panose="020B0702040204020203" pitchFamily="34" charset="0"/>
              <a:cs typeface="Segoe UI Semibold" panose="020B0702040204020203" pitchFamily="34" charset="0"/>
            </a:endParaRPr>
          </a:p>
          <a:p>
            <a:pPr marL="457200" indent="-457200">
              <a:buClr>
                <a:srgbClr val="D24726"/>
              </a:buClr>
              <a:buSzPct val="100000"/>
              <a:buFont typeface="Wingdings 2" panose="05020102010507070707" pitchFamily="18" charset="2"/>
              <a:buChar char=""/>
            </a:pPr>
            <a:r>
              <a:rPr lang="en-US" sz="2400" dirty="0">
                <a:solidFill>
                  <a:srgbClr val="404040"/>
                </a:solidFill>
              </a:rPr>
              <a:t>The use of the</a:t>
            </a:r>
            <a:r>
              <a:rPr lang="en-US" sz="2800" dirty="0">
                <a:solidFill>
                  <a:srgbClr val="404040"/>
                </a:solidFill>
              </a:rPr>
              <a:t> </a:t>
            </a:r>
            <a:r>
              <a:rPr lang="en-US" sz="2800" dirty="0">
                <a:solidFill>
                  <a:srgbClr val="D24726"/>
                </a:solidFill>
                <a:latin typeface="Segoe UI Semibold" panose="020B0702040204020203" pitchFamily="34" charset="0"/>
                <a:cs typeface="Segoe UI Semibold" panose="020B0702040204020203" pitchFamily="34" charset="0"/>
              </a:rPr>
              <a:t>language</a:t>
            </a:r>
            <a:r>
              <a:rPr lang="en-US" sz="2800" dirty="0">
                <a:solidFill>
                  <a:srgbClr val="404040"/>
                </a:solidFill>
              </a:rPr>
              <a:t> </a:t>
            </a:r>
            <a:r>
              <a:rPr lang="en-US" sz="2400" dirty="0">
                <a:solidFill>
                  <a:srgbClr val="404040"/>
                </a:solidFill>
              </a:rPr>
              <a:t>in this phase is improved.</a:t>
            </a:r>
          </a:p>
          <a:p>
            <a:endParaRPr lang="en-US" sz="3200" dirty="0">
              <a:solidFill>
                <a:srgbClr val="404040"/>
              </a:solidFill>
            </a:endParaRPr>
          </a:p>
        </p:txBody>
      </p:sp>
    </p:spTree>
    <p:extLst>
      <p:ext uri="{BB962C8B-B14F-4D97-AF65-F5344CB8AC3E}">
        <p14:creationId xmlns:p14="http://schemas.microsoft.com/office/powerpoint/2010/main" val="232124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t>Stage   : A sense of initiative and V.S guilt </a:t>
            </a:r>
            <a:r>
              <a:rPr lang="en-US" sz="2400" dirty="0"/>
              <a:t>(3/4 – 5 yrs.)</a:t>
            </a:r>
            <a:r>
              <a:rPr lang="en-US" sz="3600" dirty="0"/>
              <a:t> </a:t>
            </a:r>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738586" y="405931"/>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3</a:t>
            </a:r>
          </a:p>
        </p:txBody>
      </p:sp>
      <p:sp>
        <p:nvSpPr>
          <p:cNvPr id="9" name="Content Placeholder 8"/>
          <p:cNvSpPr>
            <a:spLocks noGrp="1"/>
          </p:cNvSpPr>
          <p:nvPr>
            <p:ph idx="1"/>
          </p:nvPr>
        </p:nvSpPr>
        <p:spPr/>
        <p:txBody>
          <a:bodyPr>
            <a:normAutofit/>
          </a:bodyPr>
          <a:lstStyle/>
          <a:p>
            <a:r>
              <a:rPr lang="en-US" sz="3200" dirty="0">
                <a:solidFill>
                  <a:srgbClr val="404040"/>
                </a:solidFill>
                <a:latin typeface="Segoe UI Semibold" panose="020B0702040204020203" pitchFamily="34" charset="0"/>
                <a:cs typeface="Segoe UI Semibold" panose="020B0702040204020203" pitchFamily="34" charset="0"/>
              </a:rPr>
              <a:t>Psychological development in this phase centers in to major tasks:</a:t>
            </a:r>
          </a:p>
          <a:p>
            <a:pPr marL="514350" indent="-514350">
              <a:buClr>
                <a:srgbClr val="D24726"/>
              </a:buClr>
              <a:buSzPct val="150000"/>
              <a:buFont typeface="+mj-lt"/>
              <a:buAutoNum type="arabicPeriod"/>
            </a:pPr>
            <a:r>
              <a:rPr lang="en-US" sz="2400" dirty="0">
                <a:solidFill>
                  <a:srgbClr val="404040"/>
                </a:solidFill>
              </a:rPr>
              <a:t>The child begins his relationship with others such as parents, peers, and other adult in the life.</a:t>
            </a:r>
          </a:p>
          <a:p>
            <a:pPr marL="514350" indent="-514350">
              <a:buClr>
                <a:srgbClr val="D24726"/>
              </a:buClr>
              <a:buSzPct val="150000"/>
              <a:buFont typeface="+mj-lt"/>
              <a:buAutoNum type="arabicPeriod"/>
            </a:pPr>
            <a:r>
              <a:rPr lang="en-US" sz="2400" dirty="0">
                <a:solidFill>
                  <a:srgbClr val="404040"/>
                </a:solidFill>
              </a:rPr>
              <a:t>The child begins to notice sex differences – the children are now experiencing being a boy or girl</a:t>
            </a:r>
            <a:r>
              <a:rPr lang="en-US" sz="3200" dirty="0">
                <a:solidFill>
                  <a:srgbClr val="404040"/>
                </a:solidFill>
              </a:rPr>
              <a:t>.</a:t>
            </a:r>
          </a:p>
          <a:p>
            <a:endParaRPr lang="en-US" sz="3200" dirty="0">
              <a:solidFill>
                <a:srgbClr val="404040"/>
              </a:solidFill>
            </a:endParaRPr>
          </a:p>
        </p:txBody>
      </p:sp>
    </p:spTree>
    <p:extLst>
      <p:ext uri="{BB962C8B-B14F-4D97-AF65-F5344CB8AC3E}">
        <p14:creationId xmlns:p14="http://schemas.microsoft.com/office/powerpoint/2010/main" val="385209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t>Stage    : A sense of industry V.S inferiority </a:t>
            </a:r>
            <a:r>
              <a:rPr lang="en-US" sz="2400" dirty="0"/>
              <a:t>(6 – 11 years.)</a:t>
            </a:r>
            <a:r>
              <a:rPr lang="en-US" sz="3600" dirty="0"/>
              <a:t> </a:t>
            </a:r>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738586" y="405931"/>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4</a:t>
            </a:r>
          </a:p>
        </p:txBody>
      </p:sp>
      <p:sp>
        <p:nvSpPr>
          <p:cNvPr id="9" name="Content Placeholder 8"/>
          <p:cNvSpPr>
            <a:spLocks noGrp="1"/>
          </p:cNvSpPr>
          <p:nvPr>
            <p:ph idx="1"/>
          </p:nvPr>
        </p:nvSpPr>
        <p:spPr/>
        <p:txBody>
          <a:bodyPr>
            <a:normAutofit/>
          </a:bodyPr>
          <a:lstStyle/>
          <a:p>
            <a:pPr marL="457200" indent="-457200">
              <a:buClr>
                <a:srgbClr val="D24726"/>
              </a:buClr>
              <a:buSzPct val="100000"/>
              <a:buFont typeface="Wingdings 2" panose="05020102010507070707" pitchFamily="18" charset="2"/>
              <a:buChar char=""/>
            </a:pPr>
            <a:r>
              <a:rPr lang="en-US" sz="2400" dirty="0">
                <a:solidFill>
                  <a:srgbClr val="404040"/>
                </a:solidFill>
              </a:rPr>
              <a:t>The divergence</a:t>
            </a:r>
            <a:r>
              <a:rPr lang="ar-IQ" sz="2400" dirty="0">
                <a:solidFill>
                  <a:srgbClr val="404040"/>
                </a:solidFill>
              </a:rPr>
              <a:t> </a:t>
            </a:r>
            <a:r>
              <a:rPr lang="en-US" sz="2400" dirty="0">
                <a:solidFill>
                  <a:srgbClr val="404040"/>
                </a:solidFill>
              </a:rPr>
              <a:t>of this phase is a sense of industry versus a sense of inferiority.</a:t>
            </a:r>
          </a:p>
          <a:p>
            <a:pPr marL="457200" indent="-457200">
              <a:buClr>
                <a:srgbClr val="D24726"/>
              </a:buClr>
              <a:buSzPct val="100000"/>
              <a:buFont typeface="Wingdings 2" panose="05020102010507070707" pitchFamily="18" charset="2"/>
              <a:buChar char=""/>
            </a:pPr>
            <a:r>
              <a:rPr lang="en-US" sz="2400" dirty="0">
                <a:solidFill>
                  <a:srgbClr val="404040"/>
                </a:solidFill>
              </a:rPr>
              <a:t>The child's energy is directed toward inventions and production.</a:t>
            </a:r>
          </a:p>
          <a:p>
            <a:pPr marL="457200" indent="-457200">
              <a:buClr>
                <a:srgbClr val="D24726"/>
              </a:buClr>
              <a:buSzPct val="100000"/>
              <a:buFont typeface="Wingdings 2" panose="05020102010507070707" pitchFamily="18" charset="2"/>
              <a:buChar char=""/>
            </a:pPr>
            <a:r>
              <a:rPr lang="en-US" sz="2400" dirty="0">
                <a:solidFill>
                  <a:srgbClr val="404040"/>
                </a:solidFill>
              </a:rPr>
              <a:t>Beginning to create, develop, and manipulate.</a:t>
            </a:r>
          </a:p>
          <a:p>
            <a:pPr marL="457200" indent="-457200">
              <a:buClr>
                <a:srgbClr val="D24726"/>
              </a:buClr>
              <a:buSzPct val="100000"/>
              <a:buFont typeface="Wingdings 2" panose="05020102010507070707" pitchFamily="18" charset="2"/>
              <a:buChar char=""/>
            </a:pPr>
            <a:r>
              <a:rPr lang="en-US" sz="2400" dirty="0">
                <a:solidFill>
                  <a:srgbClr val="404040"/>
                </a:solidFill>
              </a:rPr>
              <a:t>Developing sense of competence and perseverance.</a:t>
            </a:r>
          </a:p>
          <a:p>
            <a:endParaRPr lang="en-US" sz="3200" dirty="0">
              <a:solidFill>
                <a:srgbClr val="404040"/>
              </a:solidFill>
            </a:endParaRPr>
          </a:p>
        </p:txBody>
      </p:sp>
    </p:spTree>
    <p:extLst>
      <p:ext uri="{BB962C8B-B14F-4D97-AF65-F5344CB8AC3E}">
        <p14:creationId xmlns:p14="http://schemas.microsoft.com/office/powerpoint/2010/main" val="4165385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200" dirty="0"/>
              <a:t>Stage     : A sense of Identity V.S Identity diffusion </a:t>
            </a:r>
            <a:r>
              <a:rPr lang="en-US" sz="2000" dirty="0"/>
              <a:t>(12-20 years.)</a:t>
            </a:r>
            <a:r>
              <a:rPr lang="en-US" sz="3200" dirty="0"/>
              <a:t> </a:t>
            </a:r>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738586" y="405931"/>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5</a:t>
            </a:r>
          </a:p>
        </p:txBody>
      </p:sp>
      <p:sp>
        <p:nvSpPr>
          <p:cNvPr id="9" name="Content Placeholder 8"/>
          <p:cNvSpPr>
            <a:spLocks noGrp="1"/>
          </p:cNvSpPr>
          <p:nvPr>
            <p:ph idx="1"/>
          </p:nvPr>
        </p:nvSpPr>
        <p:spPr/>
        <p:txBody>
          <a:bodyPr>
            <a:normAutofit/>
          </a:bodyPr>
          <a:lstStyle/>
          <a:p>
            <a:pPr marL="457200" indent="-457200">
              <a:buClr>
                <a:srgbClr val="D24726"/>
              </a:buClr>
              <a:buSzPct val="100000"/>
              <a:buFont typeface="Wingdings 2" panose="05020102010507070707" pitchFamily="18" charset="2"/>
              <a:buChar char=""/>
            </a:pPr>
            <a:r>
              <a:rPr lang="en-US" sz="2400" dirty="0">
                <a:solidFill>
                  <a:srgbClr val="404040"/>
                </a:solidFill>
              </a:rPr>
              <a:t>A sense of </a:t>
            </a:r>
            <a:r>
              <a:rPr lang="en-US" sz="2800" dirty="0">
                <a:solidFill>
                  <a:srgbClr val="D24726"/>
                </a:solidFill>
                <a:latin typeface="Segoe UI Semibold" panose="020B0702040204020203" pitchFamily="34" charset="0"/>
                <a:cs typeface="Segoe UI Semibold" panose="020B0702040204020203" pitchFamily="34" charset="0"/>
              </a:rPr>
              <a:t>identity</a:t>
            </a:r>
            <a:r>
              <a:rPr lang="en-US" sz="2400" dirty="0">
                <a:solidFill>
                  <a:srgbClr val="404040"/>
                </a:solidFill>
              </a:rPr>
              <a:t> means a sense of being at one with oneself as one grows and develops.</a:t>
            </a:r>
          </a:p>
          <a:p>
            <a:pPr marL="457200" indent="-457200">
              <a:buClr>
                <a:srgbClr val="D24726"/>
              </a:buClr>
              <a:buSzPct val="100000"/>
              <a:buFont typeface="Wingdings 2" panose="05020102010507070707" pitchFamily="18" charset="2"/>
              <a:buChar char=""/>
            </a:pPr>
            <a:r>
              <a:rPr lang="en-US" sz="2400" dirty="0">
                <a:solidFill>
                  <a:srgbClr val="404040"/>
                </a:solidFill>
              </a:rPr>
              <a:t>Identity development is closely linked with the mastery of skills.</a:t>
            </a:r>
          </a:p>
          <a:p>
            <a:pPr marL="457200" indent="-457200">
              <a:buClr>
                <a:srgbClr val="D24726"/>
              </a:buClr>
              <a:buSzPct val="100000"/>
              <a:buFont typeface="Wingdings 2" panose="05020102010507070707" pitchFamily="18" charset="2"/>
              <a:buChar char=""/>
            </a:pPr>
            <a:r>
              <a:rPr lang="en-US" sz="2400" dirty="0">
                <a:solidFill>
                  <a:srgbClr val="404040"/>
                </a:solidFill>
              </a:rPr>
              <a:t>Achieving a sense of identity as well as overcoming a sense of identity diffusion </a:t>
            </a:r>
          </a:p>
          <a:p>
            <a:pPr marL="457200" indent="-457200">
              <a:buClr>
                <a:srgbClr val="D24726"/>
              </a:buClr>
              <a:buSzPct val="100000"/>
              <a:buFont typeface="Wingdings 2" panose="05020102010507070707" pitchFamily="18" charset="2"/>
              <a:buChar char=""/>
            </a:pPr>
            <a:r>
              <a:rPr lang="en-US" sz="2800" dirty="0">
                <a:solidFill>
                  <a:srgbClr val="D24726"/>
                </a:solidFill>
                <a:latin typeface="Segoe UI Semibold" panose="020B0702040204020203" pitchFamily="34" charset="0"/>
                <a:cs typeface="Segoe UI Semibold" panose="020B0702040204020203" pitchFamily="34" charset="0"/>
              </a:rPr>
              <a:t>Children physically </a:t>
            </a:r>
            <a:r>
              <a:rPr lang="en-US" sz="2400" dirty="0">
                <a:solidFill>
                  <a:srgbClr val="404040"/>
                </a:solidFill>
              </a:rPr>
              <a:t>mature into adulthood; they experience rapid body growth, important physiological and anatomical changes. </a:t>
            </a:r>
          </a:p>
          <a:p>
            <a:pPr marL="457200" indent="-457200">
              <a:buClr>
                <a:srgbClr val="D24726"/>
              </a:buClr>
              <a:buSzPct val="100000"/>
              <a:buFont typeface="Wingdings 2" panose="05020102010507070707" pitchFamily="18" charset="2"/>
              <a:buChar char=""/>
            </a:pPr>
            <a:r>
              <a:rPr lang="en-US" sz="2800" dirty="0">
                <a:solidFill>
                  <a:srgbClr val="D24726"/>
                </a:solidFill>
                <a:latin typeface="Segoe UI Semibold" panose="020B0702040204020203" pitchFamily="34" charset="0"/>
                <a:cs typeface="Segoe UI Semibold" panose="020B0702040204020203" pitchFamily="34" charset="0"/>
              </a:rPr>
              <a:t>Previous trust </a:t>
            </a:r>
            <a:r>
              <a:rPr lang="en-US" sz="2400" dirty="0">
                <a:solidFill>
                  <a:srgbClr val="404040"/>
                </a:solidFill>
              </a:rPr>
              <a:t>in their body and their mastery of its functions is </a:t>
            </a:r>
            <a:r>
              <a:rPr lang="en-US" sz="2800" dirty="0">
                <a:solidFill>
                  <a:srgbClr val="D24726"/>
                </a:solidFill>
                <a:latin typeface="Segoe UI Semibold" panose="020B0702040204020203" pitchFamily="34" charset="0"/>
                <a:cs typeface="Segoe UI Semibold" panose="020B0702040204020203" pitchFamily="34" charset="0"/>
              </a:rPr>
              <a:t>suddenly shaken.</a:t>
            </a:r>
          </a:p>
          <a:p>
            <a:endParaRPr lang="en-US" sz="2400" dirty="0">
              <a:solidFill>
                <a:srgbClr val="404040"/>
              </a:solidFill>
            </a:endParaRPr>
          </a:p>
        </p:txBody>
      </p:sp>
    </p:spTree>
    <p:extLst>
      <p:ext uri="{BB962C8B-B14F-4D97-AF65-F5344CB8AC3E}">
        <p14:creationId xmlns:p14="http://schemas.microsoft.com/office/powerpoint/2010/main" val="370794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200" dirty="0"/>
              <a:t>Stage     : A sense of Identity V.S Identity diffusion </a:t>
            </a:r>
            <a:r>
              <a:rPr lang="en-US" sz="2000" dirty="0"/>
              <a:t>(12-20 years.)</a:t>
            </a:r>
            <a:r>
              <a:rPr lang="en-US" sz="3200" dirty="0"/>
              <a:t> </a:t>
            </a:r>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738586" y="405931"/>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5</a:t>
            </a:r>
          </a:p>
        </p:txBody>
      </p:sp>
      <p:sp>
        <p:nvSpPr>
          <p:cNvPr id="9" name="Content Placeholder 8"/>
          <p:cNvSpPr>
            <a:spLocks noGrp="1"/>
          </p:cNvSpPr>
          <p:nvPr>
            <p:ph idx="1"/>
          </p:nvPr>
        </p:nvSpPr>
        <p:spPr/>
        <p:txBody>
          <a:bodyPr>
            <a:normAutofit/>
          </a:bodyPr>
          <a:lstStyle/>
          <a:p>
            <a:pPr marL="457200" indent="-457200">
              <a:buClr>
                <a:srgbClr val="D24726"/>
              </a:buClr>
              <a:buSzPct val="100000"/>
              <a:buFont typeface="Wingdings 2" panose="05020102010507070707" pitchFamily="18" charset="2"/>
              <a:buChar char=""/>
            </a:pPr>
            <a:r>
              <a:rPr lang="en-US" sz="2400" dirty="0">
                <a:solidFill>
                  <a:srgbClr val="404040"/>
                </a:solidFill>
              </a:rPr>
              <a:t>Young adolescents experience a close attachment to their parents while they reach for new and more satisfactory contacts in association outside the family.</a:t>
            </a:r>
          </a:p>
          <a:p>
            <a:pPr marL="457200" indent="-457200">
              <a:buClr>
                <a:srgbClr val="D24726"/>
              </a:buClr>
              <a:buSzPct val="100000"/>
              <a:buFont typeface="Wingdings 2" panose="05020102010507070707" pitchFamily="18" charset="2"/>
              <a:buChar char=""/>
            </a:pPr>
            <a:endParaRPr lang="en-US" sz="2400" dirty="0">
              <a:solidFill>
                <a:srgbClr val="404040"/>
              </a:solidFill>
            </a:endParaRPr>
          </a:p>
          <a:p>
            <a:pPr marL="457200" indent="-457200">
              <a:buClr>
                <a:srgbClr val="D24726"/>
              </a:buClr>
              <a:buSzPct val="100000"/>
              <a:buFont typeface="Wingdings 2" panose="05020102010507070707" pitchFamily="18" charset="2"/>
              <a:buChar char=""/>
            </a:pPr>
            <a:r>
              <a:rPr lang="en-US" sz="2400" dirty="0">
                <a:solidFill>
                  <a:srgbClr val="404040"/>
                </a:solidFill>
              </a:rPr>
              <a:t>They learn to interact with more and more people at a given times and they learn in which way they should relate to them. In this process they become individuals in and members of their community.</a:t>
            </a:r>
          </a:p>
          <a:p>
            <a:endParaRPr lang="en-US" sz="2400" dirty="0">
              <a:solidFill>
                <a:srgbClr val="404040"/>
              </a:solidFill>
            </a:endParaRPr>
          </a:p>
        </p:txBody>
      </p:sp>
    </p:spTree>
    <p:extLst>
      <p:ext uri="{BB962C8B-B14F-4D97-AF65-F5344CB8AC3E}">
        <p14:creationId xmlns:p14="http://schemas.microsoft.com/office/powerpoint/2010/main" val="112088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200" dirty="0"/>
              <a:t>Stage     : A sense of Identity V.S Identity diffusion </a:t>
            </a:r>
            <a:r>
              <a:rPr lang="en-US" sz="2000" dirty="0"/>
              <a:t>(12-20 years.)</a:t>
            </a:r>
            <a:r>
              <a:rPr lang="en-US" sz="3200" dirty="0"/>
              <a:t> </a:t>
            </a:r>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738586" y="405931"/>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5</a:t>
            </a:r>
          </a:p>
        </p:txBody>
      </p:sp>
      <p:sp>
        <p:nvSpPr>
          <p:cNvPr id="9" name="Content Placeholder 8"/>
          <p:cNvSpPr>
            <a:spLocks noGrp="1"/>
          </p:cNvSpPr>
          <p:nvPr>
            <p:ph idx="1"/>
          </p:nvPr>
        </p:nvSpPr>
        <p:spPr/>
        <p:txBody>
          <a:bodyPr>
            <a:normAutofit/>
          </a:bodyPr>
          <a:lstStyle/>
          <a:p>
            <a:pPr marL="457200" indent="-457200">
              <a:buClr>
                <a:srgbClr val="D24726"/>
              </a:buClr>
              <a:buSzPct val="100000"/>
              <a:buFont typeface="Wingdings 2" panose="05020102010507070707" pitchFamily="18" charset="2"/>
              <a:buChar char=""/>
            </a:pPr>
            <a:r>
              <a:rPr lang="en-US" sz="2400" dirty="0">
                <a:solidFill>
                  <a:srgbClr val="404040"/>
                </a:solidFill>
              </a:rPr>
              <a:t>Adolescents develop their relationship with significant adult in his/her life.</a:t>
            </a:r>
          </a:p>
          <a:p>
            <a:pPr marL="457200" indent="-457200">
              <a:buClr>
                <a:srgbClr val="D24726"/>
              </a:buClr>
              <a:buSzPct val="100000"/>
              <a:buFont typeface="Wingdings 2" panose="05020102010507070707" pitchFamily="18" charset="2"/>
              <a:buChar char=""/>
            </a:pPr>
            <a:endParaRPr lang="en-US" sz="2400" dirty="0">
              <a:solidFill>
                <a:srgbClr val="404040"/>
              </a:solidFill>
            </a:endParaRPr>
          </a:p>
          <a:p>
            <a:pPr marL="457200" indent="-457200">
              <a:buClr>
                <a:srgbClr val="D24726"/>
              </a:buClr>
              <a:buSzPct val="100000"/>
              <a:buFont typeface="Wingdings 2" panose="05020102010507070707" pitchFamily="18" charset="2"/>
              <a:buChar char=""/>
            </a:pPr>
            <a:r>
              <a:rPr lang="en-US" sz="2400" dirty="0">
                <a:solidFill>
                  <a:srgbClr val="404040"/>
                </a:solidFill>
              </a:rPr>
              <a:t>Identity development moves from the reality of being to the reality of becoming</a:t>
            </a:r>
          </a:p>
        </p:txBody>
      </p:sp>
    </p:spTree>
    <p:extLst>
      <p:ext uri="{BB962C8B-B14F-4D97-AF65-F5344CB8AC3E}">
        <p14:creationId xmlns:p14="http://schemas.microsoft.com/office/powerpoint/2010/main" val="203184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dirty="0"/>
              <a:t>Stage     : A sense of intimacy and solidarity V.S Isolation </a:t>
            </a:r>
            <a:r>
              <a:rPr lang="en-US" sz="1800" dirty="0"/>
              <a:t>(20-40 years.)</a:t>
            </a:r>
            <a:r>
              <a:rPr lang="en-US" dirty="0"/>
              <a:t> </a:t>
            </a:r>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570145" y="405931"/>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6</a:t>
            </a:r>
          </a:p>
        </p:txBody>
      </p:sp>
      <p:sp>
        <p:nvSpPr>
          <p:cNvPr id="9" name="Content Placeholder 8"/>
          <p:cNvSpPr>
            <a:spLocks noGrp="1"/>
          </p:cNvSpPr>
          <p:nvPr>
            <p:ph idx="1"/>
          </p:nvPr>
        </p:nvSpPr>
        <p:spPr/>
        <p:txBody>
          <a:bodyPr>
            <a:normAutofit/>
          </a:bodyPr>
          <a:lstStyle/>
          <a:p>
            <a:pPr marL="457200" indent="-457200">
              <a:buClr>
                <a:srgbClr val="D24726"/>
              </a:buClr>
              <a:buSzPct val="100000"/>
              <a:buFont typeface="Wingdings 2" panose="05020102010507070707" pitchFamily="18" charset="2"/>
              <a:buChar char=""/>
            </a:pPr>
            <a:r>
              <a:rPr lang="en-US" sz="2400" dirty="0">
                <a:solidFill>
                  <a:srgbClr val="404040"/>
                </a:solidFill>
              </a:rPr>
              <a:t>This period is a time to enjoy life with adult liberty and responsibility.</a:t>
            </a:r>
          </a:p>
          <a:p>
            <a:pPr marL="457200" indent="-457200">
              <a:buClr>
                <a:srgbClr val="D24726"/>
              </a:buClr>
              <a:buSzPct val="100000"/>
              <a:buFont typeface="Wingdings 2" panose="05020102010507070707" pitchFamily="18" charset="2"/>
              <a:buChar char=""/>
            </a:pPr>
            <a:r>
              <a:rPr lang="en-US" sz="2400" dirty="0">
                <a:solidFill>
                  <a:srgbClr val="404040"/>
                </a:solidFill>
              </a:rPr>
              <a:t>The major developmental theme now involves </a:t>
            </a:r>
            <a:r>
              <a:rPr lang="en-US" sz="2400" dirty="0">
                <a:solidFill>
                  <a:srgbClr val="404040"/>
                </a:solidFill>
                <a:latin typeface="Segoe UI Semibold" panose="020B0702040204020203" pitchFamily="34" charset="0"/>
                <a:cs typeface="Segoe UI Semibold" panose="020B0702040204020203" pitchFamily="34" charset="0"/>
              </a:rPr>
              <a:t>psychological readiness and a commitment to mutual intimacy in the partnership of marriage.</a:t>
            </a:r>
          </a:p>
          <a:p>
            <a:pPr marL="457200" indent="-457200">
              <a:buClr>
                <a:srgbClr val="D24726"/>
              </a:buClr>
              <a:buSzPct val="100000"/>
              <a:buFont typeface="Wingdings 2" panose="05020102010507070707" pitchFamily="18" charset="2"/>
              <a:buChar char=""/>
            </a:pPr>
            <a:r>
              <a:rPr lang="en-US" sz="2400" dirty="0">
                <a:solidFill>
                  <a:srgbClr val="404040"/>
                </a:solidFill>
              </a:rPr>
              <a:t>In this phase a foundation is prepared for the couple's own life and the lives of others. Graduation from adolescence requires a sense of shared identity.</a:t>
            </a:r>
          </a:p>
          <a:p>
            <a:pPr marL="457200" indent="-457200">
              <a:buClr>
                <a:srgbClr val="D24726"/>
              </a:buClr>
              <a:buSzPct val="100000"/>
              <a:buFont typeface="Wingdings 2" panose="05020102010507070707" pitchFamily="18" charset="2"/>
              <a:buChar char=""/>
            </a:pPr>
            <a:r>
              <a:rPr lang="en-US" sz="2400" dirty="0">
                <a:solidFill>
                  <a:srgbClr val="404040"/>
                </a:solidFill>
              </a:rPr>
              <a:t>Intimacy involves a balance between giving to other and maintaining oneself.</a:t>
            </a:r>
          </a:p>
        </p:txBody>
      </p:sp>
    </p:spTree>
    <p:extLst>
      <p:ext uri="{BB962C8B-B14F-4D97-AF65-F5344CB8AC3E}">
        <p14:creationId xmlns:p14="http://schemas.microsoft.com/office/powerpoint/2010/main" val="103713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200" dirty="0"/>
              <a:t>Stage    : A sense of Generativity V.S self absorption</a:t>
            </a:r>
            <a:r>
              <a:rPr lang="en-US" dirty="0"/>
              <a:t> </a:t>
            </a:r>
            <a:r>
              <a:rPr lang="en-US" sz="1800" dirty="0"/>
              <a:t>(40 - 60 years.)</a:t>
            </a:r>
            <a:r>
              <a:rPr lang="en-US" dirty="0"/>
              <a:t> </a:t>
            </a:r>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570145" y="405931"/>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7</a:t>
            </a:r>
          </a:p>
        </p:txBody>
      </p:sp>
      <p:sp>
        <p:nvSpPr>
          <p:cNvPr id="9" name="Content Placeholder 8"/>
          <p:cNvSpPr>
            <a:spLocks noGrp="1"/>
          </p:cNvSpPr>
          <p:nvPr>
            <p:ph idx="1"/>
          </p:nvPr>
        </p:nvSpPr>
        <p:spPr/>
        <p:txBody>
          <a:bodyPr>
            <a:normAutofit/>
          </a:bodyPr>
          <a:lstStyle/>
          <a:p>
            <a:pPr marL="457200" indent="-457200">
              <a:buClr>
                <a:srgbClr val="D24726"/>
              </a:buClr>
              <a:buSzPct val="100000"/>
              <a:buFont typeface="Wingdings 2" panose="05020102010507070707" pitchFamily="18" charset="2"/>
              <a:buChar char=""/>
            </a:pPr>
            <a:r>
              <a:rPr lang="en-US" sz="2400" dirty="0">
                <a:solidFill>
                  <a:srgbClr val="404040"/>
                </a:solidFill>
              </a:rPr>
              <a:t>The second of developmental phase of adulthood deals with assuring care for the new generation.</a:t>
            </a:r>
          </a:p>
          <a:p>
            <a:pPr marL="457200" indent="-457200">
              <a:buClr>
                <a:srgbClr val="D24726"/>
              </a:buClr>
              <a:buSzPct val="100000"/>
              <a:buFont typeface="Wingdings 2" panose="05020102010507070707" pitchFamily="18" charset="2"/>
              <a:buChar char=""/>
            </a:pPr>
            <a:r>
              <a:rPr lang="en-US" sz="2800" dirty="0">
                <a:solidFill>
                  <a:srgbClr val="D24726"/>
                </a:solidFill>
                <a:latin typeface="Segoe UI Semibold" panose="020B0702040204020203" pitchFamily="34" charset="0"/>
                <a:cs typeface="Segoe UI Semibold" panose="020B0702040204020203" pitchFamily="34" charset="0"/>
              </a:rPr>
              <a:t>Generativity</a:t>
            </a:r>
            <a:r>
              <a:rPr lang="en-US" sz="2400" dirty="0">
                <a:solidFill>
                  <a:srgbClr val="404040"/>
                </a:solidFill>
              </a:rPr>
              <a:t> refers to the care they provide as a unit in society at large to the next generation.</a:t>
            </a:r>
          </a:p>
          <a:p>
            <a:pPr marL="457200" indent="-457200">
              <a:buClr>
                <a:srgbClr val="D24726"/>
              </a:buClr>
              <a:buSzPct val="100000"/>
              <a:buFont typeface="Wingdings 2" panose="05020102010507070707" pitchFamily="18" charset="2"/>
              <a:buChar char=""/>
            </a:pPr>
            <a:r>
              <a:rPr lang="en-US" sz="2400" dirty="0">
                <a:solidFill>
                  <a:srgbClr val="404040"/>
                </a:solidFill>
              </a:rPr>
              <a:t>It is the period in life when individuals are productive in work to satisfy themselves and people beyond their own family borders.</a:t>
            </a:r>
          </a:p>
        </p:txBody>
      </p:sp>
    </p:spTree>
    <p:extLst>
      <p:ext uri="{BB962C8B-B14F-4D97-AF65-F5344CB8AC3E}">
        <p14:creationId xmlns:p14="http://schemas.microsoft.com/office/powerpoint/2010/main" val="2425785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4000" dirty="0"/>
              <a:t>Stage   : A sense of Integrity V.S Despair </a:t>
            </a:r>
            <a:r>
              <a:rPr lang="en-US" sz="1800" dirty="0"/>
              <a:t>(60 years &amp; above.)</a:t>
            </a:r>
            <a:r>
              <a:rPr lang="en-US" dirty="0"/>
              <a:t> </a:t>
            </a:r>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882964" y="405931"/>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8</a:t>
            </a:r>
          </a:p>
        </p:txBody>
      </p:sp>
      <p:sp>
        <p:nvSpPr>
          <p:cNvPr id="9" name="Content Placeholder 8"/>
          <p:cNvSpPr>
            <a:spLocks noGrp="1"/>
          </p:cNvSpPr>
          <p:nvPr>
            <p:ph idx="1"/>
          </p:nvPr>
        </p:nvSpPr>
        <p:spPr/>
        <p:txBody>
          <a:bodyPr>
            <a:normAutofit/>
          </a:bodyPr>
          <a:lstStyle/>
          <a:p>
            <a:pPr marL="457200" indent="-457200">
              <a:buClr>
                <a:srgbClr val="D24726"/>
              </a:buClr>
              <a:buSzPct val="100000"/>
              <a:buFont typeface="Wingdings 2" panose="05020102010507070707" pitchFamily="18" charset="2"/>
              <a:buChar char=""/>
            </a:pPr>
            <a:r>
              <a:rPr lang="en-US" sz="2400" dirty="0">
                <a:solidFill>
                  <a:srgbClr val="404040"/>
                </a:solidFill>
              </a:rPr>
              <a:t>Integrity refers to the acceptance of the individual life cycles of human beings as something that has to be. If in old age one prefers not to be what one was not meant to be, one has found a sense of integrity.</a:t>
            </a:r>
          </a:p>
          <a:p>
            <a:pPr marL="457200" indent="-457200">
              <a:buClr>
                <a:srgbClr val="D24726"/>
              </a:buClr>
              <a:buSzPct val="100000"/>
              <a:buFont typeface="Wingdings 2" panose="05020102010507070707" pitchFamily="18" charset="2"/>
              <a:buChar char=""/>
            </a:pPr>
            <a:r>
              <a:rPr lang="en-US" sz="2400" dirty="0">
                <a:solidFill>
                  <a:srgbClr val="404040"/>
                </a:solidFill>
              </a:rPr>
              <a:t>It includes overcoming a sense of despair, a sense of disgust at certain life styles, and a fear of death at the end. </a:t>
            </a:r>
          </a:p>
        </p:txBody>
      </p:sp>
    </p:spTree>
    <p:extLst>
      <p:ext uri="{BB962C8B-B14F-4D97-AF65-F5344CB8AC3E}">
        <p14:creationId xmlns:p14="http://schemas.microsoft.com/office/powerpoint/2010/main" val="388462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4000" dirty="0"/>
              <a:t>Stage   : A sense of Integrity V.S Despair </a:t>
            </a:r>
            <a:r>
              <a:rPr lang="en-US" sz="1800" dirty="0"/>
              <a:t>(60 years &amp; above.)</a:t>
            </a:r>
            <a:r>
              <a:rPr lang="en-US" dirty="0"/>
              <a:t> </a:t>
            </a:r>
          </a:p>
        </p:txBody>
      </p:sp>
      <p:sp>
        <p:nvSpPr>
          <p:cNvPr id="6" name="Number 1" descr="Number 1">
            <a:extLst>
              <a:ext uri="{FF2B5EF4-FFF2-40B4-BE49-F238E27FC236}">
                <a16:creationId xmlns:a16="http://schemas.microsoft.com/office/drawing/2014/main" id="{19E2E363-0700-436B-B08B-5823F5C0AD93}"/>
              </a:ext>
            </a:extLst>
          </p:cNvPr>
          <p:cNvSpPr txBox="1">
            <a:spLocks noChangeAspect="1"/>
          </p:cNvSpPr>
          <p:nvPr/>
        </p:nvSpPr>
        <p:spPr bwMode="blackWhite">
          <a:xfrm>
            <a:off x="1882964" y="405931"/>
            <a:ext cx="649548" cy="769441"/>
          </a:xfrm>
          <a:prstGeom prst="rect">
            <a:avLst/>
          </a:prstGeom>
          <a:noFill/>
        </p:spPr>
        <p:txBody>
          <a:bodyPr wrap="square" rtlCol="0">
            <a:spAutoFit/>
          </a:bodyPr>
          <a:lstStyle/>
          <a:p>
            <a:r>
              <a:rPr lang="en-US" sz="4400" dirty="0">
                <a:solidFill>
                  <a:srgbClr val="D24726"/>
                </a:solidFill>
                <a:latin typeface="Segoe UI Black" panose="020B0A02040204020203" pitchFamily="34" charset="0"/>
                <a:ea typeface="Segoe UI Black" panose="020B0A02040204020203" pitchFamily="34" charset="0"/>
                <a:cs typeface="Segoe UI Black" panose="020B0A02040204020203" pitchFamily="34" charset="0"/>
              </a:rPr>
              <a:t>8</a:t>
            </a:r>
          </a:p>
        </p:txBody>
      </p:sp>
      <p:sp>
        <p:nvSpPr>
          <p:cNvPr id="9" name="Content Placeholder 8"/>
          <p:cNvSpPr>
            <a:spLocks noGrp="1"/>
          </p:cNvSpPr>
          <p:nvPr>
            <p:ph idx="1"/>
          </p:nvPr>
        </p:nvSpPr>
        <p:spPr/>
        <p:txBody>
          <a:bodyPr>
            <a:normAutofit/>
          </a:bodyPr>
          <a:lstStyle/>
          <a:p>
            <a:pPr marL="457200" indent="-457200">
              <a:buClr>
                <a:srgbClr val="D24726"/>
              </a:buClr>
              <a:buSzPct val="100000"/>
              <a:buFont typeface="Wingdings 2" panose="05020102010507070707" pitchFamily="18" charset="2"/>
              <a:buChar char=""/>
            </a:pPr>
            <a:r>
              <a:rPr lang="en-US" sz="2400" dirty="0">
                <a:solidFill>
                  <a:srgbClr val="404040"/>
                </a:solidFill>
              </a:rPr>
              <a:t>In this phase, one often finds wisdom and a philosophy of life which extends beyond one's own life cycle to future developmental cycle.</a:t>
            </a:r>
          </a:p>
          <a:p>
            <a:pPr marL="457200" indent="-457200">
              <a:buClr>
                <a:srgbClr val="D24726"/>
              </a:buClr>
              <a:buSzPct val="100000"/>
              <a:buFont typeface="Wingdings 2" panose="05020102010507070707" pitchFamily="18" charset="2"/>
              <a:buChar char=""/>
            </a:pPr>
            <a:r>
              <a:rPr lang="en-US" sz="2400" dirty="0">
                <a:solidFill>
                  <a:srgbClr val="404040"/>
                </a:solidFill>
                <a:cs typeface="Segoe UI Semibold" panose="020B0702040204020203" pitchFamily="34" charset="0"/>
              </a:rPr>
              <a:t>With a faith and trust in generations, Erickson says:</a:t>
            </a:r>
          </a:p>
          <a:p>
            <a:pPr algn="ctr">
              <a:buClr>
                <a:srgbClr val="D24726"/>
              </a:buClr>
              <a:buSzPct val="100000"/>
              <a:buNone/>
            </a:pPr>
            <a:r>
              <a:rPr lang="en-US" sz="2400" dirty="0">
                <a:solidFill>
                  <a:srgbClr val="404040"/>
                </a:solidFill>
                <a:latin typeface="Segoe UI Semibold" panose="020B0702040204020203" pitchFamily="34" charset="0"/>
                <a:cs typeface="Segoe UI Semibold" panose="020B0702040204020203" pitchFamily="34" charset="0"/>
              </a:rPr>
              <a:t>          " healthy children will not fear life, if their parents have integrity enough not to fear death"</a:t>
            </a:r>
          </a:p>
        </p:txBody>
      </p:sp>
    </p:spTree>
    <p:extLst>
      <p:ext uri="{BB962C8B-B14F-4D97-AF65-F5344CB8AC3E}">
        <p14:creationId xmlns:p14="http://schemas.microsoft.com/office/powerpoint/2010/main" val="3038221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8E43B4C-EE13-43A7-A67F-25F69BE7079E}" type="slidenum">
              <a:rPr lang="ar-SA" altLang="en-US">
                <a:latin typeface="Garamond" panose="02020404030301010803" pitchFamily="18" charset="0"/>
              </a:rPr>
              <a:pPr eaLnBrk="1" hangingPunct="1"/>
              <a:t>25</a:t>
            </a:fld>
            <a:endParaRPr lang="en-US" altLang="en-US">
              <a:latin typeface="Garamond" panose="02020404030301010803" pitchFamily="18" charset="0"/>
            </a:endParaRPr>
          </a:p>
        </p:txBody>
      </p:sp>
      <p:sp>
        <p:nvSpPr>
          <p:cNvPr id="5" name="Rectangle 8"/>
          <p:cNvSpPr/>
          <p:nvPr/>
        </p:nvSpPr>
        <p:spPr>
          <a:xfrm>
            <a:off x="0" y="0"/>
            <a:ext cx="12191999" cy="6858000"/>
          </a:xfrm>
          <a:prstGeom prst="rect">
            <a:avLst/>
          </a:prstGeom>
          <a:solidFill>
            <a:srgbClr val="0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aphicFrame>
        <p:nvGraphicFramePr>
          <p:cNvPr id="68876" name="Group 268"/>
          <p:cNvGraphicFramePr>
            <a:graphicFrameLocks noGrp="1"/>
          </p:cNvGraphicFramePr>
          <p:nvPr>
            <p:ph idx="1"/>
            <p:extLst>
              <p:ext uri="{D42A27DB-BD31-4B8C-83A1-F6EECF244321}">
                <p14:modId xmlns:p14="http://schemas.microsoft.com/office/powerpoint/2010/main" val="392763330"/>
              </p:ext>
            </p:extLst>
          </p:nvPr>
        </p:nvGraphicFramePr>
        <p:xfrm>
          <a:off x="2810286" y="370339"/>
          <a:ext cx="8856662" cy="6214819"/>
        </p:xfrm>
        <a:graphic>
          <a:graphicData uri="http://schemas.openxmlformats.org/drawingml/2006/table">
            <a:tbl>
              <a:tblPr/>
              <a:tblGrid>
                <a:gridCol w="1346200">
                  <a:extLst>
                    <a:ext uri="{9D8B030D-6E8A-4147-A177-3AD203B41FA5}">
                      <a16:colId xmlns:a16="http://schemas.microsoft.com/office/drawing/2014/main" val="20000"/>
                    </a:ext>
                  </a:extLst>
                </a:gridCol>
                <a:gridCol w="1166812">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gridCol w="5137150">
                  <a:extLst>
                    <a:ext uri="{9D8B030D-6E8A-4147-A177-3AD203B41FA5}">
                      <a16:colId xmlns:a16="http://schemas.microsoft.com/office/drawing/2014/main" val="20003"/>
                    </a:ext>
                  </a:extLst>
                </a:gridCol>
              </a:tblGrid>
              <a:tr h="452473">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rgbClr val="D24726"/>
                          </a:solidFill>
                          <a:effectLst/>
                          <a:latin typeface="+mj-lt"/>
                          <a:cs typeface="Times New Roman" pitchFamily="18" charset="0"/>
                        </a:rPr>
                        <a:t>Stage</a:t>
                      </a:r>
                      <a:endParaRPr kumimoji="0" lang="en-US" sz="1200" b="1" i="0" u="none" strike="noStrike" cap="none" normalizeH="0" baseline="0" dirty="0">
                        <a:ln>
                          <a:noFill/>
                        </a:ln>
                        <a:solidFill>
                          <a:srgbClr val="D24726"/>
                        </a:solidFill>
                        <a:effectLst/>
                        <a:latin typeface="+mj-lt"/>
                        <a:cs typeface="Arial"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rgbClr val="D24726"/>
                          </a:solidFill>
                          <a:effectLst/>
                          <a:latin typeface="+mj-lt"/>
                          <a:cs typeface="Times New Roman" pitchFamily="18" charset="0"/>
                        </a:rPr>
                        <a:t>Basic</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rgbClr val="D24726"/>
                          </a:solidFill>
                          <a:effectLst/>
                          <a:latin typeface="+mj-lt"/>
                          <a:cs typeface="Times New Roman" pitchFamily="18" charset="0"/>
                        </a:rPr>
                        <a:t> Conflict</a:t>
                      </a:r>
                      <a:endParaRPr kumimoji="0" lang="en-US" sz="1200" b="1" i="0" u="none" strike="noStrike" cap="none" normalizeH="0" baseline="0" dirty="0">
                        <a:ln>
                          <a:noFill/>
                        </a:ln>
                        <a:solidFill>
                          <a:srgbClr val="D24726"/>
                        </a:solidFill>
                        <a:effectLst/>
                        <a:latin typeface="+mj-lt"/>
                        <a:cs typeface="Arial"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rgbClr val="D24726"/>
                          </a:solidFill>
                          <a:effectLst/>
                          <a:latin typeface="+mj-lt"/>
                          <a:cs typeface="Times New Roman" pitchFamily="18" charset="0"/>
                        </a:rPr>
                        <a:t>Important</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rgbClr val="D24726"/>
                          </a:solidFill>
                          <a:effectLst/>
                          <a:latin typeface="+mj-lt"/>
                          <a:cs typeface="Times New Roman" pitchFamily="18" charset="0"/>
                        </a:rPr>
                        <a:t>Events</a:t>
                      </a:r>
                      <a:endParaRPr kumimoji="0" lang="en-US" sz="1200" b="1" i="0" u="none" strike="noStrike" cap="none" normalizeH="0" baseline="0" dirty="0">
                        <a:ln>
                          <a:noFill/>
                        </a:ln>
                        <a:solidFill>
                          <a:srgbClr val="D24726"/>
                        </a:solidFill>
                        <a:effectLst/>
                        <a:latin typeface="+mj-lt"/>
                        <a:cs typeface="Arial"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rgbClr val="D24726"/>
                          </a:solidFill>
                          <a:effectLst/>
                          <a:latin typeface="+mj-lt"/>
                          <a:cs typeface="Times New Roman" pitchFamily="18" charset="0"/>
                        </a:rPr>
                        <a:t>Outcome</a:t>
                      </a:r>
                      <a:endParaRPr kumimoji="0" lang="en-US" sz="1200" b="1" i="0" u="none" strike="noStrike" cap="none" normalizeH="0" baseline="0" dirty="0">
                        <a:ln>
                          <a:noFill/>
                        </a:ln>
                        <a:solidFill>
                          <a:srgbClr val="D24726"/>
                        </a:solidFill>
                        <a:effectLst/>
                        <a:latin typeface="+mj-lt"/>
                        <a:cs typeface="Arial"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595523">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Infancy (birth to 18 months)</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Trust vs.</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Mistrust</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Feeding</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Children develop a sense of trust when caregivers provide reliability, care, and affection. A lack of this will lead to mistrust.</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765673">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Early Childhood </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(2 to 3 years)</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Autonomy vs.</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Shame and Doubt</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Toilet</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Training </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Children need to develop a sense of personal control over physical skills and a sense of independence. Success leads to feelings of autonomy, failure results in feelings of shame and doubt.</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765673">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Preschool </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(3 to 5 years)</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Initiative vs. </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Guilt</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Exploration</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Children need to begin asserting control and power over the environment. Success in this stage leads to a sense of purpose. Children who try to exert too much power experience disapproval, resulting in a sense of guilt.</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r h="595523">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School Age</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 (6 to 11 years)</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Industry vs. </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Inferiority</a:t>
                      </a:r>
                    </a:p>
                    <a:p>
                      <a:pPr marL="342900" marR="0" lvl="0" indent="-342900" algn="l" defTabSz="914400" rtl="0" eaLnBrk="1" fontAlgn="base" latinLnBrk="0" hangingPunct="1">
                        <a:lnSpc>
                          <a:spcPct val="100000"/>
                        </a:lnSpc>
                        <a:spcBef>
                          <a:spcPct val="0"/>
                        </a:spcBef>
                        <a:spcAft>
                          <a:spcPct val="0"/>
                        </a:spcAft>
                        <a:buClrTx/>
                        <a:buSzPct val="65000"/>
                        <a:buFontTx/>
                        <a:buNone/>
                        <a:tabLst/>
                      </a:pPr>
                      <a:endPar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School</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Children need to cope with new social and academic demands. Success leads to a sense of competence, while failure results in feelings of inferiority.</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4"/>
                  </a:ext>
                </a:extLst>
              </a:tr>
              <a:tr h="647383">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Adolescence </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(12 to 18 years)</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Identity vs. Role</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confusion</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Social </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Relationships</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Teens needs to develop a sense of self and personal identity. Success leads to an ability to stay true to yourself, while failure leads to role confusion and a weak sense of self.</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5"/>
                  </a:ext>
                </a:extLst>
              </a:tr>
              <a:tr h="613970">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Young Adulthood</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 (19 to 40 years)</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Intimacy vs.</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Isolation</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Relationships</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Young adults need to form intimate, loving relationships with other people. Success leads to strong relationships, while failure results in loneliness and isolation.</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6"/>
                  </a:ext>
                </a:extLst>
              </a:tr>
              <a:tr h="935822">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Middle</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Adulthood </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(40 to 65 years)</a:t>
                      </a:r>
                    </a:p>
                    <a:p>
                      <a:pPr marL="342900" marR="0" lvl="0" indent="-342900" algn="l" defTabSz="914400" rtl="0" eaLnBrk="1" fontAlgn="base" latinLnBrk="0" hangingPunct="1">
                        <a:lnSpc>
                          <a:spcPct val="100000"/>
                        </a:lnSpc>
                        <a:spcBef>
                          <a:spcPct val="0"/>
                        </a:spcBef>
                        <a:spcAft>
                          <a:spcPct val="0"/>
                        </a:spcAft>
                        <a:buClrTx/>
                        <a:buSzPct val="65000"/>
                        <a:buFontTx/>
                        <a:buNone/>
                        <a:tabLst/>
                      </a:pPr>
                      <a:endPar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Generativity vs.</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 Stagnation</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Work and </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Parent Hood</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Adults need to create or nurture things that will outlast them, often by having children or creating a positive change that benefits other people. Success leads to feelings of usefulness and accomplishment, while failure results in shallow involvement in the world.</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7"/>
                  </a:ext>
                </a:extLst>
              </a:tr>
              <a:tr h="613970">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Maturity</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(65 to death)</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Ego Integrity </a:t>
                      </a:r>
                    </a:p>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vs. Despair</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a:ln>
                            <a:noFill/>
                          </a:ln>
                          <a:solidFill>
                            <a:schemeClr val="bg1"/>
                          </a:solidFill>
                          <a:effectLst/>
                          <a:latin typeface="Segoe UI Semibold" panose="020B0702040204020203" pitchFamily="34" charset="0"/>
                          <a:cs typeface="Segoe UI Semibold" panose="020B0702040204020203" pitchFamily="34" charset="0"/>
                        </a:rPr>
                        <a:t>Reflection on Life</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65000"/>
                        <a:buFontTx/>
                        <a:buNone/>
                        <a:tabLst/>
                      </a:pPr>
                      <a:r>
                        <a:rPr kumimoji="0" lang="en-US" sz="1200" b="1"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rPr>
                        <a:t>Older adults need to look back on life and feel a sense of fulfillment. Success at this stage leads to feelings of wisdom, while failure results in regret, bitterness, and despair.</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8"/>
                  </a:ext>
                </a:extLst>
              </a:tr>
            </a:tbl>
          </a:graphicData>
        </a:graphic>
      </p:graphicFrame>
      <p:sp>
        <p:nvSpPr>
          <p:cNvPr id="6" name="Title 2"/>
          <p:cNvSpPr txBox="1">
            <a:spLocks/>
          </p:cNvSpPr>
          <p:nvPr/>
        </p:nvSpPr>
        <p:spPr>
          <a:xfrm>
            <a:off x="0" y="1098333"/>
            <a:ext cx="2810286" cy="2463014"/>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a:lstStyle>
          <a:p>
            <a:pPr algn="ctr"/>
            <a:r>
              <a:rPr lang="en-US" sz="3600" dirty="0">
                <a:solidFill>
                  <a:schemeClr val="bg1"/>
                </a:solidFill>
              </a:rPr>
              <a:t>E. Erickson’s stages of development</a:t>
            </a:r>
          </a:p>
        </p:txBody>
      </p:sp>
    </p:spTree>
    <p:extLst>
      <p:ext uri="{BB962C8B-B14F-4D97-AF65-F5344CB8AC3E}">
        <p14:creationId xmlns:p14="http://schemas.microsoft.com/office/powerpoint/2010/main" val="3606528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1"/>
          <p:cNvSpPr txBox="1">
            <a:spLocks/>
          </p:cNvSpPr>
          <p:nvPr/>
        </p:nvSpPr>
        <p:spPr>
          <a:xfrm>
            <a:off x="3959352" y="1088148"/>
            <a:ext cx="4415341" cy="7680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ko-KR" sz="4800" b="0" i="0" u="none" strike="noStrike" kern="1200" cap="none" spc="0" normalizeH="0" baseline="0" noProof="0" dirty="0">
                <a:ln>
                  <a:noFill/>
                </a:ln>
                <a:solidFill>
                  <a:prstClr val="white"/>
                </a:solidFill>
                <a:effectLst/>
                <a:uLnTx/>
                <a:uFillTx/>
                <a:latin typeface="Segoe UI Light"/>
                <a:ea typeface="+mn-ea"/>
                <a:cs typeface="+mn-cs"/>
              </a:rPr>
              <a:t>Thank</a:t>
            </a:r>
            <a:r>
              <a:rPr kumimoji="0" lang="en-US" altLang="ko-KR" sz="4800" b="0" i="0" u="none" strike="noStrike" kern="1200" cap="none" spc="0" normalizeH="0" baseline="0" noProof="0" dirty="0">
                <a:ln>
                  <a:noFill/>
                </a:ln>
                <a:solidFill>
                  <a:prstClr val="white"/>
                </a:solidFill>
                <a:effectLst/>
                <a:uLnTx/>
                <a:uFillTx/>
                <a:latin typeface="Segoe UI"/>
                <a:ea typeface="+mn-ea"/>
                <a:cs typeface="+mn-cs"/>
              </a:rPr>
              <a:t> </a:t>
            </a:r>
            <a:r>
              <a:rPr kumimoji="0" lang="en-US" altLang="ko-KR" sz="4800" b="0" i="0" u="none" strike="noStrike" kern="1200" cap="none" spc="0" normalizeH="0" baseline="0" noProof="0" dirty="0">
                <a:ln>
                  <a:noFill/>
                </a:ln>
                <a:solidFill>
                  <a:prstClr val="white"/>
                </a:solidFill>
                <a:effectLst/>
                <a:uLnTx/>
                <a:uFillTx/>
                <a:latin typeface="Segoe UI Light"/>
                <a:ea typeface="+mn-ea"/>
                <a:cs typeface="+mn-cs"/>
              </a:rPr>
              <a:t>you</a:t>
            </a:r>
            <a:endParaRPr kumimoji="0" lang="ko-KR" altLang="en-US" sz="4800" b="0" i="0" u="none" strike="noStrike" kern="1200" cap="none" spc="0" normalizeH="0" baseline="0" noProof="0" dirty="0">
              <a:ln>
                <a:noFill/>
              </a:ln>
              <a:solidFill>
                <a:prstClr val="white"/>
              </a:solidFill>
              <a:effectLst/>
              <a:uLnTx/>
              <a:uFillTx/>
              <a:latin typeface="Segoe UI Light"/>
              <a:ea typeface="+mn-ea"/>
              <a:cs typeface="+mn-cs"/>
            </a:endParaRPr>
          </a:p>
        </p:txBody>
      </p:sp>
    </p:spTree>
    <p:extLst>
      <p:ext uri="{BB962C8B-B14F-4D97-AF65-F5344CB8AC3E}">
        <p14:creationId xmlns:p14="http://schemas.microsoft.com/office/powerpoint/2010/main" val="3307580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2.xml><?xml version="1.0" encoding="utf-8"?>
<a:theme xmlns:a="http://schemas.openxmlformats.org/drawingml/2006/main" name="2_Get Started with 3D">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2710</TotalTime>
  <Words>2043</Words>
  <Application>Microsoft Office PowerPoint</Application>
  <PresentationFormat>شاشة عريضة</PresentationFormat>
  <Paragraphs>194</Paragraphs>
  <Slides>26</Slides>
  <Notes>2</Notes>
  <HiddenSlides>0</HiddenSlides>
  <MMClips>0</MMClips>
  <ScaleCrop>false</ScaleCrop>
  <HeadingPairs>
    <vt:vector size="6" baseType="variant">
      <vt:variant>
        <vt:lpstr>الخطوط المستخدمة</vt:lpstr>
      </vt:variant>
      <vt:variant>
        <vt:i4>12</vt:i4>
      </vt:variant>
      <vt:variant>
        <vt:lpstr>نسق</vt:lpstr>
      </vt:variant>
      <vt:variant>
        <vt:i4>2</vt:i4>
      </vt:variant>
      <vt:variant>
        <vt:lpstr>عناوين الشرائح</vt:lpstr>
      </vt:variant>
      <vt:variant>
        <vt:i4>26</vt:i4>
      </vt:variant>
    </vt:vector>
  </HeadingPairs>
  <TitlesOfParts>
    <vt:vector size="40" baseType="lpstr">
      <vt:lpstr>Arial</vt:lpstr>
      <vt:lpstr>Calibri</vt:lpstr>
      <vt:lpstr>Constantia</vt:lpstr>
      <vt:lpstr>Garamond</vt:lpstr>
      <vt:lpstr>Segoe UI</vt:lpstr>
      <vt:lpstr>Segoe UI Black</vt:lpstr>
      <vt:lpstr>Segoe UI Light</vt:lpstr>
      <vt:lpstr>Segoe UI Semibold</vt:lpstr>
      <vt:lpstr>Segoe UI Variable Small Semibol</vt:lpstr>
      <vt:lpstr>Vladimir Script</vt:lpstr>
      <vt:lpstr>Wingdings 2</vt:lpstr>
      <vt:lpstr>Wingdings 3</vt:lpstr>
      <vt:lpstr>Get Started with 3D</vt:lpstr>
      <vt:lpstr>2_Get Started with 3D</vt:lpstr>
      <vt:lpstr>Theories of Child Personality Development:</vt:lpstr>
      <vt:lpstr>Learning Objectives</vt:lpstr>
      <vt:lpstr>Erikson's Concept of Development</vt:lpstr>
      <vt:lpstr>عرض تقديمي في PowerPoint</vt:lpstr>
      <vt:lpstr>Erikson's Concept of Development</vt:lpstr>
      <vt:lpstr>Development for Erickson is Tridimensional:</vt:lpstr>
      <vt:lpstr>Stage  :  A sense of basic trust  V.S mistrust (birth – 1 year) </vt:lpstr>
      <vt:lpstr>Stage  :  A sense of basic trust  V.S mistrust (birth – 1 year) </vt:lpstr>
      <vt:lpstr>Stage  :  A sense of basic trust  V.S mistrust (birth – 1 year) </vt:lpstr>
      <vt:lpstr>Stage  :  A sense of basic trust  V.S mistrust (birth – 1 year) </vt:lpstr>
      <vt:lpstr>Stage    : A sense of autonomy V.S doubt and shame (1- 3 yrs.) </vt:lpstr>
      <vt:lpstr>Stage  :  : A sense of autonomy V.S doubt and shame (1- 3 yrs.) </vt:lpstr>
      <vt:lpstr>Stage  :  : A sense of autonomy V.S doubt and shame (1- 3 yrs.) </vt:lpstr>
      <vt:lpstr>Stage    : A sense of autonomy V.S doubt and shame (1- 3 yrs.) </vt:lpstr>
      <vt:lpstr>Stage   : A sense of initiative and V.S guilt (3/4 – 5 yrs.) </vt:lpstr>
      <vt:lpstr>Stage   : A sense of initiative and V.S guilt (3/4 – 5 yrs.) </vt:lpstr>
      <vt:lpstr>Stage    : A sense of industry V.S inferiority (6 – 11 years.) </vt:lpstr>
      <vt:lpstr>Stage     : A sense of Identity V.S Identity diffusion (12-20 years.) </vt:lpstr>
      <vt:lpstr>Stage     : A sense of Identity V.S Identity diffusion (12-20 years.) </vt:lpstr>
      <vt:lpstr>Stage     : A sense of Identity V.S Identity diffusion (12-20 years.) </vt:lpstr>
      <vt:lpstr>Stage     : A sense of intimacy and solidarity V.S Isolation (20-40 years.) </vt:lpstr>
      <vt:lpstr>Stage    : A sense of Generativity V.S self absorption (40 - 60 years.) </vt:lpstr>
      <vt:lpstr>Stage   : A sense of Integrity V.S Despair (60 years &amp; above.) </vt:lpstr>
      <vt:lpstr>Stage   : A sense of Integrity V.S Despair (60 years &amp; above.) </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Development of Nursing Profession</dc:title>
  <dc:creator>green lanter</dc:creator>
  <cp:lastModifiedBy>green lanter</cp:lastModifiedBy>
  <cp:revision>214</cp:revision>
  <dcterms:created xsi:type="dcterms:W3CDTF">2018-09-18T19:40:20Z</dcterms:created>
  <dcterms:modified xsi:type="dcterms:W3CDTF">2023-10-04T19:45:56Z</dcterms:modified>
</cp:coreProperties>
</file>