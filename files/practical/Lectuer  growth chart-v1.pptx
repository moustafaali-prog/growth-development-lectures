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8.jpg" ContentType="image/jp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34" r:id="rId2"/>
    <p:sldId id="336" r:id="rId3"/>
    <p:sldId id="259" r:id="rId4"/>
    <p:sldId id="269" r:id="rId5"/>
    <p:sldId id="335" r:id="rId6"/>
    <p:sldId id="261" r:id="rId7"/>
    <p:sldId id="270" r:id="rId8"/>
    <p:sldId id="264" r:id="rId9"/>
    <p:sldId id="265" r:id="rId10"/>
    <p:sldId id="296" r:id="rId11"/>
    <p:sldId id="297" r:id="rId12"/>
    <p:sldId id="266" r:id="rId13"/>
    <p:sldId id="267" r:id="rId14"/>
    <p:sldId id="338" r:id="rId15"/>
    <p:sldId id="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623"/>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0817" autoAdjust="0"/>
  </p:normalViewPr>
  <p:slideViewPr>
    <p:cSldViewPr snapToGrid="0">
      <p:cViewPr varScale="1">
        <p:scale>
          <a:sx n="45" d="100"/>
          <a:sy n="45" d="100"/>
        </p:scale>
        <p:origin x="1596" y="42"/>
      </p:cViewPr>
      <p:guideLst/>
    </p:cSldViewPr>
  </p:slideViewPr>
  <p:outlineViewPr>
    <p:cViewPr>
      <p:scale>
        <a:sx n="33" d="100"/>
        <a:sy n="33" d="100"/>
      </p:scale>
      <p:origin x="0" y="-1554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CE411-5C12-418B-8535-DCB23B0AC56F}"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42D3A-E1C1-4B16-A576-1BC8DB5D45C2}" type="slidenum">
              <a:rPr lang="en-US" smtClean="0"/>
              <a:t>‹#›</a:t>
            </a:fld>
            <a:endParaRPr lang="en-US"/>
          </a:p>
        </p:txBody>
      </p:sp>
    </p:spTree>
    <p:extLst>
      <p:ext uri="{BB962C8B-B14F-4D97-AF65-F5344CB8AC3E}">
        <p14:creationId xmlns:p14="http://schemas.microsoft.com/office/powerpoint/2010/main" val="347894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A973774F-7D33-165D-AC76-B1B5FDD468AD}"/>
              </a:ext>
            </a:extLst>
          </p:cNvPr>
          <p:cNvSpPr>
            <a:spLocks noGrp="1" noRot="1" noChangeAspect="1" noChangeArrowheads="1" noTextEdit="1"/>
          </p:cNvSpPr>
          <p:nvPr>
            <p:ph type="sldImg"/>
          </p:nvPr>
        </p:nvSpPr>
        <p:spPr>
          <a:ln/>
        </p:spPr>
      </p:sp>
      <p:sp>
        <p:nvSpPr>
          <p:cNvPr id="173059" name="Notes Placeholder 2">
            <a:extLst>
              <a:ext uri="{FF2B5EF4-FFF2-40B4-BE49-F238E27FC236}">
                <a16:creationId xmlns:a16="http://schemas.microsoft.com/office/drawing/2014/main" id="{DE167C5B-1858-5ACF-15D6-4A98C6DD00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3B52B41A-4DF5-2B8D-78D0-B97A7D2AF378}"/>
              </a:ext>
            </a:extLst>
          </p:cNvPr>
          <p:cNvSpPr>
            <a:spLocks noGrp="1"/>
          </p:cNvSpPr>
          <p:nvPr>
            <p:ph type="sldNum" sz="quarter" idx="5"/>
          </p:nvPr>
        </p:nvSpPr>
        <p:spPr/>
        <p:txBody>
          <a:bodyPr/>
          <a:lstStyle/>
          <a:p>
            <a:pPr algn="r" rtl="0" fontAlgn="auto">
              <a:spcBef>
                <a:spcPts val="0"/>
              </a:spcBef>
              <a:spcAft>
                <a:spcPts val="0"/>
              </a:spcAft>
              <a:defRPr/>
            </a:pPr>
            <a:fld id="{0A32E486-EC48-426A-A2D9-99B37CBE1C0F}" type="slidenum">
              <a:rPr lang="en-US" smtClean="0">
                <a:solidFill>
                  <a:prstClr val="black"/>
                </a:solidFill>
                <a:latin typeface="Calibri" panose="020F0502020204030204"/>
                <a:cs typeface="+mn-cs"/>
              </a:rPr>
              <a:pPr algn="r" rtl="0" fontAlgn="auto">
                <a:spcBef>
                  <a:spcPts val="0"/>
                </a:spcBef>
                <a:spcAft>
                  <a:spcPts val="0"/>
                </a:spcAft>
                <a:defRPr/>
              </a:pPr>
              <a:t>1</a:t>
            </a:fld>
            <a:endParaRPr lang="en-US" dirty="0">
              <a:solidFill>
                <a:prstClr val="black"/>
              </a:solidFill>
              <a:latin typeface="Calibri" panose="020F0502020204030204"/>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map to the sections that follow.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on Percentile Charts: You plot these measurements on percentile charts, which are graphs that display a range of values from the lowest (0th percentile) to the highest (100th percentile). Each percentile line represents a specific percentage of the population. For example, the 50th percentile represents the median or middle value for the general population.</a:t>
            </a:r>
          </a:p>
          <a:p>
            <a:endParaRPr lang="en-US" dirty="0"/>
          </a:p>
          <a:p>
            <a:r>
              <a:rPr lang="en-US" dirty="0"/>
              <a:t>Comparison: By plotting a child's measurements on these charts, you can see where their measurements fall in relation to the general population. For instance, if a child's height measurement is on the 75th percentile line, it means that their height is greater than or equal to 75% of children in the reference population.</a:t>
            </a:r>
          </a:p>
          <a:p>
            <a:endParaRPr lang="en-US" dirty="0"/>
          </a:p>
          <a:p>
            <a:r>
              <a:rPr lang="en-US" dirty="0"/>
              <a:t>Interpretation: The interpretation of these percentile measurements depends on the specific parameter being assessed. For example, if a child consistently falls below the 5th percentile for weight, it might indicate underweight or slow growth, while measurements consistently above the 95th percentile might indicate overweight or rapid growth. However, it's essential to consider various factors, including genetics and individual growth patterns, when interpreting percentile data.</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2214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5249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is determined to the nearest month under 2 years and to the nearest quarter-year from 2 to 20 years. BMI = weight (kg) ÷ stature (cm) ÷ stature (cm) × 10,000.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11</a:t>
            </a:fld>
            <a:endParaRPr lang="en-US"/>
          </a:p>
        </p:txBody>
      </p:sp>
    </p:spTree>
    <p:extLst>
      <p:ext uri="{BB962C8B-B14F-4D97-AF65-F5344CB8AC3E}">
        <p14:creationId xmlns:p14="http://schemas.microsoft.com/office/powerpoint/2010/main" val="4186099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percentile rank indicates a nutrition-related concern, additional monitoring and assessment are recommended (CDC). When transitioning from WHO to CDC charts at 2 years a change in classification may occur; interpret with caution.</a:t>
            </a:r>
          </a:p>
          <a:p>
            <a:endParaRPr lang="en-US" dirty="0"/>
          </a:p>
          <a:p>
            <a:pPr lvl="0" rtl="0"/>
            <a:r>
              <a:rPr lang="ar-IQ" dirty="0"/>
              <a:t>A 10-month-old’s </a:t>
            </a:r>
            <a:r>
              <a:rPr lang="ar-IQ" dirty="0" err="1"/>
              <a:t>length</a:t>
            </a:r>
            <a:r>
              <a:rPr lang="ar-IQ" dirty="0"/>
              <a:t> </a:t>
            </a:r>
            <a:r>
              <a:rPr lang="ar-IQ" dirty="0" err="1"/>
              <a:t>plots</a:t>
            </a:r>
            <a:r>
              <a:rPr lang="ar-IQ" dirty="0"/>
              <a:t> </a:t>
            </a:r>
            <a:r>
              <a:rPr lang="ar-IQ" b="1" dirty="0" err="1"/>
              <a:t>below</a:t>
            </a:r>
            <a:r>
              <a:rPr lang="ar-IQ" b="1" dirty="0"/>
              <a:t> </a:t>
            </a:r>
            <a:r>
              <a:rPr lang="ar-IQ" b="1" dirty="0" err="1"/>
              <a:t>the</a:t>
            </a:r>
            <a:r>
              <a:rPr lang="ar-IQ" b="1" dirty="0"/>
              <a:t> 2nd </a:t>
            </a:r>
            <a:r>
              <a:rPr lang="ar-IQ" b="1" dirty="0" err="1"/>
              <a:t>percentile</a:t>
            </a:r>
            <a:r>
              <a:rPr lang="ar-IQ" dirty="0"/>
              <a:t> </a:t>
            </a:r>
            <a:r>
              <a:rPr lang="ar-IQ" dirty="0" err="1"/>
              <a:t>on</a:t>
            </a:r>
            <a:r>
              <a:rPr lang="ar-IQ" dirty="0"/>
              <a:t> </a:t>
            </a:r>
            <a:r>
              <a:rPr lang="ar-IQ" dirty="0" err="1"/>
              <a:t>the</a:t>
            </a:r>
            <a:r>
              <a:rPr lang="ar-IQ" dirty="0"/>
              <a:t> WHO </a:t>
            </a:r>
            <a:r>
              <a:rPr lang="ar-IQ" dirty="0" err="1"/>
              <a:t>chart</a:t>
            </a:r>
            <a:r>
              <a:rPr lang="ar-IQ" dirty="0"/>
              <a:t> → </a:t>
            </a:r>
            <a:r>
              <a:rPr lang="ar-IQ" dirty="0" err="1"/>
              <a:t>short</a:t>
            </a:r>
            <a:r>
              <a:rPr lang="ar-IQ" dirty="0"/>
              <a:t> </a:t>
            </a:r>
            <a:r>
              <a:rPr lang="ar-IQ" dirty="0" err="1"/>
              <a:t>stature</a:t>
            </a:r>
            <a:r>
              <a:rPr lang="ar-IQ" dirty="0"/>
              <a:t>; </a:t>
            </a:r>
            <a:r>
              <a:rPr lang="ar-IQ" dirty="0" err="1"/>
              <a:t>assess</a:t>
            </a:r>
            <a:r>
              <a:rPr lang="ar-IQ" dirty="0"/>
              <a:t> </a:t>
            </a:r>
            <a:r>
              <a:rPr lang="ar-IQ" dirty="0" err="1"/>
              <a:t>further</a:t>
            </a:r>
            <a:r>
              <a:rPr lang="ar-IQ" dirty="0"/>
              <a:t>.</a:t>
            </a:r>
          </a:p>
          <a:p>
            <a:pPr lvl="0" rtl="0"/>
            <a:r>
              <a:rPr lang="ar-IQ" dirty="0"/>
              <a:t>A 14-month-old’s </a:t>
            </a:r>
            <a:r>
              <a:rPr lang="ar-IQ" dirty="0" err="1"/>
              <a:t>weight-for-length</a:t>
            </a:r>
            <a:r>
              <a:rPr lang="ar-IQ" dirty="0"/>
              <a:t> </a:t>
            </a:r>
            <a:r>
              <a:rPr lang="ar-IQ" dirty="0" err="1"/>
              <a:t>plots</a:t>
            </a:r>
            <a:r>
              <a:rPr lang="ar-IQ" dirty="0"/>
              <a:t> </a:t>
            </a:r>
            <a:r>
              <a:rPr lang="ar-IQ" b="1" dirty="0" err="1"/>
              <a:t>above</a:t>
            </a:r>
            <a:r>
              <a:rPr lang="ar-IQ" b="1" dirty="0"/>
              <a:t> </a:t>
            </a:r>
            <a:r>
              <a:rPr lang="ar-IQ" b="1" dirty="0" err="1"/>
              <a:t>the</a:t>
            </a:r>
            <a:r>
              <a:rPr lang="ar-IQ" b="1" dirty="0"/>
              <a:t> 98th</a:t>
            </a:r>
            <a:r>
              <a:rPr lang="ar-IQ" dirty="0"/>
              <a:t> → </a:t>
            </a:r>
            <a:r>
              <a:rPr lang="ar-IQ" dirty="0" err="1"/>
              <a:t>high</a:t>
            </a:r>
            <a:r>
              <a:rPr lang="ar-IQ" dirty="0"/>
              <a:t> </a:t>
            </a:r>
            <a:r>
              <a:rPr lang="ar-IQ" dirty="0" err="1"/>
              <a:t>weight-for-length</a:t>
            </a:r>
            <a:r>
              <a:rPr lang="ar-IQ" dirty="0"/>
              <a:t>.</a:t>
            </a:r>
          </a:p>
          <a:p>
            <a:pPr lvl="0" rtl="0"/>
            <a:r>
              <a:rPr lang="ar-IQ" dirty="0"/>
              <a:t>A 5-year-old’s BMI-</a:t>
            </a:r>
            <a:r>
              <a:rPr lang="ar-IQ" dirty="0" err="1"/>
              <a:t>for</a:t>
            </a:r>
            <a:r>
              <a:rPr lang="ar-IQ" dirty="0"/>
              <a:t>-</a:t>
            </a:r>
            <a:r>
              <a:rPr lang="ar-IQ" dirty="0" err="1"/>
              <a:t>age</a:t>
            </a:r>
            <a:r>
              <a:rPr lang="ar-IQ" dirty="0"/>
              <a:t> </a:t>
            </a:r>
            <a:r>
              <a:rPr lang="ar-IQ" dirty="0" err="1"/>
              <a:t>plots</a:t>
            </a:r>
            <a:r>
              <a:rPr lang="ar-IQ" dirty="0"/>
              <a:t> </a:t>
            </a:r>
            <a:r>
              <a:rPr lang="ar-IQ" dirty="0" err="1"/>
              <a:t>at</a:t>
            </a:r>
            <a:r>
              <a:rPr lang="ar-IQ" dirty="0"/>
              <a:t> </a:t>
            </a:r>
            <a:r>
              <a:rPr lang="ar-IQ" dirty="0" err="1"/>
              <a:t>the</a:t>
            </a:r>
            <a:r>
              <a:rPr lang="ar-IQ" dirty="0"/>
              <a:t> </a:t>
            </a:r>
            <a:r>
              <a:rPr lang="ar-IQ" b="1" dirty="0"/>
              <a:t>90th</a:t>
            </a:r>
            <a:r>
              <a:rPr lang="ar-IQ" dirty="0"/>
              <a:t> </a:t>
            </a:r>
            <a:r>
              <a:rPr lang="ar-IQ" dirty="0" err="1"/>
              <a:t>percentile</a:t>
            </a:r>
            <a:r>
              <a:rPr lang="ar-IQ" dirty="0"/>
              <a:t> → </a:t>
            </a:r>
            <a:r>
              <a:rPr lang="ar-IQ" dirty="0" err="1"/>
              <a:t>overweight</a:t>
            </a:r>
            <a:r>
              <a:rPr lang="ar-IQ" dirty="0"/>
              <a:t> (</a:t>
            </a:r>
            <a:r>
              <a:rPr lang="ar-IQ" dirty="0" err="1"/>
              <a:t>between</a:t>
            </a:r>
            <a:r>
              <a:rPr lang="ar-IQ" dirty="0"/>
              <a:t> </a:t>
            </a:r>
            <a:r>
              <a:rPr lang="ar-IQ" dirty="0" err="1"/>
              <a:t>the</a:t>
            </a:r>
            <a:r>
              <a:rPr lang="ar-IQ" dirty="0"/>
              <a:t> 85th </a:t>
            </a:r>
            <a:r>
              <a:rPr lang="ar-IQ" dirty="0" err="1"/>
              <a:t>and</a:t>
            </a:r>
            <a:r>
              <a:rPr lang="ar-IQ" dirty="0"/>
              <a:t> 95th).</a:t>
            </a:r>
          </a:p>
          <a:p>
            <a:pPr lvl="0" rtl="0"/>
            <a:r>
              <a:rPr lang="ar-IQ" dirty="0" err="1"/>
              <a:t>An</a:t>
            </a:r>
            <a:r>
              <a:rPr lang="ar-IQ" dirty="0"/>
              <a:t> 8-year-old’s BMI-</a:t>
            </a:r>
            <a:r>
              <a:rPr lang="ar-IQ" dirty="0" err="1"/>
              <a:t>for</a:t>
            </a:r>
            <a:r>
              <a:rPr lang="ar-IQ" dirty="0"/>
              <a:t>-</a:t>
            </a:r>
            <a:r>
              <a:rPr lang="ar-IQ" dirty="0" err="1"/>
              <a:t>age</a:t>
            </a:r>
            <a:r>
              <a:rPr lang="ar-IQ" dirty="0"/>
              <a:t> </a:t>
            </a:r>
            <a:r>
              <a:rPr lang="ar-IQ" dirty="0" err="1"/>
              <a:t>plots</a:t>
            </a:r>
            <a:r>
              <a:rPr lang="ar-IQ" dirty="0"/>
              <a:t> </a:t>
            </a:r>
            <a:r>
              <a:rPr lang="ar-IQ" dirty="0" err="1"/>
              <a:t>at</a:t>
            </a:r>
            <a:r>
              <a:rPr lang="ar-IQ" dirty="0"/>
              <a:t> </a:t>
            </a:r>
            <a:r>
              <a:rPr lang="ar-IQ" dirty="0" err="1"/>
              <a:t>the</a:t>
            </a:r>
            <a:r>
              <a:rPr lang="ar-IQ" dirty="0"/>
              <a:t> </a:t>
            </a:r>
            <a:r>
              <a:rPr lang="ar-IQ" b="1" dirty="0"/>
              <a:t>96th</a:t>
            </a:r>
            <a:r>
              <a:rPr lang="ar-IQ" dirty="0"/>
              <a:t> → </a:t>
            </a:r>
            <a:r>
              <a:rPr lang="ar-IQ" dirty="0" err="1"/>
              <a:t>obesity</a:t>
            </a:r>
            <a:r>
              <a:rPr lang="ar-IQ" dirty="0"/>
              <a:t> (</a:t>
            </a:r>
            <a:r>
              <a:rPr lang="ar-IQ" dirty="0" err="1"/>
              <a:t>at</a:t>
            </a:r>
            <a:r>
              <a:rPr lang="ar-IQ" dirty="0"/>
              <a:t> </a:t>
            </a:r>
            <a:r>
              <a:rPr lang="ar-IQ" dirty="0" err="1"/>
              <a:t>or</a:t>
            </a:r>
            <a:r>
              <a:rPr lang="ar-IQ" dirty="0"/>
              <a:t> </a:t>
            </a:r>
            <a:r>
              <a:rPr lang="ar-IQ" dirty="0" err="1"/>
              <a:t>above</a:t>
            </a:r>
            <a:r>
              <a:rPr lang="ar-IQ" dirty="0"/>
              <a:t> </a:t>
            </a:r>
            <a:r>
              <a:rPr lang="ar-IQ" dirty="0" err="1"/>
              <a:t>the</a:t>
            </a:r>
            <a:r>
              <a:rPr lang="ar-IQ" dirty="0"/>
              <a:t> 95th).</a:t>
            </a:r>
          </a:p>
          <a:p>
            <a:pPr lvl="0" rtl="0"/>
            <a:r>
              <a:rPr lang="ar-IQ" dirty="0"/>
              <a:t>A 4-year-old’s BMI-</a:t>
            </a:r>
            <a:r>
              <a:rPr lang="ar-IQ" dirty="0" err="1"/>
              <a:t>for</a:t>
            </a:r>
            <a:r>
              <a:rPr lang="ar-IQ" dirty="0"/>
              <a:t>-</a:t>
            </a:r>
            <a:r>
              <a:rPr lang="ar-IQ" dirty="0" err="1"/>
              <a:t>age</a:t>
            </a:r>
            <a:r>
              <a:rPr lang="ar-IQ" dirty="0"/>
              <a:t> </a:t>
            </a:r>
            <a:r>
              <a:rPr lang="ar-IQ" dirty="0" err="1"/>
              <a:t>plots</a:t>
            </a:r>
            <a:r>
              <a:rPr lang="ar-IQ" dirty="0"/>
              <a:t> </a:t>
            </a:r>
            <a:r>
              <a:rPr lang="ar-IQ" dirty="0" err="1"/>
              <a:t>at</a:t>
            </a:r>
            <a:r>
              <a:rPr lang="ar-IQ" dirty="0"/>
              <a:t> </a:t>
            </a:r>
            <a:r>
              <a:rPr lang="ar-IQ" dirty="0" err="1"/>
              <a:t>the</a:t>
            </a:r>
            <a:r>
              <a:rPr lang="ar-IQ" dirty="0"/>
              <a:t> </a:t>
            </a:r>
            <a:r>
              <a:rPr lang="ar-IQ" b="1" dirty="0"/>
              <a:t>3rd</a:t>
            </a:r>
            <a:r>
              <a:rPr lang="ar-IQ" dirty="0"/>
              <a:t> → </a:t>
            </a:r>
            <a:r>
              <a:rPr lang="ar-IQ" dirty="0" err="1"/>
              <a:t>underweight</a:t>
            </a:r>
            <a:r>
              <a:rPr lang="ar-IQ" dirty="0"/>
              <a:t> (</a:t>
            </a:r>
            <a:r>
              <a:rPr lang="ar-IQ" dirty="0" err="1"/>
              <a:t>below</a:t>
            </a:r>
            <a:r>
              <a:rPr lang="ar-IQ" dirty="0"/>
              <a:t> </a:t>
            </a:r>
            <a:r>
              <a:rPr lang="ar-IQ" dirty="0" err="1"/>
              <a:t>the</a:t>
            </a:r>
            <a:r>
              <a:rPr lang="ar-IQ" dirty="0"/>
              <a:t> 5th).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recheck measurement technique, chart, sex and corrected age before escalating.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a:extLst>
              <a:ext uri="{FF2B5EF4-FFF2-40B4-BE49-F238E27FC236}">
                <a16:creationId xmlns:a16="http://schemas.microsoft.com/office/drawing/2014/main" id="{91D2B997-3B4D-AF77-080D-31FAD0FC29EF}"/>
              </a:ext>
            </a:extLst>
          </p:cNvPr>
          <p:cNvSpPr>
            <a:spLocks noGrp="1" noRot="1" noChangeAspect="1" noChangeArrowheads="1" noTextEdit="1"/>
          </p:cNvSpPr>
          <p:nvPr>
            <p:ph type="sldImg"/>
          </p:nvPr>
        </p:nvSpPr>
        <p:spPr>
          <a:xfrm>
            <a:off x="685800" y="1143000"/>
            <a:ext cx="5486400" cy="3086100"/>
          </a:xfrm>
          <a:ln/>
        </p:spPr>
      </p:sp>
      <p:sp>
        <p:nvSpPr>
          <p:cNvPr id="216067" name="Notes Placeholder 2">
            <a:extLst>
              <a:ext uri="{FF2B5EF4-FFF2-40B4-BE49-F238E27FC236}">
                <a16:creationId xmlns:a16="http://schemas.microsoft.com/office/drawing/2014/main" id="{53D4B4A4-488D-69D2-9A5B-C9B083FFB1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40F02E49-F005-C36C-207D-F001BA845B96}"/>
              </a:ext>
            </a:extLst>
          </p:cNvPr>
          <p:cNvSpPr>
            <a:spLocks noGrp="1"/>
          </p:cNvSpPr>
          <p:nvPr>
            <p:ph type="sldNum" sz="quarter" idx="5"/>
          </p:nvPr>
        </p:nvSpPr>
        <p:spPr/>
        <p:txBody>
          <a:bodyPr/>
          <a:lstStyle/>
          <a:p>
            <a:pPr algn="r" rtl="0" fontAlgn="auto">
              <a:spcBef>
                <a:spcPts val="0"/>
              </a:spcBef>
              <a:spcAft>
                <a:spcPts val="0"/>
              </a:spcAft>
              <a:defRPr/>
            </a:pPr>
            <a:fld id="{AF10E922-9527-4EBC-AF00-C6EAA99F038B}" type="slidenum">
              <a:rPr lang="en-US" smtClean="0">
                <a:solidFill>
                  <a:prstClr val="black"/>
                </a:solidFill>
                <a:latin typeface="Calibri" panose="020F0502020204030204"/>
                <a:cs typeface="+mn-cs"/>
              </a:rPr>
              <a:pPr algn="r" rtl="0" fontAlgn="auto">
                <a:spcBef>
                  <a:spcPts val="0"/>
                </a:spcBef>
                <a:spcAft>
                  <a:spcPts val="0"/>
                </a:spcAft>
                <a:defRPr/>
              </a:pPr>
              <a:t>15</a:t>
            </a:fld>
            <a:endParaRPr lang="en-US">
              <a:solidFill>
                <a:prstClr val="black"/>
              </a:solidFill>
              <a:latin typeface="Calibri" panose="020F0502020204030204"/>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331090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65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058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832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44442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850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9250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63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82460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10/17/2026</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3843960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6079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10/17/2026</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253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BE479017-3D59-1D28-8765-1BF53905E1AF}"/>
              </a:ext>
            </a:extLst>
          </p:cNvPr>
          <p:cNvSpPr/>
          <p:nvPr/>
        </p:nvSpPr>
        <p:spPr>
          <a:xfrm>
            <a:off x="249238" y="250825"/>
            <a:ext cx="11693523" cy="6372225"/>
          </a:xfrm>
          <a:prstGeom prst="rect">
            <a:avLst/>
          </a:prstGeom>
          <a:solidFill>
            <a:srgbClr val="FDC623"/>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3" name="صورة 2" descr="Image of girl with measuring stick">
            <a:extLst>
              <a:ext uri="{FF2B5EF4-FFF2-40B4-BE49-F238E27FC236}">
                <a16:creationId xmlns:a16="http://schemas.microsoft.com/office/drawing/2014/main" id="{0638D81F-A601-56A1-F0B4-89E3A14CAF80}"/>
              </a:ext>
            </a:extLst>
          </p:cNvPr>
          <p:cNvPicPr>
            <a:picLocks noChangeAspect="1"/>
          </p:cNvPicPr>
          <p:nvPr/>
        </p:nvPicPr>
        <p:blipFill>
          <a:blip r:embed="rId3"/>
          <a:stretch>
            <a:fillRect/>
          </a:stretch>
        </p:blipFill>
        <p:spPr>
          <a:xfrm>
            <a:off x="249238" y="250825"/>
            <a:ext cx="11693524" cy="5131312"/>
          </a:xfrm>
          <a:prstGeom prst="rect">
            <a:avLst/>
          </a:prstGeom>
        </p:spPr>
      </p:pic>
      <p:sp>
        <p:nvSpPr>
          <p:cNvPr id="172035" name="Title 1">
            <a:extLst>
              <a:ext uri="{FF2B5EF4-FFF2-40B4-BE49-F238E27FC236}">
                <a16:creationId xmlns:a16="http://schemas.microsoft.com/office/drawing/2014/main" id="{12386A15-AA16-151B-874A-B2B4D174B2A9}"/>
              </a:ext>
            </a:extLst>
          </p:cNvPr>
          <p:cNvSpPr>
            <a:spLocks noGrp="1" noChangeArrowheads="1"/>
          </p:cNvSpPr>
          <p:nvPr>
            <p:ph type="ctrTitle"/>
          </p:nvPr>
        </p:nvSpPr>
        <p:spPr>
          <a:xfrm>
            <a:off x="407988" y="1337309"/>
            <a:ext cx="7457768" cy="1790700"/>
          </a:xfrm>
        </p:spPr>
        <p:txBody>
          <a:bodyPr anchor="ctr"/>
          <a:lstStyle/>
          <a:p>
            <a:pPr eaLnBrk="1" hangingPunct="1"/>
            <a:r>
              <a:rPr lang="en-US" altLang="ar-IQ" dirty="0">
                <a:solidFill>
                  <a:schemeClr val="tx1"/>
                </a:solidFill>
              </a:rPr>
              <a:t>Measurement of Growth and Development</a:t>
            </a:r>
            <a:endParaRPr lang="en-US" altLang="ar-IQ" sz="1800" dirty="0">
              <a:solidFill>
                <a:schemeClr val="tx1"/>
              </a:solidFill>
              <a:latin typeface="Segoe UI Semibold" panose="020B0702040204020203" pitchFamily="34" charset="0"/>
              <a:cs typeface="Segoe UI Semibold" panose="020B0702040204020203" pitchFamily="34" charset="0"/>
            </a:endParaRPr>
          </a:p>
        </p:txBody>
      </p:sp>
      <p:sp>
        <p:nvSpPr>
          <p:cNvPr id="2" name="عنوان فرعي 1">
            <a:extLst>
              <a:ext uri="{FF2B5EF4-FFF2-40B4-BE49-F238E27FC236}">
                <a16:creationId xmlns:a16="http://schemas.microsoft.com/office/drawing/2014/main" id="{63FD5883-290D-31E6-99C0-1E70C4D66B28}"/>
              </a:ext>
            </a:extLst>
          </p:cNvPr>
          <p:cNvSpPr>
            <a:spLocks noGrp="1"/>
          </p:cNvSpPr>
          <p:nvPr>
            <p:ph type="subTitle" idx="1"/>
          </p:nvPr>
        </p:nvSpPr>
        <p:spPr>
          <a:xfrm>
            <a:off x="535858" y="3086154"/>
            <a:ext cx="9144000" cy="1287675"/>
          </a:xfrm>
        </p:spPr>
        <p:txBody>
          <a:bodyPr/>
          <a:lstStyle/>
          <a:p>
            <a:r>
              <a:rPr lang="en-US" sz="3200" dirty="0">
                <a:solidFill>
                  <a:schemeClr val="tx1"/>
                </a:solidFill>
              </a:rPr>
              <a:t>Growth Chart </a:t>
            </a:r>
            <a:endParaRPr lang="ar-IQ" sz="3200" dirty="0">
              <a:solidFill>
                <a:schemeClr val="tx1"/>
              </a:solidFill>
            </a:endParaRPr>
          </a:p>
        </p:txBody>
      </p:sp>
      <p:pic>
        <p:nvPicPr>
          <p:cNvPr id="172036" name="Grid" descr="grid plane">
            <a:extLst>
              <a:ext uri="{FF2B5EF4-FFF2-40B4-BE49-F238E27FC236}">
                <a16:creationId xmlns:a16="http://schemas.microsoft.com/office/drawing/2014/main" id="{C4A1D1CB-CCF9-401C-8DB0-FC5E33BE1112}"/>
              </a:ext>
            </a:extLst>
          </p:cNvPr>
          <p:cNvPicPr>
            <a:picLocks noChangeAspect="1" noChangeArrowheads="1"/>
          </p:cNvPicPr>
          <p:nvPr/>
        </p:nvPicPr>
        <p:blipFill>
          <a:blip r:embed="rId4">
            <a:duotone>
              <a:prstClr val="black"/>
              <a:schemeClr val="tx1">
                <a:tint val="45000"/>
                <a:satMod val="400000"/>
              </a:schemeClr>
            </a:duotone>
            <a:extLst>
              <a:ext uri="{28A0092B-C50C-407E-A947-70E740481C1C}">
                <a14:useLocalDpi xmlns:a14="http://schemas.microsoft.com/office/drawing/2010/main" val="0"/>
              </a:ext>
            </a:extLst>
          </a:blip>
          <a:srcRect t="-307" r="-943" b="64944"/>
          <a:stretch>
            <a:fillRect/>
          </a:stretch>
        </p:blipFill>
        <p:spPr bwMode="auto">
          <a:xfrm>
            <a:off x="422274" y="5620392"/>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Subtitle 2">
            <a:extLst>
              <a:ext uri="{FF2B5EF4-FFF2-40B4-BE49-F238E27FC236}">
                <a16:creationId xmlns:a16="http://schemas.microsoft.com/office/drawing/2014/main" id="{EC70D72A-2A1A-7DDA-9ED0-A3537D29EFF9}"/>
              </a:ext>
            </a:extLst>
          </p:cNvPr>
          <p:cNvSpPr txBox="1">
            <a:spLocks noChangeArrowheads="1"/>
          </p:cNvSpPr>
          <p:nvPr/>
        </p:nvSpPr>
        <p:spPr bwMode="auto">
          <a:xfrm>
            <a:off x="9242424" y="5663101"/>
            <a:ext cx="2700337"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b="1" dirty="0">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b="1" dirty="0">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b="1" dirty="0">
                <a:latin typeface="Segoe UI Light" panose="020B0502040204020203" pitchFamily="34" charset="0"/>
                <a:cs typeface="Segoe UI Light" panose="020B0502040204020203" pitchFamily="34" charset="0"/>
              </a:rPr>
              <a:t>Growth and Developments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Learning objectives</a:t>
            </a:r>
            <a:endParaRPr lang="en-US" sz="2800" dirty="0"/>
          </a:p>
        </p:txBody>
      </p:sp>
      <p:sp>
        <p:nvSpPr>
          <p:cNvPr id="4" name="Text 2"/>
          <p:cNvSpPr txBox="1"/>
          <p:nvPr/>
        </p:nvSpPr>
        <p:spPr>
          <a:xfrm>
            <a:off x="11247120" y="6355080"/>
            <a:ext cx="457200" cy="320040"/>
          </a:xfrm>
          <a:prstGeom prst="rect">
            <a:avLst/>
          </a:prstGeom>
          <a:noFill/>
          <a:ln/>
        </p:spPr>
        <p:txBody>
          <a:bodyPr wrap="square" lIns="0" tIns="0" rIns="0" bIns="0" rtlCol="0" anchor="ctr"/>
          <a:lstStyle/>
          <a:p>
            <a:pPr marL="0" indent="0" algn="r">
              <a:buNone/>
            </a:pPr>
            <a:r>
              <a:rPr lang="en-US" sz="1000" dirty="0">
                <a:solidFill>
                  <a:srgbClr val="5B6572"/>
                </a:solidFill>
                <a:latin typeface="Calibri" pitchFamily="34" charset="0"/>
                <a:ea typeface="Calibri" pitchFamily="34" charset="-122"/>
                <a:cs typeface="Calibri" pitchFamily="34" charset="-120"/>
              </a:rPr>
              <a:t>2</a:t>
            </a:r>
            <a:endParaRPr lang="en-US" sz="1000" dirty="0"/>
          </a:p>
        </p:txBody>
      </p:sp>
      <p:sp>
        <p:nvSpPr>
          <p:cNvPr id="6" name="Text 3"/>
          <p:cNvSpPr txBox="1"/>
          <p:nvPr/>
        </p:nvSpPr>
        <p:spPr>
          <a:xfrm>
            <a:off x="548640" y="1280160"/>
            <a:ext cx="10972800" cy="4754880"/>
          </a:xfrm>
          <a:prstGeom prst="rect">
            <a:avLst/>
          </a:prstGeom>
          <a:noFill/>
          <a:ln/>
        </p:spPr>
        <p:txBody>
          <a:bodyPr wrap="square" lIns="0" tIns="0" rIns="0" bIns="0" rtlCol="0" anchor="t"/>
          <a:lstStyle/>
          <a:p>
            <a:pPr marL="342900" indent="-342900">
              <a:spcAft>
                <a:spcPts val="800"/>
              </a:spcAft>
              <a:buSzPct val="100000"/>
              <a:buChar char="•"/>
            </a:pPr>
            <a:r>
              <a:rPr lang="en-US" sz="2100" dirty="0">
                <a:solidFill>
                  <a:srgbClr val="222222"/>
                </a:solidFill>
                <a:latin typeface="Calibri" pitchFamily="34" charset="0"/>
                <a:ea typeface="Calibri" pitchFamily="34" charset="-122"/>
                <a:cs typeface="Calibri" pitchFamily="34" charset="-120"/>
              </a:rPr>
              <a:t>Define a growth chart and explain why a pattern over time matters more than a single point.</a:t>
            </a:r>
            <a:endParaRPr lang="en-US" sz="2100" dirty="0"/>
          </a:p>
          <a:p>
            <a:pPr marL="342900" indent="-342900">
              <a:spcAft>
                <a:spcPts val="800"/>
              </a:spcAft>
              <a:buSzPct val="100000"/>
              <a:buChar char="•"/>
            </a:pPr>
            <a:r>
              <a:rPr lang="en-US" sz="2100" dirty="0">
                <a:solidFill>
                  <a:srgbClr val="222222"/>
                </a:solidFill>
                <a:latin typeface="Calibri" pitchFamily="34" charset="0"/>
                <a:ea typeface="Calibri" pitchFamily="34" charset="-122"/>
                <a:cs typeface="Calibri" pitchFamily="34" charset="-120"/>
              </a:rPr>
              <a:t>Select the correct chart by age and sex (boys and girls; WHO and CDC).</a:t>
            </a:r>
            <a:endParaRPr lang="en-US" sz="2100" dirty="0"/>
          </a:p>
          <a:p>
            <a:pPr marL="342900" indent="-342900">
              <a:spcAft>
                <a:spcPts val="800"/>
              </a:spcAft>
              <a:buSzPct val="100000"/>
              <a:buChar char="•"/>
            </a:pPr>
            <a:r>
              <a:rPr lang="en-US" sz="2100" dirty="0">
                <a:solidFill>
                  <a:srgbClr val="222222"/>
                </a:solidFill>
                <a:latin typeface="Calibri" pitchFamily="34" charset="0"/>
                <a:ea typeface="Calibri" pitchFamily="34" charset="-122"/>
                <a:cs typeface="Calibri" pitchFamily="34" charset="-120"/>
              </a:rPr>
              <a:t>Explain the difference between a growth standard (WHO) and a growth reference (CDC).</a:t>
            </a:r>
            <a:endParaRPr lang="en-US" sz="2100" dirty="0"/>
          </a:p>
          <a:p>
            <a:pPr marL="342900" indent="-342900">
              <a:spcAft>
                <a:spcPts val="800"/>
              </a:spcAft>
              <a:buSzPct val="100000"/>
              <a:buChar char="•"/>
            </a:pPr>
            <a:r>
              <a:rPr lang="en-US" sz="2100" dirty="0">
                <a:solidFill>
                  <a:srgbClr val="222222"/>
                </a:solidFill>
                <a:latin typeface="Calibri" pitchFamily="34" charset="0"/>
                <a:ea typeface="Calibri" pitchFamily="34" charset="-122"/>
                <a:cs typeface="Calibri" pitchFamily="34" charset="-120"/>
              </a:rPr>
              <a:t>Measure weight, length/stature and head circumference accurately.</a:t>
            </a:r>
            <a:endParaRPr lang="en-US" sz="2100" dirty="0"/>
          </a:p>
          <a:p>
            <a:pPr marL="342900" indent="-342900">
              <a:spcAft>
                <a:spcPts val="800"/>
              </a:spcAft>
              <a:buSzPct val="100000"/>
              <a:buChar char="•"/>
            </a:pPr>
            <a:r>
              <a:rPr lang="en-US" sz="2100" dirty="0">
                <a:solidFill>
                  <a:srgbClr val="222222"/>
                </a:solidFill>
                <a:latin typeface="Calibri" pitchFamily="34" charset="0"/>
                <a:ea typeface="Calibri" pitchFamily="34" charset="-122"/>
                <a:cs typeface="Calibri" pitchFamily="34" charset="-120"/>
              </a:rPr>
              <a:t>Plot, read and interpret percentiles using the correct cut-offs.</a:t>
            </a:r>
            <a:endParaRPr lang="en-US" sz="2100" dirty="0"/>
          </a:p>
          <a:p>
            <a:pPr marL="342900" indent="-342900">
              <a:spcAft>
                <a:spcPts val="800"/>
              </a:spcAft>
              <a:buSzPct val="100000"/>
              <a:buChar char="•"/>
            </a:pPr>
            <a:r>
              <a:rPr lang="en-US" sz="2100" dirty="0">
                <a:solidFill>
                  <a:srgbClr val="222222"/>
                </a:solidFill>
                <a:latin typeface="Calibri" pitchFamily="34" charset="0"/>
                <a:ea typeface="Calibri" pitchFamily="34" charset="-122"/>
                <a:cs typeface="Calibri" pitchFamily="34" charset="-120"/>
              </a:rPr>
              <a:t>Apply the nursing process: act on findings, document, educate parents, refer.</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Growth charts use a series of percentile curves to demonstrate the distribution of body measurements in children. </a:t>
            </a:r>
          </a:p>
          <a:p>
            <a:pPr marL="519113">
              <a:lnSpc>
                <a:spcPct val="150000"/>
              </a:lnSpc>
              <a:buClr>
                <a:schemeClr val="accent6">
                  <a:lumMod val="75000"/>
                </a:schemeClr>
              </a:buClr>
              <a:buSzPct val="100000"/>
              <a:buNone/>
            </a:pPr>
            <a:endParaRPr lang="en-US" sz="2800" dirty="0">
              <a:solidFill>
                <a:srgbClr val="3B3838"/>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620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33463" indent="-514350">
              <a:lnSpc>
                <a:spcPct val="150000"/>
              </a:lnSpc>
              <a:buClr>
                <a:schemeClr val="accent6">
                  <a:lumMod val="75000"/>
                </a:schemeClr>
              </a:buClr>
              <a:buSzPct val="100000"/>
              <a:buFont typeface="+mj-lt"/>
              <a:buAutoNum type="arabicPeriod" startAt="3"/>
            </a:pPr>
            <a:r>
              <a:rPr lang="en-US" sz="2800" dirty="0">
                <a:solidFill>
                  <a:srgbClr val="3F3F3F"/>
                </a:solidFill>
                <a:cs typeface="Segoe UI Semibold" panose="020B0702040204020203" pitchFamily="34" charset="0"/>
              </a:rPr>
              <a:t>Children who show a sudden increase (except during puberty), decrease, or no change in a previously steady growth pattern</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growth is a continuous but uneven process, the most reliable evaluation lies in comparing growth measurements over time. It is important to remember that normal growth patterns vary among children the same age</a:t>
            </a: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053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685800"/>
            <a:ext cx="10698480" cy="984885"/>
          </a:xfrm>
          <a:prstGeom prst="rect">
            <a:avLst/>
          </a:prstGeom>
          <a:noFill/>
        </p:spPr>
        <p:txBody>
          <a:bodyPr wrap="square" lIns="0" tIns="0" rIns="0" bIns="0">
            <a:spAutoFit/>
          </a:bodyPr>
          <a:lstStyle/>
          <a:p>
            <a:pPr>
              <a:defRPr sz="2400" b="1">
                <a:solidFill>
                  <a:srgbClr val="1B2A4A"/>
                </a:solidFill>
                <a:latin typeface="Georgia"/>
              </a:defRPr>
            </a:pPr>
            <a:r>
              <a:rPr lang="en-US" sz="3200" dirty="0">
                <a:solidFill>
                  <a:schemeClr val="tx1">
                    <a:lumMod val="65000"/>
                    <a:lumOff val="35000"/>
                  </a:schemeClr>
                </a:solidFill>
                <a:ea typeface="+mj-ea"/>
                <a:cs typeface="+mj-cs"/>
              </a:rPr>
              <a:t>WHO Standards Monitor Infants Under 2 Years While CDC Charts Guide Ages 2 to 20</a:t>
            </a:r>
          </a:p>
        </p:txBody>
      </p:sp>
      <p:graphicFrame>
        <p:nvGraphicFramePr>
          <p:cNvPr id="4" name="Table 3"/>
          <p:cNvGraphicFramePr>
            <a:graphicFrameLocks noGrp="1"/>
          </p:cNvGraphicFramePr>
          <p:nvPr>
            <p:extLst>
              <p:ext uri="{D42A27DB-BD31-4B8C-83A1-F6EECF244321}">
                <p14:modId xmlns:p14="http://schemas.microsoft.com/office/powerpoint/2010/main" val="2721257838"/>
              </p:ext>
            </p:extLst>
          </p:nvPr>
        </p:nvGraphicFramePr>
        <p:xfrm>
          <a:off x="731520" y="1645920"/>
          <a:ext cx="10728655" cy="5077968"/>
        </p:xfrm>
        <a:graphic>
          <a:graphicData uri="http://schemas.openxmlformats.org/drawingml/2006/table">
            <a:tbl>
              <a:tblPr firstRow="1" bandRow="1">
                <a:tableStyleId>{5C22544A-7EE6-4342-B048-85BDC9FD1C3A}</a:tableStyleId>
              </a:tblPr>
              <a:tblGrid>
                <a:gridCol w="2499055">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877824">
                <a:tc>
                  <a:txBody>
                    <a:bodyPr/>
                    <a:lstStyle/>
                    <a:p>
                      <a:pPr algn="ctr">
                        <a:defRPr sz="1400" b="1">
                          <a:solidFill>
                            <a:srgbClr val="FFFFFF"/>
                          </a:solidFill>
                          <a:latin typeface="Arial"/>
                        </a:defRPr>
                      </a:pPr>
                      <a:r>
                        <a:rPr sz="2400" dirty="0">
                          <a:latin typeface="+mn-lt"/>
                        </a:rPr>
                        <a:t>Assessment Feature</a:t>
                      </a:r>
                    </a:p>
                  </a:txBody>
                  <a:tcPr>
                    <a:solidFill>
                      <a:srgbClr val="1B2A4A"/>
                    </a:solidFill>
                  </a:tcPr>
                </a:tc>
                <a:tc>
                  <a:txBody>
                    <a:bodyPr/>
                    <a:lstStyle/>
                    <a:p>
                      <a:pPr algn="ctr">
                        <a:defRPr sz="1400" b="1">
                          <a:solidFill>
                            <a:srgbClr val="FFFFFF"/>
                          </a:solidFill>
                          <a:latin typeface="Arial"/>
                        </a:defRPr>
                      </a:pPr>
                      <a:r>
                        <a:rPr sz="2400" dirty="0">
                          <a:latin typeface="+mn-lt"/>
                        </a:rPr>
                        <a:t>WHO Growth Standards (0 – 2 Years)</a:t>
                      </a:r>
                    </a:p>
                  </a:txBody>
                  <a:tcPr>
                    <a:solidFill>
                      <a:srgbClr val="1B2A4A"/>
                    </a:solidFill>
                  </a:tcPr>
                </a:tc>
                <a:tc>
                  <a:txBody>
                    <a:bodyPr/>
                    <a:lstStyle/>
                    <a:p>
                      <a:pPr algn="ctr">
                        <a:defRPr sz="1400" b="1">
                          <a:solidFill>
                            <a:srgbClr val="FFFFFF"/>
                          </a:solidFill>
                          <a:latin typeface="Arial"/>
                        </a:defRPr>
                      </a:pPr>
                      <a:r>
                        <a:rPr sz="2400">
                          <a:latin typeface="+mn-lt"/>
                        </a:rPr>
                        <a:t>CDC Growth Reference (2 – 20 Years)</a:t>
                      </a:r>
                    </a:p>
                  </a:txBody>
                  <a:tcPr>
                    <a:solidFill>
                      <a:srgbClr val="1B2A4A"/>
                    </a:solidFill>
                  </a:tcPr>
                </a:tc>
                <a:extLst>
                  <a:ext uri="{0D108BD9-81ED-4DB2-BD59-A6C34878D82A}">
                    <a16:rowId xmlns:a16="http://schemas.microsoft.com/office/drawing/2014/main" val="10000"/>
                  </a:ext>
                </a:extLst>
              </a:tr>
              <a:tr h="877824">
                <a:tc>
                  <a:txBody>
                    <a:bodyPr/>
                    <a:lstStyle/>
                    <a:p>
                      <a:pPr>
                        <a:defRPr sz="1200" b="1">
                          <a:solidFill>
                            <a:srgbClr val="1B2A4A"/>
                          </a:solidFill>
                          <a:latin typeface="Arial"/>
                        </a:defRPr>
                      </a:pPr>
                      <a:r>
                        <a:rPr sz="2000" dirty="0">
                          <a:latin typeface="+mn-lt"/>
                        </a:rPr>
                        <a:t>Target Population</a:t>
                      </a:r>
                    </a:p>
                  </a:txBody>
                  <a:tcPr>
                    <a:solidFill>
                      <a:srgbClr val="FFFFFF"/>
                    </a:solidFill>
                  </a:tcPr>
                </a:tc>
                <a:tc>
                  <a:txBody>
                    <a:bodyPr/>
                    <a:lstStyle/>
                    <a:p>
                      <a:pPr>
                        <a:defRPr sz="1200">
                          <a:solidFill>
                            <a:srgbClr val="475569"/>
                          </a:solidFill>
                          <a:latin typeface="Arial"/>
                        </a:defRPr>
                      </a:pPr>
                      <a:r>
                        <a:rPr sz="2000" dirty="0">
                          <a:latin typeface="+mn-lt"/>
                        </a:rPr>
                        <a:t>Infants &amp; toddlers from birth to 24 months.</a:t>
                      </a:r>
                    </a:p>
                  </a:txBody>
                  <a:tcPr>
                    <a:solidFill>
                      <a:srgbClr val="FFFFFF"/>
                    </a:solidFill>
                  </a:tcPr>
                </a:tc>
                <a:tc>
                  <a:txBody>
                    <a:bodyPr/>
                    <a:lstStyle/>
                    <a:p>
                      <a:pPr>
                        <a:defRPr sz="1200">
                          <a:solidFill>
                            <a:srgbClr val="475569"/>
                          </a:solidFill>
                          <a:latin typeface="Arial"/>
                        </a:defRPr>
                      </a:pPr>
                      <a:r>
                        <a:rPr sz="2000" dirty="0">
                          <a:latin typeface="+mn-lt"/>
                        </a:rPr>
                        <a:t>Children and adolescents aged 2 to 20 years.</a:t>
                      </a:r>
                    </a:p>
                  </a:txBody>
                  <a:tcPr>
                    <a:solidFill>
                      <a:srgbClr val="FFFFFF"/>
                    </a:solidFill>
                  </a:tcPr>
                </a:tc>
                <a:extLst>
                  <a:ext uri="{0D108BD9-81ED-4DB2-BD59-A6C34878D82A}">
                    <a16:rowId xmlns:a16="http://schemas.microsoft.com/office/drawing/2014/main" val="10001"/>
                  </a:ext>
                </a:extLst>
              </a:tr>
              <a:tr h="877824">
                <a:tc>
                  <a:txBody>
                    <a:bodyPr/>
                    <a:lstStyle/>
                    <a:p>
                      <a:pPr>
                        <a:defRPr sz="1200" b="1">
                          <a:solidFill>
                            <a:srgbClr val="1B2A4A"/>
                          </a:solidFill>
                          <a:latin typeface="Arial"/>
                        </a:defRPr>
                      </a:pPr>
                      <a:r>
                        <a:rPr sz="2000">
                          <a:latin typeface="+mn-lt"/>
                        </a:rPr>
                        <a:t>Biological Standard</a:t>
                      </a:r>
                    </a:p>
                  </a:txBody>
                  <a:tcPr>
                    <a:solidFill>
                      <a:srgbClr val="F1F5F9"/>
                    </a:solidFill>
                  </a:tcPr>
                </a:tc>
                <a:tc>
                  <a:txBody>
                    <a:bodyPr/>
                    <a:lstStyle/>
                    <a:p>
                      <a:pPr>
                        <a:defRPr sz="1200">
                          <a:solidFill>
                            <a:srgbClr val="475569"/>
                          </a:solidFill>
                          <a:latin typeface="Arial"/>
                        </a:defRPr>
                      </a:pPr>
                      <a:r>
                        <a:rPr sz="2000" dirty="0">
                          <a:latin typeface="+mn-lt"/>
                        </a:rPr>
                        <a:t>Depicts how healthy children SHOULD grow under optimal environmental &amp; feeding conditions.</a:t>
                      </a:r>
                    </a:p>
                  </a:txBody>
                  <a:tcPr>
                    <a:solidFill>
                      <a:srgbClr val="F1F5F9"/>
                    </a:solidFill>
                  </a:tcPr>
                </a:tc>
                <a:tc>
                  <a:txBody>
                    <a:bodyPr/>
                    <a:lstStyle/>
                    <a:p>
                      <a:pPr>
                        <a:defRPr sz="1200">
                          <a:solidFill>
                            <a:srgbClr val="475569"/>
                          </a:solidFill>
                          <a:latin typeface="Arial"/>
                        </a:defRPr>
                      </a:pPr>
                      <a:r>
                        <a:rPr sz="2000" dirty="0">
                          <a:latin typeface="+mn-lt"/>
                        </a:rPr>
                        <a:t>Depicts how children ACTUALLY grew in the US during reference periods.</a:t>
                      </a:r>
                    </a:p>
                  </a:txBody>
                  <a:tcPr>
                    <a:solidFill>
                      <a:srgbClr val="F1F5F9"/>
                    </a:solidFill>
                  </a:tcPr>
                </a:tc>
                <a:extLst>
                  <a:ext uri="{0D108BD9-81ED-4DB2-BD59-A6C34878D82A}">
                    <a16:rowId xmlns:a16="http://schemas.microsoft.com/office/drawing/2014/main" val="10002"/>
                  </a:ext>
                </a:extLst>
              </a:tr>
              <a:tr h="877824">
                <a:tc>
                  <a:txBody>
                    <a:bodyPr/>
                    <a:lstStyle/>
                    <a:p>
                      <a:pPr>
                        <a:defRPr sz="1200" b="1">
                          <a:solidFill>
                            <a:srgbClr val="1B2A4A"/>
                          </a:solidFill>
                          <a:latin typeface="Arial"/>
                        </a:defRPr>
                      </a:pPr>
                      <a:r>
                        <a:rPr sz="2000">
                          <a:latin typeface="+mn-lt"/>
                        </a:rPr>
                        <a:t>Feeding Baseline</a:t>
                      </a:r>
                    </a:p>
                  </a:txBody>
                  <a:tcPr>
                    <a:solidFill>
                      <a:srgbClr val="FFFFFF"/>
                    </a:solidFill>
                  </a:tcPr>
                </a:tc>
                <a:tc>
                  <a:txBody>
                    <a:bodyPr/>
                    <a:lstStyle/>
                    <a:p>
                      <a:pPr>
                        <a:defRPr sz="1200">
                          <a:solidFill>
                            <a:srgbClr val="475569"/>
                          </a:solidFill>
                          <a:latin typeface="Arial"/>
                        </a:defRPr>
                      </a:pPr>
                      <a:r>
                        <a:rPr sz="2000">
                          <a:latin typeface="+mn-lt"/>
                        </a:rPr>
                        <a:t>Based on predominantly breastfed infants for at least 4 months (optimal feeding standard).</a:t>
                      </a:r>
                    </a:p>
                  </a:txBody>
                  <a:tcPr>
                    <a:solidFill>
                      <a:srgbClr val="FFFFFF"/>
                    </a:solidFill>
                  </a:tcPr>
                </a:tc>
                <a:tc>
                  <a:txBody>
                    <a:bodyPr/>
                    <a:lstStyle/>
                    <a:p>
                      <a:pPr>
                        <a:defRPr sz="1200">
                          <a:solidFill>
                            <a:srgbClr val="475569"/>
                          </a:solidFill>
                          <a:latin typeface="Arial"/>
                        </a:defRPr>
                      </a:pPr>
                      <a:r>
                        <a:rPr sz="2000" dirty="0">
                          <a:latin typeface="+mn-lt"/>
                        </a:rPr>
                        <a:t>Includes mixed formula and breastfed infants from historical US health surveys.</a:t>
                      </a:r>
                    </a:p>
                  </a:txBody>
                  <a:tcPr>
                    <a:solidFill>
                      <a:srgbClr val="FFFFFF"/>
                    </a:solidFill>
                  </a:tcPr>
                </a:tc>
                <a:extLst>
                  <a:ext uri="{0D108BD9-81ED-4DB2-BD59-A6C34878D82A}">
                    <a16:rowId xmlns:a16="http://schemas.microsoft.com/office/drawing/2014/main" val="10003"/>
                  </a:ext>
                </a:extLst>
              </a:tr>
              <a:tr h="877824">
                <a:tc>
                  <a:txBody>
                    <a:bodyPr/>
                    <a:lstStyle/>
                    <a:p>
                      <a:pPr>
                        <a:defRPr sz="1200" b="1">
                          <a:solidFill>
                            <a:srgbClr val="1B2A4A"/>
                          </a:solidFill>
                          <a:latin typeface="Arial"/>
                        </a:defRPr>
                      </a:pPr>
                      <a:r>
                        <a:rPr sz="2000">
                          <a:latin typeface="+mn-lt"/>
                        </a:rPr>
                        <a:t>Clinical Focus</a:t>
                      </a:r>
                    </a:p>
                  </a:txBody>
                  <a:tcPr>
                    <a:solidFill>
                      <a:srgbClr val="F1F5F9"/>
                    </a:solidFill>
                  </a:tcPr>
                </a:tc>
                <a:tc>
                  <a:txBody>
                    <a:bodyPr/>
                    <a:lstStyle/>
                    <a:p>
                      <a:pPr>
                        <a:defRPr sz="1200">
                          <a:solidFill>
                            <a:srgbClr val="475569"/>
                          </a:solidFill>
                          <a:latin typeface="Arial"/>
                        </a:defRPr>
                      </a:pPr>
                      <a:r>
                        <a:rPr sz="2000" dirty="0">
                          <a:latin typeface="+mn-lt"/>
                        </a:rPr>
                        <a:t>Growth velocity, length-for-age, weight-for-length, and head circumference.</a:t>
                      </a:r>
                    </a:p>
                  </a:txBody>
                  <a:tcPr>
                    <a:solidFill>
                      <a:srgbClr val="F1F5F9"/>
                    </a:solidFill>
                  </a:tcPr>
                </a:tc>
                <a:tc>
                  <a:txBody>
                    <a:bodyPr/>
                    <a:lstStyle/>
                    <a:p>
                      <a:pPr>
                        <a:defRPr sz="1200">
                          <a:solidFill>
                            <a:srgbClr val="475569"/>
                          </a:solidFill>
                          <a:latin typeface="Arial"/>
                        </a:defRPr>
                      </a:pPr>
                      <a:r>
                        <a:rPr sz="2000" dirty="0">
                          <a:latin typeface="+mn-lt"/>
                        </a:rPr>
                        <a:t>Stature-for-age, weight-for-age, and Body Mass Index (BMI)-for-age.</a:t>
                      </a:r>
                    </a:p>
                  </a:txBody>
                  <a:tcPr>
                    <a:solidFill>
                      <a:srgbClr val="F1F5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685800"/>
            <a:ext cx="10698480" cy="731520"/>
          </a:xfrm>
          <a:prstGeom prst="rect">
            <a:avLst/>
          </a:prstGeom>
          <a:noFill/>
        </p:spPr>
        <p:txBody>
          <a:bodyPr wrap="square" lIns="0" tIns="0" rIns="0" bIns="0">
            <a:spAutoFit/>
          </a:bodyPr>
          <a:lstStyle/>
          <a:p>
            <a:pPr>
              <a:defRPr sz="2400" b="1">
                <a:solidFill>
                  <a:srgbClr val="1B2A4A"/>
                </a:solidFill>
                <a:latin typeface="Georgia"/>
              </a:defRPr>
            </a:pPr>
            <a:r>
              <a:rPr dirty="0"/>
              <a:t>Growth Percentiles Establish a Child's Relative Position within Reference Norms</a:t>
            </a:r>
          </a:p>
        </p:txBody>
      </p:sp>
      <p:sp>
        <p:nvSpPr>
          <p:cNvPr id="4" name="Rounded Rectangle 3"/>
          <p:cNvSpPr/>
          <p:nvPr/>
        </p:nvSpPr>
        <p:spPr>
          <a:xfrm>
            <a:off x="731520" y="1645919"/>
            <a:ext cx="5364480" cy="4846319"/>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800" b="1">
                <a:solidFill>
                  <a:srgbClr val="1B2A4A"/>
                </a:solidFill>
                <a:latin typeface="Georgia"/>
              </a:defRPr>
            </a:pPr>
            <a:r>
              <a:rPr sz="2400" dirty="0"/>
              <a:t>Understanding Growth Percentiles</a:t>
            </a:r>
          </a:p>
          <a:p>
            <a:pPr>
              <a:spcBef>
                <a:spcPts val="1000"/>
              </a:spcBef>
            </a:pPr>
            <a:r>
              <a:rPr sz="1600" b="1" dirty="0">
                <a:solidFill>
                  <a:srgbClr val="0284C7"/>
                </a:solidFill>
              </a:rPr>
              <a:t>Percentile Definition: </a:t>
            </a:r>
            <a:r>
              <a:rPr sz="1600" dirty="0">
                <a:solidFill>
                  <a:srgbClr val="475569"/>
                </a:solidFill>
              </a:rPr>
              <a:t>A statistical value indicating the percentage of reference children who fall at or below a specific measurement.</a:t>
            </a:r>
          </a:p>
          <a:p>
            <a:pPr>
              <a:spcBef>
                <a:spcPts val="1000"/>
              </a:spcBef>
            </a:pPr>
            <a:r>
              <a:rPr sz="1600" b="1" dirty="0">
                <a:solidFill>
                  <a:srgbClr val="0284C7"/>
                </a:solidFill>
              </a:rPr>
              <a:t>50th Percentile: </a:t>
            </a:r>
            <a:r>
              <a:rPr sz="1600" dirty="0">
                <a:solidFill>
                  <a:srgbClr val="475569"/>
                </a:solidFill>
              </a:rPr>
              <a:t>Represents the exact median parameter for age and sex. Half of healthy peers are larger, half are smaller.</a:t>
            </a:r>
          </a:p>
          <a:p>
            <a:pPr>
              <a:spcBef>
                <a:spcPts val="1000"/>
              </a:spcBef>
            </a:pPr>
            <a:r>
              <a:rPr sz="1600" b="1" dirty="0">
                <a:solidFill>
                  <a:srgbClr val="0284C7"/>
                </a:solidFill>
              </a:rPr>
              <a:t>Normal Range: </a:t>
            </a:r>
            <a:r>
              <a:rPr sz="1600" dirty="0">
                <a:solidFill>
                  <a:srgbClr val="475569"/>
                </a:solidFill>
              </a:rPr>
              <a:t>Generally defined between the 5th and 95th percentiles on standardized WHO/CDC curves.</a:t>
            </a:r>
          </a:p>
          <a:p>
            <a:pPr>
              <a:spcBef>
                <a:spcPts val="1000"/>
              </a:spcBef>
            </a:pPr>
            <a:r>
              <a:rPr sz="1600" b="1" dirty="0">
                <a:solidFill>
                  <a:srgbClr val="0284C7"/>
                </a:solidFill>
              </a:rPr>
              <a:t>Trend vs. Static Value: </a:t>
            </a:r>
            <a:r>
              <a:rPr sz="1600" dirty="0">
                <a:solidFill>
                  <a:srgbClr val="475569"/>
                </a:solidFill>
              </a:rPr>
              <a:t>A single percentile reading is merely a snapshot. Serial measurements over time (the growth curve) are clinically vital.</a:t>
            </a:r>
          </a:p>
        </p:txBody>
      </p:sp>
      <p:sp>
        <p:nvSpPr>
          <p:cNvPr id="5" name="Rounded Rectangle 4"/>
          <p:cNvSpPr/>
          <p:nvPr/>
        </p:nvSpPr>
        <p:spPr>
          <a:xfrm>
            <a:off x="6217920" y="1645920"/>
            <a:ext cx="566928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800" b="1">
                <a:solidFill>
                  <a:srgbClr val="1B2A4A"/>
                </a:solidFill>
                <a:latin typeface="Georgia"/>
              </a:defRPr>
            </a:pPr>
            <a:r>
              <a:rPr sz="2400" dirty="0"/>
              <a:t>Clinical Interpretation Example</a:t>
            </a:r>
          </a:p>
          <a:p>
            <a:br>
              <a:rPr sz="2400" dirty="0"/>
            </a:br>
            <a:r>
              <a:rPr sz="2400" dirty="0"/>
              <a:t>Key Rule from Wong's Textbook:</a:t>
            </a:r>
          </a:p>
          <a:p>
            <a:pPr>
              <a:spcBef>
                <a:spcPts val="400"/>
              </a:spcBef>
              <a:defRPr sz="1200" i="1">
                <a:solidFill>
                  <a:srgbClr val="0284C7"/>
                </a:solidFill>
              </a:defRPr>
            </a:pPr>
            <a:r>
              <a:rPr sz="1600" dirty="0"/>
              <a:t>"Percentiles are not grades in school. Being in the 10th percentile is not 'worse' than being in the 90th percentile. Consistency along an established trajectory is the primary indicator of normal physical growth."</a:t>
            </a:r>
          </a:p>
        </p:txBody>
      </p:sp>
      <p:sp>
        <p:nvSpPr>
          <p:cNvPr id="6" name="Rounded Rectangle 5"/>
          <p:cNvSpPr/>
          <p:nvPr/>
        </p:nvSpPr>
        <p:spPr>
          <a:xfrm>
            <a:off x="6492240" y="2286000"/>
            <a:ext cx="4968240" cy="2064774"/>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400" b="1">
                <a:solidFill>
                  <a:srgbClr val="1B2A4A"/>
                </a:solidFill>
              </a:defRPr>
            </a:pPr>
            <a:r>
              <a:rPr dirty="0"/>
              <a:t>Case Scenario: 10th Percentile Height</a:t>
            </a:r>
          </a:p>
          <a:p>
            <a:pPr>
              <a:spcBef>
                <a:spcPts val="400"/>
              </a:spcBef>
              <a:defRPr sz="1200">
                <a:solidFill>
                  <a:srgbClr val="475569"/>
                </a:solidFill>
              </a:defRPr>
            </a:pPr>
            <a:r>
              <a:rPr sz="1600" dirty="0"/>
              <a:t>If a 12-month-old boy is in the 10th percentile for length:</a:t>
            </a:r>
            <a:br>
              <a:rPr sz="1600" dirty="0"/>
            </a:br>
            <a:r>
              <a:rPr sz="1600" dirty="0"/>
              <a:t>• He is taller than 10% of 12-month-old boys.</a:t>
            </a:r>
            <a:br>
              <a:rPr sz="1600" dirty="0"/>
            </a:br>
            <a:r>
              <a:rPr sz="1600" dirty="0"/>
              <a:t>• 90% of peers are taller than him.</a:t>
            </a:r>
            <a:br>
              <a:rPr sz="1600" dirty="0"/>
            </a:br>
            <a:r>
              <a:rPr sz="1600" dirty="0"/>
              <a:t>• Clinical Assessment: HEALTHY if he has consistently tracked along the 10th curve since birth.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عنصر نائب للمحتوى 4">
            <a:extLst>
              <a:ext uri="{FF2B5EF4-FFF2-40B4-BE49-F238E27FC236}">
                <a16:creationId xmlns:a16="http://schemas.microsoft.com/office/drawing/2014/main" id="{2E2FA2DA-13D2-43A2-8C01-3299CD057435}"/>
              </a:ext>
            </a:extLst>
          </p:cNvPr>
          <p:cNvPicPr>
            <a:picLocks noGrp="1" noChangeAspect="1"/>
          </p:cNvPicPr>
          <p:nvPr>
            <p:ph idx="1"/>
          </p:nvPr>
        </p:nvPicPr>
        <p:blipFill>
          <a:blip r:embed="rId2"/>
          <a:stretch>
            <a:fillRect/>
          </a:stretch>
        </p:blipFill>
        <p:spPr>
          <a:xfrm>
            <a:off x="299258" y="249382"/>
            <a:ext cx="3990109" cy="6301047"/>
          </a:xfrm>
        </p:spPr>
      </p:pic>
      <p:sp>
        <p:nvSpPr>
          <p:cNvPr id="7" name="مربع نص 6">
            <a:extLst>
              <a:ext uri="{FF2B5EF4-FFF2-40B4-BE49-F238E27FC236}">
                <a16:creationId xmlns:a16="http://schemas.microsoft.com/office/drawing/2014/main" id="{692EEB05-EB0F-D232-750C-8A576473B2CF}"/>
              </a:ext>
            </a:extLst>
          </p:cNvPr>
          <p:cNvSpPr txBox="1"/>
          <p:nvPr/>
        </p:nvSpPr>
        <p:spPr>
          <a:xfrm>
            <a:off x="4289367" y="1264841"/>
            <a:ext cx="7603375" cy="4536370"/>
          </a:xfrm>
          <a:prstGeom prst="rect">
            <a:avLst/>
          </a:prstGeom>
          <a:noFill/>
        </p:spPr>
        <p:txBody>
          <a:bodyPr wrap="square">
            <a:spAutoFit/>
          </a:bodyPr>
          <a:lstStyle/>
          <a:p>
            <a:pPr marL="1090613" indent="-571500">
              <a:lnSpc>
                <a:spcPct val="150000"/>
              </a:lnSpc>
              <a:spcBef>
                <a:spcPts val="1000"/>
              </a:spcBef>
              <a:spcAft>
                <a:spcPts val="1200"/>
              </a:spcAft>
              <a:buClr>
                <a:schemeClr val="accent6">
                  <a:lumMod val="75000"/>
                </a:schemeClr>
              </a:buClr>
              <a:buSzPct val="100000"/>
              <a:buFont typeface="Wingdings 2" panose="05020102010507070707" pitchFamily="18" charset="2"/>
              <a:buChar char=""/>
            </a:pPr>
            <a:r>
              <a:rPr lang="en-US" sz="2400" dirty="0">
                <a:solidFill>
                  <a:srgbClr val="3F3F3F"/>
                </a:solidFill>
                <a:cs typeface="Segoe UI Semibold" panose="020B0702040204020203" pitchFamily="34" charset="0"/>
              </a:rPr>
              <a:t>These children of identical age (8 years) are markedly  different in size. Child on left, of Asian descent, is at 5th percentile  for  height  and  weight.  Child  on  right  is  above  95th  percentile for height and weight. However, both children demonstrate normal growth patterns.  </a:t>
            </a:r>
            <a:br>
              <a:rPr lang="en-US" sz="2800" dirty="0">
                <a:solidFill>
                  <a:srgbClr val="3F3F3F"/>
                </a:solidFill>
                <a:cs typeface="Segoe UI Semibold" panose="020B0702040204020203" pitchFamily="34" charset="0"/>
              </a:rPr>
            </a:br>
            <a:endParaRPr lang="ar-IQ" sz="2800" dirty="0">
              <a:solidFill>
                <a:srgbClr val="3F3F3F"/>
              </a:solidFill>
              <a:cs typeface="Segoe UI Semibold" panose="020B0702040204020203" pitchFamily="34" charset="0"/>
            </a:endParaRPr>
          </a:p>
        </p:txBody>
      </p:sp>
    </p:spTree>
    <p:extLst>
      <p:ext uri="{BB962C8B-B14F-4D97-AF65-F5344CB8AC3E}">
        <p14:creationId xmlns:p14="http://schemas.microsoft.com/office/powerpoint/2010/main" val="3181161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A9D8F"/>
          </a:solidFill>
          <a:ln w="12700">
            <a:solidFill>
              <a:srgbClr val="2A9D8F"/>
            </a:solidFill>
            <a:prstDash val="solid"/>
          </a:ln>
        </p:spPr>
        <p:txBody>
          <a:bodyPr/>
          <a:lstStyle/>
          <a:p>
            <a:endParaRPr lang="ar-IQ"/>
          </a:p>
        </p:txBody>
      </p:sp>
      <p:sp>
        <p:nvSpPr>
          <p:cNvPr id="3" name="Text 1"/>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Steps 2–6: select, record, calculate, plot, interpret</a:t>
            </a:r>
            <a:endParaRPr lang="en-US" sz="2800" dirty="0"/>
          </a:p>
        </p:txBody>
      </p:sp>
      <p:sp>
        <p:nvSpPr>
          <p:cNvPr id="4" name="Text 2"/>
          <p:cNvSpPr txBox="1"/>
          <p:nvPr/>
        </p:nvSpPr>
        <p:spPr>
          <a:xfrm>
            <a:off x="548640" y="6355080"/>
            <a:ext cx="10424160" cy="320040"/>
          </a:xfrm>
          <a:prstGeom prst="rect">
            <a:avLst/>
          </a:prstGeom>
          <a:noFill/>
          <a:ln/>
        </p:spPr>
        <p:txBody>
          <a:bodyPr wrap="square" lIns="0" tIns="0" rIns="0" bIns="0" rtlCol="0" anchor="ctr"/>
          <a:lstStyle/>
          <a:p>
            <a:pPr marL="0" indent="0">
              <a:buNone/>
            </a:pPr>
            <a:r>
              <a:rPr lang="en-US" sz="1000" dirty="0">
                <a:solidFill>
                  <a:srgbClr val="5B6572"/>
                </a:solidFill>
                <a:latin typeface="Calibri" pitchFamily="34" charset="0"/>
                <a:ea typeface="Calibri" pitchFamily="34" charset="-122"/>
                <a:cs typeface="Calibri" pitchFamily="34" charset="-120"/>
              </a:rPr>
              <a:t>Source: CDC (2013) Use and Interpretation of the WHO and CDC Growth Charts, Steps 2–6.</a:t>
            </a:r>
            <a:endParaRPr lang="en-US" sz="1000" dirty="0"/>
          </a:p>
        </p:txBody>
      </p:sp>
      <p:sp>
        <p:nvSpPr>
          <p:cNvPr id="5" name="Text 3"/>
          <p:cNvSpPr txBox="1"/>
          <p:nvPr/>
        </p:nvSpPr>
        <p:spPr>
          <a:xfrm>
            <a:off x="11247120" y="6355080"/>
            <a:ext cx="457200" cy="320040"/>
          </a:xfrm>
          <a:prstGeom prst="rect">
            <a:avLst/>
          </a:prstGeom>
          <a:noFill/>
          <a:ln/>
        </p:spPr>
        <p:txBody>
          <a:bodyPr wrap="square" lIns="0" tIns="0" rIns="0" bIns="0" rtlCol="0" anchor="ctr"/>
          <a:lstStyle/>
          <a:p>
            <a:pPr marL="0" indent="0" algn="r">
              <a:buNone/>
            </a:pPr>
            <a:r>
              <a:rPr lang="en-US" sz="1000" dirty="0">
                <a:solidFill>
                  <a:srgbClr val="5B6572"/>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280160"/>
            <a:ext cx="3566160" cy="2286000"/>
          </a:xfrm>
          <a:prstGeom prst="roundRect">
            <a:avLst>
              <a:gd name="adj" fmla="val 3200"/>
            </a:avLst>
          </a:prstGeom>
          <a:solidFill>
            <a:srgbClr val="EEF3F8"/>
          </a:solidFill>
          <a:ln w="12700">
            <a:solidFill>
              <a:srgbClr val="2A9D8F"/>
            </a:solidFill>
            <a:prstDash val="solid"/>
          </a:ln>
        </p:spPr>
        <p:txBody>
          <a:bodyPr/>
          <a:lstStyle/>
          <a:p>
            <a:endParaRPr lang="ar-IQ"/>
          </a:p>
        </p:txBody>
      </p:sp>
      <p:sp>
        <p:nvSpPr>
          <p:cNvPr id="8" name="Text 5"/>
          <p:cNvSpPr txBox="1"/>
          <p:nvPr/>
        </p:nvSpPr>
        <p:spPr>
          <a:xfrm>
            <a:off x="731520" y="1389888"/>
            <a:ext cx="3200400" cy="41148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2 Select the chart</a:t>
            </a:r>
            <a:endParaRPr lang="en-US" sz="2000" dirty="0"/>
          </a:p>
        </p:txBody>
      </p:sp>
      <p:sp>
        <p:nvSpPr>
          <p:cNvPr id="9" name="Text 6"/>
          <p:cNvSpPr txBox="1"/>
          <p:nvPr/>
        </p:nvSpPr>
        <p:spPr>
          <a:xfrm>
            <a:off x="731520" y="1828800"/>
            <a:ext cx="3200400" cy="1645920"/>
          </a:xfrm>
          <a:prstGeom prst="rect">
            <a:avLst/>
          </a:prstGeom>
          <a:noFill/>
          <a:ln/>
        </p:spPr>
        <p:txBody>
          <a:bodyPr wrap="square" lIns="0" tIns="0" rIns="0" bIns="0" rtlCol="0" anchor="t"/>
          <a:lstStyle/>
          <a:p>
            <a:pPr marL="0" indent="0">
              <a:buNone/>
            </a:pPr>
            <a:r>
              <a:rPr lang="en-US" sz="1600" dirty="0">
                <a:solidFill>
                  <a:srgbClr val="222222"/>
                </a:solidFill>
                <a:latin typeface="Calibri" pitchFamily="34" charset="0"/>
                <a:ea typeface="Calibri" pitchFamily="34" charset="-122"/>
                <a:cs typeface="Calibri" pitchFamily="34" charset="-120"/>
              </a:rPr>
              <a:t>By age and sex; WHO &lt;2 y, CDC ≥2 y.</a:t>
            </a:r>
            <a:endParaRPr lang="en-US" sz="1600" dirty="0"/>
          </a:p>
        </p:txBody>
      </p:sp>
      <p:sp>
        <p:nvSpPr>
          <p:cNvPr id="10" name="Shape 7"/>
          <p:cNvSpPr/>
          <p:nvPr/>
        </p:nvSpPr>
        <p:spPr>
          <a:xfrm>
            <a:off x="4297680" y="1280160"/>
            <a:ext cx="3566160" cy="2286000"/>
          </a:xfrm>
          <a:prstGeom prst="roundRect">
            <a:avLst>
              <a:gd name="adj" fmla="val 3200"/>
            </a:avLst>
          </a:prstGeom>
          <a:solidFill>
            <a:srgbClr val="EEF3F8"/>
          </a:solidFill>
          <a:ln w="12700">
            <a:solidFill>
              <a:srgbClr val="2A9D8F"/>
            </a:solidFill>
            <a:prstDash val="solid"/>
          </a:ln>
        </p:spPr>
        <p:txBody>
          <a:bodyPr/>
          <a:lstStyle/>
          <a:p>
            <a:endParaRPr lang="ar-IQ"/>
          </a:p>
        </p:txBody>
      </p:sp>
      <p:sp>
        <p:nvSpPr>
          <p:cNvPr id="11" name="Text 8"/>
          <p:cNvSpPr txBox="1"/>
          <p:nvPr/>
        </p:nvSpPr>
        <p:spPr>
          <a:xfrm>
            <a:off x="4480560" y="1389888"/>
            <a:ext cx="3200400" cy="41148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3 Record data</a:t>
            </a:r>
            <a:endParaRPr lang="en-US" sz="2000" dirty="0"/>
          </a:p>
        </p:txBody>
      </p:sp>
      <p:sp>
        <p:nvSpPr>
          <p:cNvPr id="12" name="Text 9"/>
          <p:cNvSpPr txBox="1"/>
          <p:nvPr/>
        </p:nvSpPr>
        <p:spPr>
          <a:xfrm>
            <a:off x="4480560" y="1828800"/>
            <a:ext cx="3200400" cy="1645920"/>
          </a:xfrm>
          <a:prstGeom prst="rect">
            <a:avLst/>
          </a:prstGeom>
          <a:noFill/>
          <a:ln/>
        </p:spPr>
        <p:txBody>
          <a:bodyPr wrap="square" lIns="0" tIns="0" rIns="0" bIns="0" rtlCol="0" anchor="t"/>
          <a:lstStyle/>
          <a:p>
            <a:pPr marL="0" indent="0">
              <a:buNone/>
            </a:pPr>
            <a:r>
              <a:rPr lang="en-US" sz="1600" dirty="0">
                <a:solidFill>
                  <a:srgbClr val="222222"/>
                </a:solidFill>
                <a:latin typeface="Calibri" pitchFamily="34" charset="0"/>
                <a:ea typeface="Calibri" pitchFamily="34" charset="-122"/>
                <a:cs typeface="Calibri" pitchFamily="34" charset="-120"/>
              </a:rPr>
              <a:t>Parents’ stature, gestational age and birth data (&lt;2 y); date, age, weight and length/stature immediately after measuring; comments.</a:t>
            </a:r>
            <a:endParaRPr lang="en-US" sz="1600" dirty="0"/>
          </a:p>
        </p:txBody>
      </p:sp>
      <p:sp>
        <p:nvSpPr>
          <p:cNvPr id="13" name="Shape 10"/>
          <p:cNvSpPr/>
          <p:nvPr/>
        </p:nvSpPr>
        <p:spPr>
          <a:xfrm>
            <a:off x="8046720" y="1280160"/>
            <a:ext cx="3566160" cy="2286000"/>
          </a:xfrm>
          <a:prstGeom prst="roundRect">
            <a:avLst>
              <a:gd name="adj" fmla="val 3200"/>
            </a:avLst>
          </a:prstGeom>
          <a:solidFill>
            <a:srgbClr val="EEF3F8"/>
          </a:solidFill>
          <a:ln w="12700">
            <a:solidFill>
              <a:srgbClr val="2A9D8F"/>
            </a:solidFill>
            <a:prstDash val="solid"/>
          </a:ln>
        </p:spPr>
        <p:txBody>
          <a:bodyPr/>
          <a:lstStyle/>
          <a:p>
            <a:endParaRPr lang="ar-IQ"/>
          </a:p>
        </p:txBody>
      </p:sp>
      <p:sp>
        <p:nvSpPr>
          <p:cNvPr id="14" name="Text 11"/>
          <p:cNvSpPr txBox="1"/>
          <p:nvPr/>
        </p:nvSpPr>
        <p:spPr>
          <a:xfrm>
            <a:off x="8229600" y="1389888"/>
            <a:ext cx="3200400" cy="41148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4 Calculate BMI (≥2 y)</a:t>
            </a:r>
            <a:endParaRPr lang="en-US" sz="2000" dirty="0"/>
          </a:p>
        </p:txBody>
      </p:sp>
      <p:sp>
        <p:nvSpPr>
          <p:cNvPr id="15" name="Text 12"/>
          <p:cNvSpPr txBox="1"/>
          <p:nvPr/>
        </p:nvSpPr>
        <p:spPr>
          <a:xfrm>
            <a:off x="8229600" y="1828800"/>
            <a:ext cx="3200400" cy="1645920"/>
          </a:xfrm>
          <a:prstGeom prst="rect">
            <a:avLst/>
          </a:prstGeom>
          <a:noFill/>
          <a:ln/>
        </p:spPr>
        <p:txBody>
          <a:bodyPr wrap="square" lIns="0" tIns="0" rIns="0" bIns="0" rtlCol="0" anchor="t"/>
          <a:lstStyle/>
          <a:p>
            <a:pPr marL="0" indent="0">
              <a:buNone/>
            </a:pPr>
            <a:r>
              <a:rPr lang="en-US" sz="1600" dirty="0">
                <a:solidFill>
                  <a:srgbClr val="222222"/>
                </a:solidFill>
                <a:latin typeface="Calibri" pitchFamily="34" charset="0"/>
                <a:ea typeface="Calibri" pitchFamily="34" charset="-122"/>
                <a:cs typeface="Calibri" pitchFamily="34" charset="-120"/>
              </a:rPr>
              <a:t>BMI = kg ÷ cm ÷ cm × 10,000, one decimal place.</a:t>
            </a:r>
            <a:endParaRPr lang="en-US" sz="1600" dirty="0"/>
          </a:p>
        </p:txBody>
      </p:sp>
      <p:sp>
        <p:nvSpPr>
          <p:cNvPr id="16" name="Shape 13"/>
          <p:cNvSpPr/>
          <p:nvPr/>
        </p:nvSpPr>
        <p:spPr>
          <a:xfrm>
            <a:off x="548640" y="3749040"/>
            <a:ext cx="3566160" cy="2286000"/>
          </a:xfrm>
          <a:prstGeom prst="roundRect">
            <a:avLst>
              <a:gd name="adj" fmla="val 3200"/>
            </a:avLst>
          </a:prstGeom>
          <a:solidFill>
            <a:srgbClr val="EEF3F8"/>
          </a:solidFill>
          <a:ln w="12700">
            <a:solidFill>
              <a:srgbClr val="2A9D8F"/>
            </a:solidFill>
            <a:prstDash val="solid"/>
          </a:ln>
        </p:spPr>
        <p:txBody>
          <a:bodyPr/>
          <a:lstStyle/>
          <a:p>
            <a:endParaRPr lang="ar-IQ"/>
          </a:p>
        </p:txBody>
      </p:sp>
      <p:sp>
        <p:nvSpPr>
          <p:cNvPr id="17" name="Text 14"/>
          <p:cNvSpPr txBox="1"/>
          <p:nvPr/>
        </p:nvSpPr>
        <p:spPr>
          <a:xfrm>
            <a:off x="731520" y="3858768"/>
            <a:ext cx="3200400" cy="41148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5 Plot</a:t>
            </a:r>
            <a:endParaRPr lang="en-US" sz="2000" dirty="0"/>
          </a:p>
        </p:txBody>
      </p:sp>
      <p:sp>
        <p:nvSpPr>
          <p:cNvPr id="18" name="Text 15"/>
          <p:cNvSpPr txBox="1"/>
          <p:nvPr/>
        </p:nvSpPr>
        <p:spPr>
          <a:xfrm>
            <a:off x="731520" y="4297680"/>
            <a:ext cx="3200400" cy="1645920"/>
          </a:xfrm>
          <a:prstGeom prst="rect">
            <a:avLst/>
          </a:prstGeom>
          <a:noFill/>
          <a:ln/>
        </p:spPr>
        <p:txBody>
          <a:bodyPr wrap="square" lIns="0" tIns="0" rIns="0" bIns="0" rtlCol="0" anchor="t"/>
          <a:lstStyle/>
          <a:p>
            <a:pPr marL="0" indent="0">
              <a:buNone/>
            </a:pPr>
            <a:r>
              <a:rPr lang="en-US" sz="1600" dirty="0">
                <a:solidFill>
                  <a:srgbClr val="222222"/>
                </a:solidFill>
                <a:latin typeface="Calibri" pitchFamily="34" charset="0"/>
                <a:ea typeface="Calibri" pitchFamily="34" charset="-122"/>
                <a:cs typeface="Calibri" pitchFamily="34" charset="-120"/>
              </a:rPr>
              <a:t>Age on the horizontal axis; draw a vertical line up. Measurement on the vertical axis; draw across. Dot at the intersection. (Weight-for-length: length on the horizontal axis.)</a:t>
            </a:r>
            <a:endParaRPr lang="en-US" sz="1600" dirty="0"/>
          </a:p>
        </p:txBody>
      </p:sp>
      <p:sp>
        <p:nvSpPr>
          <p:cNvPr id="19" name="Shape 16"/>
          <p:cNvSpPr/>
          <p:nvPr/>
        </p:nvSpPr>
        <p:spPr>
          <a:xfrm>
            <a:off x="4297680" y="3749040"/>
            <a:ext cx="3566160" cy="2286000"/>
          </a:xfrm>
          <a:prstGeom prst="roundRect">
            <a:avLst>
              <a:gd name="adj" fmla="val 3200"/>
            </a:avLst>
          </a:prstGeom>
          <a:solidFill>
            <a:srgbClr val="EEF3F8"/>
          </a:solidFill>
          <a:ln w="12700">
            <a:solidFill>
              <a:srgbClr val="2A9D8F"/>
            </a:solidFill>
            <a:prstDash val="solid"/>
          </a:ln>
        </p:spPr>
        <p:txBody>
          <a:bodyPr/>
          <a:lstStyle/>
          <a:p>
            <a:endParaRPr lang="ar-IQ"/>
          </a:p>
        </p:txBody>
      </p:sp>
      <p:sp>
        <p:nvSpPr>
          <p:cNvPr id="20" name="Text 17"/>
          <p:cNvSpPr txBox="1"/>
          <p:nvPr/>
        </p:nvSpPr>
        <p:spPr>
          <a:xfrm>
            <a:off x="4480560" y="3858768"/>
            <a:ext cx="3200400" cy="411480"/>
          </a:xfrm>
          <a:prstGeom prst="rect">
            <a:avLst/>
          </a:prstGeom>
          <a:noFill/>
          <a:ln/>
        </p:spPr>
        <p:txBody>
          <a:bodyPr wrap="square" lIns="0" tIns="0" rIns="0" bIns="0" rtlCol="0" anchor="ctr"/>
          <a:lstStyle/>
          <a:p>
            <a:pPr marL="0" indent="0">
              <a:buNone/>
            </a:pPr>
            <a:r>
              <a:rPr lang="en-US" sz="2000" b="1" dirty="0">
                <a:solidFill>
                  <a:srgbClr val="2A9D8F"/>
                </a:solidFill>
                <a:latin typeface="Calibri" pitchFamily="34" charset="0"/>
                <a:ea typeface="Calibri" pitchFamily="34" charset="-122"/>
                <a:cs typeface="Calibri" pitchFamily="34" charset="-120"/>
              </a:rPr>
              <a:t>6 Interpret</a:t>
            </a:r>
            <a:endParaRPr lang="en-US" sz="2000" dirty="0"/>
          </a:p>
        </p:txBody>
      </p:sp>
      <p:sp>
        <p:nvSpPr>
          <p:cNvPr id="21" name="Text 18"/>
          <p:cNvSpPr txBox="1"/>
          <p:nvPr/>
        </p:nvSpPr>
        <p:spPr>
          <a:xfrm>
            <a:off x="4480560" y="4297680"/>
            <a:ext cx="3200400" cy="1645920"/>
          </a:xfrm>
          <a:prstGeom prst="rect">
            <a:avLst/>
          </a:prstGeom>
          <a:noFill/>
          <a:ln/>
        </p:spPr>
        <p:txBody>
          <a:bodyPr wrap="square" lIns="0" tIns="0" rIns="0" bIns="0" rtlCol="0" anchor="t"/>
          <a:lstStyle/>
          <a:p>
            <a:pPr marL="0" indent="0">
              <a:buNone/>
            </a:pPr>
            <a:r>
              <a:rPr lang="en-US" sz="1600" dirty="0">
                <a:solidFill>
                  <a:srgbClr val="222222"/>
                </a:solidFill>
                <a:latin typeface="Calibri" pitchFamily="34" charset="0"/>
                <a:ea typeface="Calibri" pitchFamily="34" charset="-122"/>
                <a:cs typeface="Calibri" pitchFamily="34" charset="-120"/>
              </a:rPr>
              <a:t>Read the percentile; apply the cut-off for the index; compare with previous visits for major shifts.</a:t>
            </a:r>
            <a:endParaRPr lang="en-US" sz="1600" dirty="0"/>
          </a:p>
        </p:txBody>
      </p:sp>
      <p:sp>
        <p:nvSpPr>
          <p:cNvPr id="22" name="Shape 19"/>
          <p:cNvSpPr/>
          <p:nvPr/>
        </p:nvSpPr>
        <p:spPr>
          <a:xfrm>
            <a:off x="8046720" y="3749040"/>
            <a:ext cx="3566160" cy="2286000"/>
          </a:xfrm>
          <a:prstGeom prst="roundRect">
            <a:avLst>
              <a:gd name="adj" fmla="val 3200"/>
            </a:avLst>
          </a:prstGeom>
          <a:solidFill>
            <a:srgbClr val="EEF3F8"/>
          </a:solidFill>
          <a:ln w="12700">
            <a:solidFill>
              <a:srgbClr val="C8553D"/>
            </a:solidFill>
            <a:prstDash val="solid"/>
          </a:ln>
        </p:spPr>
        <p:txBody>
          <a:bodyPr/>
          <a:lstStyle/>
          <a:p>
            <a:endParaRPr lang="ar-IQ"/>
          </a:p>
        </p:txBody>
      </p:sp>
      <p:sp>
        <p:nvSpPr>
          <p:cNvPr id="23" name="Text 20"/>
          <p:cNvSpPr txBox="1"/>
          <p:nvPr/>
        </p:nvSpPr>
        <p:spPr>
          <a:xfrm>
            <a:off x="8229600" y="3858768"/>
            <a:ext cx="3200400" cy="411480"/>
          </a:xfrm>
          <a:prstGeom prst="rect">
            <a:avLst/>
          </a:prstGeom>
          <a:noFill/>
          <a:ln/>
        </p:spPr>
        <p:txBody>
          <a:bodyPr wrap="square" lIns="0" tIns="0" rIns="0" bIns="0" rtlCol="0" anchor="ctr"/>
          <a:lstStyle/>
          <a:p>
            <a:pPr marL="0" indent="0">
              <a:buNone/>
            </a:pPr>
            <a:r>
              <a:rPr lang="en-US" sz="2000" b="1" dirty="0">
                <a:solidFill>
                  <a:srgbClr val="C8553D"/>
                </a:solidFill>
                <a:latin typeface="Calibri" pitchFamily="34" charset="0"/>
                <a:ea typeface="Calibri" pitchFamily="34" charset="-122"/>
                <a:cs typeface="Calibri" pitchFamily="34" charset="-120"/>
              </a:rPr>
              <a:t>Age rounding</a:t>
            </a:r>
            <a:endParaRPr lang="en-US" sz="2000" dirty="0"/>
          </a:p>
        </p:txBody>
      </p:sp>
      <p:sp>
        <p:nvSpPr>
          <p:cNvPr id="24" name="Text 21"/>
          <p:cNvSpPr txBox="1"/>
          <p:nvPr/>
        </p:nvSpPr>
        <p:spPr>
          <a:xfrm>
            <a:off x="8229600" y="4297680"/>
            <a:ext cx="3200400" cy="1645920"/>
          </a:xfrm>
          <a:prstGeom prst="rect">
            <a:avLst/>
          </a:prstGeom>
          <a:noFill/>
          <a:ln/>
        </p:spPr>
        <p:txBody>
          <a:bodyPr wrap="square" lIns="0" tIns="0" rIns="0" bIns="0" rtlCol="0" anchor="t"/>
          <a:lstStyle/>
          <a:p>
            <a:pPr marL="0" indent="0">
              <a:buNone/>
            </a:pPr>
            <a:r>
              <a:rPr lang="en-US" sz="1600" dirty="0">
                <a:solidFill>
                  <a:srgbClr val="222222"/>
                </a:solidFill>
                <a:latin typeface="Calibri" pitchFamily="34" charset="0"/>
                <a:ea typeface="Calibri" pitchFamily="34" charset="-122"/>
                <a:cs typeface="Calibri" pitchFamily="34" charset="-120"/>
              </a:rPr>
              <a:t>&lt;2 y: nearest month. 2–20 y: nearest ¼ year.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A9D8F"/>
          </a:solidFill>
          <a:ln w="12700">
            <a:solidFill>
              <a:srgbClr val="2A9D8F"/>
            </a:solidFill>
            <a:prstDash val="solid"/>
          </a:ln>
        </p:spPr>
        <p:txBody>
          <a:bodyPr/>
          <a:lstStyle/>
          <a:p>
            <a:endParaRPr lang="ar-IQ"/>
          </a:p>
        </p:txBody>
      </p:sp>
      <p:sp>
        <p:nvSpPr>
          <p:cNvPr id="3" name="Text 1"/>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Worked example: plotting a girl’s growth (WHO chart, 0–24 months)</a:t>
            </a:r>
            <a:endParaRPr lang="en-US" sz="2800" dirty="0"/>
          </a:p>
        </p:txBody>
      </p:sp>
      <p:sp>
        <p:nvSpPr>
          <p:cNvPr id="4" name="Text 2"/>
          <p:cNvSpPr txBox="1"/>
          <p:nvPr/>
        </p:nvSpPr>
        <p:spPr>
          <a:xfrm>
            <a:off x="548640" y="6355080"/>
            <a:ext cx="10424160" cy="320040"/>
          </a:xfrm>
          <a:prstGeom prst="rect">
            <a:avLst/>
          </a:prstGeom>
          <a:noFill/>
          <a:ln/>
        </p:spPr>
        <p:txBody>
          <a:bodyPr wrap="square" lIns="0" tIns="0" rIns="0" bIns="0" rtlCol="0" anchor="ctr"/>
          <a:lstStyle/>
          <a:p>
            <a:pPr marL="0" indent="0">
              <a:buNone/>
            </a:pPr>
            <a:r>
              <a:rPr lang="en-US" sz="1000" dirty="0">
                <a:solidFill>
                  <a:srgbClr val="5B6572"/>
                </a:solidFill>
                <a:latin typeface="Calibri" pitchFamily="34" charset="0"/>
                <a:ea typeface="Calibri" pitchFamily="34" charset="-122"/>
                <a:cs typeface="Calibri" pitchFamily="34" charset="-120"/>
              </a:rPr>
              <a:t>Chart image: CDC/WHO Birth to 24 months, Girls (CDC training example). Conversions: 1 lb = 0.4536 kg; 1 in = 2.54 cm.</a:t>
            </a:r>
            <a:endParaRPr lang="en-US" sz="1000" dirty="0"/>
          </a:p>
        </p:txBody>
      </p:sp>
      <p:sp>
        <p:nvSpPr>
          <p:cNvPr id="5" name="Text 3"/>
          <p:cNvSpPr txBox="1"/>
          <p:nvPr/>
        </p:nvSpPr>
        <p:spPr>
          <a:xfrm>
            <a:off x="11247120" y="6355080"/>
            <a:ext cx="457200" cy="320040"/>
          </a:xfrm>
          <a:prstGeom prst="rect">
            <a:avLst/>
          </a:prstGeom>
          <a:noFill/>
          <a:ln/>
        </p:spPr>
        <p:txBody>
          <a:bodyPr wrap="square" lIns="0" tIns="0" rIns="0" bIns="0" rtlCol="0" anchor="ctr"/>
          <a:lstStyle/>
          <a:p>
            <a:pPr marL="0" indent="0" algn="r">
              <a:buNone/>
            </a:pPr>
            <a:r>
              <a:rPr lang="en-US" sz="1000" dirty="0">
                <a:solidFill>
                  <a:srgbClr val="5B6572"/>
                </a:solidFill>
                <a:latin typeface="Calibri" pitchFamily="34" charset="0"/>
                <a:ea typeface="Calibri" pitchFamily="34" charset="-122"/>
                <a:cs typeface="Calibri" pitchFamily="34" charset="-120"/>
              </a:rPr>
              <a:t>10</a:t>
            </a:r>
            <a:endParaRPr lang="en-US" sz="1000" dirty="0"/>
          </a:p>
        </p:txBody>
      </p:sp>
      <p:pic>
        <p:nvPicPr>
          <p:cNvPr id="7" name="Image 0" descr="maya_who.jpg"/>
          <p:cNvPicPr>
            <a:picLocks noChangeAspect="1"/>
          </p:cNvPicPr>
          <p:nvPr/>
        </p:nvPicPr>
        <p:blipFill>
          <a:blip r:embed="rId3"/>
          <a:stretch>
            <a:fillRect/>
          </a:stretch>
        </p:blipFill>
        <p:spPr>
          <a:xfrm>
            <a:off x="548640" y="1143000"/>
            <a:ext cx="3611880" cy="5074920"/>
          </a:xfrm>
          <a:prstGeom prst="rect">
            <a:avLst/>
          </a:prstGeom>
        </p:spPr>
      </p:pic>
      <p:graphicFrame>
        <p:nvGraphicFramePr>
          <p:cNvPr id="11" name="Table 0"/>
          <p:cNvGraphicFramePr>
            <a:graphicFrameLocks noGrp="1"/>
          </p:cNvGraphicFramePr>
          <p:nvPr/>
        </p:nvGraphicFramePr>
        <p:xfrm>
          <a:off x="4480560" y="1280160"/>
          <a:ext cx="7132320" cy="2478024"/>
        </p:xfrm>
        <a:graphic>
          <a:graphicData uri="http://schemas.openxmlformats.org/drawingml/2006/table">
            <a:tbl>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Age</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Weight (as charted)</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Weight (kg)</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Length (as charted)</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Length (cm)</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Birth</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6.25 lb</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2.84</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20 in</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50.8</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2 months</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9.25 lb</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4.20</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22.25 in</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56.5</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0">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4 months</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12.25 lb</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5.56</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24.6 in</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62.5</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6 months</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13.75 lb</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6.24</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25.75 in</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65.4</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0">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9 months</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16 lb</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7.26</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28 in</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Calibri" pitchFamily="34" charset="0"/>
                          <a:ea typeface="Calibri" pitchFamily="34" charset="-122"/>
                          <a:cs typeface="Calibri" pitchFamily="34" charset="-120"/>
                        </a:rPr>
                        <a:t>71.1</a:t>
                      </a:r>
                      <a:endParaRPr lang="en-US" sz="15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4"/>
          <p:cNvSpPr txBox="1"/>
          <p:nvPr/>
        </p:nvSpPr>
        <p:spPr>
          <a:xfrm>
            <a:off x="4480560" y="4114800"/>
            <a:ext cx="7132320" cy="2194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Approximate reading: length points lie on or above the 50th curve; weight points lie below the 50th curve.</a:t>
            </a:r>
            <a:endParaRPr lang="en-US" sz="1700" dirty="0"/>
          </a:p>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Each series follows a similar curve over time (tracking).</a:t>
            </a:r>
            <a:endParaRPr lang="en-US" sz="1700" dirty="0"/>
          </a:p>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Next: plot weight-for-length and review feeding before any conclusion.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Growth chart&#10;Birth to 24 months: girls&#10;length-for-age and weight-for-age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6276C7EB-CEE0-4EE1-127E-EBA46BAAD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 y="0"/>
            <a:ext cx="489426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rowth chart&#10;Birth to 36 months: girls&#10;length-for-age and weight-for-age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09FBF9FA-4376-249E-E55C-B28488A738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75817" y="0"/>
            <a:ext cx="48942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014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owth chart&#10;Birth to 24 months: girls&#10;head circumference for age and&#10;weight for length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
            <a:extLst>
              <a:ext uri="{FF2B5EF4-FFF2-40B4-BE49-F238E27FC236}">
                <a16:creationId xmlns:a16="http://schemas.microsoft.com/office/drawing/2014/main" id="{188B3D3B-3893-1AA1-75EB-15B96BE36C3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
            <a:ext cx="4754880" cy="68112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owth chart&#10;Birth to 36 months: girls&#10;head circumference for age and&#10;weight for length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D7868905-752F-CD41-E0EF-406FCCDB63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1875" y="-46779"/>
            <a:ext cx="48101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543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A9D8F"/>
          </a:solidFill>
          <a:ln w="12700">
            <a:solidFill>
              <a:srgbClr val="2A9D8F"/>
            </a:solidFill>
            <a:prstDash val="solid"/>
          </a:ln>
        </p:spPr>
        <p:txBody>
          <a:bodyPr/>
          <a:lstStyle/>
          <a:p>
            <a:endParaRPr lang="ar-IQ"/>
          </a:p>
        </p:txBody>
      </p:sp>
      <p:sp>
        <p:nvSpPr>
          <p:cNvPr id="3" name="Text 1"/>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Interpreting the plotted point: cut-offs</a:t>
            </a:r>
            <a:endParaRPr lang="en-US" sz="2800" dirty="0"/>
          </a:p>
        </p:txBody>
      </p:sp>
      <p:sp>
        <p:nvSpPr>
          <p:cNvPr id="4" name="Text 2"/>
          <p:cNvSpPr txBox="1"/>
          <p:nvPr/>
        </p:nvSpPr>
        <p:spPr>
          <a:xfrm>
            <a:off x="548640" y="6355080"/>
            <a:ext cx="10424160" cy="320040"/>
          </a:xfrm>
          <a:prstGeom prst="rect">
            <a:avLst/>
          </a:prstGeom>
          <a:noFill/>
          <a:ln/>
        </p:spPr>
        <p:txBody>
          <a:bodyPr wrap="square" lIns="0" tIns="0" rIns="0" bIns="0" rtlCol="0" anchor="ctr"/>
          <a:lstStyle/>
          <a:p>
            <a:pPr marL="0" indent="0">
              <a:buNone/>
            </a:pPr>
            <a:r>
              <a:rPr lang="en-US" sz="1000" dirty="0">
                <a:solidFill>
                  <a:srgbClr val="5B6572"/>
                </a:solidFill>
                <a:latin typeface="Calibri" pitchFamily="34" charset="0"/>
                <a:ea typeface="Calibri" pitchFamily="34" charset="-122"/>
                <a:cs typeface="Calibri" pitchFamily="34" charset="-120"/>
              </a:rPr>
              <a:t>Source: CDC (2013) guide, Step 6 table. Healthy-weight band (5th to &lt;85th) is the CDC BMI-for-age category. Percentile ranks signal need for monitoring, not diagnosis.</a:t>
            </a:r>
            <a:endParaRPr lang="en-US" sz="1000" dirty="0"/>
          </a:p>
        </p:txBody>
      </p:sp>
      <p:sp>
        <p:nvSpPr>
          <p:cNvPr id="5" name="Text 3"/>
          <p:cNvSpPr txBox="1"/>
          <p:nvPr/>
        </p:nvSpPr>
        <p:spPr>
          <a:xfrm>
            <a:off x="11247120" y="6355080"/>
            <a:ext cx="457200" cy="320040"/>
          </a:xfrm>
          <a:prstGeom prst="rect">
            <a:avLst/>
          </a:prstGeom>
          <a:noFill/>
          <a:ln/>
        </p:spPr>
        <p:txBody>
          <a:bodyPr wrap="square" lIns="0" tIns="0" rIns="0" bIns="0" rtlCol="0" anchor="ctr"/>
          <a:lstStyle/>
          <a:p>
            <a:pPr marL="0" indent="0" algn="r">
              <a:buNone/>
            </a:pPr>
            <a:r>
              <a:rPr lang="en-US" sz="1000" dirty="0">
                <a:solidFill>
                  <a:srgbClr val="5B6572"/>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nvGraphicFramePr>
        <p:xfrm>
          <a:off x="548640" y="1280160"/>
          <a:ext cx="11064240" cy="3785616"/>
        </p:xfrm>
        <a:graphic>
          <a:graphicData uri="http://schemas.openxmlformats.org/drawingml/2006/table">
            <a:tbl>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Chart set</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Index</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Percentile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Nutritional indicator</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WHO (&lt;2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Length-for-age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&lt; 2nd</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Short stature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WHO (&lt;2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Weight-for-length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&lt; 2nd</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Low weight-for-length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WHO (&lt;2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Weight-for-length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&gt; 98th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High weight-for-length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CDC (2–19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BMI-for-age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&lt; 5th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Underweight</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CDC (2–19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BMI-for-age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5th to &lt; 85th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Healthy weight</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CDC (2–19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BMI-for-age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85th to &lt; 95th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Overweight</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CDC (2–19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BMI-for-age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 95th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Obesity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CDC (2–19 y)</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Stature-for-age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&lt; 5th</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1800" dirty="0">
                          <a:solidFill>
                            <a:srgbClr val="222222"/>
                          </a:solidFill>
                          <a:latin typeface="Calibri" pitchFamily="34" charset="0"/>
                          <a:ea typeface="Calibri" pitchFamily="34" charset="-122"/>
                          <a:cs typeface="Calibri" pitchFamily="34" charset="-120"/>
                        </a:rPr>
                        <a:t>Short stature</a:t>
                      </a:r>
                      <a:endParaRPr lang="en-US" sz="18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274320"/>
            <a:ext cx="11064240" cy="731520"/>
          </a:xfrm>
          <a:prstGeom prst="rect">
            <a:avLst/>
          </a:prstGeom>
          <a:noFill/>
          <a:ln/>
        </p:spPr>
        <p:txBody>
          <a:bodyPr wrap="square" lIns="0" tIns="0" rIns="0" bIns="0" rtlCol="0" anchor="ctr"/>
          <a:lstStyle/>
          <a:p>
            <a:pPr marL="0" indent="0">
              <a:buNone/>
            </a:pPr>
            <a:r>
              <a:rPr lang="en-US" sz="2800" b="1" dirty="0">
                <a:solidFill>
                  <a:srgbClr val="1F3A5F"/>
                </a:solidFill>
                <a:latin typeface="Calibri" pitchFamily="34" charset="0"/>
                <a:ea typeface="Calibri" pitchFamily="34" charset="-122"/>
                <a:cs typeface="Calibri" pitchFamily="34" charset="-120"/>
              </a:rPr>
              <a:t>Growth patterns that need attention</a:t>
            </a:r>
            <a:endParaRPr lang="en-US" sz="2800" dirty="0"/>
          </a:p>
        </p:txBody>
      </p:sp>
      <p:sp>
        <p:nvSpPr>
          <p:cNvPr id="4" name="Text 2"/>
          <p:cNvSpPr txBox="1"/>
          <p:nvPr/>
        </p:nvSpPr>
        <p:spPr>
          <a:xfrm>
            <a:off x="548640" y="6355080"/>
            <a:ext cx="10424160" cy="320040"/>
          </a:xfrm>
          <a:prstGeom prst="rect">
            <a:avLst/>
          </a:prstGeom>
          <a:noFill/>
          <a:ln/>
        </p:spPr>
        <p:txBody>
          <a:bodyPr wrap="square" lIns="0" tIns="0" rIns="0" bIns="0" rtlCol="0" anchor="ctr"/>
          <a:lstStyle/>
          <a:p>
            <a:pPr marL="0" indent="0">
              <a:buNone/>
            </a:pPr>
            <a:r>
              <a:rPr lang="en-US" sz="1000" dirty="0">
                <a:solidFill>
                  <a:srgbClr val="5B6572"/>
                </a:solidFill>
                <a:latin typeface="Calibri" pitchFamily="34" charset="0"/>
                <a:ea typeface="Calibri" pitchFamily="34" charset="-122"/>
                <a:cs typeface="Calibri" pitchFamily="34" charset="-120"/>
              </a:rPr>
              <a:t>Sources: CDC (2013) guide; first three bullets carried over from the original course deck (textbook-based) — verify wording against the textbook page.</a:t>
            </a:r>
            <a:endParaRPr lang="en-US" sz="1000" dirty="0"/>
          </a:p>
        </p:txBody>
      </p:sp>
      <p:sp>
        <p:nvSpPr>
          <p:cNvPr id="5" name="Text 3"/>
          <p:cNvSpPr txBox="1"/>
          <p:nvPr/>
        </p:nvSpPr>
        <p:spPr>
          <a:xfrm>
            <a:off x="11247120" y="6355080"/>
            <a:ext cx="457200" cy="320040"/>
          </a:xfrm>
          <a:prstGeom prst="rect">
            <a:avLst/>
          </a:prstGeom>
          <a:noFill/>
          <a:ln/>
        </p:spPr>
        <p:txBody>
          <a:bodyPr wrap="square" lIns="0" tIns="0" rIns="0" bIns="0" rtlCol="0" anchor="ctr"/>
          <a:lstStyle/>
          <a:p>
            <a:pPr marL="0" indent="0" algn="r">
              <a:buNone/>
            </a:pPr>
            <a:r>
              <a:rPr lang="en-US" sz="1000" dirty="0">
                <a:solidFill>
                  <a:srgbClr val="5B6572"/>
                </a:solidFill>
                <a:latin typeface="Calibri" pitchFamily="34" charset="0"/>
                <a:ea typeface="Calibri" pitchFamily="34" charset="-122"/>
                <a:cs typeface="Calibri" pitchFamily="34" charset="-120"/>
              </a:rPr>
              <a:t>12</a:t>
            </a:r>
            <a:endParaRPr lang="en-US" sz="1000" dirty="0"/>
          </a:p>
        </p:txBody>
      </p:sp>
      <p:sp>
        <p:nvSpPr>
          <p:cNvPr id="7" name="Text 4"/>
          <p:cNvSpPr txBox="1"/>
          <p:nvPr/>
        </p:nvSpPr>
        <p:spPr>
          <a:xfrm>
            <a:off x="548639" y="1280160"/>
            <a:ext cx="11317295" cy="30175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222222"/>
                </a:solidFill>
                <a:latin typeface="Calibri" pitchFamily="34" charset="0"/>
                <a:ea typeface="Calibri" pitchFamily="34" charset="-122"/>
                <a:cs typeface="Calibri" pitchFamily="34" charset="-120"/>
              </a:rPr>
              <a:t>Height and weight percentiles widely disparate (for example, height near the 10th and weight near the 90th).</a:t>
            </a:r>
            <a:endParaRPr lang="en-US" sz="2400" dirty="0"/>
          </a:p>
          <a:p>
            <a:pPr marL="342900" indent="-342900">
              <a:spcAft>
                <a:spcPts val="800"/>
              </a:spcAft>
              <a:buSzPct val="100000"/>
              <a:buChar char="•"/>
            </a:pPr>
            <a:r>
              <a:rPr lang="en-US" sz="2400" dirty="0">
                <a:solidFill>
                  <a:srgbClr val="222222"/>
                </a:solidFill>
                <a:latin typeface="Calibri" pitchFamily="34" charset="0"/>
                <a:ea typeface="Calibri" pitchFamily="34" charset="-122"/>
                <a:cs typeface="Calibri" pitchFamily="34" charset="-120"/>
              </a:rPr>
              <a:t>Failure to follow the expected growth velocity, especially during rapid growth in infancy and adolescence.</a:t>
            </a:r>
            <a:endParaRPr lang="en-US" sz="2400" dirty="0"/>
          </a:p>
          <a:p>
            <a:pPr marL="342900" indent="-342900">
              <a:spcAft>
                <a:spcPts val="800"/>
              </a:spcAft>
              <a:buSzPct val="100000"/>
              <a:buChar char="•"/>
            </a:pPr>
            <a:r>
              <a:rPr lang="en-US" sz="2400" dirty="0">
                <a:solidFill>
                  <a:srgbClr val="222222"/>
                </a:solidFill>
                <a:latin typeface="Calibri" pitchFamily="34" charset="0"/>
                <a:ea typeface="Calibri" pitchFamily="34" charset="-122"/>
                <a:cs typeface="Calibri" pitchFamily="34" charset="-120"/>
              </a:rPr>
              <a:t>A sudden increase (except in puberty), </a:t>
            </a:r>
            <a:r>
              <a:rPr lang="en-US" sz="2800" dirty="0">
                <a:solidFill>
                  <a:srgbClr val="222222"/>
                </a:solidFill>
                <a:latin typeface="Calibri" pitchFamily="34" charset="0"/>
                <a:ea typeface="Calibri" pitchFamily="34" charset="-122"/>
                <a:cs typeface="Calibri" pitchFamily="34" charset="-120"/>
              </a:rPr>
              <a:t>decrease</a:t>
            </a:r>
            <a:r>
              <a:rPr lang="en-US" sz="2400" dirty="0">
                <a:solidFill>
                  <a:srgbClr val="222222"/>
                </a:solidFill>
                <a:latin typeface="Calibri" pitchFamily="34" charset="0"/>
                <a:ea typeface="Calibri" pitchFamily="34" charset="-122"/>
                <a:cs typeface="Calibri" pitchFamily="34" charset="-120"/>
              </a:rPr>
              <a:t> or no change in a previously steady pattern.</a:t>
            </a:r>
            <a:endParaRPr lang="en-US" sz="2400" dirty="0"/>
          </a:p>
          <a:p>
            <a:pPr marL="342900" indent="-342900">
              <a:spcAft>
                <a:spcPts val="800"/>
              </a:spcAft>
              <a:buSzPct val="100000"/>
              <a:buChar char="•"/>
            </a:pPr>
            <a:r>
              <a:rPr lang="en-US" sz="2400" dirty="0">
                <a:solidFill>
                  <a:srgbClr val="222222"/>
                </a:solidFill>
                <a:latin typeface="Calibri" pitchFamily="34" charset="0"/>
                <a:ea typeface="Calibri" pitchFamily="34" charset="-122"/>
                <a:cs typeface="Calibri" pitchFamily="34" charset="-120"/>
              </a:rPr>
              <a:t>A major shift in percentile rank compared with previous visits (CDC).</a:t>
            </a:r>
            <a:endParaRPr lang="en-US" sz="2400" dirty="0"/>
          </a:p>
          <a:p>
            <a:pPr marL="342900" indent="-342900">
              <a:spcAft>
                <a:spcPts val="800"/>
              </a:spcAft>
              <a:buSzPct val="100000"/>
              <a:buChar char="•"/>
            </a:pPr>
            <a:r>
              <a:rPr lang="en-US" sz="2400" dirty="0">
                <a:solidFill>
                  <a:srgbClr val="222222"/>
                </a:solidFill>
                <a:latin typeface="Calibri" pitchFamily="34" charset="0"/>
                <a:ea typeface="Calibri" pitchFamily="34" charset="-122"/>
                <a:cs typeface="Calibri" pitchFamily="34" charset="-120"/>
              </a:rPr>
              <a:t>A plotted point beyond the cut-offs for that index (previous slide).</a:t>
            </a:r>
            <a:endParaRPr lang="en-US" sz="2400" dirty="0"/>
          </a:p>
        </p:txBody>
      </p:sp>
      <p:sp>
        <p:nvSpPr>
          <p:cNvPr id="8" name="Shape 5"/>
          <p:cNvSpPr/>
          <p:nvPr/>
        </p:nvSpPr>
        <p:spPr>
          <a:xfrm>
            <a:off x="548640" y="4768383"/>
            <a:ext cx="11064240" cy="1645920"/>
          </a:xfrm>
          <a:prstGeom prst="roundRect">
            <a:avLst>
              <a:gd name="adj" fmla="val 4444"/>
            </a:avLst>
          </a:prstGeom>
          <a:solidFill>
            <a:srgbClr val="EEF3F8"/>
          </a:solidFill>
          <a:ln w="12700">
            <a:solidFill>
              <a:srgbClr val="C8553D"/>
            </a:solidFill>
            <a:prstDash val="solid"/>
          </a:ln>
        </p:spPr>
        <p:txBody>
          <a:bodyPr/>
          <a:lstStyle/>
          <a:p>
            <a:endParaRPr lang="ar-IQ"/>
          </a:p>
        </p:txBody>
      </p:sp>
      <p:sp>
        <p:nvSpPr>
          <p:cNvPr id="9" name="Text 6"/>
          <p:cNvSpPr txBox="1"/>
          <p:nvPr/>
        </p:nvSpPr>
        <p:spPr>
          <a:xfrm>
            <a:off x="777240" y="4947888"/>
            <a:ext cx="10698480" cy="411480"/>
          </a:xfrm>
          <a:prstGeom prst="rect">
            <a:avLst/>
          </a:prstGeom>
          <a:noFill/>
          <a:ln/>
        </p:spPr>
        <p:txBody>
          <a:bodyPr wrap="square" lIns="0" tIns="0" rIns="0" bIns="0" rtlCol="0" anchor="ctr"/>
          <a:lstStyle/>
          <a:p>
            <a:pPr marL="0" indent="0">
              <a:buNone/>
            </a:pPr>
            <a:r>
              <a:rPr lang="en-US" sz="2400" b="1" dirty="0">
                <a:solidFill>
                  <a:srgbClr val="C8553D"/>
                </a:solidFill>
                <a:latin typeface="Calibri" pitchFamily="34" charset="0"/>
                <a:ea typeface="Calibri" pitchFamily="34" charset="-122"/>
                <a:cs typeface="Calibri" pitchFamily="34" charset="-120"/>
              </a:rPr>
              <a:t>Before escalating, check</a:t>
            </a:r>
            <a:endParaRPr lang="en-US" sz="2400" dirty="0"/>
          </a:p>
        </p:txBody>
      </p:sp>
      <p:sp>
        <p:nvSpPr>
          <p:cNvPr id="10" name="Text 7"/>
          <p:cNvSpPr txBox="1"/>
          <p:nvPr/>
        </p:nvSpPr>
        <p:spPr>
          <a:xfrm>
            <a:off x="777240" y="5538872"/>
            <a:ext cx="10698480" cy="1005840"/>
          </a:xfrm>
          <a:prstGeom prst="rect">
            <a:avLst/>
          </a:prstGeom>
          <a:noFill/>
          <a:ln/>
        </p:spPr>
        <p:txBody>
          <a:bodyPr wrap="square" lIns="0" tIns="0" rIns="0" bIns="0" rtlCol="0" anchor="t"/>
          <a:lstStyle/>
          <a:p>
            <a:pPr marL="0" indent="0">
              <a:buNone/>
            </a:pPr>
            <a:r>
              <a:rPr lang="en-US" sz="2000" dirty="0">
                <a:solidFill>
                  <a:srgbClr val="222222"/>
                </a:solidFill>
                <a:latin typeface="Calibri" pitchFamily="34" charset="0"/>
                <a:ea typeface="Calibri" pitchFamily="34" charset="-122"/>
                <a:cs typeface="Calibri" pitchFamily="34" charset="-120"/>
              </a:rPr>
              <a:t>Equipment calibration and technique · correct chart and sex · age (corrected for preterm) · units · parents’ stature, birth weight, gestational age · chronic illness or special health care needs.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310896"/>
            <a:ext cx="11064240" cy="731520"/>
          </a:xfrm>
          <a:prstGeom prst="rect">
            <a:avLst/>
          </a:prstGeom>
          <a:noFill/>
          <a:ln/>
        </p:spPr>
        <p:txBody>
          <a:bodyPr wrap="square" lIns="0" tIns="0" rIns="0" bIns="0" rtlCol="0" anchor="ctr"/>
          <a:lstStyle/>
          <a:p>
            <a:pPr marL="0" indent="0">
              <a:buNone/>
            </a:pPr>
            <a:r>
              <a:rPr lang="en-US" sz="3200" b="1" dirty="0">
                <a:solidFill>
                  <a:srgbClr val="1F3A5F"/>
                </a:solidFill>
                <a:latin typeface="Calibri" pitchFamily="34" charset="0"/>
                <a:ea typeface="Calibri" pitchFamily="34" charset="-122"/>
                <a:cs typeface="Calibri" pitchFamily="34" charset="-120"/>
              </a:rPr>
              <a:t>Nursing procedure in health institutions (nursing process)</a:t>
            </a:r>
            <a:endParaRPr lang="en-US" sz="3200" dirty="0"/>
          </a:p>
        </p:txBody>
      </p:sp>
      <p:sp>
        <p:nvSpPr>
          <p:cNvPr id="4" name="Text 2"/>
          <p:cNvSpPr txBox="1"/>
          <p:nvPr/>
        </p:nvSpPr>
        <p:spPr>
          <a:xfrm>
            <a:off x="548640" y="6355080"/>
            <a:ext cx="10424160" cy="320040"/>
          </a:xfrm>
          <a:prstGeom prst="rect">
            <a:avLst/>
          </a:prstGeom>
          <a:noFill/>
          <a:ln/>
        </p:spPr>
        <p:txBody>
          <a:bodyPr wrap="square" lIns="0" tIns="0" rIns="0" bIns="0" rtlCol="0" anchor="ctr"/>
          <a:lstStyle/>
          <a:p>
            <a:pPr marL="0" indent="0">
              <a:buNone/>
            </a:pPr>
            <a:r>
              <a:rPr lang="en-US" sz="1000" dirty="0">
                <a:solidFill>
                  <a:srgbClr val="5B6572"/>
                </a:solidFill>
                <a:latin typeface="Calibri" pitchFamily="34" charset="0"/>
                <a:ea typeface="Calibri" pitchFamily="34" charset="-122"/>
                <a:cs typeface="Calibri" pitchFamily="34" charset="-120"/>
              </a:rPr>
              <a:t>Measurement and plotting steps: CDC (2013). Nursing-process framing is general; adapt to the institution’s protocol and diagnosis taxonomy.</a:t>
            </a:r>
            <a:endParaRPr lang="en-US" sz="1000" dirty="0"/>
          </a:p>
        </p:txBody>
      </p:sp>
      <p:sp>
        <p:nvSpPr>
          <p:cNvPr id="5" name="Text 3"/>
          <p:cNvSpPr txBox="1"/>
          <p:nvPr/>
        </p:nvSpPr>
        <p:spPr>
          <a:xfrm>
            <a:off x="11247120" y="6355080"/>
            <a:ext cx="457200" cy="320040"/>
          </a:xfrm>
          <a:prstGeom prst="rect">
            <a:avLst/>
          </a:prstGeom>
          <a:noFill/>
          <a:ln/>
        </p:spPr>
        <p:txBody>
          <a:bodyPr wrap="square" lIns="0" tIns="0" rIns="0" bIns="0" rtlCol="0" anchor="ctr"/>
          <a:lstStyle/>
          <a:p>
            <a:pPr marL="0" indent="0" algn="r">
              <a:buNone/>
            </a:pPr>
            <a:r>
              <a:rPr lang="en-US" sz="1000" dirty="0">
                <a:solidFill>
                  <a:srgbClr val="5B6572"/>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224843635"/>
              </p:ext>
            </p:extLst>
          </p:nvPr>
        </p:nvGraphicFramePr>
        <p:xfrm>
          <a:off x="355836" y="1042416"/>
          <a:ext cx="11610753" cy="5632704"/>
        </p:xfrm>
        <a:graphic>
          <a:graphicData uri="http://schemas.openxmlformats.org/drawingml/2006/table">
            <a:tbl>
              <a:tblPr/>
              <a:tblGrid>
                <a:gridCol w="2344834">
                  <a:extLst>
                    <a:ext uri="{9D8B030D-6E8A-4147-A177-3AD203B41FA5}">
                      <a16:colId xmlns:a16="http://schemas.microsoft.com/office/drawing/2014/main" val="20000"/>
                    </a:ext>
                  </a:extLst>
                </a:gridCol>
                <a:gridCol w="9265919">
                  <a:extLst>
                    <a:ext uri="{9D8B030D-6E8A-4147-A177-3AD203B41FA5}">
                      <a16:colId xmlns:a16="http://schemas.microsoft.com/office/drawing/2014/main" val="20001"/>
                    </a:ext>
                  </a:extLst>
                </a:gridCol>
              </a:tblGrid>
              <a:tr h="490451">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Phase</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Nursing actions</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1191095">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Assessment</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Prepare and check equipment; identify the child; explain to the caregiver; measure; collect gestational age, birth weight, feeding history, parents’ stature, illness; select chart; plot; compare with previous plots.</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0773">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Diagnosis</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Identify actual or risk problems related to growth and nutrition using the institution’s taxonomy.</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840773">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Planning</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Set measurable goals with the family; set the follow-up measurement schedule.</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91095">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Implementation</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Feeding and breastfeeding support; nutrition counselling; parent education; report or refer to the physician or dietitian when a cut-off or pattern concern is present; document.</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840773">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Evaluation</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marL="0" indent="0">
                        <a:buNone/>
                      </a:pPr>
                      <a:r>
                        <a:rPr lang="en-US" sz="2400" dirty="0">
                          <a:solidFill>
                            <a:srgbClr val="222222"/>
                          </a:solidFill>
                          <a:latin typeface="Calibri" pitchFamily="34" charset="0"/>
                          <a:ea typeface="Calibri" pitchFamily="34" charset="-122"/>
                          <a:cs typeface="Calibri" pitchFamily="34" charset="-120"/>
                        </a:rPr>
                        <a:t>Re-measure at follow-up; compare the new plot with earlier points; revise the plan.</a:t>
                      </a:r>
                      <a:endParaRPr lang="en-US" sz="2400" dirty="0">
                        <a:latin typeface="Calibri" charset="0"/>
                        <a:ea typeface="Calibri" charset="0"/>
                        <a:cs typeface="Calibri" charset="0"/>
                      </a:endParaRPr>
                    </a:p>
                  </a:txBody>
                  <a:tcPr marL="73152" marR="73152" marT="73152" marB="73152"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2BFA77-7F13-59F8-014E-C1C67DC6EA6E}"/>
              </a:ext>
            </a:extLst>
          </p:cNvPr>
          <p:cNvSpPr txBox="1"/>
          <p:nvPr/>
        </p:nvSpPr>
        <p:spPr>
          <a:xfrm>
            <a:off x="250031" y="198142"/>
            <a:ext cx="11691938" cy="2125662"/>
          </a:xfrm>
          <a:prstGeom prst="rect">
            <a:avLst/>
          </a:prstGeom>
          <a:solidFill>
            <a:srgbClr val="FDC623"/>
          </a:solidFill>
          <a:ln>
            <a:solidFill>
              <a:srgbClr val="FDC623"/>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15043" name="Text Placeholder 1">
            <a:extLst>
              <a:ext uri="{FF2B5EF4-FFF2-40B4-BE49-F238E27FC236}">
                <a16:creationId xmlns:a16="http://schemas.microsoft.com/office/drawing/2014/main" id="{51192D33-4BD6-8803-6162-4BCD070998D6}"/>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Tree>
  </p:cSld>
  <p:clrMapOvr>
    <a:masterClrMapping/>
  </p:clrMapOvr>
  <p:transition spd="slow">
    <p:fade/>
  </p:transition>
</p:sld>
</file>

<file path=ppt/theme/theme1.xml><?xml version="1.0" encoding="utf-8"?>
<a:theme xmlns:a="http://schemas.openxmlformats.org/drawingml/2006/main" name="Get Started with 3D">
  <a:themeElements>
    <a:clrScheme name="واجهة">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645</TotalTime>
  <Words>1750</Words>
  <Application>Microsoft Office PowerPoint</Application>
  <PresentationFormat>شاشة عريضة</PresentationFormat>
  <Paragraphs>188</Paragraphs>
  <Slides>15</Slides>
  <Notes>11</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15</vt:i4>
      </vt:variant>
    </vt:vector>
  </HeadingPairs>
  <TitlesOfParts>
    <vt:vector size="24" baseType="lpstr">
      <vt:lpstr>굴림</vt:lpstr>
      <vt:lpstr>Arial</vt:lpstr>
      <vt:lpstr>Calibri</vt:lpstr>
      <vt:lpstr>Segoe UI</vt:lpstr>
      <vt:lpstr>Segoe UI Light</vt:lpstr>
      <vt:lpstr>Segoe UI Semibold</vt:lpstr>
      <vt:lpstr>Segoe UI Variable Small Semibol</vt:lpstr>
      <vt:lpstr>Wingdings 2</vt:lpstr>
      <vt:lpstr>Get Started with 3D</vt:lpstr>
      <vt:lpstr>Measurement of Growth and Development</vt:lpstr>
      <vt:lpstr>عرض تقديمي في PowerPoint</vt:lpstr>
      <vt:lpstr>Growth Charts</vt:lpstr>
      <vt:lpstr>Growth Charts</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Defects of the Genitourinary Tract Nursing management of pediatric patients with Genetic disorders | The Child with Gastrointestinal Dysfunction</dc:title>
  <dc:creator>green lanter</dc:creator>
  <cp:lastModifiedBy>green lanter</cp:lastModifiedBy>
  <cp:revision>29</cp:revision>
  <dcterms:created xsi:type="dcterms:W3CDTF">2019-03-12T20:57:07Z</dcterms:created>
  <dcterms:modified xsi:type="dcterms:W3CDTF">2026-10-17T20:46:53Z</dcterms:modified>
</cp:coreProperties>
</file>