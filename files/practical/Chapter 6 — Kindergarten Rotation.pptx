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generated from Chapter 6 — Kindergarten Rotation.pdf (7 pages). Source text is reproduced verbatim in the notes of every content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assembled verbatim from page 1 and the numbered headings of Chapter 6 — Kindergarten Rotation.pdf.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headings exactly as numbered in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KINDERGARTEN</a:t>
            </a:r>
          </a:p>
          <a:p>
            <a:r>
              <a:t>Chapter 6 — Kindergarten Rotation</a:t>
            </a:r>
          </a:p>
          <a:p>
            <a:r>
              <a:t>Health assessment and screening of the preschool child (3-6 years): site role and readiness</a:t>
            </a:r>
          </a:p>
          <a:p>
            <a:r>
              <a:t>concepts, the preschool history and physical, vision and hearing screening with referral criteria,</a:t>
            </a:r>
          </a:p>
          <a:p>
            <a:r>
              <a:t>developmental and school-readiness screening, play and socialization, common problems, and</a:t>
            </a:r>
          </a:p>
          <a:p>
            <a:r>
              <a:t>health-education activities.</a:t>
            </a:r>
          </a:p>
          <a:p>
            <a:r>
              <a:t>Age range: 3 – 6 years</a:t>
            </a:r>
          </a:p>
          <a:p>
            <a:r>
              <a:t>6.1 Site Profile — Role of the Kindergarten</a:t>
            </a:r>
          </a:p>
          <a:p>
            <a:r>
              <a:t>Preschool should be used primarily as an opportunity to foster the child's social skills and</a:t>
            </a:r>
          </a:p>
          <a:p>
            <a:r>
              <a:t>accustom the child to the group environment. Selecting a preschool considers accreditation,</a:t>
            </a:r>
          </a:p>
          <a:p>
            <a:r>
              <a:t>teachers' qualifications, other parents' recommendations, and the structure of the daily schedule.</a:t>
            </a:r>
          </a:p>
          <a:p>
            <a:r>
              <a:t>What the nurse brings: the preschooler "shows off" dramatically and enjoys imaginative, dramatic</a:t>
            </a:r>
          </a:p>
          <a:p>
            <a:r>
              <a:t>play — assessment and teaching are built around play.</a:t>
            </a:r>
          </a:p>
          <a:p>
            <a:r>
              <a:t>Readiness principle: there are no absolute indicators for school readiness; the child's social</a:t>
            </a:r>
          </a:p>
          <a:p>
            <a:r>
              <a:t>maturation, especially attention span, is as important as academic readiness.</a:t>
            </a:r>
          </a:p>
          <a:p>
            <a:r>
              <a:t>Readiness is influenced by: social, emotional, and physical development; health status; ability and</a:t>
            </a:r>
          </a:p>
          <a:p>
            <a:r>
              <a:t>desire to learn; life experiences; family environment; and parental support.</a:t>
            </a:r>
          </a:p>
          <a:p>
            <a:r>
              <a:t>Risk factors to screen for: insecure attachment in the early years, maternal depression, parental</a:t>
            </a:r>
          </a:p>
          <a:p>
            <a:r>
              <a:t>substance abuse, and low socioeconomic status — screen and refer when present.</a:t>
            </a:r>
          </a:p>
          <a:p>
            <a:r>
              <a:t>By kindergarten entry the child should have developed cooperation, sharing (of things and</a:t>
            </a:r>
          </a:p>
          <a:p>
            <a:r>
              <a:t>feelings), kindness, generosity, affection display, conversation, expression of feelings, helping others,</a:t>
            </a:r>
          </a:p>
          <a:p>
            <a:r>
              <a:t>and making friends.</a:t>
            </a:r>
          </a:p>
          <a:p>
            <a:r>
              <a:t>6.2 Preschool Health Assessment</a:t>
            </a:r>
          </a:p>
          <a:p>
            <a:r>
              <a:t>The well-child clinic model (Ch. 4) applies: history, measurements, screening, then guidance. The</a:t>
            </a:r>
          </a:p>
          <a:p>
            <a:r>
              <a:t>preschooler can now cooperate with instructions, so the examination is more efficient.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ROTATION: KINDERGARTEN</a:t>
            </a:r>
          </a:p>
          <a:p>
            <a:r>
              <a:t>Chapter 6 — Kindergarten Rotation</a:t>
            </a:r>
          </a:p>
          <a:p>
            <a:r>
              <a:t>Health assessment and screening of the preschool child (3-6 years): site role and readiness</a:t>
            </a:r>
          </a:p>
          <a:p>
            <a:r>
              <a:t>concepts, the preschool history and physical, vision and hearing screening with referral criteria,</a:t>
            </a:r>
          </a:p>
          <a:p>
            <a:r>
              <a:t>developmental and school-readiness screening, play and socialization, common problems, and</a:t>
            </a:r>
          </a:p>
          <a:p>
            <a:r>
              <a:t>health-education activities.</a:t>
            </a:r>
          </a:p>
          <a:p>
            <a:r>
              <a:t>Age range: 3 – 6 years</a:t>
            </a:r>
          </a:p>
          <a:p>
            <a:r>
              <a:t>6.1 Site Profile — Role of the Kindergarten</a:t>
            </a:r>
          </a:p>
          <a:p>
            <a:r>
              <a:t>Preschool should be used primarily as an opportunity to foster the child's social skills and</a:t>
            </a:r>
          </a:p>
          <a:p>
            <a:r>
              <a:t>accustom the child to the group environment. Selecting a preschool considers accreditation,</a:t>
            </a:r>
          </a:p>
          <a:p>
            <a:r>
              <a:t>teachers' qualifications, other parents' recommendations, and the structure of the daily schedule.</a:t>
            </a:r>
          </a:p>
          <a:p>
            <a:r>
              <a:t>What the nurse brings: the preschooler "shows off" dramatically and enjoys imaginative, dramatic</a:t>
            </a:r>
          </a:p>
          <a:p>
            <a:r>
              <a:t>play — assessment and teaching are built around play.</a:t>
            </a:r>
          </a:p>
          <a:p>
            <a:r>
              <a:t>Readiness principle: there are no absolute indicators for school readiness; the child's social</a:t>
            </a:r>
          </a:p>
          <a:p>
            <a:r>
              <a:t>maturation, especially attention span, is as important as academic readiness.</a:t>
            </a:r>
          </a:p>
          <a:p>
            <a:r>
              <a:t>Readiness is influenced by: social, emotional, and physical development; health status; ability and</a:t>
            </a:r>
          </a:p>
          <a:p>
            <a:r>
              <a:t>desire to learn; life experiences; family environment; and parental support.</a:t>
            </a:r>
          </a:p>
          <a:p>
            <a:r>
              <a:t>Risk factors to screen for: insecure attachment in the early years, maternal depression, parental</a:t>
            </a:r>
          </a:p>
          <a:p>
            <a:r>
              <a:t>substance abuse, and low socioeconomic status — screen and refer when present.</a:t>
            </a:r>
          </a:p>
          <a:p>
            <a:r>
              <a:t>By kindergarten entry the child should have developed cooperation, sharing (of things and</a:t>
            </a:r>
          </a:p>
          <a:p>
            <a:r>
              <a:t>feelings), kindness, generosity, affection display, conversation, expression of feelings, helping others,</a:t>
            </a:r>
          </a:p>
          <a:p>
            <a:r>
              <a:t>and making friends.</a:t>
            </a:r>
          </a:p>
          <a:p>
            <a:r>
              <a:t>6.2 Preschool Health Assessment</a:t>
            </a:r>
          </a:p>
          <a:p>
            <a:r>
              <a:t>The well-child clinic model (Ch. 4) applies: history, measurements, screening, then guidance. The</a:t>
            </a:r>
          </a:p>
          <a:p>
            <a:r>
              <a:t>preschooler can now cooperate with instructions, so the examination is more efficient.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</a:t>
            </a:r>
          </a:p>
          <a:p>
            <a:r>
              <a:t>Content</a:t>
            </a:r>
          </a:p>
          <a:p>
            <a:r>
              <a:t>History</a:t>
            </a:r>
          </a:p>
          <a:p>
            <a:r>
              <a:t>Interval history — feeding/elimination/sleep/behavior, past illness, allergies (incl. food),</a:t>
            </a:r>
          </a:p>
          <a:p>
            <a:r>
              <a:t>medications, immunization record; school/daycare attendance and concerns</a:t>
            </a:r>
          </a:p>
          <a:p>
            <a:r>
              <a:t>Measurements</a:t>
            </a:r>
          </a:p>
          <a:p>
            <a:r>
              <a:t>Length/height, weight, head circumference; now standing height usually (length board</a:t>
            </a:r>
          </a:p>
          <a:p>
            <a:r>
              <a:t>until 24 mo; tape not used); BMI from ~3 yr; blood pressure annually</a:t>
            </a:r>
          </a:p>
          <a:p>
            <a:r>
              <a:t>Physical exam</a:t>
            </a:r>
          </a:p>
          <a:p>
            <a:r>
              <a:t>Head-to-toe (Ch. 3/Ch. 4 technique); eyes — ocular alignment and acuity screening (6.3);</a:t>
            </a:r>
          </a:p>
          <a:p>
            <a:r>
              <a:t>ears — hearing screening (6.3); skin; teeth — caries check; abdomen, genitalia,</a:t>
            </a:r>
          </a:p>
          <a:p>
            <a:r>
              <a:t>extremities; developmental observation throughout</a:t>
            </a:r>
          </a:p>
          <a:p>
            <a:r>
              <a:t>Screening</a:t>
            </a:r>
          </a:p>
          <a:p>
            <a:r>
              <a:t>Vision (6.3), hearing (6.3), developmental screen / Denver II (6.4 role; technique in Ch. 2),</a:t>
            </a:r>
          </a:p>
          <a:p>
            <a:r>
              <a:t>and psychosocial risk factors (list above)</a:t>
            </a:r>
          </a:p>
          <a:p>
            <a:r>
              <a:t>Immunization</a:t>
            </a:r>
          </a:p>
          <a:p>
            <a:r>
              <a:t>review</a:t>
            </a:r>
          </a:p>
          <a:p>
            <a:r>
              <a:t>Check the record against the current printed schedule (see Ch. 4 §4.5); arrange catch-up;</a:t>
            </a:r>
          </a:p>
          <a:p>
            <a:r>
              <a:t>document</a:t>
            </a:r>
          </a:p>
          <a:p>
            <a:r>
              <a:t>Guidance</a:t>
            </a:r>
          </a:p>
          <a:p>
            <a:r>
              <a:t>Nutrition values, dental care, safety (6.6-6.7); reading and imaginative play promotion</a:t>
            </a:r>
          </a:p>
          <a:p>
            <a:r>
              <a:t>(Ch. 4 §4.4 preschool)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6.3 Vision &amp; Hearing Screening</a:t>
            </a:r>
          </a:p>
          <a:p>
            <a:r>
              <a:t>VISION</a:t>
            </a:r>
          </a:p>
          <a:p>
            <a:r>
              <a:t>Indication: the USPSTF recommends vision screening for the presence of amblyopia and its risk</a:t>
            </a:r>
          </a:p>
          <a:p>
            <a:r>
              <a:t>factors for all children 3-5 years.</a:t>
            </a:r>
          </a:p>
          <a:p>
            <a:r>
              <a:t>Alignment tests: corneal light reflex (Hirschberg) from about 40.5 cm (16 in) — light symmetrical in</a:t>
            </a:r>
          </a:p>
          <a:p>
            <a:r>
              <a:t>normal eyes, off-center in misalignment; epicanthal folds can mimic misalignment</a:t>
            </a:r>
          </a:p>
          <a:p>
            <a:r>
              <a:t>(pseudostrabismus, common in Asian children). Cover test at near (33 cm / 13 in) and far (6 m / 20</a:t>
            </a:r>
          </a:p>
          <a:p>
            <a:r>
              <a:t>ft); alternate cover test.</a:t>
            </a:r>
          </a:p>
          <a:p>
            <a:r>
              <a:t>Strabismus window: if misalignment is not detected and corrected by ages 4-6 years, blindness</a:t>
            </a:r>
          </a:p>
          <a:p>
            <a:r>
              <a:t>from disuse (amblyopia) may result.</a:t>
            </a:r>
          </a:p>
          <a:p>
            <a:r>
              <a:t>Acuity: the tumbling E and HOTV are excellent tests for preschool-age children; other options:</a:t>
            </a:r>
          </a:p>
          <a:p>
            <a:r>
              <a:t>Snellen letters/numbers, picture test, Allen figures, LEA symbols.</a:t>
            </a:r>
          </a:p>
          <a:p>
            <a:r>
              <a:t>Referral criterion: fewer than 4 of 6 correct on the 20-foot (6-m) line.</a:t>
            </a:r>
          </a:p>
          <a:p>
            <a:r>
              <a:t>Peripheral vision (cooperative child): normal ~50° upward, 70° downward, 60° nasalward, 90°</a:t>
            </a:r>
          </a:p>
          <a:p>
            <a:r>
              <a:t>temporally.</a:t>
            </a:r>
          </a:p>
          <a:p>
            <a:r>
              <a:t>HEARING</a:t>
            </a:r>
          </a:p>
          <a:p>
            <a:r>
              <a:t>Recommendation: the AAP recommends pure-tone audiometry screening at 0.5, 1, 2, and 4 kHz;</a:t>
            </a:r>
          </a:p>
          <a:p>
            <a:r>
              <a:t>a child fails if the tones cannot be heard at 20 dB HL.</a:t>
            </a:r>
          </a:p>
          <a:p>
            <a:r>
              <a:t>Age-appropriate methods: behavioral audiometry for toddlers; play audiometry for the toddler;</a:t>
            </a:r>
          </a:p>
          <a:p>
            <a:r>
              <a:t>pure-tone audiometry for children and adolescents; tympanometry (middle-ear function) at all ages;</a:t>
            </a:r>
          </a:p>
          <a:p>
            <a:r>
              <a:t>EOAE for cochlear (outer hair cell) response.</a:t>
            </a:r>
          </a:p>
          <a:p>
            <a:r>
              <a:t>Suspicion: maintain a high index of suspicion for children with conditions associated with hearing</a:t>
            </a:r>
          </a:p>
          <a:p>
            <a:r>
              <a:t>loss, whose parents report concern, or whose behavior suggests auditory impairment.</a:t>
            </a:r>
          </a:p>
          <a:p>
            <a:r>
              <a:t>Figure 6.1 shows the three referral triggers of the preschool screening program: an acuity below</a:t>
            </a:r>
          </a:p>
          <a:p>
            <a:r>
              <a:t>the 20-foot-line standard, any constant misalignment (especially within the amblyopia window</a:t>
            </a:r>
          </a:p>
          <a:p>
            <a:r>
              <a:t>before ages 4-6), or failure of the pure-tone hearing screen.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6.3 Vision &amp; Hearing Screening</a:t>
            </a:r>
          </a:p>
          <a:p>
            <a:r>
              <a:t>VISION</a:t>
            </a:r>
          </a:p>
          <a:p>
            <a:r>
              <a:t>Indication: the USPSTF recommends vision screening for the presence of amblyopia and its risk</a:t>
            </a:r>
          </a:p>
          <a:p>
            <a:r>
              <a:t>factors for all children 3-5 years.</a:t>
            </a:r>
          </a:p>
          <a:p>
            <a:r>
              <a:t>Alignment tests: corneal light reflex (Hirschberg) from about 40.5 cm (16 in) — light symmetrical in</a:t>
            </a:r>
          </a:p>
          <a:p>
            <a:r>
              <a:t>normal eyes, off-center in misalignment; epicanthal folds can mimic misalignment</a:t>
            </a:r>
          </a:p>
          <a:p>
            <a:r>
              <a:t>(pseudostrabismus, common in Asian children). Cover test at near (33 cm / 13 in) and far (6 m / 20</a:t>
            </a:r>
          </a:p>
          <a:p>
            <a:r>
              <a:t>ft); alternate cover test.</a:t>
            </a:r>
          </a:p>
          <a:p>
            <a:r>
              <a:t>Strabismus window: if misalignment is not detected and corrected by ages 4-6 years, blindness</a:t>
            </a:r>
          </a:p>
          <a:p>
            <a:r>
              <a:t>from disuse (amblyopia) may result.</a:t>
            </a:r>
          </a:p>
          <a:p>
            <a:r>
              <a:t>Acuity: the tumbling E and HOTV are excellent tests for preschool-age children; other options:</a:t>
            </a:r>
          </a:p>
          <a:p>
            <a:r>
              <a:t>Snellen letters/numbers, picture test, Allen figures, LEA symbols.</a:t>
            </a:r>
          </a:p>
          <a:p>
            <a:r>
              <a:t>Referral criterion: fewer than 4 of 6 correct on the 20-foot (6-m) line.</a:t>
            </a:r>
          </a:p>
          <a:p>
            <a:r>
              <a:t>Peripheral vision (cooperative child): normal ~50° upward, 70° downward, 60° nasalward, 90°</a:t>
            </a:r>
          </a:p>
          <a:p>
            <a:r>
              <a:t>temporally.</a:t>
            </a:r>
          </a:p>
          <a:p>
            <a:r>
              <a:t>HEARING</a:t>
            </a:r>
          </a:p>
          <a:p>
            <a:r>
              <a:t>Recommendation: the AAP recommends pure-tone audiometry screening at 0.5, 1, 2, and 4 kHz;</a:t>
            </a:r>
          </a:p>
          <a:p>
            <a:r>
              <a:t>a child fails if the tones cannot be heard at 20 dB HL.</a:t>
            </a:r>
          </a:p>
          <a:p>
            <a:r>
              <a:t>Age-appropriate methods: behavioral audiometry for toddlers; play audiometry for the toddler;</a:t>
            </a:r>
          </a:p>
          <a:p>
            <a:r>
              <a:t>pure-tone audiometry for children and adolescents; tympanometry (middle-ear function) at all ages;</a:t>
            </a:r>
          </a:p>
          <a:p>
            <a:r>
              <a:t>EOAE for cochlear (outer hair cell) response.</a:t>
            </a:r>
          </a:p>
          <a:p>
            <a:r>
              <a:t>Suspicion: maintain a high index of suspicion for children with conditions associated with hearing</a:t>
            </a:r>
          </a:p>
          <a:p>
            <a:r>
              <a:t>loss, whose parents report concern, or whose behavior suggests auditory impairment.</a:t>
            </a:r>
          </a:p>
          <a:p>
            <a:r>
              <a:t>Figure 6.1 shows the three referral triggers of the preschool screening program: an acuity below</a:t>
            </a:r>
          </a:p>
          <a:p>
            <a:r>
              <a:t>the 20-foot-line standard, any constant misalignment (especially within the amblyopia window</a:t>
            </a:r>
          </a:p>
          <a:p>
            <a:r>
              <a:t>before ages 4-6), or failure of the pure-tone hearing screen.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6.1 Referral triggers of the preschool vision and hearing screening program.</a:t>
            </a:r>
          </a:p>
          <a:p>
            <a:r>
              <a:t>6.4 Developmental &amp; School-Readiness Screening</a:t>
            </a:r>
          </a:p>
          <a:p>
            <a:r>
              <a:t>Use the Denver II (technique in Ch. 2) supplemented by the milestone ages below. These are the</a:t>
            </a:r>
          </a:p>
          <a:p>
            <a:r>
              <a:t>3-5-year motor and language landmarks to observe — a deficit against them draws the eye for</a:t>
            </a:r>
          </a:p>
          <a:p>
            <a:r>
              <a:t>formal testing.</a:t>
            </a:r>
          </a:p>
          <a:p>
            <a:r>
              <a:t>Age</a:t>
            </a:r>
          </a:p>
          <a:p>
            <a:r>
              <a:t>Gross motor</a:t>
            </a:r>
          </a:p>
          <a:p>
            <a:r>
              <a:t>Fine motor / self-care</a:t>
            </a:r>
          </a:p>
          <a:p>
            <a:r>
              <a:t>3</a:t>
            </a:r>
          </a:p>
          <a:p>
            <a:r>
              <a:t>years</a:t>
            </a:r>
          </a:p>
          <a:p>
            <a:r>
              <a:t>Rides a tricycle; walks on tiptoe;</a:t>
            </a:r>
          </a:p>
          <a:p>
            <a:r>
              <a:t>balances on one foot a few</a:t>
            </a:r>
          </a:p>
          <a:p>
            <a:r>
              <a:t>seconds; broad jumps</a:t>
            </a:r>
          </a:p>
          <a:p>
            <a:r>
              <a:t>Copies a circle; imitates a cross and vertical/horizontal lines;</a:t>
            </a:r>
          </a:p>
          <a:p>
            <a:r>
              <a:t>holds the crayon with fingers (not fist); names what he/she</a:t>
            </a:r>
          </a:p>
          <a:p>
            <a:r>
              <a:t>draws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6.1 Referral triggers of the preschool vision and hearing screening program.</a:t>
            </a:r>
          </a:p>
          <a:p>
            <a:r>
              <a:t>6.4 Developmental &amp; School-Readiness Screening</a:t>
            </a:r>
          </a:p>
          <a:p>
            <a:r>
              <a:t>Use the Denver II (technique in Ch. 2) supplemented by the milestone ages below. These are the</a:t>
            </a:r>
          </a:p>
          <a:p>
            <a:r>
              <a:t>3-5-year motor and language landmarks to observe — a deficit against them draws the eye for</a:t>
            </a:r>
          </a:p>
          <a:p>
            <a:r>
              <a:t>formal testing.</a:t>
            </a:r>
          </a:p>
          <a:p>
            <a:r>
              <a:t>Age</a:t>
            </a:r>
          </a:p>
          <a:p>
            <a:r>
              <a:t>Gross motor</a:t>
            </a:r>
          </a:p>
          <a:p>
            <a:r>
              <a:t>Fine motor / self-care</a:t>
            </a:r>
          </a:p>
          <a:p>
            <a:r>
              <a:t>3</a:t>
            </a:r>
          </a:p>
          <a:p>
            <a:r>
              <a:t>years</a:t>
            </a:r>
          </a:p>
          <a:p>
            <a:r>
              <a:t>Rides a tricycle; walks on tiptoe;</a:t>
            </a:r>
          </a:p>
          <a:p>
            <a:r>
              <a:t>balances on one foot a few</a:t>
            </a:r>
          </a:p>
          <a:p>
            <a:r>
              <a:t>seconds; broad jumps</a:t>
            </a:r>
          </a:p>
          <a:p>
            <a:r>
              <a:t>Copies a circle; imitates a cross and vertical/horizontal lines;</a:t>
            </a:r>
          </a:p>
          <a:p>
            <a:r>
              <a:t>holds the crayon with fingers (not fist); names what he/she</a:t>
            </a:r>
          </a:p>
          <a:p>
            <a:r>
              <a:t>draws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</a:t>
            </a:r>
          </a:p>
          <a:p>
            <a:r>
              <a:t>years</a:t>
            </a:r>
          </a:p>
          <a:p>
            <a:r>
              <a:t>Throws a ball overhand; kicks</a:t>
            </a:r>
          </a:p>
          <a:p>
            <a:r>
              <a:t>forward; catches a bounced ball;</a:t>
            </a:r>
          </a:p>
          <a:p>
            <a:r>
              <a:t>hops on one foot; stands on one</a:t>
            </a:r>
          </a:p>
          <a:p>
            <a:r>
              <a:t>foot up to 5 s; alternates feet on</a:t>
            </a:r>
          </a:p>
          <a:p>
            <a:r>
              <a:t>steps</a:t>
            </a:r>
          </a:p>
          <a:p>
            <a:r>
              <a:t>Uses scissors successfully; copies capital letters; draws circles</a:t>
            </a:r>
          </a:p>
          <a:p>
            <a:r>
              <a:t>and squares; traces a cross or diamond; draws a person with</a:t>
            </a:r>
          </a:p>
          <a:p>
            <a:r>
              <a:t>2-4 body parts; laces shoes</a:t>
            </a:r>
          </a:p>
          <a:p>
            <a:r>
              <a:t>5</a:t>
            </a:r>
          </a:p>
          <a:p>
            <a:r>
              <a:t>years</a:t>
            </a:r>
          </a:p>
          <a:p>
            <a:r>
              <a:t>Stands on one foot 10 s or longer;</a:t>
            </a:r>
          </a:p>
          <a:p>
            <a:r>
              <a:t>swings and climbs well; may skip;</a:t>
            </a:r>
          </a:p>
          <a:p>
            <a:r>
              <a:t>somersaults; may begin to skate</a:t>
            </a:r>
          </a:p>
          <a:p>
            <a:r>
              <a:t>and swim</a:t>
            </a:r>
          </a:p>
          <a:p>
            <a:r>
              <a:t>Prints some letters; draws a person with body plus at least six</a:t>
            </a:r>
          </a:p>
          <a:p>
            <a:r>
              <a:t>parts; dresses/undresses without assistance; can learn to tie</a:t>
            </a:r>
          </a:p>
          <a:p>
            <a:r>
              <a:t>laces; uses fork/spoon/knife (supervised); copies triangle and</a:t>
            </a:r>
          </a:p>
          <a:p>
            <a:r>
              <a:t>other geometric patterns; mostly self-toileting</a:t>
            </a:r>
          </a:p>
          <a:p>
            <a:r>
              <a:t>Age</a:t>
            </a:r>
          </a:p>
          <a:p>
            <a:r>
              <a:t>Language / communication</a:t>
            </a:r>
          </a:p>
          <a:p>
            <a:r>
              <a:t>4 years</a:t>
            </a:r>
          </a:p>
          <a:p>
            <a:r>
              <a:t>Complete sentences with adult-like grammar; story easy to follow; 75% of speech understood</a:t>
            </a:r>
          </a:p>
          <a:p>
            <a:r>
              <a:t>outside the family; "who/how/how many" questions; understands same/different; names</a:t>
            </a:r>
          </a:p>
          <a:p>
            <a:r>
              <a:t>familiar animals and common objects; knows at least one color; engages in make-believe;</a:t>
            </a:r>
          </a:p>
          <a:p>
            <a:r>
              <a:t>follows a three-part command; counts a few numbers; vocabulary ~1,500 words</a:t>
            </a:r>
          </a:p>
          <a:p>
            <a:r>
              <a:t>5 years</a:t>
            </a:r>
          </a:p>
          <a:p>
            <a:r>
              <a:t>Most speech understood outside the family; explains how an item is used; long detailed</a:t>
            </a:r>
          </a:p>
          <a:p>
            <a:r>
              <a:t>conversations; talks about past/future/imaginary events; answers "why/when"; counts to 10;</a:t>
            </a:r>
          </a:p>
          <a:p>
            <a:r>
              <a:t>recalls part of a story; speech intelligible even with articulation errors; generally grammatical;</a:t>
            </a:r>
          </a:p>
          <a:p>
            <a:r>
              <a:t>vocabulary ~2,100 words; says name and address</a:t>
            </a:r>
          </a:p>
          <a:p>
            <a:r>
              <a:t>Bilingual</a:t>
            </a:r>
          </a:p>
          <a:p>
            <a:r>
              <a:t>child</a:t>
            </a:r>
          </a:p>
          <a:p>
            <a:r>
              <a:t>By 4 years the mixing of languages during the toddler years ceases — each language is used as</a:t>
            </a:r>
          </a:p>
          <a:p>
            <a:r>
              <a:t>a separate system</a:t>
            </a:r>
          </a:p>
          <a:p>
            <a:r>
              <a:t>SPEECH REFERRAL NOTE</a:t>
            </a:r>
          </a:p>
          <a:p>
            <a:r>
              <a:t>Stuttering with no improvement over more than 6 months, or speech unintelligible to outside</a:t>
            </a:r>
          </a:p>
          <a:p>
            <a:r>
              <a:t>listeners beyond the expected age, prompts evaluation (see the red-flag principle in Ch. 4 §4.6).</a:t>
            </a:r>
          </a:p>
          <a:p>
            <a:r>
              <a:t>Referral thresholds for the district screening policy follow the official screening program.</a:t>
            </a:r>
          </a:p>
          <a:p>
            <a:r>
              <a:t>6.5 Play, Behavior &amp; Socialization</a:t>
            </a:r>
          </a:p>
          <a:p>
            <a:r>
              <a:t>Associative play: preschoolers especially enjoy associative play — group play in similar or identical</a:t>
            </a:r>
          </a:p>
          <a:p>
            <a:r>
              <a:t>activities; the parallel play of the toddler (alongside, not with others) gives way to group activity.</a:t>
            </a:r>
          </a:p>
          <a:p>
            <a:r>
              <a:t>Imagination: activity is imitative, imaginative, and dramatic; dress-up is central; imaginary friends</a:t>
            </a:r>
          </a:p>
          <a:p>
            <a:r>
              <a:t>appear 2½-3 years and last until school entry; most fears resolve by 5-6 years.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Sharing &amp; friendships: by kindergarten entry the child cooperates, shares (things and feelings),</a:t>
            </a:r>
          </a:p>
          <a:p>
            <a:r>
              <a:t>shows kindness/generosity/affection, holds conversation, expresses feelings, helps others, and makes</a:t>
            </a:r>
          </a:p>
          <a:p>
            <a:r>
              <a:t>friends.</a:t>
            </a:r>
          </a:p>
          <a:p>
            <a:r>
              <a:t>Separation: during the preschool period the separation-individuation phase matures; preschoolers</a:t>
            </a:r>
          </a:p>
          <a:p>
            <a:r>
              <a:t>tolerate brief separations with little or no protest — the nurse normalizes this for worried parents.</a:t>
            </a:r>
          </a:p>
          <a:p>
            <a:r>
              <a:t>Discipline: the preschooler responds to consistent limit-setting with simple, concrete explanations —</a:t>
            </a:r>
          </a:p>
          <a:p>
            <a:r>
              <a:t>words are taken literally (magical thinking), so the parent says "that was a bad thing to do," not "you</a:t>
            </a:r>
          </a:p>
          <a:p>
            <a:r>
              <a:t>are bad".</a:t>
            </a:r>
          </a:p>
          <a:p>
            <a:r>
              <a:t>6.6 Common Problems in the Kindergarten</a:t>
            </a:r>
          </a:p>
          <a:p>
            <a:r>
              <a:t>Problem</a:t>
            </a:r>
          </a:p>
          <a:p>
            <a:r>
              <a:t>Guidance</a:t>
            </a:r>
          </a:p>
          <a:p>
            <a:r>
              <a:t>Infections</a:t>
            </a:r>
          </a:p>
          <a:p>
            <a:r>
              <a:t>Children commonly develop infections when entering day care or preschool because of</a:t>
            </a:r>
          </a:p>
          <a:p>
            <a:r>
              <a:t>new exposure; symptom/exclusion policy per the facility (see Ch. 5)</a:t>
            </a:r>
          </a:p>
          <a:p>
            <a:r>
              <a:t>Dental caries</a:t>
            </a:r>
          </a:p>
          <a:p>
            <a:r>
              <a:t>Caries are present in ~60% of children by age 5; prevention = daily brushing and flossing,</a:t>
            </a:r>
          </a:p>
          <a:p>
            <a:r>
              <a:t>pea-sized fluoride toothpaste without excess (fluorosis), parent performs flossing, avoid</a:t>
            </a:r>
          </a:p>
          <a:p>
            <a:r>
              <a:t>cariogenic foods — rinse with water after sugary foods</a:t>
            </a:r>
          </a:p>
          <a:p>
            <a:r>
              <a:t>Accidental</a:t>
            </a:r>
          </a:p>
          <a:p>
            <a:r>
              <a:t>ingestion &amp;</a:t>
            </a:r>
          </a:p>
          <a:p>
            <a:r>
              <a:t>injury</a:t>
            </a:r>
          </a:p>
          <a:p>
            <a:r>
              <a:t>Accidental injury is the leading cause of death in children 1-14 years; preschoolers can</a:t>
            </a:r>
          </a:p>
          <a:p>
            <a:r>
              <a:t>absorb concrete safety teaching but may not transfer it — close supervision continues;</a:t>
            </a:r>
          </a:p>
          <a:p>
            <a:r>
              <a:t>accidental ingestion risk is high — hazardous substances stored out of reach, never coax</a:t>
            </a:r>
          </a:p>
          <a:p>
            <a:r>
              <a:t>swallowing</a:t>
            </a:r>
          </a:p>
          <a:p>
            <a:r>
              <a:t>Nutrition</a:t>
            </a:r>
          </a:p>
          <a:p>
            <a:r>
              <a:t>Preschool nutrition values in Ch. 4 §4.4 (≈90 kcal/kg ≈ 1800 cal/day; fluids ~100</a:t>
            </a:r>
          </a:p>
          <a:p>
            <a:r>
              <a:t>ml/kg/day; protein 13-19 g/day; fiber = age + 5; saturated fat &lt;10%; calcium 700 mg 1-3</a:t>
            </a:r>
          </a:p>
          <a:p>
            <a:r>
              <a:t>yr / 1000 mg 4-8 yr; juice cap 4-6 oz); obesity in young children has increased</a:t>
            </a:r>
          </a:p>
          <a:p>
            <a:r>
              <a:t>dramatically</a:t>
            </a:r>
          </a:p>
          <a:p>
            <a:r>
              <a:t>Screening</a:t>
            </a:r>
          </a:p>
          <a:p>
            <a:r>
              <a:t>findings</a:t>
            </a:r>
          </a:p>
          <a:p>
            <a:r>
              <a:t>Refer positive vision/hearing (6.3) and developmental findings (6.4); document and</a:t>
            </a:r>
          </a:p>
          <a:p>
            <a:r>
              <a:t>communicate with the family (Ch. 9)</a:t>
            </a:r>
          </a:p>
          <a:p>
            <a:r>
              <a:t>6.7 Health Education Activities</a:t>
            </a:r>
          </a:p>
          <a:p>
            <a:r>
              <a:t>Hand hygiene: standard infection-control hand washing before and after every meal, diapering, and</a:t>
            </a:r>
          </a:p>
          <a:p>
            <a:r>
              <a:t>child contact.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Sharing &amp; friendships: by kindergarten entry the child cooperates, shares (things and feelings),</a:t>
            </a:r>
          </a:p>
          <a:p>
            <a:r>
              <a:t>shows kindness/generosity/affection, holds conversation, expresses feelings, helps others, and makes</a:t>
            </a:r>
          </a:p>
          <a:p>
            <a:r>
              <a:t>friends.</a:t>
            </a:r>
          </a:p>
          <a:p>
            <a:r>
              <a:t>Separation: during the preschool period the separation-individuation phase matures; preschoolers</a:t>
            </a:r>
          </a:p>
          <a:p>
            <a:r>
              <a:t>tolerate brief separations with little or no protest — the nurse normalizes this for worried parents.</a:t>
            </a:r>
          </a:p>
          <a:p>
            <a:r>
              <a:t>Discipline: the preschooler responds to consistent limit-setting with simple, concrete explanations —</a:t>
            </a:r>
          </a:p>
          <a:p>
            <a:r>
              <a:t>words are taken literally (magical thinking), so the parent says "that was a bad thing to do," not "you</a:t>
            </a:r>
          </a:p>
          <a:p>
            <a:r>
              <a:t>are bad".</a:t>
            </a:r>
          </a:p>
          <a:p>
            <a:r>
              <a:t>6.6 Common Problems in the Kindergarten</a:t>
            </a:r>
          </a:p>
          <a:p>
            <a:r>
              <a:t>Problem</a:t>
            </a:r>
          </a:p>
          <a:p>
            <a:r>
              <a:t>Guidance</a:t>
            </a:r>
          </a:p>
          <a:p>
            <a:r>
              <a:t>Infections</a:t>
            </a:r>
          </a:p>
          <a:p>
            <a:r>
              <a:t>Children commonly develop infections when entering day care or preschool because of</a:t>
            </a:r>
          </a:p>
          <a:p>
            <a:r>
              <a:t>new exposure; symptom/exclusion policy per the facility (see Ch. 5)</a:t>
            </a:r>
          </a:p>
          <a:p>
            <a:r>
              <a:t>Dental caries</a:t>
            </a:r>
          </a:p>
          <a:p>
            <a:r>
              <a:t>Caries are present in ~60% of children by age 5; prevention = daily brushing and flossing,</a:t>
            </a:r>
          </a:p>
          <a:p>
            <a:r>
              <a:t>pea-sized fluoride toothpaste without excess (fluorosis), parent performs flossing, avoid</a:t>
            </a:r>
          </a:p>
          <a:p>
            <a:r>
              <a:t>cariogenic foods — rinse with water after sugary foods</a:t>
            </a:r>
          </a:p>
          <a:p>
            <a:r>
              <a:t>Accidental</a:t>
            </a:r>
          </a:p>
          <a:p>
            <a:r>
              <a:t>ingestion &amp;</a:t>
            </a:r>
          </a:p>
          <a:p>
            <a:r>
              <a:t>injury</a:t>
            </a:r>
          </a:p>
          <a:p>
            <a:r>
              <a:t>Accidental injury is the leading cause of death in children 1-14 years; preschoolers can</a:t>
            </a:r>
          </a:p>
          <a:p>
            <a:r>
              <a:t>absorb concrete safety teaching but may not transfer it — close supervision continues;</a:t>
            </a:r>
          </a:p>
          <a:p>
            <a:r>
              <a:t>accidental ingestion risk is high — hazardous substances stored out of reach, never coax</a:t>
            </a:r>
          </a:p>
          <a:p>
            <a:r>
              <a:t>swallowing</a:t>
            </a:r>
          </a:p>
          <a:p>
            <a:r>
              <a:t>Nutrition</a:t>
            </a:r>
          </a:p>
          <a:p>
            <a:r>
              <a:t>Preschool nutrition values in Ch. 4 §4.4 (≈90 kcal/kg ≈ 1800 cal/day; fluids ~100</a:t>
            </a:r>
          </a:p>
          <a:p>
            <a:r>
              <a:t>ml/kg/day; protein 13-19 g/day; fiber = age + 5; saturated fat &lt;10%; calcium 700 mg 1-3</a:t>
            </a:r>
          </a:p>
          <a:p>
            <a:r>
              <a:t>yr / 1000 mg 4-8 yr; juice cap 4-6 oz); obesity in young children has increased</a:t>
            </a:r>
          </a:p>
          <a:p>
            <a:r>
              <a:t>dramatically</a:t>
            </a:r>
          </a:p>
          <a:p>
            <a:r>
              <a:t>Screening</a:t>
            </a:r>
          </a:p>
          <a:p>
            <a:r>
              <a:t>findings</a:t>
            </a:r>
          </a:p>
          <a:p>
            <a:r>
              <a:t>Refer positive vision/hearing (6.3) and developmental findings (6.4); document and</a:t>
            </a:r>
          </a:p>
          <a:p>
            <a:r>
              <a:t>communicate with the family (Ch. 9)</a:t>
            </a:r>
          </a:p>
          <a:p>
            <a:r>
              <a:t>6.7 Health Education Activities</a:t>
            </a:r>
          </a:p>
          <a:p>
            <a:r>
              <a:t>Hand hygiene: standard infection-control hand washing before and after every meal, diapering, and</a:t>
            </a:r>
          </a:p>
          <a:p>
            <a:r>
              <a:t>child contact.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Dental hygiene program: demonstrate pea-sized toothpaste brushing; parents (not the child) floss;</a:t>
            </a:r>
          </a:p>
          <a:p>
            <a:r>
              <a:t>schedule dental examinations per policy.</a:t>
            </a:r>
          </a:p>
          <a:p>
            <a:r>
              <a:t>Safety lessons: an adult accompanies at street crossings; a bicycle helmet is worn on any ride; the</a:t>
            </a:r>
          </a:p>
          <a:p>
            <a:r>
              <a:t>child never approaches pools or bodies of water alone; medications and cleaning products are never</a:t>
            </a:r>
          </a:p>
          <a:p>
            <a:r>
              <a:t>touched.</a:t>
            </a:r>
          </a:p>
          <a:p>
            <a:r>
              <a:t>Literacy: daily reading/storytelling with question-and-answer supports language and school</a:t>
            </a:r>
          </a:p>
          <a:p>
            <a:r>
              <a:t>readiness.</a:t>
            </a:r>
          </a:p>
          <a:p>
            <a:r>
              <a:t>Group readiness practice: turn-taking, sharing, following three-part commands (a skill expected at 4</a:t>
            </a:r>
          </a:p>
          <a:p>
            <a:r>
              <a:t>years).</a:t>
            </a:r>
          </a:p>
          <a:p>
            <a:r>
              <a:t>Chapter 6 Learning Check</a:t>
            </a:r>
          </a:p>
          <a:p>
            <a:r>
              <a:t>Self-assessment questions (answer in your notebook, then open)</a:t>
            </a:r>
          </a:p>
          <a:p>
            <a:r>
              <a:t>End of Chapter 6.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Content reproduced verbatim from Chapter 6 — Kindergarten Rotation.pdf.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85455" y="4023360"/>
            <a:ext cx="4206240" cy="283464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34440"/>
            <a:ext cx="3200400" cy="310896"/>
          </a:xfrm>
          <a:prstGeom prst="rect">
            <a:avLst/>
          </a:prstGeom>
          <a:solidFill>
            <a:srgbClr val="E4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13232" y="1307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1" i="0">
                <a:solidFill>
                  <a:srgbClr val="0E6B57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996055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14171C"/>
                </a:solidFill>
                <a:latin typeface="Georgia"/>
              </a:rPr>
              <a:t>Kindergarten Rotation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7A8291"/>
                </a:solidFill>
                <a:latin typeface="Georgia"/>
              </a:rPr>
              <a:t>المناوبة في الروضة (Kindergarten Rotation)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03320"/>
            <a:ext cx="1463040" cy="32004"/>
          </a:xfrm>
          <a:prstGeom prst="rect">
            <a:avLst/>
          </a:prstGeom>
          <a:solidFill>
            <a:srgbClr val="0E6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3931920"/>
            <a:ext cx="7863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 i="0">
                <a:solidFill>
                  <a:srgbClr val="3E4654"/>
                </a:solidFill>
                <a:latin typeface="Calibri"/>
              </a:rPr>
              <a:t>Human Growth and Development  ·  Practical Lectures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Source document: Chapter 6 — Kindergarten Rotation.pdf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7A8291"/>
                </a:solidFill>
                <a:latin typeface="Calibri"/>
              </a:rPr>
              <a:t>7 pages  ·  Nursing Lectures  ·  Level 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Chapter Overview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Scope of this chapter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350" b="0" i="0">
                <a:solidFill>
                  <a:srgbClr val="3E4654"/>
                </a:solidFill>
                <a:latin typeface="Calibri"/>
              </a:rPr>
              <a:t>Health assessment and screening of the preschool child (3-6 years): site role and readiness concepts, the preschool history and physical, vision and hearing screening with referral criteria, developmental and school-readiness screening, play and socialization, common problems, and health-education activities.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1" i="0">
                <a:solidFill>
                  <a:srgbClr val="0E6B57"/>
                </a:solidFill>
                <a:latin typeface="Calibri"/>
              </a:rPr>
              <a:t>Learning outcomes — the document's own sections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6.1 Site Profile — Role of the Kindergarten   (p. 1)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6.2 Preschool Health Assessment   (p. 1)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6.3 Vision &amp; Hearing Screening   (p. 3)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6.4 Developmental &amp; School-Readiness Screening   (p. 4)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6.5 Play, Behavior &amp; Socialization   (p. 5)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6.6 Common Problems in the Kindergarten   (p. 6)</a:t>
            </a:r>
          </a:p>
          <a:p>
            <a:pPr algn="l" marL="237744" indent="-237744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•  6.7 Health Education Activities   (p. 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10874959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6.1   6.1 Site Profile — Role of the Kindergarten   —  p.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6.2   6.2 Preschool Health Assessment   —  p. 1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6.3   6.3 Vision &amp; Hearing Screening   —  p. 3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6.4   6.4 Developmental &amp; School-Readiness Screening   —  p.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6.5   6.5 Play, Behavior &amp; Socialization   —  p. 5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6.6   6.6 Common Problems in the Kindergarten   —  p. 6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 i="0">
                <a:solidFill>
                  <a:srgbClr val="3E4654"/>
                </a:solidFill>
                <a:latin typeface="Calibri"/>
              </a:rPr>
              <a:t>6.7   6.7 Health Education Activities   —  p.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6.1 Site Profile — Role of the Kindergarten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64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1" i="0">
                <a:solidFill>
                  <a:srgbClr val="3E4654"/>
                </a:solidFill>
                <a:latin typeface="Calibri"/>
              </a:rPr>
              <a:t>ROTATION: KINDERGARTEN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64411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6 — Kindergarten 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27961"/>
            <a:ext cx="10948111" cy="964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Health assessment and screening of the preschool child (3-6 years): site role and readiness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concepts, the preschool history and physical, vision and hearing screening with referral criteria,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developmental and school-readiness screening, play and socialization, common problems,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21" b="0" i="0">
                <a:solidFill>
                  <a:srgbClr val="3E4654"/>
                </a:solidFill>
                <a:latin typeface="Calibri"/>
              </a:rPr>
              <a:t>health-education activities.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83625"/>
            <a:ext cx="10948111" cy="268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75" b="0" i="0">
                <a:solidFill>
                  <a:srgbClr val="3E4654"/>
                </a:solidFill>
                <a:latin typeface="Calibri"/>
              </a:rPr>
              <a:t>Age range: 3 – 6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644021"/>
            <a:ext cx="10948111" cy="15337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1" i="0">
                <a:solidFill>
                  <a:srgbClr val="3E4654"/>
                </a:solidFill>
                <a:latin typeface="Calibri"/>
              </a:rPr>
              <a:t>Preschool should be used primarily as an opportunity to foster the child's social skills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1" i="0">
                <a:solidFill>
                  <a:srgbClr val="3E4654"/>
                </a:solidFill>
                <a:latin typeface="Calibri"/>
              </a:rPr>
              <a:t>accustom the child to the group environment. Selecting a preschool considers accreditation,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1" i="0">
                <a:solidFill>
                  <a:srgbClr val="3E4654"/>
                </a:solidFill>
                <a:latin typeface="Calibri"/>
              </a:rPr>
              <a:t>teachers' qualifications, other parents' recommendations, and the structure of the daily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6.1 Site Profile — Role of the Kindergarten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1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976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What the nurse brings: the preschooler "shows off" dramatically and enjoys imaginative, dramatic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play — assessment and teaching are built around play.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Readiness principle: there are no absolute indicators for school readiness; the child's social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maturation, especially attention span, is as important as academic readiness.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Readiness is influenced by: social, emotional, and physical development; health status; ability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desire to learn; life experiences; family environment; and parental support.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Risk factors to screen for: insecure attachment in the early years, maternal depression, parental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substance abuse, and low socioeconomic status — screen and refer when present.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By kindergarten entry the child should have developed cooperation, sharing (of things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feelings), kindness, generosity, affection display, conversation, expression of feelings, helping others,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and making friends.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75683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6.2 Preschool Health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939233"/>
            <a:ext cx="10948111" cy="8125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The well-child clinic model (Ch. 4) applies: history, measurements, screening, then guidance.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preschooler can now cooperate with instructions, so the examination is more efficient.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Kindergarten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2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Interval history — feeding/elimination/sleep/behavior, past illness, allergies (incl. food), medications, immunization record; school/daycare attendance and concerns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Measurements Length/height, weight, head circumference; now standing height usually (length board until 24 mo; tape not used); BMI from ~3 yr; blood pressure annually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Physical 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Head-to-toe (Ch. 3/Ch. 4 technique); eyes — ocular alignment and acuity screening (6.3); ears — hearing screening (6.3); skin; teeth — caries check; abdomen, genitalia, extremities; developmental observation throughout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Screening Vision (6.3), hearing (6.3), developmental screen / Denver II (6.4 role; technique in Ch. 2), and psychosocial risk factors (list above)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Immunization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Check the record against the current printed schedule (see Ch. 4 §4.5); arrange catch-up;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Guidance Nutrition values, dental care, safety (6.6-6.7); reading and imaginative play promotion (Ch. 4 §4.4 preschool)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6.3 Vision &amp; Hearing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799907"/>
            <a:ext cx="10948111" cy="31979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Indication: the USPSTF recommends vision screening for the presence of amblyopia and its risk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factors for all children 3-5 years.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Alignment tests: corneal light reflex (Hirschberg) from about 40.5 cm (16 in) — light symmetrical in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normal eyes, off-center in misalignment; epicanthal folds can mimic misalignment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(pseudostrabismus, common in Asian children). Cover test at near (33 cm / 13 in) and far (6 m / 20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ft); alternate cover test.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Strabismus window: if misalignment is not detected and corrected by ages 4-6 years, blindness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from disuse (amblyopia) may result.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Acuity: the tumbling E and HOTV are excellent tests for preschool-age children; other options: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Snellen letters/numbers, picture test, Allen figures, LEA symbols.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Referral criterion: fewer than 4 of 6 correct on the 20-foot (6-m) line.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Peripheral vision (cooperative child): normal ~50° upward, 70° downward, 60° nasalward, 90°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temporally.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089309"/>
            <a:ext cx="10948111" cy="300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64" b="1" i="0">
                <a:solidFill>
                  <a:srgbClr val="0E6B57"/>
                </a:solidFill>
                <a:latin typeface="Calibri"/>
              </a:rPr>
              <a:t>HEARING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6.3 Vision &amp; Hearing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3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Recommendation: the AAP recommends pure-tone audiometry screening at 0.5, 1, 2, and 4 kHz;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 child fails if the tones cannot be heard at 20 dB HL.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Age-appropriate methods: behavioral audiometry for toddlers; play audiometry for the toddler;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pure-tone audiometry for children and adolescents; tympanometry (middle-ear function) at all ages;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EOAE for cochlear (outer hair cell) response.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Suspicion: maintain a high index of suspicion for children with conditions associated with hearing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loss, whose parents report concern, or whose behavior suggests auditory impairment.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44316"/>
            <a:ext cx="10948111" cy="661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6.1 shows the three referral triggers of the preschool screening program: an acuity below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the 20-foot-line standard, any constant misalignment (especially within the amblyopia window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before ages 4-6), or failure of the pure-tone hearing screen.</a:t>
            </a:r>
          </a:p>
        </p:txBody>
      </p:sp>
      <p:pic>
        <p:nvPicPr>
          <p:cNvPr id="12" name="Picture 11" descr="p0002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896791"/>
            <a:ext cx="10692079" cy="529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6.4 Developmental &amp; School-Readiness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p0003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74" y="1408176"/>
            <a:ext cx="3733145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4306824"/>
            <a:ext cx="10948111" cy="2813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50" b="0" i="1">
                <a:solidFill>
                  <a:srgbClr val="7A8291"/>
                </a:solidFill>
                <a:latin typeface="Calibri"/>
              </a:rPr>
              <a:t>Figure 6.1 Referral triggers of the preschool vision and hearing screening program.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679569"/>
            <a:ext cx="10948111" cy="1293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Use the Denver II (technique in Ch. 2) supplemented by the milestone ages below. These are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3-5-year motor and language landmarks to observe — a deficit against them draws the eye for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6" b="0" i="0">
                <a:solidFill>
                  <a:srgbClr val="3E4654"/>
                </a:solidFill>
                <a:latin typeface="Calibri"/>
              </a:rPr>
              <a:t>formal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6.4 Developmental &amp; School-Readiness Screening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4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822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Gross motor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Fine motor / self-care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3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Rides a tricycle; walks on tiptoe; balances on one foot a few seconds; broad jumps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Copies a circle; imitates a cross and vertical/horizontal lines; holds the crayon with fingers (not fist); names what he/she draws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1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6.5 Play, Behavior &amp; Socialization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5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408176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 Throws a ball overhand; kicks Uses scissors successfully; copies capital letters; draws circles years forward; catches a bounced ball; and squares; traces a cross or diamond; draws a person with hops on one foot; stands on one 2-4 body parts; laces shoes foot up to 5 s; alternates feet on steps 5 Stands on one foot 10 s or longer; Prints some letters; draws a person with body plus at least six years swings and climbs well; may skip; parts; dresses/undresses without assistance; can learn to tie somersaults; may begin to skate laces; uses fork/spoon/knife (supervised); copies triangle and and swim other geometric patterns; mostly self-toileting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Age Language / communication 4 years Complete sentences with adult-like grammar; story easy to follow; 75% of speech understood outside the family; "who/how/how many" questions; understands same/different; names familiar animals and common objects; knows at least one color; engages in make-believe; follows a three-part command; counts a few numbers; vocabulary ~1,500 words 5 years Most speech understood outside the family; explains how an item is used; long detailed conversations; talks about past/future/imaginary events; answers "why/when"; counts to 10; recalls part of a story; speech intelligible even with articulation errors; generally grammatical; vocabulary ~2,100 words; says name and address Bilingual By 4 years the mixing of languages during the toddler years ceases — each language is used as child a separate system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SPEECH REFERRAL NOTE Stuttering with no improvement over more than 6 months, or speech unintelligible to outside listeners beyond the expected age, prompts evaluation (see the red-flag principle in Ch. 4 §4.6). Referral thresholds for the district screening policy follow the official screening program.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560320"/>
          <a:ext cx="1105783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 Throws a ball overhand; kicks Uses scissors successfully; copies capital letters; draws circles years forward; catches a bounced ball; and squares; traces a cross or diamond; draws a person with hops on one foot; stands on one 2-4 body parts; laces shoes foot up to 5 s; alternates feet on steps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5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Stands on one foot 10 s or longer; swings and climbs well; may skip; somersaults; may begin to skate and 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50">
                          <a:solidFill>
                            <a:srgbClr val="3E4654"/>
                          </a:solidFill>
                          <a:latin typeface="Calibri"/>
                        </a:rPr>
                        <a:t>Prints some letters; draws a person with body plus at least six parts; dresses/undresses without assistance; can learn to tie laces; uses fork/spoon/knife (supervised); copies triangle and other geometric patterns; mostly self-toileting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236976"/>
          <a:ext cx="1105783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Age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Language / communication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4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Complete sentences with adult-like grammar; story easy to follow; 75% of speech understood outside the family; "who/how/how many" questions; understands same/different; names familiar animals and common objects; knows at least one color; engages in make-believe; follows a three-part command; counts a few numbers; vocabulary ~1,500 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5 years Most speech understood outside the family; explains how an item is used; long detailed conversations; talks about past/future/imaginary events; answers "why/when"; counts to 10; recalls part of a story; speech intelligible even with articulation errors; generally grammatical; vocabulary ~2,100 words; says name and address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Bilingual 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By 4 years the mixing of languages during the toddler years ceases — each language is used as a separate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1792" y="4389120"/>
            <a:ext cx="10948111" cy="164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Associative play: preschoolers especially enjoy associative play — group play in similar or identical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activities; the parallel play of the toddler (alongside, not with others) gives way to group activity.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Imagination: activity is imitative, imaginative, and dramatic; dress-up is central; imaginary friends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appear 2½-3 years and last until school entry; most fears resolve by 5-6 years.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6.6 Common Problems in the Kindergarten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754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Sharing &amp; friendships: by kindergarten entry the child cooperates, shares (things and feelings),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shows kindness/generosity/affection, holds conversation, expresses feelings, helps others, and makes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friends.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Separation: during the preschool period the separation-individuation phase matures; preschoolers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tolerate brief separations with little or no protest — the nurse normalizes this for worried parents.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Discipline: the preschooler responds to consistent limit-setting with simple, concrete explanations —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words are taken literally (magical thinking), so the parent says "that was a bad thing to do," not "you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are bad".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253788"/>
          <a:ext cx="11057839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919"/>
                <a:gridCol w="5528920"/>
              </a:tblGrid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Guidance</a:t>
                      </a:r>
                    </a:p>
                  </a:txBody>
                  <a:tcPr>
                    <a:solidFill>
                      <a:srgbClr val="0E6B57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Infections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Children commonly develop infections when entering day care or preschool because of new exposure; symptom/exclusion policy per the facility (see Ch.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Dental caries Caries are present in ~60% of children by age 5; prevention = daily brushing and flossing, pea-sized fluoride toothpaste without excess (fluorosis), parent performs flossing, avoid cariogenic foods — rinse with water after sugary foods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Accidental ingestion &amp; injury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Accidental injury is the leading cause of death in children 1-14 years; preschoolers can absorb concrete safety teaching but may not transfer it — close supervision continues; accidental ingestion risk is high — hazardous substances stored out of reach, never coax swallowing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Nutrition Preschool nutrition values in Ch. 4 §4.4 (≈90 kcal/kg ≈ 1800 cal/day; fluids ~100 ml/kg/day; protein 13-19 g/day; fiber = age + 5; saturated fat &lt;10%; calcium 700 mg 1-3 yr / 1000 mg 4-8 yr; juice cap 4-6 oz); obesity in young children has increased dramatically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74324"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Screening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64008" rIns="54864" tIns="32004" bIns="32004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50">
                          <a:solidFill>
                            <a:srgbClr val="3E4654"/>
                          </a:solidFill>
                          <a:latin typeface="Calibri"/>
                        </a:rPr>
                        <a:t>Refer positive vision/hearing (6.3) and developmental findings (6.4); document and communicate with the family (Ch. 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" y="5881420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6.7 Health Education Activities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6.6 Common Problems in the Kindergarten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6 of 7  (continued)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535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Hand hygiene: standard infection-control hand washing before and after every meal, diapering, and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child contact.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 i="0">
                <a:solidFill>
                  <a:srgbClr val="7A8291"/>
                </a:solidFill>
                <a:latin typeface="Calibri"/>
              </a:rPr>
              <a:t>HUMAN GROWTH AND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E6B57"/>
                </a:solidFill>
                <a:latin typeface="Georgia"/>
              </a:rPr>
              <a:t>Kindergarten Rotation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0432"/>
            <a:ext cx="11057839" cy="10972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1">
                <a:solidFill>
                  <a:srgbClr val="7A8291"/>
                </a:solidFill>
                <a:latin typeface="Calibri"/>
              </a:rPr>
              <a:t>Source page 7 of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82512"/>
            <a:ext cx="11057839" cy="7315"/>
          </a:xfrm>
          <a:prstGeom prst="rect">
            <a:avLst/>
          </a:prstGeom>
          <a:solidFill>
            <a:srgbClr val="E2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88462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7A8291"/>
                </a:solidFill>
                <a:latin typeface="Calibri"/>
              </a:rPr>
              <a:t>Kindergarten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50" b="1" i="0">
                <a:solidFill>
                  <a:srgbClr val="0E6B57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08176"/>
            <a:ext cx="10948111" cy="25322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Dental hygiene program: demonstrate pea-sized toothpaste brushing; parents (not the child) floss;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schedule dental examinations per policy.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Safety lessons: an adult accompanies at street crossings; a bicycle helmet is worn on any ride; the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child never approaches pools or bodies of water alone; medications and cleaning products are never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touched.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Literacy: daily reading/storytelling with question-and-answer supports language and school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readiness.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Group readiness practice: turn-taking, sharing, following three-part commands (a skill expected at 4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years).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031894"/>
            <a:ext cx="10948111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1" i="0">
                <a:solidFill>
                  <a:srgbClr val="3E4654"/>
                </a:solidFill>
                <a:latin typeface="Calibri"/>
              </a:rPr>
              <a:t>Chapter 6 Learning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495444"/>
            <a:ext cx="10948111" cy="313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44" b="1" i="0">
                <a:solidFill>
                  <a:srgbClr val="3E4654"/>
                </a:solidFill>
                <a:latin typeface="Calibri"/>
              </a:rPr>
              <a:t>Self-assessment questions (answer in your notebook, then open)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900218"/>
            <a:ext cx="10948111" cy="272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97" b="1" i="0">
                <a:solidFill>
                  <a:srgbClr val="3E4654"/>
                </a:solidFill>
                <a:latin typeface="Calibri"/>
              </a:rPr>
              <a:t>End of Chapter 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gradFill rotWithShape="1">
            <a:gsLst>
              <a:gs pos="0">
                <a:srgbClr val="0E6B57"/>
              </a:gs>
              <a:gs pos="100000">
                <a:srgbClr val="17A6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01434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200" b="1" i="0">
                <a:solidFill>
                  <a:srgbClr val="14171C"/>
                </a:solidFill>
                <a:latin typeface="Georgia"/>
              </a:rPr>
              <a:t>Document Information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3E4654"/>
                </a:solidFill>
                <a:latin typeface="Calibri"/>
              </a:rPr>
              <a:t>Kindergarten Rotation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7A8291"/>
                </a:solidFill>
                <a:latin typeface="Calibri"/>
              </a:rPr>
              <a:t>المناوبة في الروضة (Kindergarten Rotation)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5852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Source file: Chapter 6 — Kindergarten Rotation.pdf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Pages in source: 7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Slides in this deck: 15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3E4654"/>
                </a:solidFill>
                <a:latin typeface="Calibri"/>
              </a:rPr>
              <a:t>Course: Human Growth and Development — Practical Lectures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7007" y="41605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 i="0">
                <a:solidFill>
                  <a:srgbClr val="EAF6F1"/>
                </a:solidFill>
                <a:latin typeface="Calibri"/>
              </a:rPr>
              <a:t>Full readable text and the original file are available on the lecture platform: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https://moustafaali-prog.github.io/growth-development-lectures/lectures/practical/Chapter 6 — Kindergarten Rotation.html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