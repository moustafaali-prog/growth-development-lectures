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358" r:id="rId2"/>
    <p:sldId id="266" r:id="rId3"/>
    <p:sldId id="265" r:id="rId4"/>
    <p:sldId id="334" r:id="rId5"/>
    <p:sldId id="335" r:id="rId6"/>
    <p:sldId id="336" r:id="rId7"/>
    <p:sldId id="337" r:id="rId8"/>
    <p:sldId id="338" r:id="rId9"/>
    <p:sldId id="339" r:id="rId10"/>
    <p:sldId id="340" r:id="rId11"/>
    <p:sldId id="342" r:id="rId12"/>
    <p:sldId id="341" r:id="rId13"/>
    <p:sldId id="343" r:id="rId14"/>
    <p:sldId id="344" r:id="rId15"/>
    <p:sldId id="345" r:id="rId16"/>
    <p:sldId id="346" r:id="rId17"/>
    <p:sldId id="347" r:id="rId18"/>
    <p:sldId id="348" r:id="rId19"/>
    <p:sldId id="349" r:id="rId20"/>
    <p:sldId id="350" r:id="rId21"/>
    <p:sldId id="351" r:id="rId22"/>
    <p:sldId id="352" r:id="rId23"/>
    <p:sldId id="353" r:id="rId24"/>
    <p:sldId id="355" r:id="rId25"/>
    <p:sldId id="354" r:id="rId26"/>
    <p:sldId id="29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3791" autoAdjust="0"/>
  </p:normalViewPr>
  <p:slideViewPr>
    <p:cSldViewPr snapToGrid="0">
      <p:cViewPr varScale="1">
        <p:scale>
          <a:sx n="41" d="100"/>
          <a:sy n="41" d="100"/>
        </p:scale>
        <p:origin x="854" y="34"/>
      </p:cViewPr>
      <p:guideLst/>
    </p:cSldViewPr>
  </p:slideViewPr>
  <p:outlineViewPr>
    <p:cViewPr>
      <p:scale>
        <a:sx n="33" d="100"/>
        <a:sy n="33" d="100"/>
      </p:scale>
      <p:origin x="0" y="-1250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CE411-5C12-418B-8535-DCB23B0AC56F}" type="datetimeFigureOut">
              <a:rPr lang="en-US" smtClean="0"/>
              <a:t>10/4/2023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42D3A-E1C1-4B16-A576-1BC8DB5D45C2}" type="slidenum">
              <a:rPr lang="en-US" smtClean="0"/>
              <a:t>‹#›</a:t>
            </a:fld>
            <a:endParaRPr lang="en-US"/>
          </a:p>
        </p:txBody>
      </p:sp>
    </p:spTree>
    <p:extLst>
      <p:ext uri="{BB962C8B-B14F-4D97-AF65-F5344CB8AC3E}">
        <p14:creationId xmlns:p14="http://schemas.microsoft.com/office/powerpoint/2010/main" val="347894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A973774F-7D33-165D-AC76-B1B5FDD468AD}"/>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DE167C5B-1858-5ACF-15D6-4A98C6DD00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3B52B41A-4DF5-2B8D-78D0-B97A7D2AF3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2E486-EC48-426A-A2D9-99B37CBE1C0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2</a:t>
            </a:fld>
            <a:endParaRPr lang="en-US"/>
          </a:p>
        </p:txBody>
      </p:sp>
    </p:spTree>
    <p:extLst>
      <p:ext uri="{BB962C8B-B14F-4D97-AF65-F5344CB8AC3E}">
        <p14:creationId xmlns:p14="http://schemas.microsoft.com/office/powerpoint/2010/main" val="1895443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039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5646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2817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35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2408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71587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3892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1732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6759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4270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8116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9743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9604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9833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2001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196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760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0525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56784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1082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81448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1752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DE5053-3144-403C-A8F1-152CDBE171D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30067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a:extLst>
              <a:ext uri="{FF2B5EF4-FFF2-40B4-BE49-F238E27FC236}">
                <a16:creationId xmlns:a16="http://schemas.microsoft.com/office/drawing/2014/main" id="{91D2B997-3B4D-AF77-080D-31FAD0FC29EF}"/>
              </a:ext>
            </a:extLst>
          </p:cNvPr>
          <p:cNvSpPr>
            <a:spLocks noGrp="1" noRot="1" noChangeAspect="1" noChangeArrowheads="1" noTextEdit="1"/>
          </p:cNvSpPr>
          <p:nvPr>
            <p:ph type="sldImg"/>
          </p:nvPr>
        </p:nvSpPr>
        <p:spPr>
          <a:xfrm>
            <a:off x="685800" y="1143000"/>
            <a:ext cx="5486400" cy="3086100"/>
          </a:xfrm>
          <a:ln/>
        </p:spPr>
      </p:sp>
      <p:sp>
        <p:nvSpPr>
          <p:cNvPr id="216067" name="Notes Placeholder 2">
            <a:extLst>
              <a:ext uri="{FF2B5EF4-FFF2-40B4-BE49-F238E27FC236}">
                <a16:creationId xmlns:a16="http://schemas.microsoft.com/office/drawing/2014/main" id="{53D4B4A4-488D-69D2-9A5B-C9B083FFB1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40F02E49-F005-C36C-207D-F001BA845B96}"/>
              </a:ext>
            </a:extLst>
          </p:cNvPr>
          <p:cNvSpPr>
            <a:spLocks noGrp="1"/>
          </p:cNvSpPr>
          <p:nvPr>
            <p:ph type="sldNum" sz="quarter" idx="5"/>
          </p:nvPr>
        </p:nvSpPr>
        <p:spPr/>
        <p:txBody>
          <a:bodyPr/>
          <a:lstStyle/>
          <a:p>
            <a:pPr algn="r" rtl="0" fontAlgn="auto">
              <a:spcBef>
                <a:spcPts val="0"/>
              </a:spcBef>
              <a:spcAft>
                <a:spcPts val="0"/>
              </a:spcAft>
              <a:defRPr/>
            </a:pPr>
            <a:fld id="{AF10E922-9527-4EBC-AF00-C6EAA99F038B}" type="slidenum">
              <a:rPr lang="en-US" smtClean="0">
                <a:solidFill>
                  <a:prstClr val="black"/>
                </a:solidFill>
                <a:latin typeface="Calibri" panose="020F0502020204030204"/>
                <a:cs typeface="+mn-cs"/>
              </a:rPr>
              <a:pPr algn="r" rtl="0" fontAlgn="auto">
                <a:spcBef>
                  <a:spcPts val="0"/>
                </a:spcBef>
                <a:spcAft>
                  <a:spcPts val="0"/>
                </a:spcAft>
                <a:defRPr/>
              </a:pPr>
              <a:t>26</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33109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65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058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832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44442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850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925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63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82460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fld id="{5137BD0D-AF44-4EF4-B0BC-3F954D96C8A3}" type="datetime1">
              <a:rPr lang="en-US"/>
              <a:pPr>
                <a:defRPr/>
              </a:pPr>
              <a:t>10/4/2023</a:t>
            </a:fld>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384396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10/4/2023</a:t>
            </a:fld>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53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BE479017-3D59-1D28-8765-1BF53905E1AF}"/>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72035" name="Title 1">
            <a:extLst>
              <a:ext uri="{FF2B5EF4-FFF2-40B4-BE49-F238E27FC236}">
                <a16:creationId xmlns:a16="http://schemas.microsoft.com/office/drawing/2014/main" id="{12386A15-AA16-151B-874A-B2B4D174B2A9}"/>
              </a:ext>
            </a:extLst>
          </p:cNvPr>
          <p:cNvSpPr>
            <a:spLocks noGrp="1" noChangeArrowheads="1"/>
          </p:cNvSpPr>
          <p:nvPr>
            <p:ph type="ctrTitle"/>
          </p:nvPr>
        </p:nvSpPr>
        <p:spPr/>
        <p:txBody>
          <a:bodyPr anchor="ctr"/>
          <a:lstStyle/>
          <a:p>
            <a:pPr eaLnBrk="1" hangingPunct="1"/>
            <a:r>
              <a:rPr lang="en-US" altLang="ar-IQ" dirty="0"/>
              <a:t>Measurement of Growth and Development</a:t>
            </a:r>
            <a:endParaRPr lang="en-US" altLang="ar-IQ" sz="1800" dirty="0">
              <a:latin typeface="Segoe UI Semibold" panose="020B0702040204020203" pitchFamily="34" charset="0"/>
              <a:cs typeface="Segoe UI Semibold" panose="020B0702040204020203" pitchFamily="34" charset="0"/>
            </a:endParaRPr>
          </a:p>
        </p:txBody>
      </p:sp>
      <p:sp>
        <p:nvSpPr>
          <p:cNvPr id="2" name="عنوان فرعي 1">
            <a:extLst>
              <a:ext uri="{FF2B5EF4-FFF2-40B4-BE49-F238E27FC236}">
                <a16:creationId xmlns:a16="http://schemas.microsoft.com/office/drawing/2014/main" id="{FAC87584-E562-6F35-069F-20EAD21A7BCF}"/>
              </a:ext>
            </a:extLst>
          </p:cNvPr>
          <p:cNvSpPr>
            <a:spLocks noGrp="1"/>
          </p:cNvSpPr>
          <p:nvPr>
            <p:ph type="subTitle" idx="1"/>
          </p:nvPr>
        </p:nvSpPr>
        <p:spPr/>
        <p:txBody>
          <a:bodyPr/>
          <a:lstStyle/>
          <a:p>
            <a:r>
              <a:rPr lang="en-US" dirty="0"/>
              <a:t>Part 2 : Physiologic Measurements</a:t>
            </a:r>
            <a:endParaRPr lang="ar-IQ" dirty="0"/>
          </a:p>
        </p:txBody>
      </p:sp>
      <p:pic>
        <p:nvPicPr>
          <p:cNvPr id="172036" name="Grid" descr="grid plane">
            <a:extLst>
              <a:ext uri="{FF2B5EF4-FFF2-40B4-BE49-F238E27FC236}">
                <a16:creationId xmlns:a16="http://schemas.microsoft.com/office/drawing/2014/main" id="{C4A1D1CB-CCF9-401C-8DB0-FC5E33BE1112}"/>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EC70D72A-2A1A-7DDA-9ED0-A3537D29EFF9}"/>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marL="0" marR="0" lvl="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pPr>
            <a:r>
              <a:rPr kumimoji="0" lang="en-US" altLang="ar-IQ" sz="1200" b="0"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Third Stage</a:t>
            </a:r>
          </a:p>
          <a:p>
            <a:pPr marL="0" marR="0" lvl="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pPr>
            <a:r>
              <a:rPr kumimoji="0" lang="en-US" altLang="ar-IQ" sz="1200" b="0" i="0" u="none" strike="noStrike" kern="1200" cap="none" spc="0" normalizeH="0" baseline="0" noProof="0" dirty="0">
                <a:ln>
                  <a:noFill/>
                </a:ln>
                <a:solidFill>
                  <a:srgbClr val="FFFFFF"/>
                </a:solidFill>
                <a:effectLst/>
                <a:uLnTx/>
                <a:uFillTx/>
                <a:latin typeface="Segoe UI Variable Small Semibol" pitchFamily="2" charset="0"/>
                <a:ea typeface="+mn-ea"/>
                <a:cs typeface="Segoe UI Light" panose="020B0502040204020203" pitchFamily="34" charset="0"/>
              </a:rPr>
              <a:t>Dr. Moustafa Alshammari</a:t>
            </a:r>
          </a:p>
          <a:p>
            <a:pPr marL="0" marR="0" lvl="0" indent="0" algn="l" defTabSz="514350" rtl="0" eaLnBrk="1" fontAlgn="auto" latinLnBrk="0" hangingPunct="1">
              <a:lnSpc>
                <a:spcPct val="100000"/>
              </a:lnSpc>
              <a:spcBef>
                <a:spcPts val="563"/>
              </a:spcBef>
              <a:spcAft>
                <a:spcPts val="0"/>
              </a:spcAft>
              <a:buClrTx/>
              <a:buSzTx/>
              <a:buFont typeface="Arial" panose="020B0604020202020204" pitchFamily="34" charset="0"/>
              <a:buNone/>
              <a:tabLst/>
              <a:defRPr/>
            </a:pPr>
            <a:r>
              <a:rPr kumimoji="0" lang="en-US" altLang="ar-IQ" sz="1200" b="0"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7" y="1536192"/>
            <a:ext cx="8273657" cy="640080"/>
          </a:xfrm>
        </p:spPr>
        <p:txBody>
          <a:bodyPr>
            <a:noAutofit/>
          </a:bodyPr>
          <a:lstStyle/>
          <a:p>
            <a:r>
              <a:rPr lang="en-US" sz="4400" dirty="0"/>
              <a:t>Physiologic measurements</a:t>
            </a:r>
          </a:p>
        </p:txBody>
      </p:sp>
      <p:sp>
        <p:nvSpPr>
          <p:cNvPr id="7" name="Content Placeholder 6"/>
          <p:cNvSpPr>
            <a:spLocks noGrp="1"/>
          </p:cNvSpPr>
          <p:nvPr>
            <p:ph sz="quarter" idx="13"/>
          </p:nvPr>
        </p:nvSpPr>
        <p:spPr>
          <a:xfrm>
            <a:off x="539495" y="2560320"/>
            <a:ext cx="11264577" cy="3792354"/>
          </a:xfrm>
        </p:spPr>
        <p:txBody>
          <a:bodyPr>
            <a:normAutofit fontScale="85000" lnSpcReduction="20000"/>
          </a:bodyPr>
          <a:lstStyle/>
          <a:p>
            <a:pPr marL="0" indent="0">
              <a:lnSpc>
                <a:spcPct val="150000"/>
              </a:lnSpc>
              <a:buNone/>
            </a:pPr>
            <a:r>
              <a:rPr lang="en-US" sz="3600" dirty="0">
                <a:solidFill>
                  <a:schemeClr val="accent6">
                    <a:lumMod val="75000"/>
                  </a:schemeClr>
                </a:solidFill>
                <a:latin typeface="Segoe UI Semibold" panose="020B0702040204020203" pitchFamily="34" charset="0"/>
                <a:cs typeface="Segoe UI Semibold" panose="020B0702040204020203" pitchFamily="34" charset="0"/>
              </a:rPr>
              <a:t>Physiologic measurements</a:t>
            </a:r>
            <a:r>
              <a:rPr lang="en-US" sz="2800" dirty="0">
                <a:solidFill>
                  <a:srgbClr val="3F3F3F"/>
                </a:solidFill>
                <a:latin typeface="+mn-lt"/>
                <a:cs typeface="Segoe UI Semibold" panose="020B0702040204020203" pitchFamily="34" charset="0"/>
              </a:rPr>
              <a:t>, key elements in evaluating physical status of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vital</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functions</a:t>
            </a:r>
            <a:r>
              <a:rPr lang="en-US" sz="2800" dirty="0">
                <a:solidFill>
                  <a:srgbClr val="3F3F3F"/>
                </a:solidFill>
                <a:latin typeface="+mn-lt"/>
                <a:cs typeface="Segoe UI Semibold" panose="020B0702040204020203" pitchFamily="34" charset="0"/>
              </a:rPr>
              <a:t>, include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temperature</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pulse</a:t>
            </a:r>
            <a:r>
              <a:rPr lang="en-US" sz="2800" dirty="0">
                <a:solidFill>
                  <a:srgbClr val="3F3F3F"/>
                </a:solidFill>
                <a:latin typeface="+mn-lt"/>
                <a:cs typeface="Segoe UI Semibold" panose="020B0702040204020203" pitchFamily="34" charset="0"/>
              </a:rPr>
              <a:t>,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respiration</a:t>
            </a:r>
            <a:r>
              <a:rPr lang="en-US" sz="2800" dirty="0">
                <a:solidFill>
                  <a:srgbClr val="3F3F3F"/>
                </a:solidFill>
                <a:latin typeface="+mn-lt"/>
                <a:cs typeface="Segoe UI Semibold" panose="020B0702040204020203" pitchFamily="34" charset="0"/>
              </a:rPr>
              <a:t>, and </a:t>
            </a:r>
            <a:r>
              <a:rPr lang="en-US" sz="3600" dirty="0">
                <a:solidFill>
                  <a:schemeClr val="accent6">
                    <a:lumMod val="75000"/>
                  </a:schemeClr>
                </a:solidFill>
                <a:latin typeface="Segoe UI Semibold" panose="020B0702040204020203" pitchFamily="34" charset="0"/>
                <a:cs typeface="Segoe UI Semibold" panose="020B0702040204020203" pitchFamily="34" charset="0"/>
              </a:rPr>
              <a:t>blood pressure</a:t>
            </a:r>
            <a:r>
              <a:rPr lang="en-US" sz="2800" dirty="0">
                <a:solidFill>
                  <a:srgbClr val="3F3F3F"/>
                </a:solidFill>
                <a:latin typeface="+mn-lt"/>
                <a:cs typeface="Segoe UI Semibold" panose="020B0702040204020203" pitchFamily="34" charset="0"/>
              </a:rPr>
              <a:t>. Compare each physiologic recording with normal values for that age-group. In addition, compare the values taken on preceding health visits with present recordings. For example, a falsely elevated blood pressure reading may not indicate hypertension if previous recent readings have been within normal limits. The isolated recording may indicate some stressful event in the child’s life.</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404040"/>
                </a:solidFill>
                <a:effectLst/>
                <a:uLnTx/>
                <a:uFillTx/>
                <a:latin typeface="Segoe UI"/>
                <a:ea typeface="+mn-ea"/>
                <a:cs typeface="Times New Roman" panose="02020603050405020304" pitchFamily="18" charset="0"/>
              </a:rPr>
              <a:t>(continued)</a:t>
            </a:r>
          </a:p>
        </p:txBody>
      </p:sp>
    </p:spTree>
    <p:extLst>
      <p:ext uri="{BB962C8B-B14F-4D97-AF65-F5344CB8AC3E}">
        <p14:creationId xmlns:p14="http://schemas.microsoft.com/office/powerpoint/2010/main" val="37291112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lnSpcReduction="1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One of the most important influences on the accuracy of temperature is improper temperature-taking technique.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children generally dislike rectal temperature measurement, tympanic thermometers may be used for infants who are more than 3 months old, and oral thermometers may be used for children more than 4 to 5 years old.</a:t>
            </a:r>
          </a:p>
        </p:txBody>
      </p:sp>
      <p:sp>
        <p:nvSpPr>
          <p:cNvPr id="3" name="Title 2"/>
          <p:cNvSpPr>
            <a:spLocks noGrp="1"/>
          </p:cNvSpPr>
          <p:nvPr>
            <p:ph type="title"/>
          </p:nvPr>
        </p:nvSpPr>
        <p:spPr/>
        <p:txBody>
          <a:bodyPr>
            <a:noAutofit/>
          </a:bodyPr>
          <a:lstStyle/>
          <a:p>
            <a:r>
              <a:rPr lang="en-US" sz="4000" dirty="0"/>
              <a:t>Temperature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832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axial route is preferred, but if a rectal temperature is required, carefully insert a well-lubricated thermometer no further than 1/2 to 1 inch to avoid rectal perforation.</a:t>
            </a:r>
          </a:p>
        </p:txBody>
      </p:sp>
      <p:sp>
        <p:nvSpPr>
          <p:cNvPr id="3" name="Title 2"/>
          <p:cNvSpPr>
            <a:spLocks noGrp="1"/>
          </p:cNvSpPr>
          <p:nvPr>
            <p:ph type="title"/>
          </p:nvPr>
        </p:nvSpPr>
        <p:spPr/>
        <p:txBody>
          <a:bodyPr>
            <a:noAutofit/>
          </a:bodyPr>
          <a:lstStyle/>
          <a:p>
            <a:r>
              <a:rPr lang="en-US" sz="4000" dirty="0"/>
              <a:t>Temperature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314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 = (°C × 9/5) + 32, or (°C × 1.8) + 32</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 = (°F - 32) × 5/9, or (°F - 32) × 0.55</a:t>
            </a:r>
          </a:p>
        </p:txBody>
      </p:sp>
      <p:sp>
        <p:nvSpPr>
          <p:cNvPr id="3" name="Title 2"/>
          <p:cNvSpPr>
            <a:spLocks noGrp="1"/>
          </p:cNvSpPr>
          <p:nvPr>
            <p:ph type="title"/>
          </p:nvPr>
        </p:nvSpPr>
        <p:spPr/>
        <p:txBody>
          <a:bodyPr>
            <a:noAutofit/>
          </a:bodyPr>
          <a:lstStyle/>
          <a:p>
            <a:r>
              <a:rPr lang="en-US" sz="4000" dirty="0"/>
              <a:t>Fahrenheit to Centigrade Conversion Formulas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214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 = (°C × 9/5) + 32, or (°C × 1.8) + 32</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 = (°F - 32) × 5/9, or (°F - 32) × 0.55</a:t>
            </a:r>
          </a:p>
        </p:txBody>
      </p:sp>
      <p:sp>
        <p:nvSpPr>
          <p:cNvPr id="3" name="Title 2"/>
          <p:cNvSpPr>
            <a:spLocks noGrp="1"/>
          </p:cNvSpPr>
          <p:nvPr>
            <p:ph type="title"/>
          </p:nvPr>
        </p:nvSpPr>
        <p:spPr/>
        <p:txBody>
          <a:bodyPr>
            <a:noAutofit/>
          </a:bodyPr>
          <a:lstStyle/>
          <a:p>
            <a:r>
              <a:rPr lang="en-US" sz="4000" dirty="0"/>
              <a:t>Fahrenheit to Centigrade Conversion Formulas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042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fontScale="77500" lnSpcReduction="2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Oral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Place tip under tongue in right or left posterior sublingual pocket, not in front of tongue. Have child keep mouth closed without biting on thermometer.</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Pacifier thermometers measure intraoral or </a:t>
            </a:r>
            <a:r>
              <a:rPr lang="en-US" sz="2800" dirty="0" err="1">
                <a:solidFill>
                  <a:srgbClr val="3F3F3F"/>
                </a:solidFill>
                <a:cs typeface="Segoe UI Semibold" panose="020B0702040204020203" pitchFamily="34" charset="0"/>
              </a:rPr>
              <a:t>supralingual</a:t>
            </a:r>
            <a:r>
              <a:rPr lang="en-US" sz="2800" dirty="0">
                <a:solidFill>
                  <a:srgbClr val="3F3F3F"/>
                </a:solidFill>
                <a:cs typeface="Segoe UI Semibold" panose="020B0702040204020203" pitchFamily="34" charset="0"/>
              </a:rPr>
              <a:t> temperature and are available but lack support in the literature.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Several factors affect mouth temperature: eating and mastication, hot or cold beverages, open-mouth breathing, ambient temperature.</a:t>
            </a:r>
          </a:p>
          <a:p>
            <a:pPr marL="1090613" indent="-571500">
              <a:lnSpc>
                <a:spcPct val="150000"/>
              </a:lnSpc>
              <a:buClr>
                <a:schemeClr val="accent6">
                  <a:lumMod val="75000"/>
                </a:schemeClr>
              </a:buClr>
              <a:buSzPct val="100000"/>
              <a:buFont typeface="Wingdings 2" panose="05020102010507070707" pitchFamily="18" charset="2"/>
              <a:buChar char=""/>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صورة 5">
            <a:extLst>
              <a:ext uri="{FF2B5EF4-FFF2-40B4-BE49-F238E27FC236}">
                <a16:creationId xmlns:a16="http://schemas.microsoft.com/office/drawing/2014/main" id="{E138845B-CB8E-1DB2-EDD2-E34F3D5EF3A5}"/>
              </a:ext>
            </a:extLst>
          </p:cNvPr>
          <p:cNvPicPr>
            <a:picLocks noChangeAspect="1"/>
          </p:cNvPicPr>
          <p:nvPr/>
        </p:nvPicPr>
        <p:blipFill>
          <a:blip r:embed="rId3"/>
          <a:stretch>
            <a:fillRect/>
          </a:stretch>
        </p:blipFill>
        <p:spPr>
          <a:xfrm>
            <a:off x="9127374" y="0"/>
            <a:ext cx="3064625" cy="2442123"/>
          </a:xfrm>
          <a:prstGeom prst="rect">
            <a:avLst/>
          </a:prstGeom>
        </p:spPr>
      </p:pic>
    </p:spTree>
    <p:extLst>
      <p:ext uri="{BB962C8B-B14F-4D97-AF65-F5344CB8AC3E}">
        <p14:creationId xmlns:p14="http://schemas.microsoft.com/office/powerpoint/2010/main" val="2422119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99391" cy="5129098"/>
          </a:xfrm>
        </p:spPr>
        <p:txBody>
          <a:bodyPr>
            <a:normAutofit fontScale="85000" lnSpcReduction="2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Axillary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Place tip under arm in center of axilla and keep close to skin,                   not clothing. Hold child’s arm firmly against side.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Temperature may be affected by poor peripheral perfusion (results in lower value), clothing or swaddling, use of radiant warmer, or amount of brown fat in cold-stressed neonate (results in higher value).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Advantage—Avoids intrusive procedure and eliminates risk of rectal perforation.</a:t>
            </a:r>
          </a:p>
          <a:p>
            <a:pPr marL="1090613" indent="-571500">
              <a:lnSpc>
                <a:spcPct val="150000"/>
              </a:lnSpc>
              <a:buClr>
                <a:schemeClr val="accent6">
                  <a:lumMod val="75000"/>
                </a:schemeClr>
              </a:buClr>
              <a:buSzPct val="100000"/>
              <a:buFont typeface="Wingdings 2" panose="05020102010507070707" pitchFamily="18" charset="2"/>
              <a:buChar char=""/>
            </a:pPr>
            <a:endParaRPr lang="en-US" sz="2800" dirty="0">
              <a:solidFill>
                <a:srgbClr val="3F3F3F"/>
              </a:solidFill>
              <a:cs typeface="Segoe UI Semibold" panose="020B0702040204020203" pitchFamily="34" charset="0"/>
            </a:endParaRP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صورة 6">
            <a:extLst>
              <a:ext uri="{FF2B5EF4-FFF2-40B4-BE49-F238E27FC236}">
                <a16:creationId xmlns:a16="http://schemas.microsoft.com/office/drawing/2014/main" id="{1138A949-2FBA-B2C7-0FC5-C9ADC7004D10}"/>
              </a:ext>
            </a:extLst>
          </p:cNvPr>
          <p:cNvPicPr>
            <a:picLocks noChangeAspect="1"/>
          </p:cNvPicPr>
          <p:nvPr/>
        </p:nvPicPr>
        <p:blipFill>
          <a:blip r:embed="rId3"/>
          <a:stretch>
            <a:fillRect/>
          </a:stretch>
        </p:blipFill>
        <p:spPr>
          <a:xfrm>
            <a:off x="10257906" y="0"/>
            <a:ext cx="1928551" cy="2892825"/>
          </a:xfrm>
          <a:prstGeom prst="rect">
            <a:avLst/>
          </a:prstGeom>
        </p:spPr>
      </p:pic>
    </p:spTree>
    <p:extLst>
      <p:ext uri="{BB962C8B-B14F-4D97-AF65-F5344CB8AC3E}">
        <p14:creationId xmlns:p14="http://schemas.microsoft.com/office/powerpoint/2010/main" val="2955508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99391" cy="5129098"/>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Ear Based (Aural) site</a:t>
            </a:r>
          </a:p>
          <a:p>
            <a:pPr marL="1090613" indent="-571500">
              <a:lnSpc>
                <a:spcPct val="150000"/>
              </a:lnSpc>
              <a:buClr>
                <a:schemeClr val="accent6">
                  <a:lumMod val="75000"/>
                </a:schemeClr>
              </a:buClr>
              <a:buSzPct val="100000"/>
              <a:buFont typeface="Wingdings 2" panose="05020102010507070707" pitchFamily="18" charset="2"/>
              <a:buChar char=""/>
              <a:tabLst>
                <a:tab pos="6865938" algn="l"/>
              </a:tabLst>
            </a:pPr>
            <a:r>
              <a:rPr lang="en-US" sz="2800" dirty="0">
                <a:solidFill>
                  <a:srgbClr val="3F3F3F"/>
                </a:solidFill>
                <a:cs typeface="Segoe UI Semibold" panose="020B0702040204020203" pitchFamily="34" charset="0"/>
              </a:rPr>
              <a:t>Insert small infrared probe deeply into canal to allow sensor to obtain measurement. Size of probe (most are 8 mm) may influence accuracy of result. In young children, this may be a problem because of small diameter of canal. Proper placement of ear is controversial related to whether the pinna should be pulled in manner similar to that used during otoscopy.</a:t>
            </a: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صورة 5">
            <a:extLst>
              <a:ext uri="{FF2B5EF4-FFF2-40B4-BE49-F238E27FC236}">
                <a16:creationId xmlns:a16="http://schemas.microsoft.com/office/drawing/2014/main" id="{D3F3F387-6D98-2660-B62D-795A26E4F332}"/>
              </a:ext>
            </a:extLst>
          </p:cNvPr>
          <p:cNvPicPr>
            <a:picLocks noChangeAspect="1"/>
          </p:cNvPicPr>
          <p:nvPr/>
        </p:nvPicPr>
        <p:blipFill>
          <a:blip r:embed="rId3"/>
          <a:stretch>
            <a:fillRect/>
          </a:stretch>
        </p:blipFill>
        <p:spPr>
          <a:xfrm>
            <a:off x="8567651" y="-4640"/>
            <a:ext cx="3624349" cy="2402061"/>
          </a:xfrm>
          <a:prstGeom prst="rect">
            <a:avLst/>
          </a:prstGeom>
        </p:spPr>
      </p:pic>
    </p:spTree>
    <p:extLst>
      <p:ext uri="{BB962C8B-B14F-4D97-AF65-F5344CB8AC3E}">
        <p14:creationId xmlns:p14="http://schemas.microsoft.com/office/powerpoint/2010/main" val="3535623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604210"/>
            <a:ext cx="11299391" cy="5129098"/>
          </a:xfrm>
        </p:spPr>
        <p:txBody>
          <a:bodyPr>
            <a:normAutofit fontScale="92500" lnSpcReduction="1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Rectal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Place well-lubricated tip at maximum 2.5 cm (1 inch) into rectum for children and 1.5 cm (0.6 inch) for infants; securely hold thermometer close to anus.</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Child may be placed in side-lying, supine, or prone position (i.e., supine with knees flexed toward abdomen); cover penis because procedure may stimulate urination. A small child may be placed prone across parent’s lap.</a:t>
            </a: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صورة 12">
            <a:extLst>
              <a:ext uri="{FF2B5EF4-FFF2-40B4-BE49-F238E27FC236}">
                <a16:creationId xmlns:a16="http://schemas.microsoft.com/office/drawing/2014/main" id="{B53C2EB6-D47B-89F4-230E-E42D133EAF29}"/>
              </a:ext>
            </a:extLst>
          </p:cNvPr>
          <p:cNvPicPr>
            <a:picLocks noChangeAspect="1"/>
          </p:cNvPicPr>
          <p:nvPr/>
        </p:nvPicPr>
        <p:blipFill>
          <a:blip r:embed="rId3"/>
          <a:stretch>
            <a:fillRect/>
          </a:stretch>
        </p:blipFill>
        <p:spPr>
          <a:xfrm>
            <a:off x="10041775" y="-37974"/>
            <a:ext cx="2150225" cy="1691062"/>
          </a:xfrm>
          <a:prstGeom prst="rect">
            <a:avLst/>
          </a:prstGeom>
        </p:spPr>
      </p:pic>
    </p:spTree>
    <p:extLst>
      <p:ext uri="{BB962C8B-B14F-4D97-AF65-F5344CB8AC3E}">
        <p14:creationId xmlns:p14="http://schemas.microsoft.com/office/powerpoint/2010/main" val="119414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99391" cy="5129098"/>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b="1" i="1" u="sng" dirty="0">
                <a:solidFill>
                  <a:srgbClr val="3F3F3F"/>
                </a:solidFill>
                <a:cs typeface="Segoe UI Semibold" panose="020B0702040204020203" pitchFamily="34" charset="0"/>
              </a:rPr>
              <a:t>Temporal Artery site</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An infrared sensor probe scans across forehead, capturing heat from arterial blood flow.</a:t>
            </a:r>
          </a:p>
          <a:p>
            <a:pPr marL="1033463" indent="-514350">
              <a:lnSpc>
                <a:spcPct val="150000"/>
              </a:lnSpc>
              <a:buClr>
                <a:schemeClr val="accent6">
                  <a:lumMod val="75000"/>
                </a:schemeClr>
              </a:buClr>
              <a:buSzPct val="100000"/>
              <a:buFont typeface="+mj-lt"/>
              <a:buAutoNum type="arabicPeriod"/>
            </a:pPr>
            <a:r>
              <a:rPr lang="en-US" sz="2800" dirty="0">
                <a:solidFill>
                  <a:srgbClr val="3F3F3F"/>
                </a:solidFill>
                <a:cs typeface="Segoe UI Semibold" panose="020B0702040204020203" pitchFamily="34" charset="0"/>
              </a:rPr>
              <a:t>Temporal artery is only artery close enough to skin’s surface to provide access for accurate temperature measurement.</a:t>
            </a:r>
          </a:p>
        </p:txBody>
      </p:sp>
      <p:sp>
        <p:nvSpPr>
          <p:cNvPr id="3" name="Title 2"/>
          <p:cNvSpPr>
            <a:spLocks noGrp="1"/>
          </p:cNvSpPr>
          <p:nvPr>
            <p:ph type="title"/>
          </p:nvPr>
        </p:nvSpPr>
        <p:spPr>
          <a:xfrm>
            <a:off x="604434" y="315884"/>
            <a:ext cx="7375784" cy="880507"/>
          </a:xfrm>
        </p:spPr>
        <p:txBody>
          <a:bodyPr>
            <a:noAutofit/>
          </a:bodyPr>
          <a:lstStyle/>
          <a:p>
            <a:r>
              <a:rPr lang="en-US" sz="4000" dirty="0"/>
              <a:t>Temperature measurement locations for infants and children: </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صورة 8">
            <a:extLst>
              <a:ext uri="{FF2B5EF4-FFF2-40B4-BE49-F238E27FC236}">
                <a16:creationId xmlns:a16="http://schemas.microsoft.com/office/drawing/2014/main" id="{8962D5E7-3042-6CCE-2FD5-EC43B432E007}"/>
              </a:ext>
            </a:extLst>
          </p:cNvPr>
          <p:cNvPicPr>
            <a:picLocks noChangeAspect="1"/>
          </p:cNvPicPr>
          <p:nvPr/>
        </p:nvPicPr>
        <p:blipFill>
          <a:blip r:embed="rId3"/>
          <a:stretch>
            <a:fillRect/>
          </a:stretch>
        </p:blipFill>
        <p:spPr>
          <a:xfrm>
            <a:off x="8761614" y="-4636"/>
            <a:ext cx="3430385" cy="2621667"/>
          </a:xfrm>
          <a:prstGeom prst="rect">
            <a:avLst/>
          </a:prstGeom>
        </p:spPr>
      </p:pic>
    </p:spTree>
    <p:extLst>
      <p:ext uri="{BB962C8B-B14F-4D97-AF65-F5344CB8AC3E}">
        <p14:creationId xmlns:p14="http://schemas.microsoft.com/office/powerpoint/2010/main" val="3009710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0817253"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mercury glass thermometers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Digital Thermometer / Electronic Thermometer</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Infrared Thermometer</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Ear-Based Temperature Sensor</a:t>
            </a:r>
          </a:p>
        </p:txBody>
      </p:sp>
      <p:sp>
        <p:nvSpPr>
          <p:cNvPr id="3" name="Title 2"/>
          <p:cNvSpPr>
            <a:spLocks noGrp="1"/>
          </p:cNvSpPr>
          <p:nvPr>
            <p:ph type="title"/>
          </p:nvPr>
        </p:nvSpPr>
        <p:spPr/>
        <p:txBody>
          <a:bodyPr>
            <a:noAutofit/>
          </a:bodyPr>
          <a:lstStyle/>
          <a:p>
            <a:r>
              <a:rPr lang="en-US" sz="4000" dirty="0"/>
              <a:t>Type of thermometer</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44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The belief that core temperature can be estimated by adding 1° C to the temperature taken in the axilla is incorrect. Do not add a degree to the finding obtained by taking a temperature by the axillary route.</a:t>
            </a:r>
          </a:p>
        </p:txBody>
      </p:sp>
      <p:sp>
        <p:nvSpPr>
          <p:cNvPr id="3" name="Title 2"/>
          <p:cNvSpPr>
            <a:spLocks noGrp="1"/>
          </p:cNvSpPr>
          <p:nvPr>
            <p:ph type="title"/>
          </p:nvPr>
        </p:nvSpPr>
        <p:spPr/>
        <p:txBody>
          <a:bodyPr>
            <a:noAutofit/>
          </a:bodyPr>
          <a:lstStyle/>
          <a:p>
            <a:r>
              <a:rPr lang="en-US" sz="4000" dirty="0"/>
              <a:t>NURSING ALERT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60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 satisfactory pulse can be taken radially in children older than 2 years of age. However, in infants and young children, the apical impulse (heard through a stethoscope held to the chest at the apex of the heart) is more reliable.</a:t>
            </a:r>
          </a:p>
        </p:txBody>
      </p:sp>
      <p:sp>
        <p:nvSpPr>
          <p:cNvPr id="3" name="Title 2"/>
          <p:cNvSpPr>
            <a:spLocks noGrp="1"/>
          </p:cNvSpPr>
          <p:nvPr>
            <p:ph type="title"/>
          </p:nvPr>
        </p:nvSpPr>
        <p:spPr/>
        <p:txBody>
          <a:bodyPr>
            <a:noAutofit/>
          </a:bodyPr>
          <a:lstStyle/>
          <a:p>
            <a:r>
              <a:rPr lang="en-US" sz="4000" dirty="0"/>
              <a:t>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825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Count the pulse for 1 full minute in infants and young children because of possible irregularities in rhythm.</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Compare radial and femoral pulses at least once during infancy to detect the presence of circulatory impairment, such as coarctation of the aorta.</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the range of pulse 120 to 140 beats/min</a:t>
            </a:r>
          </a:p>
        </p:txBody>
      </p:sp>
      <p:sp>
        <p:nvSpPr>
          <p:cNvPr id="3" name="Title 2"/>
          <p:cNvSpPr>
            <a:spLocks noGrp="1"/>
          </p:cNvSpPr>
          <p:nvPr>
            <p:ph type="title"/>
          </p:nvPr>
        </p:nvSpPr>
        <p:spPr/>
        <p:txBody>
          <a:bodyPr>
            <a:noAutofit/>
          </a:bodyPr>
          <a:lstStyle/>
          <a:p>
            <a:r>
              <a:rPr lang="en-US" sz="4000" dirty="0"/>
              <a:t>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321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Auscultate the apical pulse by using the diaphragm of the stethoscope over the point of maximal intensity (PMI), The PMI is located just left of the midclavicular line at the fourth intercostal space in children less than 7 years old and at the fifth intercostal space in older children.</a:t>
            </a:r>
          </a:p>
        </p:txBody>
      </p:sp>
      <p:sp>
        <p:nvSpPr>
          <p:cNvPr id="3" name="Title 2"/>
          <p:cNvSpPr>
            <a:spLocks noGrp="1"/>
          </p:cNvSpPr>
          <p:nvPr>
            <p:ph type="title"/>
          </p:nvPr>
        </p:nvSpPr>
        <p:spPr/>
        <p:txBody>
          <a:bodyPr>
            <a:noAutofit/>
          </a:bodyPr>
          <a:lstStyle/>
          <a:p>
            <a:r>
              <a:rPr lang="en-US" sz="4000" dirty="0"/>
              <a:t>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144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000" dirty="0"/>
              <a:t>Locations of pulse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image56.jpeg">
            <a:extLst>
              <a:ext uri="{FF2B5EF4-FFF2-40B4-BE49-F238E27FC236}">
                <a16:creationId xmlns:a16="http://schemas.microsoft.com/office/drawing/2014/main" id="{A882C1D9-8366-7D85-CF78-AE960944976E}"/>
              </a:ext>
            </a:extLst>
          </p:cNvPr>
          <p:cNvPicPr>
            <a:picLocks noGrp="1" noChangeAspect="1"/>
          </p:cNvPicPr>
          <p:nvPr>
            <p:ph idx="1"/>
          </p:nvPr>
        </p:nvPicPr>
        <p:blipFill>
          <a:blip r:embed="rId3" cstate="print"/>
          <a:stretch>
            <a:fillRect/>
          </a:stretch>
        </p:blipFill>
        <p:spPr>
          <a:xfrm>
            <a:off x="5647112" y="79645"/>
            <a:ext cx="3729644" cy="6553910"/>
          </a:xfrm>
          <a:prstGeom prst="rect">
            <a:avLst/>
          </a:prstGeom>
        </p:spPr>
      </p:pic>
    </p:spTree>
    <p:extLst>
      <p:ext uri="{BB962C8B-B14F-4D97-AF65-F5344CB8AC3E}">
        <p14:creationId xmlns:p14="http://schemas.microsoft.com/office/powerpoint/2010/main" val="2567408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At birth, respiratory rate average 30 to 60 breaths/min.</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Respirations also should be measured before an infant is disturbed because the respiratory rate increases with crying.</a:t>
            </a:r>
          </a:p>
        </p:txBody>
      </p:sp>
      <p:sp>
        <p:nvSpPr>
          <p:cNvPr id="3" name="Title 2"/>
          <p:cNvSpPr>
            <a:spLocks noGrp="1"/>
          </p:cNvSpPr>
          <p:nvPr>
            <p:ph type="title"/>
          </p:nvPr>
        </p:nvSpPr>
        <p:spPr/>
        <p:txBody>
          <a:bodyPr>
            <a:noAutofit/>
          </a:bodyPr>
          <a:lstStyle/>
          <a:p>
            <a:r>
              <a:rPr lang="en-US" sz="4000" dirty="0"/>
              <a:t>Respiration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079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Take this while a child is sitting in a parent’s lap or lying quietly in a crib before lowering the side rail if possible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Infants tend to breathe with their abdominal muscles; therefore, it is as accurate to take respirations by counting movements of the abdomen as it is to count chest movements.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Count respirations for 1 full minute.</a:t>
            </a:r>
          </a:p>
        </p:txBody>
      </p:sp>
      <p:sp>
        <p:nvSpPr>
          <p:cNvPr id="3" name="Title 2"/>
          <p:cNvSpPr>
            <a:spLocks noGrp="1"/>
          </p:cNvSpPr>
          <p:nvPr>
            <p:ph type="title"/>
          </p:nvPr>
        </p:nvSpPr>
        <p:spPr/>
        <p:txBody>
          <a:bodyPr>
            <a:noAutofit/>
          </a:bodyPr>
          <a:lstStyle/>
          <a:p>
            <a:r>
              <a:rPr lang="en-US" sz="4000" dirty="0"/>
              <a:t>Respiration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848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Take this while a child is sitting in a parent’s lap or lying quietly in a crib before lowering the side rail if possible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Infants tend to breathe with their abdominal muscles; therefore, it is as accurate to take respirations by counting movements of the abdomen as it is to count chest movements.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Count respirations for 1 full minute.</a:t>
            </a:r>
          </a:p>
        </p:txBody>
      </p:sp>
      <p:sp>
        <p:nvSpPr>
          <p:cNvPr id="3" name="Title 2"/>
          <p:cNvSpPr>
            <a:spLocks noGrp="1"/>
          </p:cNvSpPr>
          <p:nvPr>
            <p:ph type="title"/>
          </p:nvPr>
        </p:nvSpPr>
        <p:spPr/>
        <p:txBody>
          <a:bodyPr>
            <a:noAutofit/>
          </a:bodyPr>
          <a:lstStyle/>
          <a:p>
            <a:r>
              <a:rPr lang="en-US" sz="4000" dirty="0"/>
              <a:t>Respiration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7399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Blood pressure is included in the routine physical assessment of all children older than 3 years of age.</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Blood pressure is difficult to measure in infants because of mechanical problems.</a:t>
            </a:r>
          </a:p>
        </p:txBody>
      </p:sp>
      <p:sp>
        <p:nvSpPr>
          <p:cNvPr id="3" name="Title 2"/>
          <p:cNvSpPr>
            <a:spLocks noGrp="1"/>
          </p:cNvSpPr>
          <p:nvPr>
            <p:ph type="title"/>
          </p:nvPr>
        </p:nvSpPr>
        <p:spPr/>
        <p:txBody>
          <a:bodyPr>
            <a:noAutofit/>
          </a:bodyPr>
          <a:lstStyle/>
          <a:p>
            <a:r>
              <a:rPr lang="en-US" sz="4000" dirty="0"/>
              <a:t>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557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For healthy term infants, blood pressure average 70-65/45 mm Hg.</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Because measurement of blood pressure in a newborn is somewhat inaccurate, it is not routinely measured unless a cardiac anomaly is suspected, renal disorder such as, nephrotic syndrome and nephritis.</a:t>
            </a:r>
          </a:p>
        </p:txBody>
      </p:sp>
      <p:sp>
        <p:nvSpPr>
          <p:cNvPr id="3" name="Title 2"/>
          <p:cNvSpPr>
            <a:spLocks noGrp="1"/>
          </p:cNvSpPr>
          <p:nvPr>
            <p:ph type="title"/>
          </p:nvPr>
        </p:nvSpPr>
        <p:spPr/>
        <p:txBody>
          <a:bodyPr>
            <a:noAutofit/>
          </a:bodyPr>
          <a:lstStyle/>
          <a:p>
            <a:r>
              <a:rPr lang="en-US" sz="4000" dirty="0"/>
              <a:t>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88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عنصر نائب للمحتوى 5">
            <a:extLst>
              <a:ext uri="{FF2B5EF4-FFF2-40B4-BE49-F238E27FC236}">
                <a16:creationId xmlns:a16="http://schemas.microsoft.com/office/drawing/2014/main" id="{5C0FC1C7-A577-4C08-EDBA-D42BC5699882}"/>
              </a:ext>
            </a:extLst>
          </p:cNvPr>
          <p:cNvPicPr>
            <a:picLocks noGrp="1" noChangeAspect="1"/>
          </p:cNvPicPr>
          <p:nvPr>
            <p:ph idx="1"/>
          </p:nvPr>
        </p:nvPicPr>
        <p:blipFill>
          <a:blip r:embed="rId3"/>
          <a:stretch>
            <a:fillRect/>
          </a:stretch>
        </p:blipFill>
        <p:spPr>
          <a:xfrm>
            <a:off x="1670800" y="1196391"/>
            <a:ext cx="9134475" cy="2544335"/>
          </a:xfrm>
        </p:spPr>
      </p:pic>
      <p:sp>
        <p:nvSpPr>
          <p:cNvPr id="3" name="Title 2"/>
          <p:cNvSpPr>
            <a:spLocks noGrp="1"/>
          </p:cNvSpPr>
          <p:nvPr>
            <p:ph type="title"/>
          </p:nvPr>
        </p:nvSpPr>
        <p:spPr/>
        <p:txBody>
          <a:bodyPr>
            <a:noAutofit/>
          </a:bodyPr>
          <a:lstStyle/>
          <a:p>
            <a:r>
              <a:rPr lang="en-US" sz="4000" dirty="0"/>
              <a:t>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مربع نص 7">
            <a:extLst>
              <a:ext uri="{FF2B5EF4-FFF2-40B4-BE49-F238E27FC236}">
                <a16:creationId xmlns:a16="http://schemas.microsoft.com/office/drawing/2014/main" id="{56D7CD2F-8237-4350-EB33-88E7E900FDD7}"/>
              </a:ext>
            </a:extLst>
          </p:cNvPr>
          <p:cNvSpPr txBox="1"/>
          <p:nvPr/>
        </p:nvSpPr>
        <p:spPr>
          <a:xfrm>
            <a:off x="199505" y="3740726"/>
            <a:ext cx="11737572" cy="2804999"/>
          </a:xfrm>
          <a:prstGeom prst="rect">
            <a:avLst/>
          </a:prstGeom>
          <a:noFill/>
        </p:spPr>
        <p:txBody>
          <a:bodyPr wrap="square">
            <a:spAutoFit/>
          </a:bodyPr>
          <a:lstStyle/>
          <a:p>
            <a:pPr marL="519113" algn="just">
              <a:lnSpc>
                <a:spcPct val="150000"/>
              </a:lnSpc>
              <a:spcBef>
                <a:spcPts val="1000"/>
              </a:spcBef>
              <a:spcAft>
                <a:spcPts val="1200"/>
              </a:spcAft>
              <a:buClr>
                <a:schemeClr val="accent6">
                  <a:lumMod val="75000"/>
                </a:schemeClr>
              </a:buClr>
              <a:buSzPct val="100000"/>
            </a:pPr>
            <a:r>
              <a:rPr lang="en-US" sz="2000" dirty="0">
                <a:solidFill>
                  <a:srgbClr val="3F3F3F"/>
                </a:solidFill>
                <a:cs typeface="Segoe UI Semibold" panose="020B0702040204020203" pitchFamily="34" charset="0"/>
              </a:rPr>
              <a:t>Determination of proper cuff size.</a:t>
            </a:r>
            <a:r>
              <a:rPr lang="en-US" sz="2000" b="1" dirty="0">
                <a:solidFill>
                  <a:srgbClr val="3F3F3F"/>
                </a:solidFill>
                <a:cs typeface="Segoe UI Semibold" panose="020B0702040204020203" pitchFamily="34" charset="0"/>
              </a:rPr>
              <a:t> A, </a:t>
            </a:r>
            <a:r>
              <a:rPr lang="en-US" sz="2000" dirty="0">
                <a:solidFill>
                  <a:srgbClr val="3F3F3F"/>
                </a:solidFill>
                <a:cs typeface="Segoe UI Semibold" panose="020B0702040204020203" pitchFamily="34" charset="0"/>
              </a:rPr>
              <a:t>Cuff bladder width should be approximately 40%  of circumference of arm measured at a point midway between olecranon and acromion. </a:t>
            </a:r>
            <a:r>
              <a:rPr lang="en-US" sz="2000" b="1" dirty="0">
                <a:solidFill>
                  <a:srgbClr val="3F3F3F"/>
                </a:solidFill>
                <a:cs typeface="Segoe UI Semibold" panose="020B0702040204020203" pitchFamily="34" charset="0"/>
              </a:rPr>
              <a:t>B</a:t>
            </a:r>
            <a:r>
              <a:rPr lang="en-US" sz="2000" dirty="0">
                <a:solidFill>
                  <a:srgbClr val="3F3F3F"/>
                </a:solidFill>
                <a:cs typeface="Segoe UI Semibold" panose="020B0702040204020203" pitchFamily="34" charset="0"/>
              </a:rPr>
              <a:t>, Cuff  bladder length should cover 80% to 100% of circumference of arm. </a:t>
            </a:r>
            <a:r>
              <a:rPr lang="en-US" sz="2000" b="1" dirty="0">
                <a:solidFill>
                  <a:srgbClr val="3F3F3F"/>
                </a:solidFill>
                <a:cs typeface="Segoe UI Semibold" panose="020B0702040204020203" pitchFamily="34" charset="0"/>
              </a:rPr>
              <a:t>C</a:t>
            </a:r>
            <a:r>
              <a:rPr lang="en-US" sz="2000" dirty="0">
                <a:solidFill>
                  <a:srgbClr val="3F3F3F"/>
                </a:solidFill>
                <a:cs typeface="Segoe UI Semibold" panose="020B0702040204020203" pitchFamily="34" charset="0"/>
              </a:rPr>
              <a:t>, Blood pressure should be measured with cubital fossa at heart level. Arm should be supported. Stethoscope bell is placed over brachial artery pulse, proximal and medial to cubital fossa and below bottom edge  of cuff.</a:t>
            </a:r>
            <a:endParaRPr lang="ar-IQ" sz="2000" dirty="0">
              <a:solidFill>
                <a:srgbClr val="3F3F3F"/>
              </a:solidFill>
              <a:cs typeface="Segoe UI Semibold" panose="020B0702040204020203" pitchFamily="34" charset="0"/>
            </a:endParaRPr>
          </a:p>
        </p:txBody>
      </p:sp>
    </p:spTree>
    <p:extLst>
      <p:ext uri="{BB962C8B-B14F-4D97-AF65-F5344CB8AC3E}">
        <p14:creationId xmlns:p14="http://schemas.microsoft.com/office/powerpoint/2010/main" val="477369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43975" y="4584583"/>
            <a:ext cx="10972800" cy="1824789"/>
          </a:xfrm>
        </p:spPr>
        <p:txBody>
          <a:bodyPr>
            <a:normAutofit/>
          </a:bodyPr>
          <a:lstStyle/>
          <a:p>
            <a:pPr marL="519113" algn="ctr">
              <a:lnSpc>
                <a:spcPct val="150000"/>
              </a:lnSpc>
              <a:buClr>
                <a:schemeClr val="accent6">
                  <a:lumMod val="75000"/>
                </a:schemeClr>
              </a:buClr>
              <a:buSzPct val="100000"/>
              <a:buNone/>
            </a:pPr>
            <a:r>
              <a:rPr lang="en-US" sz="2800" dirty="0">
                <a:solidFill>
                  <a:srgbClr val="3F3F3F"/>
                </a:solidFill>
                <a:cs typeface="Segoe UI Semibold" panose="020B0702040204020203" pitchFamily="34" charset="0"/>
              </a:rPr>
              <a:t>Sites for measuring blood pressure. </a:t>
            </a:r>
            <a:r>
              <a:rPr lang="en-US" sz="2800" b="1" dirty="0">
                <a:solidFill>
                  <a:srgbClr val="3F3F3F"/>
                </a:solidFill>
                <a:cs typeface="Segoe UI Semibold" panose="020B0702040204020203" pitchFamily="34" charset="0"/>
              </a:rPr>
              <a:t>A</a:t>
            </a:r>
            <a:r>
              <a:rPr lang="en-US" sz="2800" dirty="0">
                <a:solidFill>
                  <a:srgbClr val="3F3F3F"/>
                </a:solidFill>
                <a:cs typeface="Segoe UI Semibold" panose="020B0702040204020203" pitchFamily="34" charset="0"/>
              </a:rPr>
              <a:t>, Upper arm.  </a:t>
            </a:r>
            <a:r>
              <a:rPr lang="en-US" sz="2800" b="1" dirty="0">
                <a:solidFill>
                  <a:srgbClr val="3F3F3F"/>
                </a:solidFill>
                <a:cs typeface="Segoe UI Semibold" panose="020B0702040204020203" pitchFamily="34" charset="0"/>
              </a:rPr>
              <a:t>B</a:t>
            </a:r>
            <a:r>
              <a:rPr lang="en-US" sz="2800" dirty="0">
                <a:solidFill>
                  <a:srgbClr val="3F3F3F"/>
                </a:solidFill>
                <a:cs typeface="Segoe UI Semibold" panose="020B0702040204020203" pitchFamily="34" charset="0"/>
              </a:rPr>
              <a:t>, Lower arm or forearm. </a:t>
            </a:r>
            <a:r>
              <a:rPr lang="en-US" sz="2800" b="1" dirty="0">
                <a:solidFill>
                  <a:srgbClr val="3F3F3F"/>
                </a:solidFill>
                <a:cs typeface="Segoe UI Semibold" panose="020B0702040204020203" pitchFamily="34" charset="0"/>
              </a:rPr>
              <a:t>C</a:t>
            </a:r>
            <a:r>
              <a:rPr lang="en-US" sz="2800" dirty="0">
                <a:solidFill>
                  <a:srgbClr val="3F3F3F"/>
                </a:solidFill>
                <a:cs typeface="Segoe UI Semibold" panose="020B0702040204020203" pitchFamily="34" charset="0"/>
              </a:rPr>
              <a:t>, Thigh. </a:t>
            </a:r>
            <a:r>
              <a:rPr lang="en-US" sz="2800" b="1" dirty="0">
                <a:solidFill>
                  <a:srgbClr val="3F3F3F"/>
                </a:solidFill>
                <a:cs typeface="Segoe UI Semibold" panose="020B0702040204020203" pitchFamily="34" charset="0"/>
              </a:rPr>
              <a:t>D</a:t>
            </a:r>
            <a:r>
              <a:rPr lang="en-US" sz="2800" dirty="0">
                <a:solidFill>
                  <a:srgbClr val="3F3F3F"/>
                </a:solidFill>
                <a:cs typeface="Segoe UI Semibold" panose="020B0702040204020203" pitchFamily="34" charset="0"/>
              </a:rPr>
              <a:t>, Calf or ankle. </a:t>
            </a:r>
          </a:p>
        </p:txBody>
      </p:sp>
      <p:sp>
        <p:nvSpPr>
          <p:cNvPr id="3" name="Title 2"/>
          <p:cNvSpPr>
            <a:spLocks noGrp="1"/>
          </p:cNvSpPr>
          <p:nvPr>
            <p:ph type="title"/>
          </p:nvPr>
        </p:nvSpPr>
        <p:spPr/>
        <p:txBody>
          <a:bodyPr>
            <a:noAutofit/>
          </a:bodyPr>
          <a:lstStyle/>
          <a:p>
            <a:r>
              <a:rPr lang="en-US" sz="4000" dirty="0"/>
              <a:t>Sites for measuring blood pressure</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صورة 7">
            <a:extLst>
              <a:ext uri="{FF2B5EF4-FFF2-40B4-BE49-F238E27FC236}">
                <a16:creationId xmlns:a16="http://schemas.microsoft.com/office/drawing/2014/main" id="{AF3CEE8F-CB8B-76D9-4015-61563DDE569F}"/>
              </a:ext>
            </a:extLst>
          </p:cNvPr>
          <p:cNvPicPr>
            <a:picLocks noChangeAspect="1"/>
          </p:cNvPicPr>
          <p:nvPr/>
        </p:nvPicPr>
        <p:blipFill>
          <a:blip r:embed="rId3"/>
          <a:stretch>
            <a:fillRect/>
          </a:stretch>
        </p:blipFill>
        <p:spPr>
          <a:xfrm>
            <a:off x="3619395" y="1429147"/>
            <a:ext cx="4971012" cy="3081269"/>
          </a:xfrm>
          <a:prstGeom prst="rect">
            <a:avLst/>
          </a:prstGeom>
        </p:spPr>
      </p:pic>
    </p:spTree>
    <p:extLst>
      <p:ext uri="{BB962C8B-B14F-4D97-AF65-F5344CB8AC3E}">
        <p14:creationId xmlns:p14="http://schemas.microsoft.com/office/powerpoint/2010/main" val="2946036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3" y="1604211"/>
            <a:ext cx="11232891" cy="4572752"/>
          </a:xfrm>
        </p:spPr>
        <p:txBody>
          <a:bodyPr>
            <a:normAutofit fontScale="92500" lnSpcReduction="20000"/>
          </a:bodyPr>
          <a:lstStyle/>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When taking BP, use an appropriately sized cuff. When the correct size is not available, use an oversized cuff rather than an undersized one, or use another site that more appropriately fits the cuff size. Do not choose a cuff based on the name of the cuff (e.g., an “infant” cuff may be too small for some infants).</a:t>
            </a:r>
          </a:p>
          <a:p>
            <a:pPr marL="1090613" indent="-571500">
              <a:lnSpc>
                <a:spcPct val="150000"/>
              </a:lnSpc>
              <a:buClr>
                <a:schemeClr val="accent6">
                  <a:lumMod val="75000"/>
                </a:schemeClr>
              </a:buClr>
              <a:buSzPct val="100000"/>
              <a:buFont typeface="Wingdings 2" panose="05020102010507070707" pitchFamily="18" charset="2"/>
              <a:buChar char=""/>
            </a:pPr>
            <a:r>
              <a:rPr lang="en-US" sz="2800" dirty="0">
                <a:solidFill>
                  <a:srgbClr val="3F3F3F"/>
                </a:solidFill>
                <a:cs typeface="Segoe UI Semibold" panose="020B0702040204020203" pitchFamily="34" charset="0"/>
              </a:rPr>
              <a:t>Compare BP in the upper and lower extremities to detect abnormalities, such as coarctation of the aorta, in which the lower-extremity pressure is less than the upper-extremity pressure.</a:t>
            </a:r>
          </a:p>
        </p:txBody>
      </p:sp>
      <p:sp>
        <p:nvSpPr>
          <p:cNvPr id="3" name="Title 2"/>
          <p:cNvSpPr>
            <a:spLocks noGrp="1"/>
          </p:cNvSpPr>
          <p:nvPr>
            <p:ph type="title"/>
          </p:nvPr>
        </p:nvSpPr>
        <p:spPr/>
        <p:txBody>
          <a:bodyPr>
            <a:noAutofit/>
          </a:bodyPr>
          <a:lstStyle/>
          <a:p>
            <a:r>
              <a:rPr lang="en-US" sz="4000" dirty="0"/>
              <a:t>NURSING ALERT</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5700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2BFA77-7F13-59F8-014E-C1C67DC6EA6E}"/>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15043" name="Text Placeholder 1">
            <a:extLst>
              <a:ext uri="{FF2B5EF4-FFF2-40B4-BE49-F238E27FC236}">
                <a16:creationId xmlns:a16="http://schemas.microsoft.com/office/drawing/2014/main" id="{51192D33-4BD6-8803-6162-4BCD070998D6}"/>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
        <p:nvSpPr>
          <p:cNvPr id="215044" name="مربع نص 2">
            <a:extLst>
              <a:ext uri="{FF2B5EF4-FFF2-40B4-BE49-F238E27FC236}">
                <a16:creationId xmlns:a16="http://schemas.microsoft.com/office/drawing/2014/main" id="{0A789539-0ADA-DC85-D3FD-12359B7616A9}"/>
              </a:ext>
            </a:extLst>
          </p:cNvPr>
          <p:cNvSpPr txBox="1">
            <a:spLocks noChangeArrowheads="1"/>
          </p:cNvSpPr>
          <p:nvPr/>
        </p:nvSpPr>
        <p:spPr bwMode="auto">
          <a:xfrm>
            <a:off x="2927350" y="3429000"/>
            <a:ext cx="5649913"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ct val="100000"/>
              </a:lnSpc>
              <a:spcBef>
                <a:spcPct val="0"/>
              </a:spcBef>
              <a:buFontTx/>
              <a:buNone/>
            </a:pPr>
            <a:r>
              <a:rPr lang="en-US" altLang="ar-IQ" sz="11500" dirty="0">
                <a:solidFill>
                  <a:srgbClr val="137333"/>
                </a:solidFill>
                <a:latin typeface="Google Sans Display"/>
              </a:rPr>
              <a:t>cs5jm5o</a:t>
            </a:r>
            <a:endParaRPr lang="ar-IQ" altLang="ar-IQ" sz="11500" dirty="0">
              <a:latin typeface="Verdana" panose="020B0604030504040204" pitchFamily="34" charset="0"/>
            </a:endParaRPr>
          </a:p>
        </p:txBody>
      </p:sp>
      <p:sp>
        <p:nvSpPr>
          <p:cNvPr id="215045" name="مربع نص 4">
            <a:extLst>
              <a:ext uri="{FF2B5EF4-FFF2-40B4-BE49-F238E27FC236}">
                <a16:creationId xmlns:a16="http://schemas.microsoft.com/office/drawing/2014/main" id="{40801630-0E58-CCA8-4AEE-1C78B0A0B77E}"/>
              </a:ext>
            </a:extLst>
          </p:cNvPr>
          <p:cNvSpPr txBox="1">
            <a:spLocks noChangeArrowheads="1"/>
          </p:cNvSpPr>
          <p:nvPr/>
        </p:nvSpPr>
        <p:spPr bwMode="auto">
          <a:xfrm>
            <a:off x="5303838" y="2787650"/>
            <a:ext cx="1619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ts val="1800"/>
              </a:lnSpc>
              <a:spcBef>
                <a:spcPct val="0"/>
              </a:spcBef>
              <a:spcAft>
                <a:spcPts val="600"/>
              </a:spcAft>
              <a:buFontTx/>
              <a:buNone/>
            </a:pPr>
            <a:r>
              <a:rPr lang="ar-IQ" altLang="ar-IQ" sz="2400">
                <a:solidFill>
                  <a:srgbClr val="404040"/>
                </a:solidFill>
                <a:cs typeface="Segoe UI" panose="020B0502040204020203" pitchFamily="34" charset="0"/>
              </a:rPr>
              <a:t>رمز الصف</a:t>
            </a:r>
          </a:p>
        </p:txBody>
      </p:sp>
    </p:spTree>
  </p:cSld>
  <p:clrMapOvr>
    <a:masterClrMapping/>
  </p:clrMapOvr>
  <p:transition spd="slow">
    <p:fade/>
  </p:transition>
</p:sld>
</file>

<file path=ppt/theme/theme1.xml><?xml version="1.0" encoding="utf-8"?>
<a:theme xmlns:a="http://schemas.openxmlformats.org/drawingml/2006/main" name="Get Started with 3D">
  <a:themeElements>
    <a:clrScheme name="نص متحرك">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1375</Words>
  <Application>Microsoft Office PowerPoint</Application>
  <PresentationFormat>شاشة عريضة</PresentationFormat>
  <Paragraphs>109</Paragraphs>
  <Slides>26</Slides>
  <Notes>26</Notes>
  <HiddenSlides>0</HiddenSlides>
  <MMClips>0</MMClips>
  <ScaleCrop>false</ScaleCrop>
  <HeadingPairs>
    <vt:vector size="6" baseType="variant">
      <vt:variant>
        <vt:lpstr>الخطوط المستخدمة</vt:lpstr>
      </vt:variant>
      <vt:variant>
        <vt:i4>9</vt:i4>
      </vt:variant>
      <vt:variant>
        <vt:lpstr>نسق</vt:lpstr>
      </vt:variant>
      <vt:variant>
        <vt:i4>1</vt:i4>
      </vt:variant>
      <vt:variant>
        <vt:lpstr>عناوين الشرائح</vt:lpstr>
      </vt:variant>
      <vt:variant>
        <vt:i4>26</vt:i4>
      </vt:variant>
    </vt:vector>
  </HeadingPairs>
  <TitlesOfParts>
    <vt:vector size="36" baseType="lpstr">
      <vt:lpstr>Arial</vt:lpstr>
      <vt:lpstr>Calibri</vt:lpstr>
      <vt:lpstr>Google Sans Display</vt:lpstr>
      <vt:lpstr>Segoe UI</vt:lpstr>
      <vt:lpstr>Segoe UI Light</vt:lpstr>
      <vt:lpstr>Segoe UI Semibold</vt:lpstr>
      <vt:lpstr>Segoe UI Variable Small Semibol</vt:lpstr>
      <vt:lpstr>Verdana</vt:lpstr>
      <vt:lpstr>Wingdings 2</vt:lpstr>
      <vt:lpstr>Get Started with 3D</vt:lpstr>
      <vt:lpstr>Measurement of Growth and Development</vt:lpstr>
      <vt:lpstr>Physiologic measurements</vt:lpstr>
      <vt:lpstr>Temperature</vt:lpstr>
      <vt:lpstr>Temperature</vt:lpstr>
      <vt:lpstr>Fahrenheit to Centigrade Conversion Formulas</vt:lpstr>
      <vt:lpstr>Fahrenheit to Centigrade Conversion Formulas</vt:lpstr>
      <vt:lpstr>Temperature measurement locations for infants and children: </vt:lpstr>
      <vt:lpstr>Temperature measurement locations for infants and children: </vt:lpstr>
      <vt:lpstr>Temperature measurement locations for infants and children: </vt:lpstr>
      <vt:lpstr>Temperature measurement locations for infants and children: </vt:lpstr>
      <vt:lpstr>Temperature measurement locations for infants and children: </vt:lpstr>
      <vt:lpstr>Type of thermometer</vt:lpstr>
      <vt:lpstr>NURSING ALERT</vt:lpstr>
      <vt:lpstr>Pulse</vt:lpstr>
      <vt:lpstr>Pulse</vt:lpstr>
      <vt:lpstr>Pulse</vt:lpstr>
      <vt:lpstr>Locations of pulse</vt:lpstr>
      <vt:lpstr>Respiration</vt:lpstr>
      <vt:lpstr>Respiration</vt:lpstr>
      <vt:lpstr>Respiration</vt:lpstr>
      <vt:lpstr>Blood Pressure</vt:lpstr>
      <vt:lpstr>Blood Pressure</vt:lpstr>
      <vt:lpstr>Blood Pressure</vt:lpstr>
      <vt:lpstr>Sites for measuring blood pressure</vt:lpstr>
      <vt:lpstr>NURSING ALERT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Defects of the Genitourinary Tract Nursing management of pediatric patients with Genetic disorders | The Child with Gastrointestinal Dysfunction</dc:title>
  <dc:creator>green lanter</dc:creator>
  <cp:lastModifiedBy>green lanter</cp:lastModifiedBy>
  <cp:revision>30</cp:revision>
  <dcterms:created xsi:type="dcterms:W3CDTF">2019-03-12T20:57:07Z</dcterms:created>
  <dcterms:modified xsi:type="dcterms:W3CDTF">2023-10-04T18:42:44Z</dcterms:modified>
</cp:coreProperties>
</file>