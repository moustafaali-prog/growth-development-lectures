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 slide generated from Chapter 4 — Well-Child Clinic.pdf (15 pages). Source text is reproduced verbatim in the notes of every content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Overview assembled verbatim from page 1 and the numbered headings of Chapter 4 — Well-Child Clinic.pdf.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headings exactly as numbered in the source document.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ROTATION: WELL-CHILD CLINIC</a:t>
            </a:r>
          </a:p>
          <a:p>
            <a:r>
              <a:t>Chapter 4 — Well-Child Clinic</a:t>
            </a:r>
          </a:p>
          <a:p>
            <a:r>
              <a:t>The central practical site for health supervision: the recommended visit schedule, what happens at</a:t>
            </a:r>
          </a:p>
          <a:p>
            <a:r>
              <a:t>each visit, age-specific anticipatory guidance for every stage (0-20 yr), immunization administration</a:t>
            </a:r>
          </a:p>
          <a:p>
            <a:r>
              <a:t>in the clinic, and a milestone quick reference with red flags.</a:t>
            </a:r>
          </a:p>
          <a:p>
            <a:r>
              <a:t>Age range: Birth – 20 years</a:t>
            </a:r>
          </a:p>
          <a:p>
            <a:r>
              <a:t>4.1 Site Profile — Role of the Well-Child Clinic</a:t>
            </a:r>
          </a:p>
          <a:p>
            <a:r>
              <a:t>The well-child clinic is where positive health is promoted in normal, healthy children. Visits focus</a:t>
            </a:r>
          </a:p>
          <a:p>
            <a:r>
              <a:t>primarily on anticipatory guidance — teaching what to expect next and how to prevent harm</a:t>
            </a:r>
          </a:p>
          <a:p>
            <a:r>
              <a:t>before the child reaches the susceptible age — ideally beginning during pregnancy.</a:t>
            </a:r>
          </a:p>
          <a:p>
            <a:r>
              <a:t>Goal: periodic screening and the prevention of disease. The AAP recommends periodic check-ups for</a:t>
            </a:r>
          </a:p>
          <a:p>
            <a:r>
              <a:t>all infants and children.</a:t>
            </a:r>
          </a:p>
          <a:p>
            <a:r>
              <a:t>Nurse's role: carry out the recommended periodic screenings and the current immunization</a:t>
            </a:r>
          </a:p>
          <a:p>
            <a:r>
              <a:t>schedule; educate the family at every visit.</a:t>
            </a:r>
          </a:p>
          <a:p>
            <a:r>
              <a:t>Anticipatory guidance: one third of all childhood injuries occur in the home — most are predictable</a:t>
            </a:r>
          </a:p>
          <a:p>
            <a:r>
              <a:t>and preventable when teaching precedes the susceptible age.</a:t>
            </a:r>
          </a:p>
          <a:p>
            <a:r>
              <a:t>Cultural respect: explore the family's cultural practices around growth and development; most are</a:t>
            </a:r>
          </a:p>
          <a:p>
            <a:r>
              <a:t>harmless and can be supported. Never assume practices from skin color, accent, or name.</a:t>
            </a:r>
          </a:p>
          <a:p>
            <a:r>
              <a:t>FOUR SKILLS USED AT EVERY VISIT</a:t>
            </a:r>
          </a:p>
          <a:p>
            <a:r>
              <a:t>History: interval history — feeding, elimination, sleep, behavior, past illnesses, allergies,</a:t>
            </a:r>
          </a:p>
          <a:p>
            <a:r>
              <a:t>medications, immunization record.</a:t>
            </a:r>
          </a:p>
          <a:p>
            <a:r>
              <a:t>Measurements &amp; plotting: length/height, weight, head circumference, weight-for-length or BMI,</a:t>
            </a:r>
          </a:p>
          <a:p>
            <a:r>
              <a:t>and increasingly blood pressure.</a:t>
            </a:r>
          </a:p>
          <a:p>
            <a:r>
              <a:t>Screening: vision, hearing, and developmental/behavioral screening and surveillance.</a:t>
            </a:r>
          </a:p>
          <a:p>
            <a:r>
              <a:t>Guidance &amp; procedures: physical examination, immunizations and other procedures, then</a:t>
            </a:r>
          </a:p>
          <a:p>
            <a:r>
              <a:t>anticipatory guidance and parent education.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ROTATION: WELL-CHILD CLINIC</a:t>
            </a:r>
          </a:p>
          <a:p>
            <a:r>
              <a:t>Chapter 4 — Well-Child Clinic</a:t>
            </a:r>
          </a:p>
          <a:p>
            <a:r>
              <a:t>The central practical site for health supervision: the recommended visit schedule, what happens at</a:t>
            </a:r>
          </a:p>
          <a:p>
            <a:r>
              <a:t>each visit, age-specific anticipatory guidance for every stage (0-20 yr), immunization administration</a:t>
            </a:r>
          </a:p>
          <a:p>
            <a:r>
              <a:t>in the clinic, and a milestone quick reference with red flags.</a:t>
            </a:r>
          </a:p>
          <a:p>
            <a:r>
              <a:t>Age range: Birth – 20 years</a:t>
            </a:r>
          </a:p>
          <a:p>
            <a:r>
              <a:t>4.1 Site Profile — Role of the Well-Child Clinic</a:t>
            </a:r>
          </a:p>
          <a:p>
            <a:r>
              <a:t>The well-child clinic is where positive health is promoted in normal, healthy children. Visits focus</a:t>
            </a:r>
          </a:p>
          <a:p>
            <a:r>
              <a:t>primarily on anticipatory guidance — teaching what to expect next and how to prevent harm</a:t>
            </a:r>
          </a:p>
          <a:p>
            <a:r>
              <a:t>before the child reaches the susceptible age — ideally beginning during pregnancy.</a:t>
            </a:r>
          </a:p>
          <a:p>
            <a:r>
              <a:t>Goal: periodic screening and the prevention of disease. The AAP recommends periodic check-ups for</a:t>
            </a:r>
          </a:p>
          <a:p>
            <a:r>
              <a:t>all infants and children.</a:t>
            </a:r>
          </a:p>
          <a:p>
            <a:r>
              <a:t>Nurse's role: carry out the recommended periodic screenings and the current immunization</a:t>
            </a:r>
          </a:p>
          <a:p>
            <a:r>
              <a:t>schedule; educate the family at every visit.</a:t>
            </a:r>
          </a:p>
          <a:p>
            <a:r>
              <a:t>Anticipatory guidance: one third of all childhood injuries occur in the home — most are predictable</a:t>
            </a:r>
          </a:p>
          <a:p>
            <a:r>
              <a:t>and preventable when teaching precedes the susceptible age.</a:t>
            </a:r>
          </a:p>
          <a:p>
            <a:r>
              <a:t>Cultural respect: explore the family's cultural practices around growth and development; most are</a:t>
            </a:r>
          </a:p>
          <a:p>
            <a:r>
              <a:t>harmless and can be supported. Never assume practices from skin color, accent, or name.</a:t>
            </a:r>
          </a:p>
          <a:p>
            <a:r>
              <a:t>FOUR SKILLS USED AT EVERY VISIT</a:t>
            </a:r>
          </a:p>
          <a:p>
            <a:r>
              <a:t>History: interval history — feeding, elimination, sleep, behavior, past illnesses, allergies,</a:t>
            </a:r>
          </a:p>
          <a:p>
            <a:r>
              <a:t>medications, immunization record.</a:t>
            </a:r>
          </a:p>
          <a:p>
            <a:r>
              <a:t>Measurements &amp; plotting: length/height, weight, head circumference, weight-for-length or BMI,</a:t>
            </a:r>
          </a:p>
          <a:p>
            <a:r>
              <a:t>and increasingly blood pressure.</a:t>
            </a:r>
          </a:p>
          <a:p>
            <a:r>
              <a:t>Screening: vision, hearing, and developmental/behavioral screening and surveillance.</a:t>
            </a:r>
          </a:p>
          <a:p>
            <a:r>
              <a:t>Guidance &amp; procedures: physical examination, immunizations and other procedures, then</a:t>
            </a:r>
          </a:p>
          <a:p>
            <a:r>
              <a:t>anticipatory guidance and parent education.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4.2 Health Supervision Visit Schedule</a:t>
            </a:r>
          </a:p>
          <a:p>
            <a:r>
              <a:t>The current recommendations for periodic health visits start in the newborn period and continue</a:t>
            </a:r>
          </a:p>
          <a:p>
            <a:r>
              <a:t>through adolescence. For the guide's 0-20-year population the sequence runs: a newborn visit, a</a:t>
            </a:r>
          </a:p>
          <a:p>
            <a:r>
              <a:t>3-5-day visit, then visits by 1 month and at 2, 4, 6, 9, 12, 15, 18, 24, and 30 months; from 3 years</a:t>
            </a:r>
          </a:p>
          <a:p>
            <a:r>
              <a:t>onward the visits become annual, with a closing visit at 20 years. The sequence is charted in</a:t>
            </a:r>
          </a:p>
          <a:p>
            <a:r>
              <a:t>Figure 4.1.</a:t>
            </a:r>
          </a:p>
          <a:p>
            <a:r>
              <a:t>Figure 4.1 Health-supervision visit sequence for the 0-20-year population.</a:t>
            </a:r>
          </a:p>
          <a:p>
            <a:r>
              <a:t>Service category</a:t>
            </a:r>
          </a:p>
          <a:p>
            <a:r>
              <a:t>When it is done</a:t>
            </a:r>
          </a:p>
          <a:p>
            <a:r>
              <a:t>History (interval history, health</a:t>
            </a:r>
          </a:p>
          <a:p>
            <a:r>
              <a:t>history)</a:t>
            </a:r>
          </a:p>
          <a:p>
            <a:r>
              <a:t>At every visit</a:t>
            </a:r>
          </a:p>
          <a:p>
            <a:r>
              <a:t>Measurements — length/height,</a:t>
            </a:r>
          </a:p>
          <a:p>
            <a:r>
              <a:t>weight, head circumference, weight-</a:t>
            </a:r>
          </a:p>
          <a:p>
            <a:r>
              <a:t>for-length or BMI, blood pressure</a:t>
            </a:r>
          </a:p>
          <a:p>
            <a:r>
              <a:t>Length/height/weight/HC at every visit in the first years; BMI and</a:t>
            </a:r>
          </a:p>
          <a:p>
            <a:r>
              <a:t>blood pressure from ~3 yr; BP annually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4.2 Health Supervision Visit Schedule</a:t>
            </a:r>
          </a:p>
          <a:p>
            <a:r>
              <a:t>The current recommendations for periodic health visits start in the newborn period and continue</a:t>
            </a:r>
          </a:p>
          <a:p>
            <a:r>
              <a:t>through adolescence. For the guide's 0-20-year population the sequence runs: a newborn visit, a</a:t>
            </a:r>
          </a:p>
          <a:p>
            <a:r>
              <a:t>3-5-day visit, then visits by 1 month and at 2, 4, 6, 9, 12, 15, 18, 24, and 30 months; from 3 years</a:t>
            </a:r>
          </a:p>
          <a:p>
            <a:r>
              <a:t>onward the visits become annual, with a closing visit at 20 years. The sequence is charted in</a:t>
            </a:r>
          </a:p>
          <a:p>
            <a:r>
              <a:t>Figure 4.1.</a:t>
            </a:r>
          </a:p>
          <a:p>
            <a:r>
              <a:t>Figure 4.1 Health-supervision visit sequence for the 0-20-year population.</a:t>
            </a:r>
          </a:p>
          <a:p>
            <a:r>
              <a:t>Service category</a:t>
            </a:r>
          </a:p>
          <a:p>
            <a:r>
              <a:t>When it is done</a:t>
            </a:r>
          </a:p>
          <a:p>
            <a:r>
              <a:t>History (interval history, health</a:t>
            </a:r>
          </a:p>
          <a:p>
            <a:r>
              <a:t>history)</a:t>
            </a:r>
          </a:p>
          <a:p>
            <a:r>
              <a:t>At every visit</a:t>
            </a:r>
          </a:p>
          <a:p>
            <a:r>
              <a:t>Measurements — length/height,</a:t>
            </a:r>
          </a:p>
          <a:p>
            <a:r>
              <a:t>weight, head circumference, weight-</a:t>
            </a:r>
          </a:p>
          <a:p>
            <a:r>
              <a:t>for-length or BMI, blood pressure</a:t>
            </a:r>
          </a:p>
          <a:p>
            <a:r>
              <a:t>Length/height/weight/HC at every visit in the first years; BMI and</a:t>
            </a:r>
          </a:p>
          <a:p>
            <a:r>
              <a:t>blood pressure from ~3 yr; BP annually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Vision screening</a:t>
            </a:r>
          </a:p>
          <a:p>
            <a:r>
              <a:t>USPSTF recommends screening for amblyopia and risk factors in all</a:t>
            </a:r>
          </a:p>
          <a:p>
            <a:r>
              <a:t>children 3-5 years of age; elective photoscreening/autorefraction</a:t>
            </a:r>
          </a:p>
          <a:p>
            <a:r>
              <a:t>possible from 6 months-3 years (early amblyopia detection)</a:t>
            </a:r>
          </a:p>
          <a:p>
            <a:r>
              <a:t>Hearing screening</a:t>
            </a:r>
          </a:p>
          <a:p>
            <a:r>
              <a:t>Pure-tone audiometry screening at 0.5, 1, 2, and 4 kHz — fail when</a:t>
            </a:r>
          </a:p>
          <a:p>
            <a:r>
              <a:t>tones at 20 dB HL are not heard; hearing concerns asked at every</a:t>
            </a:r>
          </a:p>
          <a:p>
            <a:r>
              <a:t>visit; universal newborn hearing screening already done (Ch. 3)</a:t>
            </a:r>
          </a:p>
          <a:p>
            <a:r>
              <a:t>Developmental &amp; behavioral</a:t>
            </a:r>
          </a:p>
          <a:p>
            <a:r>
              <a:t>Surveillance at every visit; formal developmental screening and</a:t>
            </a:r>
          </a:p>
          <a:p>
            <a:r>
              <a:t>autism screening at the ages mapped in Fig. 4-7 (Ch. 2 covers</a:t>
            </a:r>
          </a:p>
          <a:p>
            <a:r>
              <a:t>Denver II, ASQ, PEDS)</a:t>
            </a:r>
          </a:p>
          <a:p>
            <a:r>
              <a:t>Psychosocial &amp; behavioral</a:t>
            </a:r>
          </a:p>
          <a:p>
            <a:r>
              <a:t>(alcohol/drug later)</a:t>
            </a:r>
          </a:p>
          <a:p>
            <a:r>
              <a:t>From childhood; alcohol/drug discussion in adolescence (Ch. 8)</a:t>
            </a:r>
          </a:p>
          <a:p>
            <a:r>
              <a:t>Physical examination</a:t>
            </a:r>
          </a:p>
          <a:p>
            <a:r>
              <a:t>At every preventive visit</a:t>
            </a:r>
          </a:p>
          <a:p>
            <a:r>
              <a:t>Procedures — newborn metabolic</a:t>
            </a:r>
          </a:p>
          <a:p>
            <a:r>
              <a:t>screen, immunizations, hematocrit,</a:t>
            </a:r>
          </a:p>
          <a:p>
            <a:r>
              <a:t>lead, TB, dyslipidemia, STI, oral health</a:t>
            </a:r>
          </a:p>
          <a:p>
            <a:r>
              <a:t>Per the visit-schedule figure and Section 4.5</a:t>
            </a:r>
          </a:p>
          <a:p>
            <a:r>
              <a:t>Anticipatory guidance</a:t>
            </a:r>
          </a:p>
          <a:p>
            <a:r>
              <a:t>At every visit — the central content of this chapter (Section 4.4)</a:t>
            </a:r>
          </a:p>
          <a:p>
            <a:r>
              <a:t>4.3 The Well-Child Visit, Step by Step</a:t>
            </a:r>
          </a:p>
          <a:p>
            <a:r>
              <a:t>A preventive visit follows a fixed order — history first, measurements and plotting, sensory and</a:t>
            </a:r>
          </a:p>
          <a:p>
            <a:r>
              <a:t>developmental screening, the physical examination, then procedures and parental guidance. The</a:t>
            </a:r>
          </a:p>
          <a:p>
            <a:r>
              <a:t>workflow below is the same for every age; only the content changes. Figure 4.2 charts this</a:t>
            </a:r>
          </a:p>
          <a:p>
            <a:r>
              <a:t>sequence as a diagram.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Figure 4.2 Well-child visit workflow, from history to anticipatory guidance.</a:t>
            </a:r>
          </a:p>
          <a:p>
            <a:r>
              <a:t>History essentials</a:t>
            </a:r>
          </a:p>
          <a:p>
            <a:r>
              <a:t>Component</a:t>
            </a:r>
          </a:p>
          <a:p>
            <a:r>
              <a:t>Detail</a:t>
            </a:r>
          </a:p>
          <a:p>
            <a:r>
              <a:t>Birth history</a:t>
            </a:r>
          </a:p>
          <a:p>
            <a:r>
              <a:t>(1) Mother's health during pregnancy, (2) labor and delivery, (3) the infant's condition</a:t>
            </a:r>
          </a:p>
          <a:p>
            <a:r>
              <a:t>immediately after birth</a:t>
            </a:r>
          </a:p>
          <a:p>
            <a:r>
              <a:t>Past illnesses</a:t>
            </a:r>
          </a:p>
          <a:p>
            <a:r>
              <a:t>Colds, earaches, measles, rubella, chickenpox, mumps, pertussis, diphtheria, tuberculosis,</a:t>
            </a:r>
          </a:p>
          <a:p>
            <a:r>
              <a:t>scarlet fever, strep throat, recurrent ear infections, GERD, tonsillitis, allergic</a:t>
            </a:r>
          </a:p>
          <a:p>
            <a:r>
              <a:t>manifestations</a:t>
            </a:r>
          </a:p>
          <a:p>
            <a:r>
              <a:t>Injuries /</a:t>
            </a:r>
          </a:p>
          <a:p>
            <a:r>
              <a:t>operations</a:t>
            </a:r>
          </a:p>
          <a:p>
            <a:r>
              <a:t>Past injuries needing medical care, operations, hospitalizations — with dates</a:t>
            </a:r>
          </a:p>
          <a:p>
            <a:r>
              <a:t>Allergies</a:t>
            </a:r>
          </a:p>
          <a:p>
            <a:r>
              <a:t>Hay fever, asthma, unusual drug/food/latex reactions, contact agents</a:t>
            </a:r>
          </a:p>
          <a:p>
            <a:r>
              <a:t>Current</a:t>
            </a:r>
          </a:p>
          <a:p>
            <a:r>
              <a:t>medications</a:t>
            </a:r>
          </a:p>
          <a:p>
            <a:r>
              <a:t>Vitamins, antipyretics (especially aspirin), antibiotics, antihistamines, decongestants,</a:t>
            </a:r>
          </a:p>
          <a:p>
            <a:r>
              <a:t>herbs/homeopathics; record name, dose, schedule, duration, reason; ask parents to bring</a:t>
            </a:r>
          </a:p>
          <a:p>
            <a:r>
              <a:t>the containers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Figure 4.2 Well-child visit workflow, from history to anticipatory guidance.</a:t>
            </a:r>
          </a:p>
          <a:p>
            <a:r>
              <a:t>History essentials</a:t>
            </a:r>
          </a:p>
          <a:p>
            <a:r>
              <a:t>Component</a:t>
            </a:r>
          </a:p>
          <a:p>
            <a:r>
              <a:t>Detail</a:t>
            </a:r>
          </a:p>
          <a:p>
            <a:r>
              <a:t>Birth history</a:t>
            </a:r>
          </a:p>
          <a:p>
            <a:r>
              <a:t>(1) Mother's health during pregnancy, (2) labor and delivery, (3) the infant's condition</a:t>
            </a:r>
          </a:p>
          <a:p>
            <a:r>
              <a:t>immediately after birth</a:t>
            </a:r>
          </a:p>
          <a:p>
            <a:r>
              <a:t>Past illnesses</a:t>
            </a:r>
          </a:p>
          <a:p>
            <a:r>
              <a:t>Colds, earaches, measles, rubella, chickenpox, mumps, pertussis, diphtheria, tuberculosis,</a:t>
            </a:r>
          </a:p>
          <a:p>
            <a:r>
              <a:t>scarlet fever, strep throat, recurrent ear infections, GERD, tonsillitis, allergic</a:t>
            </a:r>
          </a:p>
          <a:p>
            <a:r>
              <a:t>manifestations</a:t>
            </a:r>
          </a:p>
          <a:p>
            <a:r>
              <a:t>Injuries /</a:t>
            </a:r>
          </a:p>
          <a:p>
            <a:r>
              <a:t>operations</a:t>
            </a:r>
          </a:p>
          <a:p>
            <a:r>
              <a:t>Past injuries needing medical care, operations, hospitalizations — with dates</a:t>
            </a:r>
          </a:p>
          <a:p>
            <a:r>
              <a:t>Allergies</a:t>
            </a:r>
          </a:p>
          <a:p>
            <a:r>
              <a:t>Hay fever, asthma, unusual drug/food/latex reactions, contact agents</a:t>
            </a:r>
          </a:p>
          <a:p>
            <a:r>
              <a:t>Current</a:t>
            </a:r>
          </a:p>
          <a:p>
            <a:r>
              <a:t>medications</a:t>
            </a:r>
          </a:p>
          <a:p>
            <a:r>
              <a:t>Vitamins, antipyretics (especially aspirin), antibiotics, antihistamines, decongestants,</a:t>
            </a:r>
          </a:p>
          <a:p>
            <a:r>
              <a:t>herbs/homeopathics; record name, dose, schedule, duration, reason; ask parents to bring</a:t>
            </a:r>
          </a:p>
          <a:p>
            <a:r>
              <a:t>the containers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Immunization</a:t>
            </a:r>
          </a:p>
          <a:p>
            <a:r>
              <a:t>record</a:t>
            </a:r>
          </a:p>
          <a:p>
            <a:r>
              <a:t>Essential and often unknown to parents — the most reliable source is the</a:t>
            </a:r>
          </a:p>
          <a:p>
            <a:r>
              <a:t>hospital/clinic/private-practitioner record. Record: disease, number of injections, dosage,</a:t>
            </a:r>
          </a:p>
          <a:p>
            <a:r>
              <a:t>ages given, and any post-immunization reaction</a:t>
            </a:r>
          </a:p>
          <a:p>
            <a:r>
              <a:t>Growth history</a:t>
            </a:r>
          </a:p>
          <a:p>
            <a:r>
              <a:t>Weights ≈ 6 months, 1, 2, and 5 years; lengths ≈ 1 and 4 years; dentition (onset, number,</a:t>
            </a:r>
          </a:p>
          <a:p>
            <a:r>
              <a:t>symptoms)</a:t>
            </a:r>
          </a:p>
          <a:p>
            <a:r>
              <a:t>Milestones</a:t>
            </a:r>
          </a:p>
          <a:p>
            <a:r>
              <a:t>Head-holding, sitting alone, walking, first words; school grade and performance; best</a:t>
            </a:r>
          </a:p>
          <a:p>
            <a:r>
              <a:t>friend; peer interactions</a:t>
            </a:r>
          </a:p>
          <a:p>
            <a:r>
              <a:t>Measurement &amp; plotting rules</a:t>
            </a:r>
          </a:p>
          <a:p>
            <a:r>
              <a:t>Length: supine on a length board until 24 months (or 36 months via the birth-36-month chart); a</a:t>
            </a:r>
          </a:p>
          <a:p>
            <a:r>
              <a:t>tape measure or wall chart is never used. Measure at least twice (ideally 3 times) with values agreeing</a:t>
            </a:r>
          </a:p>
          <a:p>
            <a:r>
              <a:t>within 0.5 cm; use the mean.</a:t>
            </a:r>
          </a:p>
          <a:p>
            <a:r>
              <a:t>Height: standing with a stadiometer; wall charts and flip-up bars are not used.</a:t>
            </a:r>
          </a:p>
          <a:p>
            <a:r>
              <a:t>Weight: nude for the birth-36-month charts; balance-beam scale to the nearest 10 g (infant) or 100 g</a:t>
            </a:r>
          </a:p>
          <a:p>
            <a:r>
              <a:t>(child).</a:t>
            </a:r>
          </a:p>
          <a:p>
            <a:r>
              <a:t>Head circumference: measured and plotted through 36 months; head and chest circumferences are</a:t>
            </a:r>
          </a:p>
          <a:p>
            <a:r>
              <a:t>roughly equal at about 1-2 years.</a:t>
            </a:r>
          </a:p>
          <a:p>
            <a:r>
              <a:t>Charts: WHO growth standards 0-2 years (breastfed reference); CDC charts for 2-20 years with BMI-</a:t>
            </a:r>
          </a:p>
          <a:p>
            <a:r>
              <a:t>for-age.</a:t>
            </a:r>
          </a:p>
          <a:p>
            <a:r>
              <a:t>Interpretation: a normal, well-nourished child plots between the 5th and 95th percentiles; below</a:t>
            </a:r>
          </a:p>
          <a:p>
            <a:r>
              <a:t>the 5th or above the 95th suggests deficiency or excess. A child at the 5th percentile can be as</a:t>
            </a:r>
          </a:p>
          <a:p>
            <a:r>
              <a:t>normal as one above the 95th — the most reliable evaluation is the trend over time.</a:t>
            </a:r>
          </a:p>
          <a:p>
            <a:r>
              <a:t>Concern: widely disparate percentiles (e.g., height 10th + weight 90th), failure to follow expected</a:t>
            </a:r>
          </a:p>
          <a:p>
            <a:r>
              <a:t>growth velocity, or a sudden change in a previously steady pattern.</a:t>
            </a:r>
          </a:p>
          <a:p>
            <a:r>
              <a:t>Technique: when growth is a concern, take serial measurements at the same time of day (afternoon</a:t>
            </a:r>
          </a:p>
          <a:p>
            <a:r>
              <a:t>height is less than morning height).</a:t>
            </a:r>
          </a:p>
          <a:p>
            <a:r>
              <a:t>Figure 4.3 shows the percentile bands on a growth chart: adequate nutrition falls between the</a:t>
            </a:r>
          </a:p>
          <a:p>
            <a:r>
              <a:t>5th and 95th percentiles; for BMI-for-age the 85th-95th band marks risk and the 95th marks</a:t>
            </a:r>
          </a:p>
          <a:p>
            <a:r>
              <a:t>overweight. These rules are given in the measurement tips above.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Immunization</a:t>
            </a:r>
          </a:p>
          <a:p>
            <a:r>
              <a:t>record</a:t>
            </a:r>
          </a:p>
          <a:p>
            <a:r>
              <a:t>Essential and often unknown to parents — the most reliable source is the</a:t>
            </a:r>
          </a:p>
          <a:p>
            <a:r>
              <a:t>hospital/clinic/private-practitioner record. Record: disease, number of injections, dosage,</a:t>
            </a:r>
          </a:p>
          <a:p>
            <a:r>
              <a:t>ages given, and any post-immunization reaction</a:t>
            </a:r>
          </a:p>
          <a:p>
            <a:r>
              <a:t>Growth history</a:t>
            </a:r>
          </a:p>
          <a:p>
            <a:r>
              <a:t>Weights ≈ 6 months, 1, 2, and 5 years; lengths ≈ 1 and 4 years; dentition (onset, number,</a:t>
            </a:r>
          </a:p>
          <a:p>
            <a:r>
              <a:t>symptoms)</a:t>
            </a:r>
          </a:p>
          <a:p>
            <a:r>
              <a:t>Milestones</a:t>
            </a:r>
          </a:p>
          <a:p>
            <a:r>
              <a:t>Head-holding, sitting alone, walking, first words; school grade and performance; best</a:t>
            </a:r>
          </a:p>
          <a:p>
            <a:r>
              <a:t>friend; peer interactions</a:t>
            </a:r>
          </a:p>
          <a:p>
            <a:r>
              <a:t>Measurement &amp; plotting rules</a:t>
            </a:r>
          </a:p>
          <a:p>
            <a:r>
              <a:t>Length: supine on a length board until 24 months (or 36 months via the birth-36-month chart); a</a:t>
            </a:r>
          </a:p>
          <a:p>
            <a:r>
              <a:t>tape measure or wall chart is never used. Measure at least twice (ideally 3 times) with values agreeing</a:t>
            </a:r>
          </a:p>
          <a:p>
            <a:r>
              <a:t>within 0.5 cm; use the mean.</a:t>
            </a:r>
          </a:p>
          <a:p>
            <a:r>
              <a:t>Height: standing with a stadiometer; wall charts and flip-up bars are not used.</a:t>
            </a:r>
          </a:p>
          <a:p>
            <a:r>
              <a:t>Weight: nude for the birth-36-month charts; balance-beam scale to the nearest 10 g (infant) or 100 g</a:t>
            </a:r>
          </a:p>
          <a:p>
            <a:r>
              <a:t>(child).</a:t>
            </a:r>
          </a:p>
          <a:p>
            <a:r>
              <a:t>Head circumference: measured and plotted through 36 months; head and chest circumferences are</a:t>
            </a:r>
          </a:p>
          <a:p>
            <a:r>
              <a:t>roughly equal at about 1-2 years.</a:t>
            </a:r>
          </a:p>
          <a:p>
            <a:r>
              <a:t>Charts: WHO growth standards 0-2 years (breastfed reference); CDC charts for 2-20 years with BMI-</a:t>
            </a:r>
          </a:p>
          <a:p>
            <a:r>
              <a:t>for-age.</a:t>
            </a:r>
          </a:p>
          <a:p>
            <a:r>
              <a:t>Interpretation: a normal, well-nourished child plots between the 5th and 95th percentiles; below</a:t>
            </a:r>
          </a:p>
          <a:p>
            <a:r>
              <a:t>the 5th or above the 95th suggests deficiency or excess. A child at the 5th percentile can be as</a:t>
            </a:r>
          </a:p>
          <a:p>
            <a:r>
              <a:t>normal as one above the 95th — the most reliable evaluation is the trend over time.</a:t>
            </a:r>
          </a:p>
          <a:p>
            <a:r>
              <a:t>Concern: widely disparate percentiles (e.g., height 10th + weight 90th), failure to follow expected</a:t>
            </a:r>
          </a:p>
          <a:p>
            <a:r>
              <a:t>growth velocity, or a sudden change in a previously steady pattern.</a:t>
            </a:r>
          </a:p>
          <a:p>
            <a:r>
              <a:t>Technique: when growth is a concern, take serial measurements at the same time of day (afternoon</a:t>
            </a:r>
          </a:p>
          <a:p>
            <a:r>
              <a:t>height is less than morning height).</a:t>
            </a:r>
          </a:p>
          <a:p>
            <a:r>
              <a:t>Figure 4.3 shows the percentile bands on a growth chart: adequate nutrition falls between the</a:t>
            </a:r>
          </a:p>
          <a:p>
            <a:r>
              <a:t>5th and 95th percentiles; for BMI-for-age the 85th-95th band marks risk and the 95th marks</a:t>
            </a:r>
          </a:p>
          <a:p>
            <a:r>
              <a:t>overweight. These rules are given in the measurement tips above.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Immunization</a:t>
            </a:r>
          </a:p>
          <a:p>
            <a:r>
              <a:t>record</a:t>
            </a:r>
          </a:p>
          <a:p>
            <a:r>
              <a:t>Essential and often unknown to parents — the most reliable source is the</a:t>
            </a:r>
          </a:p>
          <a:p>
            <a:r>
              <a:t>hospital/clinic/private-practitioner record. Record: disease, number of injections, dosage,</a:t>
            </a:r>
          </a:p>
          <a:p>
            <a:r>
              <a:t>ages given, and any post-immunization reaction</a:t>
            </a:r>
          </a:p>
          <a:p>
            <a:r>
              <a:t>Growth history</a:t>
            </a:r>
          </a:p>
          <a:p>
            <a:r>
              <a:t>Weights ≈ 6 months, 1, 2, and 5 years; lengths ≈ 1 and 4 years; dentition (onset, number,</a:t>
            </a:r>
          </a:p>
          <a:p>
            <a:r>
              <a:t>symptoms)</a:t>
            </a:r>
          </a:p>
          <a:p>
            <a:r>
              <a:t>Milestones</a:t>
            </a:r>
          </a:p>
          <a:p>
            <a:r>
              <a:t>Head-holding, sitting alone, walking, first words; school grade and performance; best</a:t>
            </a:r>
          </a:p>
          <a:p>
            <a:r>
              <a:t>friend; peer interactions</a:t>
            </a:r>
          </a:p>
          <a:p>
            <a:r>
              <a:t>Measurement &amp; plotting rules</a:t>
            </a:r>
          </a:p>
          <a:p>
            <a:r>
              <a:t>Length: supine on a length board until 24 months (or 36 months via the birth-36-month chart); a</a:t>
            </a:r>
          </a:p>
          <a:p>
            <a:r>
              <a:t>tape measure or wall chart is never used. Measure at least twice (ideally 3 times) with values agreeing</a:t>
            </a:r>
          </a:p>
          <a:p>
            <a:r>
              <a:t>within 0.5 cm; use the mean.</a:t>
            </a:r>
          </a:p>
          <a:p>
            <a:r>
              <a:t>Height: standing with a stadiometer; wall charts and flip-up bars are not used.</a:t>
            </a:r>
          </a:p>
          <a:p>
            <a:r>
              <a:t>Weight: nude for the birth-36-month charts; balance-beam scale to the nearest 10 g (infant) or 100 g</a:t>
            </a:r>
          </a:p>
          <a:p>
            <a:r>
              <a:t>(child).</a:t>
            </a:r>
          </a:p>
          <a:p>
            <a:r>
              <a:t>Head circumference: measured and plotted through 36 months; head and chest circumferences are</a:t>
            </a:r>
          </a:p>
          <a:p>
            <a:r>
              <a:t>roughly equal at about 1-2 years.</a:t>
            </a:r>
          </a:p>
          <a:p>
            <a:r>
              <a:t>Charts: WHO growth standards 0-2 years (breastfed reference); CDC charts for 2-20 years with BMI-</a:t>
            </a:r>
          </a:p>
          <a:p>
            <a:r>
              <a:t>for-age.</a:t>
            </a:r>
          </a:p>
          <a:p>
            <a:r>
              <a:t>Interpretation: a normal, well-nourished child plots between the 5th and 95th percentiles; below</a:t>
            </a:r>
          </a:p>
          <a:p>
            <a:r>
              <a:t>the 5th or above the 95th suggests deficiency or excess. A child at the 5th percentile can be as</a:t>
            </a:r>
          </a:p>
          <a:p>
            <a:r>
              <a:t>normal as one above the 95th — the most reliable evaluation is the trend over time.</a:t>
            </a:r>
          </a:p>
          <a:p>
            <a:r>
              <a:t>Concern: widely disparate percentiles (e.g., height 10th + weight 90th), failure to follow expected</a:t>
            </a:r>
          </a:p>
          <a:p>
            <a:r>
              <a:t>growth velocity, or a sudden change in a previously steady pattern.</a:t>
            </a:r>
          </a:p>
          <a:p>
            <a:r>
              <a:t>Technique: when growth is a concern, take serial measurements at the same time of day (afternoon</a:t>
            </a:r>
          </a:p>
          <a:p>
            <a:r>
              <a:t>height is less than morning height).</a:t>
            </a:r>
          </a:p>
          <a:p>
            <a:r>
              <a:t>Figure 4.3 shows the percentile bands on a growth chart: adequate nutrition falls between the</a:t>
            </a:r>
          </a:p>
          <a:p>
            <a:r>
              <a:t>5th and 95th percentiles; for BMI-for-age the 85th-95th band marks risk and the 95th marks</a:t>
            </a:r>
          </a:p>
          <a:p>
            <a:r>
              <a:t>overweight. These rules are given in the measurement tips above.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Figure 4.3 Growth-chart percentile bands and their interpretive thresholds.</a:t>
            </a:r>
          </a:p>
          <a:p>
            <a:r>
              <a:t>4.4 Age-Specific Health Supervision</a:t>
            </a:r>
          </a:p>
          <a:p>
            <a:r>
              <a:t>Anticipatory guidance is matched to each developmental stage. The five blocks below give the</a:t>
            </a:r>
          </a:p>
          <a:p>
            <a:r>
              <a:t>essential teaching points for each age.</a:t>
            </a:r>
          </a:p>
          <a:p>
            <a:r>
              <a:t>Infant — 0-12 months</a:t>
            </a:r>
          </a:p>
          <a:p>
            <a:r>
              <a:t>Feeding topic</a:t>
            </a:r>
          </a:p>
          <a:p>
            <a:r>
              <a:t>Guidance</a:t>
            </a:r>
          </a:p>
          <a:p>
            <a:r>
              <a:t>Solids</a:t>
            </a:r>
          </a:p>
          <a:p>
            <a:r>
              <a:t>Do not add solids before 4-6 months (earlier: sixfold increase in obesity odds in formula-</a:t>
            </a:r>
          </a:p>
          <a:p>
            <a:r>
              <a:t>fed infants); transition period ≈ 4-6 months. Iron-fortified infant cereal first (rice — easily</a:t>
            </a:r>
          </a:p>
          <a:p>
            <a:r>
              <a:t>digested, low allergic potential); one new food at a time, every 5-7 days (one source says 4-</a:t>
            </a:r>
          </a:p>
          <a:p>
            <a:r>
              <a:t>7, another 3-5 days); raw seeds/nuts/vegetables and grapes are aspiration hazards; cracked</a:t>
            </a:r>
          </a:p>
          <a:p>
            <a:r>
              <a:t>zwieback ~6 months; junior/finger foods 8-9 months; well-cooked table foods at 1 year</a:t>
            </a:r>
          </a:p>
          <a:p>
            <a:r>
              <a:t>Milk</a:t>
            </a:r>
          </a:p>
          <a:p>
            <a:r>
              <a:t>Milk remains the main calorie source until after 12 months; whole cow's milk not before 12</a:t>
            </a:r>
          </a:p>
          <a:p>
            <a:r>
              <a:t>months (iron/zinc/vitamin C deficient, high renal solute load); skim/low-fat also</a:t>
            </a:r>
          </a:p>
          <a:p>
            <a:r>
              <a:t>unacceptable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Figure 4.3 Growth-chart percentile bands and their interpretive thresholds.</a:t>
            </a:r>
          </a:p>
          <a:p>
            <a:r>
              <a:t>4.4 Age-Specific Health Supervision</a:t>
            </a:r>
          </a:p>
          <a:p>
            <a:r>
              <a:t>Anticipatory guidance is matched to each developmental stage. The five blocks below give the</a:t>
            </a:r>
          </a:p>
          <a:p>
            <a:r>
              <a:t>essential teaching points for each age.</a:t>
            </a:r>
          </a:p>
          <a:p>
            <a:r>
              <a:t>Infant — 0-12 months</a:t>
            </a:r>
          </a:p>
          <a:p>
            <a:r>
              <a:t>Feeding topic</a:t>
            </a:r>
          </a:p>
          <a:p>
            <a:r>
              <a:t>Guidance</a:t>
            </a:r>
          </a:p>
          <a:p>
            <a:r>
              <a:t>Solids</a:t>
            </a:r>
          </a:p>
          <a:p>
            <a:r>
              <a:t>Do not add solids before 4-6 months (earlier: sixfold increase in obesity odds in formula-</a:t>
            </a:r>
          </a:p>
          <a:p>
            <a:r>
              <a:t>fed infants); transition period ≈ 4-6 months. Iron-fortified infant cereal first (rice — easily</a:t>
            </a:r>
          </a:p>
          <a:p>
            <a:r>
              <a:t>digested, low allergic potential); one new food at a time, every 5-7 days (one source says 4-</a:t>
            </a:r>
          </a:p>
          <a:p>
            <a:r>
              <a:t>7, another 3-5 days); raw seeds/nuts/vegetables and grapes are aspiration hazards; cracked</a:t>
            </a:r>
          </a:p>
          <a:p>
            <a:r>
              <a:t>zwieback ~6 months; junior/finger foods 8-9 months; well-cooked table foods at 1 year</a:t>
            </a:r>
          </a:p>
          <a:p>
            <a:r>
              <a:t>Milk</a:t>
            </a:r>
          </a:p>
          <a:p>
            <a:r>
              <a:t>Milk remains the main calorie source until after 12 months; whole cow's milk not before 12</a:t>
            </a:r>
          </a:p>
          <a:p>
            <a:r>
              <a:t>months (iron/zinc/vitamin C deficient, high renal solute load); skim/low-fat also</a:t>
            </a:r>
          </a:p>
          <a:p>
            <a:r>
              <a:t>unacceptable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Avoid</a:t>
            </a:r>
          </a:p>
          <a:p>
            <a:r>
              <a:t>Honey in the first 12 months (infant botulism); propping a bottle or bottle-in-bed; juice in</a:t>
            </a:r>
          </a:p>
          <a:p>
            <a:r>
              <a:t>bottles, especially &lt;6 months (enamel erosion, early childhood caries)</a:t>
            </a:r>
          </a:p>
          <a:p>
            <a:r>
              <a:t>Supplements</a:t>
            </a:r>
          </a:p>
          <a:p>
            <a:r>
              <a:t>Vitamin D 400 IU daily for all infants (those on &lt;1 L/day of fortified formula included); iron</a:t>
            </a:r>
          </a:p>
          <a:p>
            <a:r>
              <a:t>1 mg/kg/day if exclusively breastfed &gt;4 months until iron-fortified foods start</a:t>
            </a:r>
          </a:p>
          <a:p>
            <a:r>
              <a:t>Juice</a:t>
            </a:r>
          </a:p>
          <a:p>
            <a:r>
              <a:t>Not required under 6 months and of no demonstrable benefit; only 100% juice; max 4-6</a:t>
            </a:r>
          </a:p>
          <a:p>
            <a:r>
              <a:t>oz/day (1-6 yr); avoid apple, pear, prune, sweet cherry, peach, grape (fructose/sorbitol →</a:t>
            </a:r>
          </a:p>
          <a:p>
            <a:r>
              <a:t>cramps/diarrhea); give sugared liquids in a cup</a:t>
            </a:r>
          </a:p>
          <a:p>
            <a:r>
              <a:t>Cup</a:t>
            </a:r>
          </a:p>
          <a:p>
            <a:r>
              <a:t>milestones</a:t>
            </a:r>
          </a:p>
          <a:p>
            <a:r>
              <a:t>Lips to cup rim 4-5 months; drinks from a cup with help 7-9 months; drinks from a cup (with</a:t>
            </a:r>
          </a:p>
          <a:p>
            <a:r>
              <a:t>spilling) 9-12 months</a:t>
            </a:r>
          </a:p>
          <a:p>
            <a:r>
              <a:t>Weaning</a:t>
            </a:r>
          </a:p>
          <a:p>
            <a:r>
              <a:t>Gradual, one feeding at a time; the nighttime feeding is discontinued last; readiness signals</a:t>
            </a:r>
          </a:p>
          <a:p>
            <a:r>
              <a:t>appear in the second half of the first year</a:t>
            </a:r>
          </a:p>
          <a:p>
            <a:r>
              <a:t>Sleep: place the infant to sleep on the back at all times; firm mattress, no pillows or loose blankets;</a:t>
            </a:r>
          </a:p>
          <a:p>
            <a:r>
              <a:t>crib slats spacing ≤6 cm; no drop-side cribs. Most infants sleep 9-11 hours nightly at 3-4 months</a:t>
            </a:r>
          </a:p>
          <a:p>
            <a:r>
              <a:t>(~15 hr/day total); ~11.7 hr nightly by 1 year.</a:t>
            </a:r>
          </a:p>
          <a:p>
            <a:r>
              <a:t>Pacifier: AAP supports limited use in the first 6 months (analgesia + SIDS protection), weaning in the</a:t>
            </a:r>
          </a:p>
          <a:p>
            <a:r>
              <a:t>second 6 months; one-piece construction with a loop handle; never on a string around the neck.</a:t>
            </a:r>
          </a:p>
          <a:p>
            <a:r>
              <a:t>Car seats: all infants and toddlers ride rear-facing for as long as possible — until they reach the</a:t>
            </a:r>
          </a:p>
          <a:p>
            <a:r>
              <a:t>highest weight or height allowed by the car-seat manufacturer (most convertible seats allow</a:t>
            </a:r>
          </a:p>
          <a:p>
            <a:r>
              <a:t>rear-facing past age 2; older editions: "until 12 months AND 20 lb" — report the current</a:t>
            </a:r>
          </a:p>
          <a:p>
            <a:r>
              <a:t>recommendation); rear-facing seat never in a front seat with a passenger air bag; back seat is safest;</a:t>
            </a:r>
          </a:p>
          <a:p>
            <a:r>
              <a:t>~52% of newborn seats are misused at hospital discharge.</a:t>
            </a:r>
          </a:p>
          <a:p>
            <a:r>
              <a:t>Dental: first teeth (lower central incisors) 6-10 months, average 8 months; teeth ≈ age in months</a:t>
            </a:r>
          </a:p>
          <a:p>
            <a:r>
              <a:t>minus 6; clean gums/teeth with a damp cloth; fluoridated toothpaste "smear" for children &lt;2 years;</a:t>
            </a:r>
          </a:p>
          <a:p>
            <a:r>
              <a:t>oral examination by 6 months and a dental home by 1 year; fluoride supplement from 6 months if</a:t>
            </a:r>
          </a:p>
          <a:p>
            <a:r>
              <a:t>the water is inadequate; watch the infant for earaches/circumoral cyanosis.</a:t>
            </a:r>
          </a:p>
          <a:p>
            <a:r>
              <a:t>Teething: fever &gt;39°C, vomiting, or diarrhea means illness — not teething; cold soothes; no teething</a:t>
            </a:r>
          </a:p>
          <a:p>
            <a:r>
              <a:t>powders, aspirin, or liquor on the gums; no amber necklaces.</a:t>
            </a:r>
          </a:p>
          <a:p>
            <a:r>
              <a:t>Ears &amp; language: cooing / simple vowel sounds and laughing aloud appear about 4-5 months;</a:t>
            </a:r>
          </a:p>
          <a:p>
            <a:r>
              <a:t>babbling with inflection 7-10 months. Warning signs: no sounds or babbling by 4 months; not</a:t>
            </a:r>
          </a:p>
          <a:p>
            <a:r>
              <a:t>laughing or squealing by 6 months.</a:t>
            </a:r>
          </a:p>
          <a:p>
            <a:r>
              <a:t>Play: solitary; suggested toys 0-6 months (mobiles, unbreakable mirror, music box, rattles) and 6-12</a:t>
            </a:r>
          </a:p>
          <a:p>
            <a:r>
              <a:t>months (blocks, nested cups, picture books, ball, cup and spoon, wood puzzles, push-pull toys);</a:t>
            </a:r>
          </a:p>
          <a:p>
            <a:r>
              <a:t>restrict TV and recorded video in children &lt;2 years.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Avoid</a:t>
            </a:r>
          </a:p>
          <a:p>
            <a:r>
              <a:t>Honey in the first 12 months (infant botulism); propping a bottle or bottle-in-bed; juice in</a:t>
            </a:r>
          </a:p>
          <a:p>
            <a:r>
              <a:t>bottles, especially &lt;6 months (enamel erosion, early childhood caries)</a:t>
            </a:r>
          </a:p>
          <a:p>
            <a:r>
              <a:t>Supplements</a:t>
            </a:r>
          </a:p>
          <a:p>
            <a:r>
              <a:t>Vitamin D 400 IU daily for all infants (those on &lt;1 L/day of fortified formula included); iron</a:t>
            </a:r>
          </a:p>
          <a:p>
            <a:r>
              <a:t>1 mg/kg/day if exclusively breastfed &gt;4 months until iron-fortified foods start</a:t>
            </a:r>
          </a:p>
          <a:p>
            <a:r>
              <a:t>Juice</a:t>
            </a:r>
          </a:p>
          <a:p>
            <a:r>
              <a:t>Not required under 6 months and of no demonstrable benefit; only 100% juice; max 4-6</a:t>
            </a:r>
          </a:p>
          <a:p>
            <a:r>
              <a:t>oz/day (1-6 yr); avoid apple, pear, prune, sweet cherry, peach, grape (fructose/sorbitol →</a:t>
            </a:r>
          </a:p>
          <a:p>
            <a:r>
              <a:t>cramps/diarrhea); give sugared liquids in a cup</a:t>
            </a:r>
          </a:p>
          <a:p>
            <a:r>
              <a:t>Cup</a:t>
            </a:r>
          </a:p>
          <a:p>
            <a:r>
              <a:t>milestones</a:t>
            </a:r>
          </a:p>
          <a:p>
            <a:r>
              <a:t>Lips to cup rim 4-5 months; drinks from a cup with help 7-9 months; drinks from a cup (with</a:t>
            </a:r>
          </a:p>
          <a:p>
            <a:r>
              <a:t>spilling) 9-12 months</a:t>
            </a:r>
          </a:p>
          <a:p>
            <a:r>
              <a:t>Weaning</a:t>
            </a:r>
          </a:p>
          <a:p>
            <a:r>
              <a:t>Gradual, one feeding at a time; the nighttime feeding is discontinued last; readiness signals</a:t>
            </a:r>
          </a:p>
          <a:p>
            <a:r>
              <a:t>appear in the second half of the first year</a:t>
            </a:r>
          </a:p>
          <a:p>
            <a:r>
              <a:t>Sleep: place the infant to sleep on the back at all times; firm mattress, no pillows or loose blankets;</a:t>
            </a:r>
          </a:p>
          <a:p>
            <a:r>
              <a:t>crib slats spacing ≤6 cm; no drop-side cribs. Most infants sleep 9-11 hours nightly at 3-4 months</a:t>
            </a:r>
          </a:p>
          <a:p>
            <a:r>
              <a:t>(~15 hr/day total); ~11.7 hr nightly by 1 year.</a:t>
            </a:r>
          </a:p>
          <a:p>
            <a:r>
              <a:t>Pacifier: AAP supports limited use in the first 6 months (analgesia + SIDS protection), weaning in the</a:t>
            </a:r>
          </a:p>
          <a:p>
            <a:r>
              <a:t>second 6 months; one-piece construction with a loop handle; never on a string around the neck.</a:t>
            </a:r>
          </a:p>
          <a:p>
            <a:r>
              <a:t>Car seats: all infants and toddlers ride rear-facing for as long as possible — until they reach the</a:t>
            </a:r>
          </a:p>
          <a:p>
            <a:r>
              <a:t>highest weight or height allowed by the car-seat manufacturer (most convertible seats allow</a:t>
            </a:r>
          </a:p>
          <a:p>
            <a:r>
              <a:t>rear-facing past age 2; older editions: "until 12 months AND 20 lb" — report the current</a:t>
            </a:r>
          </a:p>
          <a:p>
            <a:r>
              <a:t>recommendation); rear-facing seat never in a front seat with a passenger air bag; back seat is safest;</a:t>
            </a:r>
          </a:p>
          <a:p>
            <a:r>
              <a:t>~52% of newborn seats are misused at hospital discharge.</a:t>
            </a:r>
          </a:p>
          <a:p>
            <a:r>
              <a:t>Dental: first teeth (lower central incisors) 6-10 months, average 8 months; teeth ≈ age in months</a:t>
            </a:r>
          </a:p>
          <a:p>
            <a:r>
              <a:t>minus 6; clean gums/teeth with a damp cloth; fluoridated toothpaste "smear" for children &lt;2 years;</a:t>
            </a:r>
          </a:p>
          <a:p>
            <a:r>
              <a:t>oral examination by 6 months and a dental home by 1 year; fluoride supplement from 6 months if</a:t>
            </a:r>
          </a:p>
          <a:p>
            <a:r>
              <a:t>the water is inadequate; watch the infant for earaches/circumoral cyanosis.</a:t>
            </a:r>
          </a:p>
          <a:p>
            <a:r>
              <a:t>Teething: fever &gt;39°C, vomiting, or diarrhea means illness — not teething; cold soothes; no teething</a:t>
            </a:r>
          </a:p>
          <a:p>
            <a:r>
              <a:t>powders, aspirin, or liquor on the gums; no amber necklaces.</a:t>
            </a:r>
          </a:p>
          <a:p>
            <a:r>
              <a:t>Ears &amp; language: cooing / simple vowel sounds and laughing aloud appear about 4-5 months;</a:t>
            </a:r>
          </a:p>
          <a:p>
            <a:r>
              <a:t>babbling with inflection 7-10 months. Warning signs: no sounds or babbling by 4 months; not</a:t>
            </a:r>
          </a:p>
          <a:p>
            <a:r>
              <a:t>laughing or squealing by 6 months.</a:t>
            </a:r>
          </a:p>
          <a:p>
            <a:r>
              <a:t>Play: solitary; suggested toys 0-6 months (mobiles, unbreakable mirror, music box, rattles) and 6-12</a:t>
            </a:r>
          </a:p>
          <a:p>
            <a:r>
              <a:t>months (blocks, nested cups, picture books, ball, cup and spoon, wood puzzles, push-pull toys);</a:t>
            </a:r>
          </a:p>
          <a:p>
            <a:r>
              <a:t>restrict TV and recorded video in children &lt;2 years.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Discipline: infants cannot grasp cause-and-effect of danger — childproof the environment; begin</a:t>
            </a:r>
          </a:p>
          <a:p>
            <a:r>
              <a:t>with a negative voice and stern eye contact, then time-out (play yard preferred over a chair); there is</a:t>
            </a:r>
          </a:p>
          <a:p>
            <a:r>
              <a:t>no evidence that meeting needs spoils a child.</a:t>
            </a:r>
          </a:p>
          <a:p>
            <a:r>
              <a:t>INFANT RED FLAGS</a:t>
            </a:r>
          </a:p>
          <a:p>
            <a:r>
              <a:t>No smile at people at 3 months; refuses cuddling; no interest in peek-a-boo at 8 months (social-</a:t>
            </a:r>
          </a:p>
          <a:p>
            <a:r>
              <a:t>emotional)</a:t>
            </a:r>
          </a:p>
          <a:p>
            <a:r>
              <a:t>No head support 3-4 months; no sitting with assistance by 6 months; no crawling by 12 months; no</a:t>
            </a:r>
          </a:p>
          <a:p>
            <a:r>
              <a:t>supported standing by 12 months</a:t>
            </a:r>
          </a:p>
          <a:p>
            <a:r>
              <a:t>Not pulling to stand by 11-12 months → evaluate for developmental hip dysplasia</a:t>
            </a:r>
          </a:p>
          <a:p>
            <a:r>
              <a:t>Strabismus / lack of binocularity can cause permanent blindness if undetected</a:t>
            </a:r>
          </a:p>
          <a:p>
            <a:r>
              <a:t>Toddler — 1-3 years</a:t>
            </a:r>
          </a:p>
          <a:p>
            <a:r>
              <a:t>Nutrition: 1000-1400 kcal/day (moderately active boy, 2-3 yr, 2010 Dietary Guidelines); growth slows</a:t>
            </a:r>
          </a:p>
          <a:p>
            <a:r>
              <a:t>12-18 months and physiologic anorexia (decreased appetite) appears around 18 months — a normal,</a:t>
            </a:r>
          </a:p>
          <a:p>
            <a:r>
              <a:t>not alarming, event; 3 meals + 2 snacks with small portions; milk 2-3 servings (24-28 oz/day — more</a:t>
            </a:r>
          </a:p>
          <a:p>
            <a:r>
              <a:t>than a quart limits solids and leads to iron/nutrient deficiency); low-fat (2%) milk after age 2; juice</a:t>
            </a:r>
          </a:p>
          <a:p>
            <a:r>
              <a:t>capped at 4-6 oz/day of 100% juice.</a:t>
            </a:r>
          </a:p>
          <a:p>
            <a:r>
              <a:t>Weaning: drink from a cup at the first birthday; weaning from the bottle is complete by 15 months</a:t>
            </a:r>
          </a:p>
          <a:p>
            <a:r>
              <a:t>(the 12-15-month window); never a bedtime bottle — ends "nursing bottle caries" (early childhood</a:t>
            </a:r>
          </a:p>
          <a:p>
            <a:r>
              <a:t>caries); dental care: water-only brushing before age 2, then a pea-sized amount of fluoridated</a:t>
            </a:r>
          </a:p>
          <a:p>
            <a:r>
              <a:t>toothpaste beginning at 2 years.</a:t>
            </a:r>
          </a:p>
          <a:p>
            <a:r>
              <a:t>Nutrition numbers: iron EAR 7 mg/day (1-3 yr); calcium AI 500 mg/day (1-3 yr).</a:t>
            </a:r>
          </a:p>
          <a:p>
            <a:r>
              <a:t>Negativism: it is a necessary assertion of control, not stubbornness — reduce the opportunities for</a:t>
            </a:r>
          </a:p>
          <a:p>
            <a:r>
              <a:t>"no" (offer two acceptable choices); if refused, the parent calmly decides; ritualism (need for</a:t>
            </a:r>
          </a:p>
          <a:p>
            <a:r>
              <a:t>sameness) is comforting and helps through hospitalization.</a:t>
            </a:r>
          </a:p>
          <a:p>
            <a:r>
              <a:t>Tantrums: common when ill, hungry, frustrated, tired (worst near bedtime); three quarters last ≤5</a:t>
            </a:r>
          </a:p>
          <a:p>
            <a:r>
              <a:t>minutes; manage by ignoring the behavior unless injurious, staying present, comforting once it</a:t>
            </a:r>
          </a:p>
          <a:p>
            <a:r>
              <a:t>subsides, and praising non-tantrum behavior. Red flags: tantrums past 5 years, lasting over 15</a:t>
            </a:r>
          </a:p>
          <a:p>
            <a:r>
              <a:t>minutes, or more than 5 times a day → possible serious problem. Time-outs work well from ~18</a:t>
            </a:r>
          </a:p>
          <a:p>
            <a:r>
              <a:t>months.</a:t>
            </a:r>
          </a:p>
          <a:p>
            <a:r>
              <a:t>Toilet training: readiness has five markers (bladder, bowel, cognitive, motor, psychologic) —</a:t>
            </a:r>
          </a:p>
          <a:p>
            <a:r>
              <a:t>sphincter control usually by 22-30 months, dry ≥2 hours, waking from the nap dry, regular bowel</a:t>
            </a:r>
          </a:p>
          <a:p>
            <a:r>
              <a:t>movements, sits/walks/squats, removes clothing; mental readiness (recognizes the urge,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Discipline: infants cannot grasp cause-and-effect of danger — childproof the environment; begin</a:t>
            </a:r>
          </a:p>
          <a:p>
            <a:r>
              <a:t>with a negative voice and stern eye contact, then time-out (play yard preferred over a chair); there is</a:t>
            </a:r>
          </a:p>
          <a:p>
            <a:r>
              <a:t>no evidence that meeting needs spoils a child.</a:t>
            </a:r>
          </a:p>
          <a:p>
            <a:r>
              <a:t>INFANT RED FLAGS</a:t>
            </a:r>
          </a:p>
          <a:p>
            <a:r>
              <a:t>No smile at people at 3 months; refuses cuddling; no interest in peek-a-boo at 8 months (social-</a:t>
            </a:r>
          </a:p>
          <a:p>
            <a:r>
              <a:t>emotional)</a:t>
            </a:r>
          </a:p>
          <a:p>
            <a:r>
              <a:t>No head support 3-4 months; no sitting with assistance by 6 months; no crawling by 12 months; no</a:t>
            </a:r>
          </a:p>
          <a:p>
            <a:r>
              <a:t>supported standing by 12 months</a:t>
            </a:r>
          </a:p>
          <a:p>
            <a:r>
              <a:t>Not pulling to stand by 11-12 months → evaluate for developmental hip dysplasia</a:t>
            </a:r>
          </a:p>
          <a:p>
            <a:r>
              <a:t>Strabismus / lack of binocularity can cause permanent blindness if undetected</a:t>
            </a:r>
          </a:p>
          <a:p>
            <a:r>
              <a:t>Toddler — 1-3 years</a:t>
            </a:r>
          </a:p>
          <a:p>
            <a:r>
              <a:t>Nutrition: 1000-1400 kcal/day (moderately active boy, 2-3 yr, 2010 Dietary Guidelines); growth slows</a:t>
            </a:r>
          </a:p>
          <a:p>
            <a:r>
              <a:t>12-18 months and physiologic anorexia (decreased appetite) appears around 18 months — a normal,</a:t>
            </a:r>
          </a:p>
          <a:p>
            <a:r>
              <a:t>not alarming, event; 3 meals + 2 snacks with small portions; milk 2-3 servings (24-28 oz/day — more</a:t>
            </a:r>
          </a:p>
          <a:p>
            <a:r>
              <a:t>than a quart limits solids and leads to iron/nutrient deficiency); low-fat (2%) milk after age 2; juice</a:t>
            </a:r>
          </a:p>
          <a:p>
            <a:r>
              <a:t>capped at 4-6 oz/day of 100% juice.</a:t>
            </a:r>
          </a:p>
          <a:p>
            <a:r>
              <a:t>Weaning: drink from a cup at the first birthday; weaning from the bottle is complete by 15 months</a:t>
            </a:r>
          </a:p>
          <a:p>
            <a:r>
              <a:t>(the 12-15-month window); never a bedtime bottle — ends "nursing bottle caries" (early childhood</a:t>
            </a:r>
          </a:p>
          <a:p>
            <a:r>
              <a:t>caries); dental care: water-only brushing before age 2, then a pea-sized amount of fluoridated</a:t>
            </a:r>
          </a:p>
          <a:p>
            <a:r>
              <a:t>toothpaste beginning at 2 years.</a:t>
            </a:r>
          </a:p>
          <a:p>
            <a:r>
              <a:t>Nutrition numbers: iron EAR 7 mg/day (1-3 yr); calcium AI 500 mg/day (1-3 yr).</a:t>
            </a:r>
          </a:p>
          <a:p>
            <a:r>
              <a:t>Negativism: it is a necessary assertion of control, not stubbornness — reduce the opportunities for</a:t>
            </a:r>
          </a:p>
          <a:p>
            <a:r>
              <a:t>"no" (offer two acceptable choices); if refused, the parent calmly decides; ritualism (need for</a:t>
            </a:r>
          </a:p>
          <a:p>
            <a:r>
              <a:t>sameness) is comforting and helps through hospitalization.</a:t>
            </a:r>
          </a:p>
          <a:p>
            <a:r>
              <a:t>Tantrums: common when ill, hungry, frustrated, tired (worst near bedtime); three quarters last ≤5</a:t>
            </a:r>
          </a:p>
          <a:p>
            <a:r>
              <a:t>minutes; manage by ignoring the behavior unless injurious, staying present, comforting once it</a:t>
            </a:r>
          </a:p>
          <a:p>
            <a:r>
              <a:t>subsides, and praising non-tantrum behavior. Red flags: tantrums past 5 years, lasting over 15</a:t>
            </a:r>
          </a:p>
          <a:p>
            <a:r>
              <a:t>minutes, or more than 5 times a day → possible serious problem. Time-outs work well from ~18</a:t>
            </a:r>
          </a:p>
          <a:p>
            <a:r>
              <a:t>months.</a:t>
            </a:r>
          </a:p>
          <a:p>
            <a:r>
              <a:t>Toilet training: readiness has five markers (bladder, bowel, cognitive, motor, psychologic) —</a:t>
            </a:r>
          </a:p>
          <a:p>
            <a:r>
              <a:t>sphincter control usually by 22-30 months, dry ≥2 hours, waking from the nap dry, regular bowel</a:t>
            </a:r>
          </a:p>
          <a:p>
            <a:r>
              <a:t>movements, sits/walks/squats, removes clothing; mental readiness (recognizes the urge,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communicates, imitates); psychologic (wishes to please, sits 5-8 min); and parental readiness (no</a:t>
            </a:r>
          </a:p>
          <a:p>
            <a:r>
              <a:t>family stress from move, divorce, new sibling). Average initiation ~20.6 months; girls 2-2.5 months</a:t>
            </a:r>
          </a:p>
          <a:p>
            <a:r>
              <a:t>before boys; no benefit of intensive training before 27 months; bowel training precedes bladder;</a:t>
            </a:r>
          </a:p>
          <a:p>
            <a:r>
              <a:t>nighttime dryness takes months-years (bedwetting normal in girls ≤4, boys ≤5; no night dryness by 6</a:t>
            </a:r>
          </a:p>
          <a:p>
            <a:r>
              <a:t>years → intervene). Regression is a normal temporary setback.</a:t>
            </a:r>
          </a:p>
          <a:p>
            <a:r>
              <a:t>Sleep: ~11-12 hours with one nap; bedtime resistance and fear of monsters are common later —</a:t>
            </a:r>
          </a:p>
          <a:p>
            <a:r>
              <a:t>regular routine, transitional object, snack, TV out of the room.</a:t>
            </a:r>
          </a:p>
          <a:p>
            <a:r>
              <a:t>Media: television before age 2 decreases language skills; total quality media ≤1 hour/day for</a:t>
            </a:r>
          </a:p>
          <a:p>
            <a:r>
              <a:t>toddlers.</a:t>
            </a:r>
          </a:p>
          <a:p>
            <a:r>
              <a:t>Play: parallel play (alongside, not with others) with imitation; the best "toy" is adult-child interaction.</a:t>
            </a:r>
          </a:p>
          <a:p>
            <a:r>
              <a:t>Safety: unintentional injury is the leading cause of death ages 1-19 (~37%); rear-facing car seat for as</a:t>
            </a:r>
          </a:p>
          <a:p>
            <a:r>
              <a:t>long as possible up to the manufacturer's weight/height limit, then a forward-facing seat with</a:t>
            </a:r>
          </a:p>
          <a:p>
            <a:r>
              <a:t>harness, then a belt-positioning booster until 145 cm (4 ft 9 in) or 8-12 years; gates at both stair ends;</a:t>
            </a:r>
          </a:p>
          <a:p>
            <a:r>
              <a:t>waterproofing — the highest drowning rate occurs in 1- to 2-year-olds, so constant supervision is</a:t>
            </a:r>
          </a:p>
          <a:p>
            <a:r>
              <a:t>needed in and around all water; water heater ≤49°C; poisoning only locked cabinets protect</a:t>
            </a:r>
          </a:p>
          <a:p>
            <a:r>
              <a:t>(cosmetics, analgesics, cleaners top exposures); hot-car hyperthermia deaths are preventable.</a:t>
            </a:r>
          </a:p>
          <a:p>
            <a:r>
              <a:t>Preschooler — 3-6 years</a:t>
            </a:r>
          </a:p>
          <a:p>
            <a:r>
              <a:t>Development: Erikson initiative vs guilt; the superego/conscience develops; magical thinking makes</a:t>
            </a:r>
          </a:p>
          <a:p>
            <a:r>
              <a:t>words literal — say "that was a bad thing to do," not "you are bad"; identification with the same-sex</a:t>
            </a:r>
          </a:p>
          <a:p>
            <a:r>
              <a:t>parent resolves the Oedipal stage.</a:t>
            </a:r>
          </a:p>
          <a:p>
            <a:r>
              <a:t>Fears: the greatest number and variety of fears appear in the preschool years (dark, being left alone,</a:t>
            </a:r>
          </a:p>
          <a:p>
            <a:r>
              <a:t>animals, ghosts, annihilation); most resolve by 5-6 years. Management: night-light,</a:t>
            </a:r>
          </a:p>
          <a:p>
            <a:r>
              <a:t>desensitization/modeling, relaxation, brave self-talk. Refer severe fears that disrupt family life.</a:t>
            </a:r>
          </a:p>
          <a:p>
            <a:r>
              <a:t>Imaginary friends usually appear 2½-3 years and last until school entry (more common in firstborns</a:t>
            </a:r>
          </a:p>
          <a:p>
            <a:r>
              <a:t>and girls) — a sign of health; parents may acknowledge the friend but the child stays responsible for</a:t>
            </a:r>
          </a:p>
          <a:p>
            <a:r>
              <a:t>behavior.</a:t>
            </a:r>
          </a:p>
          <a:p>
            <a:r>
              <a:t>Play: associative play (similar activity, no rigid rules); dramatic/imitative play is central; 4-5-year-olds</a:t>
            </a:r>
          </a:p>
          <a:p>
            <a:r>
              <a:t>reproduce significant-adult behavior.</a:t>
            </a:r>
          </a:p>
          <a:p>
            <a:r>
              <a:t>Language: vocabulary grows from ~300 words at 2 years to &gt;2100 by the end of 5 years.</a:t>
            </a:r>
          </a:p>
          <a:p>
            <a:r>
              <a:t>School readiness: no single readiness indicator; social maturation (especially attention span) matters</a:t>
            </a:r>
          </a:p>
          <a:p>
            <a:r>
              <a:t>as much as academics; school begins between ages 5 and 6.</a:t>
            </a:r>
          </a:p>
          <a:p>
            <a:r>
              <a:t>Nutrition: ~90 kcal/kg ≈ 1800 kcal/day; fluids ~100 ml/kg/day; protein 13-19 g/day; fiber = age + 5</a:t>
            </a:r>
          </a:p>
          <a:p>
            <a:r>
              <a:t>g; saturated fat &lt;10% of calories; calcium 1000 mg/day (4-8 yr); juice/sweetened drinks ≤4-6 oz/day;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communicates, imitates); psychologic (wishes to please, sits 5-8 min); and parental readiness (no</a:t>
            </a:r>
          </a:p>
          <a:p>
            <a:r>
              <a:t>family stress from move, divorce, new sibling). Average initiation ~20.6 months; girls 2-2.5 months</a:t>
            </a:r>
          </a:p>
          <a:p>
            <a:r>
              <a:t>before boys; no benefit of intensive training before 27 months; bowel training precedes bladder;</a:t>
            </a:r>
          </a:p>
          <a:p>
            <a:r>
              <a:t>nighttime dryness takes months-years (bedwetting normal in girls ≤4, boys ≤5; no night dryness by 6</a:t>
            </a:r>
          </a:p>
          <a:p>
            <a:r>
              <a:t>years → intervene). Regression is a normal temporary setback.</a:t>
            </a:r>
          </a:p>
          <a:p>
            <a:r>
              <a:t>Sleep: ~11-12 hours with one nap; bedtime resistance and fear of monsters are common later —</a:t>
            </a:r>
          </a:p>
          <a:p>
            <a:r>
              <a:t>regular routine, transitional object, snack, TV out of the room.</a:t>
            </a:r>
          </a:p>
          <a:p>
            <a:r>
              <a:t>Media: television before age 2 decreases language skills; total quality media ≤1 hour/day for</a:t>
            </a:r>
          </a:p>
          <a:p>
            <a:r>
              <a:t>toddlers.</a:t>
            </a:r>
          </a:p>
          <a:p>
            <a:r>
              <a:t>Play: parallel play (alongside, not with others) with imitation; the best "toy" is adult-child interaction.</a:t>
            </a:r>
          </a:p>
          <a:p>
            <a:r>
              <a:t>Safety: unintentional injury is the leading cause of death ages 1-19 (~37%); rear-facing car seat for as</a:t>
            </a:r>
          </a:p>
          <a:p>
            <a:r>
              <a:t>long as possible up to the manufacturer's weight/height limit, then a forward-facing seat with</a:t>
            </a:r>
          </a:p>
          <a:p>
            <a:r>
              <a:t>harness, then a belt-positioning booster until 145 cm (4 ft 9 in) or 8-12 years; gates at both stair ends;</a:t>
            </a:r>
          </a:p>
          <a:p>
            <a:r>
              <a:t>waterproofing — the highest drowning rate occurs in 1- to 2-year-olds, so constant supervision is</a:t>
            </a:r>
          </a:p>
          <a:p>
            <a:r>
              <a:t>needed in and around all water; water heater ≤49°C; poisoning only locked cabinets protect</a:t>
            </a:r>
          </a:p>
          <a:p>
            <a:r>
              <a:t>(cosmetics, analgesics, cleaners top exposures); hot-car hyperthermia deaths are preventable.</a:t>
            </a:r>
          </a:p>
          <a:p>
            <a:r>
              <a:t>Preschooler — 3-6 years</a:t>
            </a:r>
          </a:p>
          <a:p>
            <a:r>
              <a:t>Development: Erikson initiative vs guilt; the superego/conscience develops; magical thinking makes</a:t>
            </a:r>
          </a:p>
          <a:p>
            <a:r>
              <a:t>words literal — say "that was a bad thing to do," not "you are bad"; identification with the same-sex</a:t>
            </a:r>
          </a:p>
          <a:p>
            <a:r>
              <a:t>parent resolves the Oedipal stage.</a:t>
            </a:r>
          </a:p>
          <a:p>
            <a:r>
              <a:t>Fears: the greatest number and variety of fears appear in the preschool years (dark, being left alone,</a:t>
            </a:r>
          </a:p>
          <a:p>
            <a:r>
              <a:t>animals, ghosts, annihilation); most resolve by 5-6 years. Management: night-light,</a:t>
            </a:r>
          </a:p>
          <a:p>
            <a:r>
              <a:t>desensitization/modeling, relaxation, brave self-talk. Refer severe fears that disrupt family life.</a:t>
            </a:r>
          </a:p>
          <a:p>
            <a:r>
              <a:t>Imaginary friends usually appear 2½-3 years and last until school entry (more common in firstborns</a:t>
            </a:r>
          </a:p>
          <a:p>
            <a:r>
              <a:t>and girls) — a sign of health; parents may acknowledge the friend but the child stays responsible for</a:t>
            </a:r>
          </a:p>
          <a:p>
            <a:r>
              <a:t>behavior.</a:t>
            </a:r>
          </a:p>
          <a:p>
            <a:r>
              <a:t>Play: associative play (similar activity, no rigid rules); dramatic/imitative play is central; 4-5-year-olds</a:t>
            </a:r>
          </a:p>
          <a:p>
            <a:r>
              <a:t>reproduce significant-adult behavior.</a:t>
            </a:r>
          </a:p>
          <a:p>
            <a:r>
              <a:t>Language: vocabulary grows from ~300 words at 2 years to &gt;2100 by the end of 5 years.</a:t>
            </a:r>
          </a:p>
          <a:p>
            <a:r>
              <a:t>School readiness: no single readiness indicator; social maturation (especially attention span) matters</a:t>
            </a:r>
          </a:p>
          <a:p>
            <a:r>
              <a:t>as much as academics; school begins between ages 5 and 6.</a:t>
            </a:r>
          </a:p>
          <a:p>
            <a:r>
              <a:t>Nutrition: ~90 kcal/kg ≈ 1800 kcal/day; fluids ~100 ml/kg/day; protein 13-19 g/day; fiber = age + 5</a:t>
            </a:r>
          </a:p>
          <a:p>
            <a:r>
              <a:t>g; saturated fat &lt;10% of calories; calcium 1000 mg/day (4-8 yr); juice/sweetened drinks ≤4-6 oz/day;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follow the 5-2-1-0 framework (5 fruits/vegetables, ≤2 hours of screen, 0 sugar-sweetened drinks, 1</a:t>
            </a:r>
          </a:p>
          <a:p>
            <a:r>
              <a:t>hour activity); preschoolers eat about half an adult portion.</a:t>
            </a:r>
          </a:p>
          <a:p>
            <a:r>
              <a:t>Sleep &amp; dental: ~12 hours nightly with infrequent naps; night waking is common. Primary dentition</a:t>
            </a:r>
          </a:p>
          <a:p>
            <a:r>
              <a:t>is complete by the start of the preschool years; brushing still needs adult assistance and flossing is a</a:t>
            </a:r>
          </a:p>
          <a:p>
            <a:r>
              <a:t>parent's task; continue professional care and fluoride.</a:t>
            </a:r>
          </a:p>
          <a:p>
            <a:r>
              <a:t>Discipline: verbal limit-setting works better than with toddlers — the child obeys danger warnings;</a:t>
            </a:r>
          </a:p>
          <a:p>
            <a:r>
              <a:t>allowing questions and disagreement fosters independence; time-out and solitary play stop</a:t>
            </a:r>
          </a:p>
          <a:p>
            <a:r>
              <a:t>aggression; spanking teaches aggression "as a lesson"; encourage verbal expression of feelings.</a:t>
            </a:r>
          </a:p>
          <a:p>
            <a:r>
              <a:t>Safety: less prone to falls and more aware of danger; poisoning still dangerous (mouthing has</a:t>
            </a:r>
          </a:p>
          <a:p>
            <a:r>
              <a:t>ceased); pedestrian-vehicle injuries increase; teaching replaces pure protection — parents model</a:t>
            </a:r>
          </a:p>
          <a:p>
            <a:r>
              <a:t>behavior (bicycle helmets); electrical-outlet caps can be discontinued with an explanation.</a:t>
            </a:r>
          </a:p>
          <a:p>
            <a:r>
              <a:t>Red flags: severe fears disrupting family life; extreme aggression (needs professional treatment);</a:t>
            </a:r>
          </a:p>
          <a:p>
            <a:r>
              <a:t>stuttering with no improvement over &gt;6 months → speech evaluation; injury-prevention education</a:t>
            </a:r>
          </a:p>
          <a:p>
            <a:r>
              <a:t>for 4½-year-old risk takers.</a:t>
            </a:r>
          </a:p>
          <a:p>
            <a:r>
              <a:t>School-age — 6-12 years</a:t>
            </a:r>
          </a:p>
          <a:p>
            <a:r>
              <a:t>Growth: ~5 cm/yr; weight gain 2-3 kg/yr; average 6-year-old ≈116 cm/21 kg; average 12-year-old</a:t>
            </a:r>
          </a:p>
          <a:p>
            <a:r>
              <a:t>≈150 cm/40 kg; girls surpass boys in height and weight near the end. Prepubescence is the ~2-year</a:t>
            </a:r>
          </a:p>
          <a:p>
            <a:r>
              <a:t>period preceding puberty; first physiologic signs about 9 years (girls). All primary teeth are shed in</a:t>
            </a:r>
          </a:p>
          <a:p>
            <a:r>
              <a:t>this span — the first tooth (central mandibular incisors) is lost at about 6 years ("age of the loose</a:t>
            </a:r>
          </a:p>
          <a:p>
            <a:r>
              <a:t>tooth"); the 6-year molar erupts behind the deciduous molars; 60% of children have dental caries by</a:t>
            </a:r>
          </a:p>
          <a:p>
            <a:r>
              <a:t>age 5.</a:t>
            </a:r>
          </a:p>
          <a:p>
            <a:r>
              <a:t>Psychosocial: Erikson industry vs inferiority — competence through skills; peers become central</a:t>
            </a:r>
          </a:p>
          <a:p>
            <a:r>
              <a:t>(same-sex "best friends", clubs with codes and conformity); bullying affects ~25% of elementary</a:t>
            </a:r>
          </a:p>
          <a:p>
            <a:r>
              <a:t>students as bully or victim, and cyberbullying can be more harmful (anonymous, wide audience);</a:t>
            </a:r>
          </a:p>
          <a:p>
            <a:r>
              <a:t>teach reporting and family conversation. Physical maturity ≠ emotional maturity.</a:t>
            </a:r>
          </a:p>
          <a:p>
            <a:r>
              <a:t>Cognitive: concrete operations 7-11 years; conservation of number 5-6, liquid/mass/length 6-7,</a:t>
            </a:r>
          </a:p>
          <a:p>
            <a:r>
              <a:t>weight 9-10, volume 9-12; reading is the most significant school skill; homework: quiet, well-lit area,</a:t>
            </a:r>
          </a:p>
          <a:p>
            <a:r>
              <a:t>no TV until done, explain rather than answer.</a:t>
            </a:r>
          </a:p>
          <a:p>
            <a:r>
              <a:t>Nutrition: caloric needs are lower than preschool and lower than the adolescent growth spurt;</a:t>
            </a:r>
          </a:p>
          <a:p>
            <a:r>
              <a:t>children eat what the family eats; encourage fruit, nuts, and wholesome snacks; obesity prevalence is</a:t>
            </a:r>
          </a:p>
          <a:p>
            <a:r>
              <a:t>stable at ~17% and higher in rural/socioeconomically distressed families; school-lunch programs</a:t>
            </a:r>
          </a:p>
          <a:p>
            <a:r>
              <a:t>must supply 1/3 of the daily RDA.</a:t>
            </a:r>
          </a:p>
          <a:p>
            <a:r>
              <a:t>Safety: motor-vehicle crashes are the most common cause of severe accidental injury/death (as</a:t>
            </a:r>
          </a:p>
          <a:p>
            <a:r>
              <a:t>passenger or pedestrian); children &lt;13 years ride in the rear, never the front passenger seat with an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follow the 5-2-1-0 framework (5 fruits/vegetables, ≤2 hours of screen, 0 sugar-sweetened drinks, 1</a:t>
            </a:r>
          </a:p>
          <a:p>
            <a:r>
              <a:t>hour activity); preschoolers eat about half an adult portion.</a:t>
            </a:r>
          </a:p>
          <a:p>
            <a:r>
              <a:t>Sleep &amp; dental: ~12 hours nightly with infrequent naps; night waking is common. Primary dentition</a:t>
            </a:r>
          </a:p>
          <a:p>
            <a:r>
              <a:t>is complete by the start of the preschool years; brushing still needs adult assistance and flossing is a</a:t>
            </a:r>
          </a:p>
          <a:p>
            <a:r>
              <a:t>parent's task; continue professional care and fluoride.</a:t>
            </a:r>
          </a:p>
          <a:p>
            <a:r>
              <a:t>Discipline: verbal limit-setting works better than with toddlers — the child obeys danger warnings;</a:t>
            </a:r>
          </a:p>
          <a:p>
            <a:r>
              <a:t>allowing questions and disagreement fosters independence; time-out and solitary play stop</a:t>
            </a:r>
          </a:p>
          <a:p>
            <a:r>
              <a:t>aggression; spanking teaches aggression "as a lesson"; encourage verbal expression of feelings.</a:t>
            </a:r>
          </a:p>
          <a:p>
            <a:r>
              <a:t>Safety: less prone to falls and more aware of danger; poisoning still dangerous (mouthing has</a:t>
            </a:r>
          </a:p>
          <a:p>
            <a:r>
              <a:t>ceased); pedestrian-vehicle injuries increase; teaching replaces pure protection — parents model</a:t>
            </a:r>
          </a:p>
          <a:p>
            <a:r>
              <a:t>behavior (bicycle helmets); electrical-outlet caps can be discontinued with an explanation.</a:t>
            </a:r>
          </a:p>
          <a:p>
            <a:r>
              <a:t>Red flags: severe fears disrupting family life; extreme aggression (needs professional treatment);</a:t>
            </a:r>
          </a:p>
          <a:p>
            <a:r>
              <a:t>stuttering with no improvement over &gt;6 months → speech evaluation; injury-prevention education</a:t>
            </a:r>
          </a:p>
          <a:p>
            <a:r>
              <a:t>for 4½-year-old risk takers.</a:t>
            </a:r>
          </a:p>
          <a:p>
            <a:r>
              <a:t>School-age — 6-12 years</a:t>
            </a:r>
          </a:p>
          <a:p>
            <a:r>
              <a:t>Growth: ~5 cm/yr; weight gain 2-3 kg/yr; average 6-year-old ≈116 cm/21 kg; average 12-year-old</a:t>
            </a:r>
          </a:p>
          <a:p>
            <a:r>
              <a:t>≈150 cm/40 kg; girls surpass boys in height and weight near the end. Prepubescence is the ~2-year</a:t>
            </a:r>
          </a:p>
          <a:p>
            <a:r>
              <a:t>period preceding puberty; first physiologic signs about 9 years (girls). All primary teeth are shed in</a:t>
            </a:r>
          </a:p>
          <a:p>
            <a:r>
              <a:t>this span — the first tooth (central mandibular incisors) is lost at about 6 years ("age of the loose</a:t>
            </a:r>
          </a:p>
          <a:p>
            <a:r>
              <a:t>tooth"); the 6-year molar erupts behind the deciduous molars; 60% of children have dental caries by</a:t>
            </a:r>
          </a:p>
          <a:p>
            <a:r>
              <a:t>age 5.</a:t>
            </a:r>
          </a:p>
          <a:p>
            <a:r>
              <a:t>Psychosocial: Erikson industry vs inferiority — competence through skills; peers become central</a:t>
            </a:r>
          </a:p>
          <a:p>
            <a:r>
              <a:t>(same-sex "best friends", clubs with codes and conformity); bullying affects ~25% of elementary</a:t>
            </a:r>
          </a:p>
          <a:p>
            <a:r>
              <a:t>students as bully or victim, and cyberbullying can be more harmful (anonymous, wide audience);</a:t>
            </a:r>
          </a:p>
          <a:p>
            <a:r>
              <a:t>teach reporting and family conversation. Physical maturity ≠ emotional maturity.</a:t>
            </a:r>
          </a:p>
          <a:p>
            <a:r>
              <a:t>Cognitive: concrete operations 7-11 years; conservation of number 5-6, liquid/mass/length 6-7,</a:t>
            </a:r>
          </a:p>
          <a:p>
            <a:r>
              <a:t>weight 9-10, volume 9-12; reading is the most significant school skill; homework: quiet, well-lit area,</a:t>
            </a:r>
          </a:p>
          <a:p>
            <a:r>
              <a:t>no TV until done, explain rather than answer.</a:t>
            </a:r>
          </a:p>
          <a:p>
            <a:r>
              <a:t>Nutrition: caloric needs are lower than preschool and lower than the adolescent growth spurt;</a:t>
            </a:r>
          </a:p>
          <a:p>
            <a:r>
              <a:t>children eat what the family eats; encourage fruit, nuts, and wholesome snacks; obesity prevalence is</a:t>
            </a:r>
          </a:p>
          <a:p>
            <a:r>
              <a:t>stable at ~17% and higher in rural/socioeconomically distressed families; school-lunch programs</a:t>
            </a:r>
          </a:p>
          <a:p>
            <a:r>
              <a:t>must supply 1/3 of the daily RDA.</a:t>
            </a:r>
          </a:p>
          <a:p>
            <a:r>
              <a:t>Safety: motor-vehicle crashes are the most common cause of severe accidental injury/death (as</a:t>
            </a:r>
          </a:p>
          <a:p>
            <a:r>
              <a:t>passenger or pedestrian); children &lt;13 years ride in the rear, never the front passenger seat with an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air bag; over 18 kg (40 lb) use a forward-facing convertible seat if it fits, then a booster until the lap-</a:t>
            </a:r>
          </a:p>
          <a:p>
            <a:r>
              <a:t>shoulder belt fits; no one rides in a pickup-truck bed; ATVs are not recommended under 16 years;</a:t>
            </a:r>
          </a:p>
          <a:p>
            <a:r>
              <a:t>bicycle helmets cut head injury ~45%, brain injury ~33%, facial injury ~27%, fatal injury ~29% —</a:t>
            </a:r>
          </a:p>
          <a:p>
            <a:r>
              <a:t>helmet every ride, the bike must fit; trampolines: single jumper, no somersaults, ≥6 years; skateboards</a:t>
            </a:r>
          </a:p>
          <a:p>
            <a:r>
              <a:t>&lt;5 years never, 6-10 only with close supervision and full padding; participation physical exams ≥every</a:t>
            </a:r>
          </a:p>
          <a:p>
            <a:r>
              <a:t>2 years for sports; firearms locked.</a:t>
            </a:r>
          </a:p>
          <a:p>
            <a:r>
              <a:t>Sleep &amp; dental: sleep falls from ~11.5 hours at 5 years to ~9 hours at 11; up to 50% of children have</a:t>
            </a:r>
          </a:p>
          <a:p>
            <a:r>
              <a:t>nightmares; sleepwalking is common (3-5% frequent) in the first 3-4 hours of sleep. Children may</a:t>
            </a:r>
          </a:p>
          <a:p>
            <a:r>
              <a:t>need help with brushing until ~7-10 years — parents monitor and floss at least daily; brush 2-3×/day</a:t>
            </a:r>
          </a:p>
          <a:p>
            <a:r>
              <a:t>for 2-3 minutes with fluoridated toothpaste; dental examinations every 6 months; dental sealants are</a:t>
            </a:r>
          </a:p>
          <a:p>
            <a:r>
              <a:t>recommended for all school-age children.</a:t>
            </a:r>
          </a:p>
          <a:p>
            <a:r>
              <a:t>Discipline: no corporal punishment — reasoning is effective; time-out for acute behavior; advanced</a:t>
            </a:r>
          </a:p>
          <a:p>
            <a:r>
              <a:t>strategies include withholding privileges, recompense, penalties, and contracting; problem-solving is</a:t>
            </a:r>
          </a:p>
          <a:p>
            <a:r>
              <a:t>the best limit-setting approach; discipline works best in a positive, supportive relationship.</a:t>
            </a:r>
          </a:p>
          <a:p>
            <a:r>
              <a:t>Guidance box highlights: age 6 — ravenous appetite, bicycle safety, privacy (separate bedroom),</a:t>
            </a:r>
          </a:p>
          <a:p>
            <a:r>
              <a:t>peer interaction; ages 7-10 — allergies may appear, minor injuries increase, growth of peer</a:t>
            </a:r>
          </a:p>
          <a:p>
            <a:r>
              <a:t>involvement, independence with limits; ages 11-12 — prepare for pubescent body changes, accurate</a:t>
            </a:r>
          </a:p>
          <a:p>
            <a:r>
              <a:t>sex education, allow regression while supporting growing up.</a:t>
            </a:r>
          </a:p>
          <a:p>
            <a:r>
              <a:t>Stress signals (explore further): stomach pains/headache, sleep problems, bed-wetting, eating-</a:t>
            </a:r>
          </a:p>
          <a:p>
            <a:r>
              <a:t>habit changes, aggressive/stubborn behavior, reluctance to participate, regression (e.g., thumb</a:t>
            </a:r>
          </a:p>
          <a:p>
            <a:r>
              <a:t>sucking).</a:t>
            </a:r>
          </a:p>
          <a:p>
            <a:r>
              <a:t>Adolescent — 12-20 years</a:t>
            </a:r>
          </a:p>
          <a:p>
            <a:r>
              <a:t>The full adolescent assessment (confidentiality, Tanner staging, HEEADSSS interview, risk-behavior</a:t>
            </a:r>
          </a:p>
          <a:p>
            <a:r>
              <a:t>screening, annual visits) is built in Chapter 8. Guidance points that belong to every clinic visit here:</a:t>
            </a:r>
          </a:p>
          <a:p>
            <a:r>
              <a:t>Annual influenza vaccination (live-attenuated or inactivated) is recommended for all adolescents.</a:t>
            </a:r>
          </a:p>
          <a:p>
            <a:r>
              <a:t>Tdap: recommended at 11-18 years for those who completed the childhood DTaP/DTP series and</a:t>
            </a:r>
          </a:p>
          <a:p>
            <a:r>
              <a:t>have not received a tetanus booster; may be given before the 5-year Td interval to close the pertussis</a:t>
            </a:r>
          </a:p>
          <a:p>
            <a:r>
              <a:t>gap.</a:t>
            </a:r>
          </a:p>
          <a:p>
            <a:r>
              <a:t>Meningococcal (MenACWY): at 11-12 years with a booster before age 16; a single dose at 13-18</a:t>
            </a:r>
          </a:p>
          <a:p>
            <a:r>
              <a:t>years if never vaccinated.</a:t>
            </a:r>
          </a:p>
          <a:p>
            <a:r>
              <a:t>HPV: the 9-valent vaccine (Gardasil 9) from a minimum age of 9 years, routine at 11-12 years; two</a:t>
            </a:r>
          </a:p>
          <a:p>
            <a:r>
              <a:t>doses if the series starts at 9-14 years, three doses for a start at 15 years or later or in</a:t>
            </a:r>
          </a:p>
          <a:p>
            <a:r>
              <a:t>immunocompromised persons.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air bag; over 18 kg (40 lb) use a forward-facing convertible seat if it fits, then a booster until the lap-</a:t>
            </a:r>
          </a:p>
          <a:p>
            <a:r>
              <a:t>shoulder belt fits; no one rides in a pickup-truck bed; ATVs are not recommended under 16 years;</a:t>
            </a:r>
          </a:p>
          <a:p>
            <a:r>
              <a:t>bicycle helmets cut head injury ~45%, brain injury ~33%, facial injury ~27%, fatal injury ~29% —</a:t>
            </a:r>
          </a:p>
          <a:p>
            <a:r>
              <a:t>helmet every ride, the bike must fit; trampolines: single jumper, no somersaults, ≥6 years; skateboards</a:t>
            </a:r>
          </a:p>
          <a:p>
            <a:r>
              <a:t>&lt;5 years never, 6-10 only with close supervision and full padding; participation physical exams ≥every</a:t>
            </a:r>
          </a:p>
          <a:p>
            <a:r>
              <a:t>2 years for sports; firearms locked.</a:t>
            </a:r>
          </a:p>
          <a:p>
            <a:r>
              <a:t>Sleep &amp; dental: sleep falls from ~11.5 hours at 5 years to ~9 hours at 11; up to 50% of children have</a:t>
            </a:r>
          </a:p>
          <a:p>
            <a:r>
              <a:t>nightmares; sleepwalking is common (3-5% frequent) in the first 3-4 hours of sleep. Children may</a:t>
            </a:r>
          </a:p>
          <a:p>
            <a:r>
              <a:t>need help with brushing until ~7-10 years — parents monitor and floss at least daily; brush 2-3×/day</a:t>
            </a:r>
          </a:p>
          <a:p>
            <a:r>
              <a:t>for 2-3 minutes with fluoridated toothpaste; dental examinations every 6 months; dental sealants are</a:t>
            </a:r>
          </a:p>
          <a:p>
            <a:r>
              <a:t>recommended for all school-age children.</a:t>
            </a:r>
          </a:p>
          <a:p>
            <a:r>
              <a:t>Discipline: no corporal punishment — reasoning is effective; time-out for acute behavior; advanced</a:t>
            </a:r>
          </a:p>
          <a:p>
            <a:r>
              <a:t>strategies include withholding privileges, recompense, penalties, and contracting; problem-solving is</a:t>
            </a:r>
          </a:p>
          <a:p>
            <a:r>
              <a:t>the best limit-setting approach; discipline works best in a positive, supportive relationship.</a:t>
            </a:r>
          </a:p>
          <a:p>
            <a:r>
              <a:t>Guidance box highlights: age 6 — ravenous appetite, bicycle safety, privacy (separate bedroom),</a:t>
            </a:r>
          </a:p>
          <a:p>
            <a:r>
              <a:t>peer interaction; ages 7-10 — allergies may appear, minor injuries increase, growth of peer</a:t>
            </a:r>
          </a:p>
          <a:p>
            <a:r>
              <a:t>involvement, independence with limits; ages 11-12 — prepare for pubescent body changes, accurate</a:t>
            </a:r>
          </a:p>
          <a:p>
            <a:r>
              <a:t>sex education, allow regression while supporting growing up.</a:t>
            </a:r>
          </a:p>
          <a:p>
            <a:r>
              <a:t>Stress signals (explore further): stomach pains/headache, sleep problems, bed-wetting, eating-</a:t>
            </a:r>
          </a:p>
          <a:p>
            <a:r>
              <a:t>habit changes, aggressive/stubborn behavior, reluctance to participate, regression (e.g., thumb</a:t>
            </a:r>
          </a:p>
          <a:p>
            <a:r>
              <a:t>sucking).</a:t>
            </a:r>
          </a:p>
          <a:p>
            <a:r>
              <a:t>Adolescent — 12-20 years</a:t>
            </a:r>
          </a:p>
          <a:p>
            <a:r>
              <a:t>The full adolescent assessment (confidentiality, Tanner staging, HEEADSSS interview, risk-behavior</a:t>
            </a:r>
          </a:p>
          <a:p>
            <a:r>
              <a:t>screening, annual visits) is built in Chapter 8. Guidance points that belong to every clinic visit here:</a:t>
            </a:r>
          </a:p>
          <a:p>
            <a:r>
              <a:t>Annual influenza vaccination (live-attenuated or inactivated) is recommended for all adolescents.</a:t>
            </a:r>
          </a:p>
          <a:p>
            <a:r>
              <a:t>Tdap: recommended at 11-18 years for those who completed the childhood DTaP/DTP series and</a:t>
            </a:r>
          </a:p>
          <a:p>
            <a:r>
              <a:t>have not received a tetanus booster; may be given before the 5-year Td interval to close the pertussis</a:t>
            </a:r>
          </a:p>
          <a:p>
            <a:r>
              <a:t>gap.</a:t>
            </a:r>
          </a:p>
          <a:p>
            <a:r>
              <a:t>Meningococcal (MenACWY): at 11-12 years with a booster before age 16; a single dose at 13-18</a:t>
            </a:r>
          </a:p>
          <a:p>
            <a:r>
              <a:t>years if never vaccinated.</a:t>
            </a:r>
          </a:p>
          <a:p>
            <a:r>
              <a:t>HPV: the 9-valent vaccine (Gardasil 9) from a minimum age of 9 years, routine at 11-12 years; two</a:t>
            </a:r>
          </a:p>
          <a:p>
            <a:r>
              <a:t>doses if the series starts at 9-14 years, three doses for a start at 15 years or later or in</a:t>
            </a:r>
          </a:p>
          <a:p>
            <a:r>
              <a:t>immunocompromised persons.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Varicella: for those without a history of infection — two doses ≥4 weeks apart for ages ≥13 years.</a:t>
            </a:r>
          </a:p>
          <a:p>
            <a:r>
              <a:t>Hepatitis B: three-dose series for anyone not previously covered. Hepatitis A in targeted areas or</a:t>
            </a:r>
          </a:p>
          <a:p>
            <a:r>
              <a:t>when immunity is desired.</a:t>
            </a:r>
          </a:p>
          <a:p>
            <a:r>
              <a:t>Confidentiality: offers of confidential services are critical for sensitive topics (sexual behavior,</a:t>
            </a:r>
          </a:p>
          <a:p>
            <a:r>
              <a:t>substance use); many teenagers avoid care if they believe their parents will be told.</a:t>
            </a:r>
          </a:p>
          <a:p>
            <a:r>
              <a:t>HEEADSSS interview (Ch. 8): Home / Education / Eating / Activities / Drugs / Sexuality / Suicide-</a:t>
            </a:r>
          </a:p>
          <a:p>
            <a:r>
              <a:t>depression / Safety.</a:t>
            </a:r>
          </a:p>
          <a:p>
            <a:r>
              <a:t>Figure 4.4 Anticipatory-guidance themes across the five age blocks: infant, toddler, preschooler,</a:t>
            </a:r>
          </a:p>
          <a:p>
            <a:r>
              <a:t>school-age, and adolescent (full adolescent assessment in Chapter 8).</a:t>
            </a:r>
          </a:p>
          <a:p>
            <a:r>
              <a:t>4.5 Immunization Administration in the Clinic</a:t>
            </a:r>
          </a:p>
          <a:p>
            <a:r>
              <a:t>Immunization is a central component of every preventive visit. The steps below cover the record,</a:t>
            </a:r>
          </a:p>
          <a:p>
            <a:r>
              <a:t>the history, and the age-specific immunizations used in the clinic. Whenever a vaccine is due,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Varicella: for those without a history of infection — two doses ≥4 weeks apart for ages ≥13 years.</a:t>
            </a:r>
          </a:p>
          <a:p>
            <a:r>
              <a:t>Hepatitis B: three-dose series for anyone not previously covered. Hepatitis A in targeted areas or</a:t>
            </a:r>
          </a:p>
          <a:p>
            <a:r>
              <a:t>when immunity is desired.</a:t>
            </a:r>
          </a:p>
          <a:p>
            <a:r>
              <a:t>Confidentiality: offers of confidential services are critical for sensitive topics (sexual behavior,</a:t>
            </a:r>
          </a:p>
          <a:p>
            <a:r>
              <a:t>substance use); many teenagers avoid care if they believe their parents will be told.</a:t>
            </a:r>
          </a:p>
          <a:p>
            <a:r>
              <a:t>HEEADSSS interview (Ch. 8): Home / Education / Eating / Activities / Drugs / Sexuality / Suicide-</a:t>
            </a:r>
          </a:p>
          <a:p>
            <a:r>
              <a:t>depression / Safety.</a:t>
            </a:r>
          </a:p>
          <a:p>
            <a:r>
              <a:t>Figure 4.4 Anticipatory-guidance themes across the five age blocks: infant, toddler, preschooler,</a:t>
            </a:r>
          </a:p>
          <a:p>
            <a:r>
              <a:t>school-age, and adolescent (full adolescent assessment in Chapter 8).</a:t>
            </a:r>
          </a:p>
          <a:p>
            <a:r>
              <a:t>4.5 Immunization Administration in the Clinic</a:t>
            </a:r>
          </a:p>
          <a:p>
            <a:r>
              <a:t>Immunization is a central component of every preventive visit. The steps below cover the record,</a:t>
            </a:r>
          </a:p>
          <a:p>
            <a:r>
              <a:t>the history, and the age-specific immunizations used in the clinic. Whenever a vaccine is due,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 official printed schedule, which is the definitive reference for routine infant and toddler</a:t>
            </a:r>
          </a:p>
          <a:p>
            <a:r>
              <a:t>doses.</a:t>
            </a:r>
          </a:p>
          <a:p>
            <a:r>
              <a:t>Step</a:t>
            </a:r>
          </a:p>
          <a:p>
            <a:r>
              <a:t>Detail</a:t>
            </a:r>
          </a:p>
          <a:p>
            <a:r>
              <a:t>Immunization</a:t>
            </a:r>
          </a:p>
          <a:p>
            <a:r>
              <a:t>record</a:t>
            </a:r>
          </a:p>
          <a:p>
            <a:r>
              <a:t>Essential at every visit; parents are often unaware of exact names and dates — the</a:t>
            </a:r>
          </a:p>
          <a:p>
            <a:r>
              <a:t>most reliable record is the hospital/clinic/private-practitioner record. For each</a:t>
            </a:r>
          </a:p>
          <a:p>
            <a:r>
              <a:t>immunization and booster record: disease, number of injections, dosage, ages given,</a:t>
            </a:r>
          </a:p>
          <a:p>
            <a:r>
              <a:t>and any post-immunization reaction</a:t>
            </a:r>
          </a:p>
          <a:p>
            <a:r>
              <a:t>History before</a:t>
            </a:r>
          </a:p>
          <a:p>
            <a:r>
              <a:t>vaccinating</a:t>
            </a:r>
          </a:p>
          <a:p>
            <a:r>
              <a:t>Recent immune globulin or blood transfusion necessitates a delay in live vaccines; ask</a:t>
            </a:r>
          </a:p>
          <a:p>
            <a:r>
              <a:t>about prior horse/foreign serum and anaphylactic reactions to neomycin, eggs, or</a:t>
            </a:r>
          </a:p>
          <a:p>
            <a:r>
              <a:t>vaccine components</a:t>
            </a:r>
          </a:p>
          <a:p>
            <a:r>
              <a:t>Stress</a:t>
            </a:r>
          </a:p>
          <a:p>
            <a:r>
              <a:t>immunization</a:t>
            </a:r>
          </a:p>
          <a:p>
            <a:r>
              <a:t>needs</a:t>
            </a:r>
          </a:p>
          <a:p>
            <a:r>
              <a:t>Anticipatory guidance at infant visits must stress the need for immunization</a:t>
            </a:r>
          </a:p>
          <a:p>
            <a:r>
              <a:t>Newborn doses</a:t>
            </a:r>
          </a:p>
          <a:p>
            <a:r>
              <a:t>(Ch. 3)</a:t>
            </a:r>
          </a:p>
          <a:p>
            <a:r>
              <a:t>Vitamin K IM 0.5-1.0 mg vastus lateralis; hepatitis B dose 1 (birth-2 months) — see</a:t>
            </a:r>
          </a:p>
          <a:p>
            <a:r>
              <a:t>Chapter 3</a:t>
            </a:r>
          </a:p>
          <a:p>
            <a:r>
              <a:t>Adolescent catch-</a:t>
            </a:r>
          </a:p>
          <a:p>
            <a:r>
              <a:t>up/boosters</a:t>
            </a:r>
          </a:p>
          <a:p>
            <a:r>
              <a:t>Tdap at 11-18 yr for those not yet boosted; MenACWY at 11-12 yr with booster before</a:t>
            </a:r>
          </a:p>
          <a:p>
            <a:r>
              <a:t>16; HPV series from minimum age 9; annual influenza; varicella if no history (2 doses ≥4</a:t>
            </a:r>
          </a:p>
          <a:p>
            <a:r>
              <a:t>wk apart, ≥13 yr); hepatitis B series; hepatitis A in targeted areas</a:t>
            </a:r>
          </a:p>
          <a:p>
            <a:r>
              <a:t>4.6 Milestone Quick Reference &amp; Red Flags (0-20 yr)</a:t>
            </a:r>
          </a:p>
          <a:p>
            <a:r>
              <a:t>The tables below make a clinic quick-reference of the milestone ages; the Denver II remains the</a:t>
            </a:r>
          </a:p>
          <a:p>
            <a:r>
              <a:t>definitive screening measure.</a:t>
            </a:r>
          </a:p>
          <a:p>
            <a:r>
              <a:t>Age / period</a:t>
            </a:r>
          </a:p>
          <a:p>
            <a:r>
              <a:t>Milestone</a:t>
            </a:r>
          </a:p>
          <a:p>
            <a:r>
              <a:t>~2 months</a:t>
            </a:r>
          </a:p>
          <a:p>
            <a:r>
              <a:t>First real smile at people</a:t>
            </a:r>
          </a:p>
          <a:p>
            <a:r>
              <a:t>3-4 months</a:t>
            </a:r>
          </a:p>
          <a:p>
            <a:r>
              <a:t>Head support expected (no head support = red flag)</a:t>
            </a:r>
          </a:p>
          <a:p>
            <a:r>
              <a:t>5-8 months</a:t>
            </a:r>
          </a:p>
          <a:p>
            <a:r>
              <a:t>Sits with back upright (supported) 5 mo; tripod sit 6 mo; sits alone with hand support 7 mo;</a:t>
            </a:r>
          </a:p>
          <a:p>
            <a:r>
              <a:t>sits unsupported 8 mo</a:t>
            </a:r>
          </a:p>
          <a:p>
            <a:r>
              <a:t>8 months</a:t>
            </a:r>
          </a:p>
          <a:p>
            <a:r>
              <a:t>Interest in peek-a-boo expected (missing = warning sign); creeping/crawling emerges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 official printed schedule, which is the definitive reference for routine infant and toddler</a:t>
            </a:r>
          </a:p>
          <a:p>
            <a:r>
              <a:t>doses.</a:t>
            </a:r>
          </a:p>
          <a:p>
            <a:r>
              <a:t>Step</a:t>
            </a:r>
          </a:p>
          <a:p>
            <a:r>
              <a:t>Detail</a:t>
            </a:r>
          </a:p>
          <a:p>
            <a:r>
              <a:t>Immunization</a:t>
            </a:r>
          </a:p>
          <a:p>
            <a:r>
              <a:t>record</a:t>
            </a:r>
          </a:p>
          <a:p>
            <a:r>
              <a:t>Essential at every visit; parents are often unaware of exact names and dates — the</a:t>
            </a:r>
          </a:p>
          <a:p>
            <a:r>
              <a:t>most reliable record is the hospital/clinic/private-practitioner record. For each</a:t>
            </a:r>
          </a:p>
          <a:p>
            <a:r>
              <a:t>immunization and booster record: disease, number of injections, dosage, ages given,</a:t>
            </a:r>
          </a:p>
          <a:p>
            <a:r>
              <a:t>and any post-immunization reaction</a:t>
            </a:r>
          </a:p>
          <a:p>
            <a:r>
              <a:t>History before</a:t>
            </a:r>
          </a:p>
          <a:p>
            <a:r>
              <a:t>vaccinating</a:t>
            </a:r>
          </a:p>
          <a:p>
            <a:r>
              <a:t>Recent immune globulin or blood transfusion necessitates a delay in live vaccines; ask</a:t>
            </a:r>
          </a:p>
          <a:p>
            <a:r>
              <a:t>about prior horse/foreign serum and anaphylactic reactions to neomycin, eggs, or</a:t>
            </a:r>
          </a:p>
          <a:p>
            <a:r>
              <a:t>vaccine components</a:t>
            </a:r>
          </a:p>
          <a:p>
            <a:r>
              <a:t>Stress</a:t>
            </a:r>
          </a:p>
          <a:p>
            <a:r>
              <a:t>immunization</a:t>
            </a:r>
          </a:p>
          <a:p>
            <a:r>
              <a:t>needs</a:t>
            </a:r>
          </a:p>
          <a:p>
            <a:r>
              <a:t>Anticipatory guidance at infant visits must stress the need for immunization</a:t>
            </a:r>
          </a:p>
          <a:p>
            <a:r>
              <a:t>Newborn doses</a:t>
            </a:r>
          </a:p>
          <a:p>
            <a:r>
              <a:t>(Ch. 3)</a:t>
            </a:r>
          </a:p>
          <a:p>
            <a:r>
              <a:t>Vitamin K IM 0.5-1.0 mg vastus lateralis; hepatitis B dose 1 (birth-2 months) — see</a:t>
            </a:r>
          </a:p>
          <a:p>
            <a:r>
              <a:t>Chapter 3</a:t>
            </a:r>
          </a:p>
          <a:p>
            <a:r>
              <a:t>Adolescent catch-</a:t>
            </a:r>
          </a:p>
          <a:p>
            <a:r>
              <a:t>up/boosters</a:t>
            </a:r>
          </a:p>
          <a:p>
            <a:r>
              <a:t>Tdap at 11-18 yr for those not yet boosted; MenACWY at 11-12 yr with booster before</a:t>
            </a:r>
          </a:p>
          <a:p>
            <a:r>
              <a:t>16; HPV series from minimum age 9; annual influenza; varicella if no history (2 doses ≥4</a:t>
            </a:r>
          </a:p>
          <a:p>
            <a:r>
              <a:t>wk apart, ≥13 yr); hepatitis B series; hepatitis A in targeted areas</a:t>
            </a:r>
          </a:p>
          <a:p>
            <a:r>
              <a:t>4.6 Milestone Quick Reference &amp; Red Flags (0-20 yr)</a:t>
            </a:r>
          </a:p>
          <a:p>
            <a:r>
              <a:t>The tables below make a clinic quick-reference of the milestone ages; the Denver II remains the</a:t>
            </a:r>
          </a:p>
          <a:p>
            <a:r>
              <a:t>definitive screening measure.</a:t>
            </a:r>
          </a:p>
          <a:p>
            <a:r>
              <a:t>Age / period</a:t>
            </a:r>
          </a:p>
          <a:p>
            <a:r>
              <a:t>Milestone</a:t>
            </a:r>
          </a:p>
          <a:p>
            <a:r>
              <a:t>~2 months</a:t>
            </a:r>
          </a:p>
          <a:p>
            <a:r>
              <a:t>First real smile at people</a:t>
            </a:r>
          </a:p>
          <a:p>
            <a:r>
              <a:t>3-4 months</a:t>
            </a:r>
          </a:p>
          <a:p>
            <a:r>
              <a:t>Head support expected (no head support = red flag)</a:t>
            </a:r>
          </a:p>
          <a:p>
            <a:r>
              <a:t>5-8 months</a:t>
            </a:r>
          </a:p>
          <a:p>
            <a:r>
              <a:t>Sits with back upright (supported) 5 mo; tripod sit 6 mo; sits alone with hand support 7 mo;</a:t>
            </a:r>
          </a:p>
          <a:p>
            <a:r>
              <a:t>sits unsupported 8 mo</a:t>
            </a:r>
          </a:p>
          <a:p>
            <a:r>
              <a:t>8 months</a:t>
            </a:r>
          </a:p>
          <a:p>
            <a:r>
              <a:t>Interest in peek-a-boo expected (missing = warning sign); creeping/crawling emerges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11-12</a:t>
            </a:r>
          </a:p>
          <a:p>
            <a:r>
              <a:t>months</a:t>
            </a:r>
          </a:p>
          <a:p>
            <a:r>
              <a:t>Pulls to stand (missing at 11-12 mo → hip-dysplasia evaluation); walks independently ~12</a:t>
            </a:r>
          </a:p>
          <a:p>
            <a:r>
              <a:t>mo</a:t>
            </a:r>
          </a:p>
          <a:p>
            <a:r>
              <a:t>12 months</a:t>
            </a:r>
          </a:p>
          <a:p>
            <a:r>
              <a:t>2-3 recognizable words with meaning; birth weight tripled; length +50%; HC +33%</a:t>
            </a:r>
          </a:p>
          <a:p>
            <a:r>
              <a:t>18-24</a:t>
            </a:r>
          </a:p>
          <a:p>
            <a:r>
              <a:t>months</a:t>
            </a:r>
          </a:p>
          <a:p>
            <a:r>
              <a:t>Voluntary sphincter control; readiness for toilet training typically stands (average start 20.6</a:t>
            </a:r>
          </a:p>
          <a:p>
            <a:r>
              <a:t>mo; daytime control often by 24 mo)</a:t>
            </a:r>
          </a:p>
          <a:p>
            <a:r>
              <a:t>2-5 years</a:t>
            </a:r>
          </a:p>
          <a:p>
            <a:r>
              <a:t>Vocabulary ~300 words (2 yr) grows to &gt;2100 words (5 yr); imaginary friends 2½-3 yr until</a:t>
            </a:r>
          </a:p>
          <a:p>
            <a:r>
              <a:t>school entry; most fears resolve by 5-6 yr</a:t>
            </a:r>
          </a:p>
          <a:p>
            <a:r>
              <a:t>5-6 years</a:t>
            </a:r>
          </a:p>
          <a:p>
            <a:r>
              <a:t>School readiness social maturation; school begins 5-6 yr; first deciduous tooth (central</a:t>
            </a:r>
          </a:p>
          <a:p>
            <a:r>
              <a:t>mandibular incisors) shed ~6 yr</a:t>
            </a:r>
          </a:p>
          <a:p>
            <a:r>
              <a:t>7-11 years</a:t>
            </a:r>
          </a:p>
          <a:p>
            <a:r>
              <a:t>Concrete operations; conservation of number 5-6, liquid/mass/length 6-7, weight 9-10,</a:t>
            </a:r>
          </a:p>
          <a:p>
            <a:r>
              <a:t>volume 9-12</a:t>
            </a:r>
          </a:p>
          <a:p>
            <a:r>
              <a:t>11-14 years</a:t>
            </a:r>
          </a:p>
          <a:p>
            <a:r>
              <a:t>Peak height velocity ≈12 yr (girls) and ≈14 yr (boys); menarche mean ≈12.55 yr (Caucasian),</a:t>
            </a:r>
          </a:p>
          <a:p>
            <a:r>
              <a:t>12.06 (African-American), 12.25 (Mexican-American)</a:t>
            </a:r>
          </a:p>
          <a:p>
            <a:r>
              <a:t>12-20 years</a:t>
            </a:r>
          </a:p>
          <a:p>
            <a:r>
              <a:t>Adolescent care — see Chapter 8 (Tanner, HEEADSSS, risk behaviors)</a:t>
            </a:r>
          </a:p>
          <a:p>
            <a:r>
              <a:t>Age / period</a:t>
            </a:r>
          </a:p>
          <a:p>
            <a:r>
              <a:t>Red flag — investigate or refer</a:t>
            </a:r>
          </a:p>
          <a:p>
            <a:r>
              <a:t>0-3 months</a:t>
            </a:r>
          </a:p>
          <a:p>
            <a:r>
              <a:t>No smile at people at 3 months; child refuses to cuddle; no head support by 3-4 months</a:t>
            </a:r>
          </a:p>
          <a:p>
            <a:r>
              <a:t>4-8 months</a:t>
            </a:r>
          </a:p>
          <a:p>
            <a:r>
              <a:t>No sitting with assistance at 6 months; no interest in peek-a-boo at 8 months; strabismus</a:t>
            </a:r>
          </a:p>
          <a:p>
            <a:r>
              <a:t>/ no binocularity (can cause permanent blindness)</a:t>
            </a:r>
          </a:p>
          <a:p>
            <a:r>
              <a:t>9-12 months</a:t>
            </a:r>
          </a:p>
          <a:p>
            <a:r>
              <a:t>No crawling or supported standing by 12 months; not pulling to stand by 11-12 months;</a:t>
            </a:r>
          </a:p>
          <a:p>
            <a:r>
              <a:t>no single words with meaning at 12 months (ma-ma, da-da)</a:t>
            </a:r>
          </a:p>
          <a:p>
            <a:r>
              <a:t>Toddler (1-3</a:t>
            </a:r>
          </a:p>
          <a:p>
            <a:r>
              <a:t>yr)</a:t>
            </a:r>
          </a:p>
          <a:p>
            <a:r>
              <a:t>Tantrums over 5 years of age, lasting over 15 minutes, or more than 5 times/day;</a:t>
            </a:r>
          </a:p>
          <a:p>
            <a:r>
              <a:t>bedwetting not improving — no night dryness by age 6 suggests the need for</a:t>
            </a:r>
          </a:p>
          <a:p>
            <a:r>
              <a:t>intervention</a:t>
            </a:r>
          </a:p>
          <a:p>
            <a:r>
              <a:t>Preschool (3-6</a:t>
            </a:r>
          </a:p>
          <a:p>
            <a:r>
              <a:t>yr)</a:t>
            </a:r>
          </a:p>
          <a:p>
            <a:r>
              <a:t>Severe fears disrupting family life; extreme aggression; stuttering with no improvement</a:t>
            </a:r>
          </a:p>
          <a:p>
            <a:r>
              <a:t>over more than 6 months</a:t>
            </a:r>
          </a:p>
          <a:p>
            <a:r>
              <a:t>School-age (6-</a:t>
            </a:r>
          </a:p>
          <a:p>
            <a:r>
              <a:t>12 yr)</a:t>
            </a:r>
          </a:p>
          <a:p>
            <a:r>
              <a:t>Stress signals: stomach pains/headache, sleep problems, bed-wetting, eating-habit</a:t>
            </a:r>
          </a:p>
          <a:p>
            <a:r>
              <a:t>changes, aggressive/stubborn behavior, reluctance to participate, regression (thumb</a:t>
            </a:r>
          </a:p>
          <a:p>
            <a:r>
              <a:t>sucking); exposure to bullying/cyberbullying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Adolescent</a:t>
            </a:r>
          </a:p>
          <a:p>
            <a:r>
              <a:t>(12-20 yr)</a:t>
            </a:r>
          </a:p>
          <a:p>
            <a:r>
              <a:t>See Chapter 8 — substance use, depression/suicidality, risky sexual behavior, safety</a:t>
            </a:r>
          </a:p>
          <a:p>
            <a:r>
              <a:t>(HEEADSSS positive screens)</a:t>
            </a:r>
          </a:p>
          <a:p>
            <a:r>
              <a:t>Chapter 4 Learning Check</a:t>
            </a:r>
          </a:p>
          <a:p>
            <a:r>
              <a:t>Self-assessment questions (answer in your notebook, then open)</a:t>
            </a:r>
          </a:p>
          <a:p>
            <a:r>
              <a:t>End of Chapter 4.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Closing slide. Content reproduced verbatim from Chapter 4 — Well-Child Clinic.pdf.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0E6B57"/>
              </a:gs>
              <a:gs pos="100000">
                <a:srgbClr val="17A67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985455" y="4023360"/>
            <a:ext cx="4206240" cy="2834640"/>
          </a:xfrm>
          <a:prstGeom prst="rect">
            <a:avLst/>
          </a:prstGeom>
          <a:gradFill rotWithShape="1">
            <a:gsLst>
              <a:gs pos="0">
                <a:srgbClr val="0E6B57"/>
              </a:gs>
              <a:gs pos="100000">
                <a:srgbClr val="17A67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34440"/>
            <a:ext cx="3200400" cy="310896"/>
          </a:xfrm>
          <a:prstGeom prst="rect">
            <a:avLst/>
          </a:prstGeom>
          <a:solidFill>
            <a:srgbClr val="E4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13232" y="1307592"/>
            <a:ext cx="3017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1" i="0">
                <a:solidFill>
                  <a:srgbClr val="0E6B57"/>
                </a:solidFill>
                <a:latin typeface="Calibri"/>
              </a:rPr>
              <a:t>HUMAN GROWTH AND DEVELOPMENT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783080"/>
            <a:ext cx="9960559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4000" b="1" i="0">
                <a:solidFill>
                  <a:srgbClr val="14171C"/>
                </a:solidFill>
                <a:latin typeface="Georgia"/>
              </a:rPr>
              <a:t>Well-Child Clinic Rotation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127248"/>
            <a:ext cx="99605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b="0" i="0">
                <a:solidFill>
                  <a:srgbClr val="7A8291"/>
                </a:solidFill>
                <a:latin typeface="Georgia"/>
              </a:rPr>
              <a:t>عيادة صحة الطفل (Well-Child Clinic)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3703320"/>
            <a:ext cx="1463040" cy="32004"/>
          </a:xfrm>
          <a:prstGeom prst="rect">
            <a:avLst/>
          </a:prstGeom>
          <a:solidFill>
            <a:srgbClr val="0E6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66928" y="3931920"/>
            <a:ext cx="78638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 i="0">
                <a:solidFill>
                  <a:srgbClr val="3E4654"/>
                </a:solidFill>
                <a:latin typeface="Calibri"/>
              </a:rPr>
              <a:t>Human Growth and Development  ·  Practical Lectures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 i="0">
                <a:solidFill>
                  <a:srgbClr val="7A8291"/>
                </a:solidFill>
                <a:latin typeface="Calibri"/>
              </a:rPr>
              <a:t>Source document: Chapter 4 — Well-Child Clinic.pdf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 i="0">
                <a:solidFill>
                  <a:srgbClr val="7A8291"/>
                </a:solidFill>
                <a:latin typeface="Calibri"/>
              </a:rPr>
              <a:t>15 pages  ·  Nursing Lectures  ·  Level 26–27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0E6B57"/>
              </a:gs>
              <a:gs pos="100000">
                <a:srgbClr val="17A67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HUMAN GROWTH AND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0E6B57"/>
                </a:solidFill>
                <a:latin typeface="Georgia"/>
              </a:rPr>
              <a:t>Chapter Overview &amp;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Well-Child Clinic Rotation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0E6B57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380744"/>
            <a:ext cx="10874959" cy="4846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100" b="1" i="0">
                <a:solidFill>
                  <a:srgbClr val="0E6B57"/>
                </a:solidFill>
                <a:latin typeface="Calibri"/>
              </a:rPr>
              <a:t>Scope of this chapter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350" b="0" i="0">
                <a:solidFill>
                  <a:srgbClr val="3E4654"/>
                </a:solidFill>
                <a:latin typeface="Calibri"/>
              </a:rPr>
              <a:t>The central practical site for health supervision: the recommended visit schedule, what happens at each visit, age-specific anticipatory guidance for every stage (0-20 yr), immunization administration in the clinic, and a milestone quick reference with red flags.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100" b="1" i="0">
                <a:solidFill>
                  <a:srgbClr val="0E6B57"/>
                </a:solidFill>
                <a:latin typeface="Calibri"/>
              </a:rPr>
              <a:t>Learning outcomes — the document's own sections</a:t>
            </a:r>
          </a:p>
          <a:p>
            <a:pPr algn="l" marL="237744" indent="-237744">
              <a:lnSpc>
                <a:spcPct val="115000"/>
              </a:lnSpc>
              <a:spcAft>
                <a:spcPts val="500"/>
              </a:spcAft>
            </a:pPr>
            <a:r>
              <a:rPr sz="1250" b="0" i="0">
                <a:solidFill>
                  <a:srgbClr val="3E4654"/>
                </a:solidFill>
                <a:latin typeface="Calibri"/>
              </a:rPr>
              <a:t>•  4.1 Site Profile — Role of the Well-Child Clinic   (p. 1)</a:t>
            </a:r>
          </a:p>
          <a:p>
            <a:pPr algn="l" marL="237744" indent="-237744">
              <a:lnSpc>
                <a:spcPct val="115000"/>
              </a:lnSpc>
              <a:spcAft>
                <a:spcPts val="500"/>
              </a:spcAft>
            </a:pPr>
            <a:r>
              <a:rPr sz="1250" b="0" i="0">
                <a:solidFill>
                  <a:srgbClr val="3E4654"/>
                </a:solidFill>
                <a:latin typeface="Calibri"/>
              </a:rPr>
              <a:t>•  4.2 Health Supervision Visit Schedule   (p. 2)</a:t>
            </a:r>
          </a:p>
          <a:p>
            <a:pPr algn="l" marL="237744" indent="-237744">
              <a:lnSpc>
                <a:spcPct val="115000"/>
              </a:lnSpc>
              <a:spcAft>
                <a:spcPts val="500"/>
              </a:spcAft>
            </a:pPr>
            <a:r>
              <a:rPr sz="1250" b="0" i="0">
                <a:solidFill>
                  <a:srgbClr val="3E4654"/>
                </a:solidFill>
                <a:latin typeface="Calibri"/>
              </a:rPr>
              <a:t>•  4.3 The Well-Child Visit, Step by Step   (p. 3)</a:t>
            </a:r>
          </a:p>
          <a:p>
            <a:pPr algn="l" marL="237744" indent="-237744">
              <a:lnSpc>
                <a:spcPct val="115000"/>
              </a:lnSpc>
              <a:spcAft>
                <a:spcPts val="500"/>
              </a:spcAft>
            </a:pPr>
            <a:r>
              <a:rPr sz="1250" b="0" i="0">
                <a:solidFill>
                  <a:srgbClr val="3E4654"/>
                </a:solidFill>
                <a:latin typeface="Calibri"/>
              </a:rPr>
              <a:t>•  4.4 Age-Specific Health Supervision   (p. 6)</a:t>
            </a:r>
          </a:p>
          <a:p>
            <a:pPr algn="l" marL="237744" indent="-237744">
              <a:lnSpc>
                <a:spcPct val="115000"/>
              </a:lnSpc>
              <a:spcAft>
                <a:spcPts val="500"/>
              </a:spcAft>
            </a:pPr>
            <a:r>
              <a:rPr sz="1250" b="0" i="0">
                <a:solidFill>
                  <a:srgbClr val="3E4654"/>
                </a:solidFill>
                <a:latin typeface="Calibri"/>
              </a:rPr>
              <a:t>•  4.5 Immunization Administration in the Clinic   (p. 12)</a:t>
            </a:r>
          </a:p>
          <a:p>
            <a:pPr algn="l" marL="237744" indent="-237744">
              <a:lnSpc>
                <a:spcPct val="115000"/>
              </a:lnSpc>
              <a:spcAft>
                <a:spcPts val="500"/>
              </a:spcAft>
            </a:pPr>
            <a:r>
              <a:rPr sz="1250" b="0" i="0">
                <a:solidFill>
                  <a:srgbClr val="3E4654"/>
                </a:solidFill>
                <a:latin typeface="Calibri"/>
              </a:rPr>
              <a:t>•  4.6 Milestone Quick Reference &amp; Red Flags (0-20 yr)   (p. 13)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0E6B57"/>
              </a:gs>
              <a:gs pos="100000">
                <a:srgbClr val="17A67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HUMAN GROWTH AND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0E6B57"/>
                </a:solidFill>
                <a:latin typeface="Georgia"/>
              </a:rPr>
              <a:t>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Well-Child Clinic Rotation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0E6B57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380744"/>
            <a:ext cx="10874959" cy="4846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50" b="0" i="0">
                <a:solidFill>
                  <a:srgbClr val="3E4654"/>
                </a:solidFill>
                <a:latin typeface="Calibri"/>
              </a:rPr>
              <a:t>4.1   4.1 Site Profile — Role of the Well-Child Clinic   —  p. 1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50" b="0" i="0">
                <a:solidFill>
                  <a:srgbClr val="3E4654"/>
                </a:solidFill>
                <a:latin typeface="Calibri"/>
              </a:rPr>
              <a:t>4.2   4.2 Health Supervision Visit Schedule   —  p. 2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50" b="0" i="0">
                <a:solidFill>
                  <a:srgbClr val="3E4654"/>
                </a:solidFill>
                <a:latin typeface="Calibri"/>
              </a:rPr>
              <a:t>4.3   4.3 The Well-Child Visit, Step by Step   —  p. 3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50" b="0" i="0">
                <a:solidFill>
                  <a:srgbClr val="3E4654"/>
                </a:solidFill>
                <a:latin typeface="Calibri"/>
              </a:rPr>
              <a:t>4.4   4.4 Age-Specific Health Supervision   —  p. 6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50" b="0" i="0">
                <a:solidFill>
                  <a:srgbClr val="3E4654"/>
                </a:solidFill>
                <a:latin typeface="Calibri"/>
              </a:rPr>
              <a:t>4.5   4.5 Immunization Administration in the Clinic   —  p. 12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50" b="0" i="0">
                <a:solidFill>
                  <a:srgbClr val="3E4654"/>
                </a:solidFill>
                <a:latin typeface="Calibri"/>
              </a:rPr>
              <a:t>4.6   4.6 Milestone Quick Reference &amp; Red Flags (0-20 yr)   —  p.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0E6B57"/>
              </a:gs>
              <a:gs pos="100000">
                <a:srgbClr val="17A67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HUMAN GROWTH AND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0E6B57"/>
                </a:solidFill>
                <a:latin typeface="Georgia"/>
              </a:rPr>
              <a:t>4.1 Site Profile — Role of the Well-Child Clinic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1 of 15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Well-Child Clinic Rotation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0E6B57"/>
                </a:solidFill>
                <a:latin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2647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50" b="1" i="0">
                <a:solidFill>
                  <a:srgbClr val="3E4654"/>
                </a:solidFill>
                <a:latin typeface="Calibri"/>
              </a:rPr>
              <a:t>ROTATION: WELL-CHILD CLINIC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1764411"/>
            <a:ext cx="10948111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Chapter 4 — Well-Child Clinic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227961"/>
            <a:ext cx="10948111" cy="9642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21" b="0" i="0">
                <a:solidFill>
                  <a:srgbClr val="3E4654"/>
                </a:solidFill>
                <a:latin typeface="Calibri"/>
              </a:rPr>
              <a:t>The central practical site for health supervision: the recommended visit schedule, what happens at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21" b="0" i="0">
                <a:solidFill>
                  <a:srgbClr val="3E4654"/>
                </a:solidFill>
                <a:latin typeface="Calibri"/>
              </a:rPr>
              <a:t>each visit, age-specific anticipatory guidance for every stage (0-20 yr), immunization administration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21" b="0" i="0">
                <a:solidFill>
                  <a:srgbClr val="3E4654"/>
                </a:solidFill>
                <a:latin typeface="Calibri"/>
              </a:rPr>
              <a:t>in the clinic, and a milestone quick reference with red flags.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3283625"/>
            <a:ext cx="10948111" cy="2689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75" b="0" i="0">
                <a:solidFill>
                  <a:srgbClr val="3E4654"/>
                </a:solidFill>
                <a:latin typeface="Calibri"/>
              </a:rPr>
              <a:t>Age range: Birth – 20 years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3644021"/>
            <a:ext cx="10948111" cy="10529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456" b="0" i="0">
                <a:solidFill>
                  <a:srgbClr val="3E4654"/>
                </a:solidFill>
                <a:latin typeface="Calibri"/>
              </a:rPr>
              <a:t>The well-child clinic is where positive health is promoted in normal, healthy children. Visits focus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456" b="0" i="0">
                <a:solidFill>
                  <a:srgbClr val="3E4654"/>
                </a:solidFill>
                <a:latin typeface="Calibri"/>
              </a:rPr>
              <a:t>primarily on anticipatory guidance — teaching what to expect next and how to prevent harm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456" b="0" i="0">
                <a:solidFill>
                  <a:srgbClr val="3E4654"/>
                </a:solidFill>
                <a:latin typeface="Calibri"/>
              </a:rPr>
              <a:t>before the child reaches the susceptible age — ideally beginning during pregnancy.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0E6B57"/>
              </a:gs>
              <a:gs pos="100000">
                <a:srgbClr val="17A67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HUMAN GROWTH AND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0E6B57"/>
                </a:solidFill>
                <a:latin typeface="Georgia"/>
              </a:rPr>
              <a:t>4.1 Site Profile — Role of the Well-Child Clinic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1 of 15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Well-Child Clinic Rotation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0E6B57"/>
                </a:solidFill>
                <a:latin typeface="Calibri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208848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Goal: periodic screening and the prevention of disease. The AAP recommends periodic check-ups for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all infants and children.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Nurse's role: carry out the recommended periodic screenings and the current immunization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schedule; educate the family at every visit.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Anticipatory guidance: one third of all childhood injuries occur in the home — most are predictable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and preventable when teaching precedes the susceptible age.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Cultural respect: explore the family's cultural practices around growth and development; most are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harmless and can be supported. Never assume practices from skin color, accent, or name.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3588105"/>
            <a:ext cx="10948111" cy="300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64" b="1" i="0">
                <a:solidFill>
                  <a:srgbClr val="0E6B57"/>
                </a:solidFill>
                <a:latin typeface="Calibri"/>
              </a:rPr>
              <a:t>FOUR SKILLS USED AT EVERY VISIT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3979837"/>
            <a:ext cx="10948111" cy="1644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History: interval history — feeding, elimination, sleep, behavior, past illnesses, allergies,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medications, immunization record.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Measurements &amp; plotting: length/height, weight, head circumference, weight-for-length or BMI,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and increasingly blood pressure.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Screening: vision, hearing, and developmental/behavioral screening and surveillance.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Guidance &amp; procedures: physical examination, immunizations and other procedures, then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anticipatory guidance and parent education.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0E6B57"/>
              </a:gs>
              <a:gs pos="100000">
                <a:srgbClr val="17A67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HUMAN GROWTH AND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0E6B57"/>
                </a:solidFill>
                <a:latin typeface="Georgia"/>
              </a:rPr>
              <a:t>4.2 Health Supervision Visit Schedule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2 of 15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Well-Child Clinic Rotation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0E6B57"/>
                </a:solidFill>
                <a:latin typeface="Calibri"/>
              </a:rP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22549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456" b="0" i="0">
                <a:solidFill>
                  <a:srgbClr val="3E4654"/>
                </a:solidFill>
                <a:latin typeface="Calibri"/>
              </a:rPr>
              <a:t>The current recommendations for periodic health visits start in the newborn period and continue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456" b="0" i="0">
                <a:solidFill>
                  <a:srgbClr val="3E4654"/>
                </a:solidFill>
                <a:latin typeface="Calibri"/>
              </a:rPr>
              <a:t>through adolescence. For the guide's 0-20-year population the sequence runs: a newborn visit, a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456" b="0" i="0">
                <a:solidFill>
                  <a:srgbClr val="3E4654"/>
                </a:solidFill>
                <a:latin typeface="Calibri"/>
              </a:rPr>
              <a:t>3-5-day visit, then visits by 1 month and at 2, 4, 6, 9, 12, 15, 18, 24, and 30 months; from 3 years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456" b="0" i="0">
                <a:solidFill>
                  <a:srgbClr val="3E4654"/>
                </a:solidFill>
                <a:latin typeface="Calibri"/>
              </a:rPr>
              <a:t>onward the visits become annual, with a closing visit at 20 years. The sequence is charted in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456" b="0" i="0">
                <a:solidFill>
                  <a:srgbClr val="3E4654"/>
                </a:solidFill>
                <a:latin typeface="Calibri"/>
              </a:rPr>
              <a:t>Figure 4.1.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0E6B57"/>
              </a:gs>
              <a:gs pos="100000">
                <a:srgbClr val="17A67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HUMAN GROWTH AND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0E6B57"/>
                </a:solidFill>
                <a:latin typeface="Georgia"/>
              </a:rPr>
              <a:t>4.2 Health Supervision Visit Schedule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2 of 15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Well-Child Clinic Rotation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0E6B57"/>
                </a:solidFill>
                <a:latin typeface="Calibri"/>
              </a:rPr>
              <a:t>6</a:t>
            </a:r>
          </a:p>
        </p:txBody>
      </p:sp>
      <p:pic>
        <p:nvPicPr>
          <p:cNvPr id="10" name="Picture 9" descr="p0001_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5383" y="1408176"/>
            <a:ext cx="5000928" cy="2788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1792" y="4306824"/>
            <a:ext cx="10948111" cy="2813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150" b="0" i="1">
                <a:solidFill>
                  <a:srgbClr val="7A8291"/>
                </a:solidFill>
                <a:latin typeface="Calibri"/>
              </a:rPr>
              <a:t>Figure 4.1 Health-supervision visit sequence for the 0-20-year population.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66928" y="4679569"/>
          <a:ext cx="11057839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28919"/>
                <a:gridCol w="5528920"/>
              </a:tblGrid>
              <a:tr h="274320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Service category</a:t>
                      </a:r>
                    </a:p>
                  </a:txBody>
                  <a:tcPr>
                    <a:solidFill>
                      <a:srgbClr val="0E6B57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When it is done</a:t>
                      </a:r>
                    </a:p>
                  </a:txBody>
                  <a:tcPr>
                    <a:solidFill>
                      <a:srgbClr val="0E6B57"/>
                    </a:solidFill>
                  </a:tcPr>
                </a:tc>
              </a:tr>
              <a:tr h="274320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>History (interval history, health history)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>At every visit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>Measurements — length/height, Length/height/weight/HC at every visit in the first years; BMI and weight, head circumference, weight- blood pressure from ~3 yr; BP annually for-length or BMI, blood pressure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</a:tr>
              <a:tr h="274320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0E6B57"/>
              </a:gs>
              <a:gs pos="100000">
                <a:srgbClr val="17A67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HUMAN GROWTH AND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0E6B57"/>
                </a:solidFill>
                <a:latin typeface="Georgia"/>
              </a:rPr>
              <a:t>4.3 The Well-Child Visit, Step by Step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3 of 15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Well-Child Clinic Rotation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0E6B57"/>
                </a:solidFill>
                <a:latin typeface="Calibri"/>
              </a:rPr>
              <a:t>7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66928" y="1408176"/>
          <a:ext cx="11057839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28919"/>
                <a:gridCol w="5528920"/>
              </a:tblGrid>
              <a:tr h="274320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Vision screening</a:t>
                      </a:r>
                    </a:p>
                  </a:txBody>
                  <a:tcPr>
                    <a:solidFill>
                      <a:srgbClr val="0E6B57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USPSTF recommends screening for amblyopia and risk factors in all children 3-5 years of age; elective photoscreening/autorefraction possible from 6 months-3 years (early amblyopia detection)</a:t>
                      </a:r>
                    </a:p>
                  </a:txBody>
                  <a:tcPr>
                    <a:solidFill>
                      <a:srgbClr val="0E6B57"/>
                    </a:solidFill>
                  </a:tcPr>
                </a:tc>
              </a:tr>
              <a:tr h="274320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>Hearing screening Pure-tone audiometry screening at 0.5, 1, 2, and 4 kHz — fail when tones at 20 dB HL are not heard; hearing concerns asked at every visit; universal newborn hearing screening already done (Ch. 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>Developmental &amp; behavioral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>Surveillance at every visit; formal developmental screening and autism screening at the ages mapped in Fig. 4-7 (Ch. 2 covers Denver II, ASQ, PEDS)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</a:tr>
              <a:tr h="274320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>Psychosocial &amp; behavioral From childhood; alcohol/drug discussion in adolescence (Ch. 8) (alcohol/drug later)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>Physical examination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>At every preventive visit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</a:tr>
              <a:tr h="274320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>Procedures — newborn metabolic Per the visit-schedule figure and Section 4.5 screen, immunizations, hematocrit, lead, TB, dyslipidemia, STI, oral health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>Anticipatory guidance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>At every visit — the central content of this chapter (Section 4.4)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21792" y="3273552"/>
            <a:ext cx="10948111" cy="15337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456" b="0" i="0">
                <a:solidFill>
                  <a:srgbClr val="3E4654"/>
                </a:solidFill>
                <a:latin typeface="Calibri"/>
              </a:rPr>
              <a:t>A preventive visit follows a fixed order — history first, measurements and plotting, sensory and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456" b="0" i="0">
                <a:solidFill>
                  <a:srgbClr val="3E4654"/>
                </a:solidFill>
                <a:latin typeface="Calibri"/>
              </a:rPr>
              <a:t>developmental screening, the physical examination, then procedures and parental guidance. The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456" b="0" i="0">
                <a:solidFill>
                  <a:srgbClr val="3E4654"/>
                </a:solidFill>
                <a:latin typeface="Calibri"/>
              </a:rPr>
              <a:t>workflow below is the same for every age; only the content changes. Figure 4.2 charts this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456" b="0" i="0">
                <a:solidFill>
                  <a:srgbClr val="3E4654"/>
                </a:solidFill>
                <a:latin typeface="Calibri"/>
              </a:rPr>
              <a:t>sequence as a diagram.</a:t>
            </a:r>
          </a:p>
        </p:txBody>
      </p:sp>
      <p:pic>
        <p:nvPicPr>
          <p:cNvPr id="12" name="Picture 11" descr="p0002_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4898745"/>
            <a:ext cx="10692079" cy="52924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0E6B57"/>
              </a:gs>
              <a:gs pos="100000">
                <a:srgbClr val="17A67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HUMAN GROWTH AND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0E6B57"/>
                </a:solidFill>
                <a:latin typeface="Georgia"/>
              </a:rPr>
              <a:t>History essentials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4 of 15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Well-Child Clinic Rotation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0E6B57"/>
                </a:solidFill>
                <a:latin typeface="Calibri"/>
              </a:rPr>
              <a:t>8</a:t>
            </a:r>
          </a:p>
        </p:txBody>
      </p:sp>
      <p:pic>
        <p:nvPicPr>
          <p:cNvPr id="10" name="Picture 9" descr="p0003_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903" y="1408176"/>
            <a:ext cx="4989888" cy="2788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1792" y="4306824"/>
            <a:ext cx="10948111" cy="2813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150" b="0" i="1">
                <a:solidFill>
                  <a:srgbClr val="7A8291"/>
                </a:solidFill>
                <a:latin typeface="Calibri"/>
              </a:rPr>
              <a:t>Figure 4.2 Well-child visit workflow, from history to anticipatory guidance.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0E6B57"/>
              </a:gs>
              <a:gs pos="100000">
                <a:srgbClr val="17A67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HUMAN GROWTH AND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0E6B57"/>
                </a:solidFill>
                <a:latin typeface="Georgia"/>
              </a:rPr>
              <a:t>History essentials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4 of 15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Well-Child Clinic Rotation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0E6B57"/>
                </a:solidFill>
                <a:latin typeface="Calibri"/>
              </a:rPr>
              <a:t>9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66928" y="1408176"/>
          <a:ext cx="11057839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28919"/>
                <a:gridCol w="5528920"/>
              </a:tblGrid>
              <a:tr h="274320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Component</a:t>
                      </a:r>
                    </a:p>
                  </a:txBody>
                  <a:tcPr>
                    <a:solidFill>
                      <a:srgbClr val="0E6B57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Detail</a:t>
                      </a:r>
                    </a:p>
                  </a:txBody>
                  <a:tcPr>
                    <a:solidFill>
                      <a:srgbClr val="0E6B57"/>
                    </a:solidFill>
                  </a:tcPr>
                </a:tc>
              </a:tr>
              <a:tr h="274320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>Birth history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>(1) Mother's health during pregnancy, (2) labor and delivery, (3) the infant's condition immediately after birth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>Past illnesses Colds, earaches, measles, rubella, chickenpox, mumps, pertussis, diphtheria, tuberculosis, scarlet fever, strep throat, recurrent ear infections, GERD, tonsillitis, allergic manifestations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</a:tr>
              <a:tr h="274320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>Injuries / operations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>Past injuries needing medical care, operations, hospitalizations — with dates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>Allergies Hay fever, asthma, unusual drug/food/latex reactions, contact agents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</a:tr>
              <a:tr h="274320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>Current medications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>Vitamins, antipyretics (especially aspirin), antibiotics, antihistamines, decongestants, herbs/homeopathics; record name, dose, schedule, duration, reason; ask parents to bring the containers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0E6B57"/>
              </a:gs>
              <a:gs pos="100000">
                <a:srgbClr val="17A67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HUMAN GROWTH AND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0E6B57"/>
                </a:solidFill>
                <a:latin typeface="Georgia"/>
              </a:rPr>
              <a:t>Measurement &amp; plotting rules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5 of 15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Well-Child Clinic Rotation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0E6B57"/>
                </a:solidFill>
                <a:latin typeface="Calibri"/>
              </a:rPr>
              <a:t>10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66928" y="1408176"/>
          <a:ext cx="11057839" cy="8229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28919"/>
                <a:gridCol w="5528920"/>
              </a:tblGrid>
              <a:tr h="274319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Immunization Essential and often unknown to parents — the most reliable source is the record hospital/clinic/private-practitioner record. Record: disease, number of injections, dosage, ages given, and any post-immunization reaction</a:t>
                      </a:r>
                    </a:p>
                  </a:txBody>
                  <a:tcPr>
                    <a:solidFill>
                      <a:srgbClr val="0E6B57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0E6B57"/>
                    </a:solidFill>
                  </a:tcPr>
                </a:tc>
              </a:tr>
              <a:tr h="274319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>Growth history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>Weights ≈ 6 months, 1, 2, and 5 years; lengths ≈ 1 and 4 years; dentition (onset, number, symptoms)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1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>Milestones Head-holding, sitting alone, walking, first words; school grade and performance; best friend; peer interactions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0E6B57"/>
              </a:gs>
              <a:gs pos="100000">
                <a:srgbClr val="17A67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HUMAN GROWTH AND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0E6B57"/>
                </a:solidFill>
                <a:latin typeface="Georgia"/>
              </a:rPr>
              <a:t>Measurement &amp; plotting rules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5 of 15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Well-Child Clinic Rotation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0E6B57"/>
                </a:solidFill>
                <a:latin typeface="Calibri"/>
              </a:rPr>
              <a:t>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4529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Length: supine on a length board until 24 months (or 36 months via the birth-36-month chart); a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tape measure or wall chart is never used. Measure at least twice (ideally 3 times) with values agreeing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within 0.5 cm; use the mean.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Height: standing with a stadiometer; wall charts and flip-up bars are not used.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Weight: nude for the birth-36-month charts; balance-beam scale to the nearest 10 g (infant) or 100 g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(child).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Head circumference: measured and plotted through 36 months; head and chest circumferences are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roughly equal at about 1-2 years.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Charts: WHO growth standards 0-2 years (breastfed reference); CDC charts for 2-20 years with BMI-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for-age.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Interpretation: a normal, well-nourished child plots between the 5th and 95th percentiles; below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the 5th or above the 95th suggests deficiency or excess. A child at the 5th percentile can be as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normal as one above the 95th — the most reliable evaluation is the trend over time.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Concern: widely disparate percentiles (e.g., height 10th + weight 90th), failure to follow expected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growth velocity, or a sudden change in a previously steady pattern.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Technique: when growth is a concern, take serial measurements at the same time of day (afternoon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height is less than morning height).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0E6B57"/>
              </a:gs>
              <a:gs pos="100000">
                <a:srgbClr val="17A67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HUMAN GROWTH AND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0E6B57"/>
                </a:solidFill>
                <a:latin typeface="Georgia"/>
              </a:rPr>
              <a:t>Measurement &amp; plotting rules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5 of 15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Well-Child Clinic Rotation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0E6B57"/>
                </a:solidFill>
                <a:latin typeface="Calibri"/>
              </a:rPr>
              <a:t>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6610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150" b="0" i="1">
                <a:solidFill>
                  <a:srgbClr val="7A8291"/>
                </a:solidFill>
                <a:latin typeface="Calibri"/>
              </a:rPr>
              <a:t>Figure 4.3 shows the percentile bands on a growth chart: adequate nutrition falls between the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150" b="0" i="1">
                <a:solidFill>
                  <a:srgbClr val="7A8291"/>
                </a:solidFill>
                <a:latin typeface="Calibri"/>
              </a:rPr>
              <a:t>5th and 95th percentiles; for BMI-for-age the 85th-95th band marks risk and the 95th marks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150" b="0" i="1">
                <a:solidFill>
                  <a:srgbClr val="7A8291"/>
                </a:solidFill>
                <a:latin typeface="Calibri"/>
              </a:rPr>
              <a:t>overweight. These rules are given in the measurement tips above.</a:t>
            </a:r>
          </a:p>
        </p:txBody>
      </p:sp>
      <p:pic>
        <p:nvPicPr>
          <p:cNvPr id="11" name="Picture 10" descr="p0004_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160651"/>
            <a:ext cx="10692079" cy="52924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0E6B57"/>
              </a:gs>
              <a:gs pos="100000">
                <a:srgbClr val="17A67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HUMAN GROWTH AND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0E6B57"/>
                </a:solidFill>
                <a:latin typeface="Georgia"/>
              </a:rPr>
              <a:t>4.4 Age-Specific Health Supervision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6 of 15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Well-Child Clinic Rotation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0E6B57"/>
                </a:solidFill>
                <a:latin typeface="Calibri"/>
              </a:rPr>
              <a:t>13</a:t>
            </a:r>
          </a:p>
        </p:txBody>
      </p:sp>
      <p:pic>
        <p:nvPicPr>
          <p:cNvPr id="10" name="Picture 9" descr="p0005_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903" y="1408176"/>
            <a:ext cx="4989888" cy="2788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1792" y="4306824"/>
            <a:ext cx="10948111" cy="2813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150" b="0" i="1">
                <a:solidFill>
                  <a:srgbClr val="7A8291"/>
                </a:solidFill>
                <a:latin typeface="Calibri"/>
              </a:rPr>
              <a:t>Figure 4.3 Growth-chart percentile bands and their interpretive thresholds.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4679569"/>
            <a:ext cx="10948111" cy="8125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456" b="0" i="0">
                <a:solidFill>
                  <a:srgbClr val="3E4654"/>
                </a:solidFill>
                <a:latin typeface="Calibri"/>
              </a:rPr>
              <a:t>Anticipatory guidance is matched to each developmental stage. The five blocks below give the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456" b="0" i="0">
                <a:solidFill>
                  <a:srgbClr val="3E4654"/>
                </a:solidFill>
                <a:latin typeface="Calibri"/>
              </a:rPr>
              <a:t>essential teaching points for each age.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5583605"/>
            <a:ext cx="10948111" cy="3355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478" b="1" i="0">
                <a:solidFill>
                  <a:srgbClr val="3E4654"/>
                </a:solidFill>
                <a:latin typeface="Calibri"/>
              </a:rPr>
              <a:t>Infant — 0-12 months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0E6B57"/>
              </a:gs>
              <a:gs pos="100000">
                <a:srgbClr val="17A67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HUMAN GROWTH AND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0E6B57"/>
                </a:solidFill>
                <a:latin typeface="Georgia"/>
              </a:rPr>
              <a:t>4.4 Age-Specific Health Supervision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6 of 15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Well-Child Clinic Rotation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0E6B57"/>
                </a:solidFill>
                <a:latin typeface="Calibri"/>
              </a:rPr>
              <a:t>14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66928" y="1408176"/>
          <a:ext cx="11057839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28919"/>
                <a:gridCol w="5528920"/>
              </a:tblGrid>
              <a:tr h="274320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Feeding topic</a:t>
                      </a:r>
                    </a:p>
                  </a:txBody>
                  <a:tcPr>
                    <a:solidFill>
                      <a:srgbClr val="0E6B57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Guidance</a:t>
                      </a:r>
                    </a:p>
                  </a:txBody>
                  <a:tcPr>
                    <a:solidFill>
                      <a:srgbClr val="0E6B57"/>
                    </a:solidFill>
                  </a:tcPr>
                </a:tc>
              </a:tr>
              <a:tr h="274320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>Solids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>Do not add solids before 4-6 months (earlier: sixfold increase in obesity odds in formula- fed infants); transition period ≈ 4-6 months. Iron-fortified infant cereal first (rice — easily digested, low allergic potential); one new food at a time, every 5-7 days (one source says 4- 7, another 3-5 days); raw seeds/nuts/vegetables and grapes are aspiration hazards; cracked zwieback ~6 months; junior/finger foods 8-9 months; well-cooked table foods at 1 year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>Milk Milk remains the main calorie source until after 12 months; whole cow's milk not before 12 months (iron/zinc/vitamin C deficient, high renal solute load); skim/low-fat also unacceptable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</a:tr>
              <a:tr h="274320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0E6B57"/>
              </a:gs>
              <a:gs pos="100000">
                <a:srgbClr val="17A67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HUMAN GROWTH AND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0E6B57"/>
                </a:solidFill>
                <a:latin typeface="Georgia"/>
              </a:rPr>
              <a:t>Well-Child Clinic Rotation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7 of 15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Well-Child Clinic Rotation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0E6B57"/>
                </a:solidFill>
                <a:latin typeface="Calibri"/>
              </a:rPr>
              <a:t>15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66928" y="1408176"/>
          <a:ext cx="11057839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28919"/>
                <a:gridCol w="5528920"/>
              </a:tblGrid>
              <a:tr h="274320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Avoid</a:t>
                      </a:r>
                    </a:p>
                  </a:txBody>
                  <a:tcPr>
                    <a:solidFill>
                      <a:srgbClr val="0E6B57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Honey in the first 12 months (infant botulism); propping a bottle or bottle-in-bed; juice in bottles, especially &lt;6 months (enamel erosion, early childhood caries)</a:t>
                      </a:r>
                    </a:p>
                  </a:txBody>
                  <a:tcPr>
                    <a:solidFill>
                      <a:srgbClr val="0E6B57"/>
                    </a:solidFill>
                  </a:tcPr>
                </a:tc>
              </a:tr>
              <a:tr h="274320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>Supplements Vitamin D 400 IU daily for all infants (those on &lt;1 L/day of fortified formula included); iron 1 mg/kg/day if exclusively breastfed &gt;4 months until iron-fortified foods start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>Juice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>Not required under 6 months and of no demonstrable benefit; only 100% juice; max 4-6 oz/day (1-6 yr); avoid apple, pear, prune, sweet cherry, peach, grape (fructose/sorbitol → cramps/diarrhea); give sugared liquids in a cup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</a:tr>
              <a:tr h="274320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>Cup Lips to cup rim 4-5 months; drinks from a cup with help 7-9 months; drinks from a cup (with milestones spilling) 9-12 months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>Weaning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>Gradual, one feeding at a time; the nighttime feeding is discontinued last; readiness signals appear in the second half of the first year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0E6B57"/>
              </a:gs>
              <a:gs pos="100000">
                <a:srgbClr val="17A67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HUMAN GROWTH AND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0E6B57"/>
                </a:solidFill>
                <a:latin typeface="Georgia"/>
              </a:rPr>
              <a:t>Well-Child Clinic Rotation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7 of 15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Well-Child Clinic Rotation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0E6B57"/>
                </a:solidFill>
                <a:latin typeface="Calibri"/>
              </a:rPr>
              <a:t>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63044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Sleep: place the infant to sleep on the back at all times; firm mattress, no pillows or loose blankets;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crib slats spacing ≤6 cm; no drop-side cribs. Most infants sleep 9-11 hours nightly at 3-4 months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(~15 hr/day total); ~11.7 hr nightly by 1 year.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Pacifier: AAP supports limited use in the first 6 months (analgesia + SIDS protection), weaning in the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second 6 months; one-piece construction with a loop handle; never on a string around the neck.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Car seats: all infants and toddlers ride rear-facing for as long as possible — until they reach the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highest weight or height allowed by the car-seat manufacturer (most convertible seats allow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rear-facing past age 2; older editions: "until 12 months AND 20 lb" — report the current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recommendation); rear-facing seat never in a front seat with a passenger air bag; back seat is safest;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~52% of newborn seats are misused at hospital discharge.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Dental: first teeth (lower central incisors) 6-10 months, average 8 months; teeth ≈ age in months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minus 6; clean gums/teeth with a damp cloth; fluoridated toothpaste "smear" for children &lt;2 years;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oral examination by 6 months and a dental home by 1 year; fluoride supplement from 6 months if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the water is inadequate; watch the infant for earaches/circumoral cyanosis.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Teething: fever &gt;39°C, vomiting, or diarrhea means illness — not teething; cold soothes; no teething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powders, aspirin, or liquor on the gums; no amber necklaces.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Ears &amp; language: cooing / simple vowel sounds and laughing aloud appear about 4-5 months;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babbling with inflection 7-10 months. Warning signs: no sounds or babbling by 4 months; not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laughing or squealing by 6 months.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Play: solitary; suggested toys 0-6 months (mobiles, unbreakable mirror, music box, rattles) and 6-12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months (blocks, nested cups, picture books, ball, cup and spoon, wood puzzles, push-pull toys);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restrict TV and recorded video in children &lt;2 years.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0E6B57"/>
              </a:gs>
              <a:gs pos="100000">
                <a:srgbClr val="17A67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HUMAN GROWTH AND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0E6B57"/>
                </a:solidFill>
                <a:latin typeface="Georgia"/>
              </a:rPr>
              <a:t>Toddler — 1-3 years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8 of 15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Well-Child Clinic Rotation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0E6B57"/>
                </a:solidFill>
                <a:latin typeface="Calibri"/>
              </a:rPr>
              <a:t>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9790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Discipline: infants cannot grasp cause-and-effect of danger — childproof the environment; begin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with a negative voice and stern eye contact, then time-out (play yard preferred over a chair); there is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no evidence that meeting needs spoils a child.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478633"/>
            <a:ext cx="10948111" cy="300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64" b="1" i="0">
                <a:solidFill>
                  <a:srgbClr val="0E6B57"/>
                </a:solidFill>
                <a:latin typeface="Calibri"/>
              </a:rPr>
              <a:t>INFANT RED FLAGS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870365"/>
            <a:ext cx="10948111" cy="14228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No smile at people at 3 months; refuses cuddling; no interest in peek-a-boo at 8 months (social-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emotional)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No head support 3-4 months; no sitting with assistance by 6 months; no crawling by 12 months; no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supported standing by 12 months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Not pulling to stand by 11-12 months → evaluate for developmental hip dysplasia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Strabismus / lack of binocularity can cause permanent blindness if undetected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0E6B57"/>
              </a:gs>
              <a:gs pos="100000">
                <a:srgbClr val="17A67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HUMAN GROWTH AND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0E6B57"/>
                </a:solidFill>
                <a:latin typeface="Georgia"/>
              </a:rPr>
              <a:t>Toddler — 1-3 years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8 of 15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Well-Child Clinic Rotation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0E6B57"/>
                </a:solidFill>
                <a:latin typeface="Calibri"/>
              </a:rPr>
              <a:t>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563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Nutrition: 1000-1400 kcal/day (moderately active boy, 2-3 yr, 2010 Dietary Guidelines); growth slows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12-18 months and physiologic anorexia (decreased appetite) appears around 18 months — a normal,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not alarming, event; 3 meals + 2 snacks with small portions; milk 2-3 servings (24-28 oz/day — more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than a quart limits solids and leads to iron/nutrient deficiency); low-fat (2%) milk after age 2; juice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capped at 4-6 oz/day of 100% juice.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Weaning: drink from a cup at the first birthday; weaning from the bottle is complete by 15 months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(the 12-15-month window); never a bedtime bottle — ends "nursing bottle caries" (early childhood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caries); dental care: water-only brushing before age 2, then a pea-sized amount of fluoridated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toothpaste beginning at 2 years.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Nutrition numbers: iron EAR 7 mg/day (1-3 yr); calcium AI 500 mg/day (1-3 yr).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Negativism: it is a necessary assertion of control, not stubbornness — reduce the opportunities for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"no" (offer two acceptable choices); if refused, the parent calmly decides; ritualism (need for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sameness) is comforting and helps through hospitalization.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Tantrums: common when ill, hungry, frustrated, tired (worst near bedtime); three quarters last ≤5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minutes; manage by ignoring the behavior unless injurious, staying present, comforting once it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subsides, and praising non-tantrum behavior. Red flags: tantrums past 5 years, lasting over 15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minutes, or more than 5 times a day → possible serious problem. Time-outs work well from ~18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months.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Toilet training: readiness has five markers (bladder, bowel, cognitive, motor, psychologic) —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sphincter control usually by 22-30 months, dry ≥2 hours, waking from the nap dry, regular bowel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movements, sits/walks/squats, removes clothing; mental readiness (recognizes the urge,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0E6B57"/>
              </a:gs>
              <a:gs pos="100000">
                <a:srgbClr val="17A67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HUMAN GROWTH AND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0E6B57"/>
                </a:solidFill>
                <a:latin typeface="Georgia"/>
              </a:rPr>
              <a:t>Preschooler — 3-6 years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9 of 15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Well-Child Clinic Rotation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0E6B57"/>
                </a:solidFill>
                <a:latin typeface="Calibri"/>
              </a:rPr>
              <a:t>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47512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communicates, imitates); psychologic (wishes to please, sits 5-8 min); and parental readiness (no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family stress from move, divorce, new sibling). Average initiation ~20.6 months; girls 2-2.5 months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before boys; no benefit of intensive training before 27 months; bowel training precedes bladder;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nighttime dryness takes months-years (bedwetting normal in girls ≤4, boys ≤5; no night dryness by 6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years → intervene). Regression is a normal temporary setback.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Sleep: ~11-12 hours with one nap; bedtime resistance and fear of monsters are common later —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regular routine, transitional object, snack, TV out of the room.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Media: television before age 2 decreases language skills; total quality media ≤1 hour/day for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toddlers.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Play: parallel play (alongside, not with others) with imitation; the best "toy" is adult-child interaction.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Safety: unintentional injury is the leading cause of death ages 1-19 (~37%); rear-facing car seat for as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long as possible up to the manufacturer's weight/height limit, then a forward-facing seat with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harness, then a belt-positioning booster until 145 cm (4 ft 9 in) or 8-12 years; gates at both stair ends;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waterproofing — the highest drowning rate occurs in 1- to 2-year-olds, so constant supervision is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needed in and around all water; water heater ≤49°C; poisoning only locked cabinets protect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(cosmetics, analgesics, cleaners top exposures); hot-car hyperthermia deaths are preventable.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0E6B57"/>
              </a:gs>
              <a:gs pos="100000">
                <a:srgbClr val="17A67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HUMAN GROWTH AND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0E6B57"/>
                </a:solidFill>
                <a:latin typeface="Georgia"/>
              </a:rPr>
              <a:t>Preschooler — 3-6 years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9 of 15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Well-Child Clinic Rotation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0E6B57"/>
                </a:solidFill>
                <a:latin typeface="Calibri"/>
              </a:rPr>
              <a:t>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54169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Development: Erikson initiative vs guilt; the superego/conscience develops; magical thinking makes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words literal — say "that was a bad thing to do," not "you are bad"; identification with the same-sex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parent resolves the Oedipal stage.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Fears: the greatest number and variety of fears appear in the preschool years (dark, being left alone,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animals, ghosts, annihilation); most resolve by 5-6 years. Management: night-light,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desensitization/modeling, relaxation, brave self-talk. Refer severe fears that disrupt family life.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Imaginary friends usually appear 2½-3 years and last until school entry (more common in firstborns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and girls) — a sign of health; parents may acknowledge the friend but the child stays responsible for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behavior.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Play: associative play (similar activity, no rigid rules); dramatic/imitative play is central; 4-5-year-olds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reproduce significant-adult behavior.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Language: vocabulary grows from ~300 words at 2 years to &gt;2100 by the end of 5 years.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School readiness: no single readiness indicator; social maturation (especially attention span) matters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as much as academics; school begins between ages 5 and 6.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Nutrition: ~90 kcal/kg ≈ 1800 kcal/day; fluids ~100 ml/kg/day; protein 13-19 g/day; fiber = age + 5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g; saturated fat &lt;10% of calories; calcium 1000 mg/day (4-8 yr); juice/sweetened drinks ≤4-6 oz/day;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0E6B57"/>
              </a:gs>
              <a:gs pos="100000">
                <a:srgbClr val="17A67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HUMAN GROWTH AND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0E6B57"/>
                </a:solidFill>
                <a:latin typeface="Georgia"/>
              </a:rPr>
              <a:t>School-age — 6-12 years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10 of 15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Well-Child Clinic Rotation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0E6B57"/>
                </a:solidFill>
                <a:latin typeface="Calibri"/>
              </a:rPr>
              <a:t>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3641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follow the 5-2-1-0 framework (5 fruits/vegetables, ≤2 hours of screen, 0 sugar-sweetened drinks, 1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hour activity); preschoolers eat about half an adult portion.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Sleep &amp; dental: ~12 hours nightly with infrequent naps; night waking is common. Primary dentition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is complete by the start of the preschool years; brushing still needs adult assistance and flossing is a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parent's task; continue professional care and fluoride.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Discipline: verbal limit-setting works better than with toddlers — the child obeys danger warnings;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allowing questions and disagreement fosters independence; time-out and solitary play stop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aggression; spanking teaches aggression "as a lesson"; encourage verbal expression of feelings.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Safety: less prone to falls and more aware of danger; poisoning still dangerous (mouthing has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ceased); pedestrian-vehicle injuries increase; teaching replaces pure protection — parents model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behavior (bicycle helmets); electrical-outlet caps can be discontinued with an explanation.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Red flags: severe fears disrupting family life; extreme aggression (needs professional treatment);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stuttering with no improvement over &gt;6 months → speech evaluation; injury-prevention education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for 4½-year-old risk takers.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0E6B57"/>
              </a:gs>
              <a:gs pos="100000">
                <a:srgbClr val="17A67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HUMAN GROWTH AND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0E6B57"/>
                </a:solidFill>
                <a:latin typeface="Georgia"/>
              </a:rPr>
              <a:t>School-age — 6-12 years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10 of 15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Well-Child Clinic Rotation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0E6B57"/>
                </a:solidFill>
                <a:latin typeface="Calibri"/>
              </a:rPr>
              <a:t>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563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Growth: ~5 cm/yr; weight gain 2-3 kg/yr; average 6-year-old ≈116 cm/21 kg; average 12-year-old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≈150 cm/40 kg; girls surpass boys in height and weight near the end. Prepubescence is the ~2-year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period preceding puberty; first physiologic signs about 9 years (girls). All primary teeth are shed in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this span — the first tooth (central mandibular incisors) is lost at about 6 years ("age of the loose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tooth"); the 6-year molar erupts behind the deciduous molars; 60% of children have dental caries by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age 5.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Psychosocial: Erikson industry vs inferiority — competence through skills; peers become central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(same-sex "best friends", clubs with codes and conformity); bullying affects ~25% of elementary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students as bully or victim, and cyberbullying can be more harmful (anonymous, wide audience);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teach reporting and family conversation. Physical maturity ≠ emotional maturity.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Cognitive: concrete operations 7-11 years; conservation of number 5-6, liquid/mass/length 6-7,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weight 9-10, volume 9-12; reading is the most significant school skill; homework: quiet, well-lit area,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no TV until done, explain rather than answer.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Nutrition: caloric needs are lower than preschool and lower than the adolescent growth spurt;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children eat what the family eats; encourage fruit, nuts, and wholesome snacks; obesity prevalence is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stable at ~17% and higher in rural/socioeconomically distressed families; school-lunch programs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must supply 1/3 of the daily RDA.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Safety: motor-vehicle crashes are the most common cause of severe accidental injury/death (as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passenger or pedestrian); children &lt;13 years ride in the rear, never the front passenger seat with an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0E6B57"/>
              </a:gs>
              <a:gs pos="100000">
                <a:srgbClr val="17A67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HUMAN GROWTH AND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0E6B57"/>
                </a:solidFill>
                <a:latin typeface="Georgia"/>
              </a:rPr>
              <a:t>Adolescent — 12-20 years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11 of 15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Well-Child Clinic Rotation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0E6B57"/>
                </a:solidFill>
                <a:latin typeface="Calibri"/>
              </a:rPr>
              <a:t>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63044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air bag; over 18 kg (40 lb) use a forward-facing convertible seat if it fits, then a booster until the lap-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shoulder belt fits; no one rides in a pickup-truck bed; ATVs are not recommended under 16 years;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bicycle helmets cut head injury ~45%, brain injury ~33%, facial injury ~27%, fatal injury ~29% —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helmet every ride, the bike must fit; trampolines: single jumper, no somersaults, ≥6 years; skateboards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&lt;5 years never, 6-10 only with close supervision and full padding; participation physical exams ≥every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2 years for sports; firearms locked.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Sleep &amp; dental: sleep falls from ~11.5 hours at 5 years to ~9 hours at 11; up to 50% of children have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nightmares; sleepwalking is common (3-5% frequent) in the first 3-4 hours of sleep. Children may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need help with brushing until ~7-10 years — parents monitor and floss at least daily; brush 2-3×/day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for 2-3 minutes with fluoridated toothpaste; dental examinations every 6 months; dental sealants are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recommended for all school-age children.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Discipline: no corporal punishment — reasoning is effective; time-out for acute behavior; advanced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strategies include withholding privileges, recompense, penalties, and contracting; problem-solving is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the best limit-setting approach; discipline works best in a positive, supportive relationship.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Guidance box highlights: age 6 — ravenous appetite, bicycle safety, privacy (separate bedroom),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peer interaction; ages 7-10 — allergies may appear, minor injuries increase, growth of peer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involvement, independence with limits; ages 11-12 — prepare for pubescent body changes, accurate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sex education, allow regression while supporting growing up.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Stress signals (explore further): stomach pains/headache, sleep problems, bed-wetting, eating-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habit changes, aggressive/stubborn behavior, reluctance to participate, regression (e.g., thumb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sucking).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0E6B57"/>
              </a:gs>
              <a:gs pos="100000">
                <a:srgbClr val="17A67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HUMAN GROWTH AND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0E6B57"/>
                </a:solidFill>
                <a:latin typeface="Georgia"/>
              </a:rPr>
              <a:t>Adolescent — 12-20 years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11 of 15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Well-Child Clinic Rotation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0E6B57"/>
                </a:solidFill>
                <a:latin typeface="Calibri"/>
              </a:rPr>
              <a:t>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7571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The full adolescent assessment (confidentiality, Tanner staging, HEEADSSS interview, risk-behavior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screening, annual visits) is built in Chapter 8. Guidance points that belong to every clinic visit here: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256739"/>
            <a:ext cx="10948111" cy="2310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Annual influenza vaccination (live-attenuated or inactivated) is recommended for all adolescents.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Tdap: recommended at 11-18 years for those who completed the childhood DTaP/DTP series and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have not received a tetanus booster; may be given before the 5-year Td interval to close the pertussis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gap.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Meningococcal (MenACWY): at 11-12 years with a booster before age 16; a single dose at 13-18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years if never vaccinated.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HPV: the 9-valent vaccine (Gardasil 9) from a minimum age of 9 years, routine at 11-12 years; two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doses if the series starts at 9-14 years, three doses for a start at 15 years or later or in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immunocompromised persons.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0E6B57"/>
              </a:gs>
              <a:gs pos="100000">
                <a:srgbClr val="17A67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HUMAN GROWTH AND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0E6B57"/>
                </a:solidFill>
                <a:latin typeface="Georgia"/>
              </a:rPr>
              <a:t>4.5 Immunization Administration in the Clinic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12 of 15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Well-Child Clinic Rotation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0E6B57"/>
                </a:solidFill>
                <a:latin typeface="Calibri"/>
              </a:rPr>
              <a:t>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18665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Varicella: for those without a history of infection — two doses ≥4 weeks apart for ages ≥13 years.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Hepatitis B: three-dose series for anyone not previously covered. Hepatitis A in targeted areas or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when immunity is desired.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Confidentiality: offers of confidential services are critical for sensitive topics (sexual behavior,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substance use); many teenagers avoid care if they believe their parents will be told.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HEEADSSS interview (Ch. 8): Home / Education / Eating / Activities / Drugs / Sexuality / Suicide-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depression / Safety.</a:t>
            </a:r>
          </a:p>
        </p:txBody>
      </p:sp>
      <p:pic>
        <p:nvPicPr>
          <p:cNvPr id="11" name="Picture 10" descr="p0011_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9274" y="3366211"/>
            <a:ext cx="3733145" cy="278892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0E6B57"/>
              </a:gs>
              <a:gs pos="100000">
                <a:srgbClr val="17A67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HUMAN GROWTH AND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0E6B57"/>
                </a:solidFill>
                <a:latin typeface="Georgia"/>
              </a:rPr>
              <a:t>4.5 Immunization Administration in the Clinic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12 of 15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Well-Child Clinic Rotation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0E6B57"/>
                </a:solidFill>
                <a:latin typeface="Calibri"/>
              </a:rPr>
              <a:t>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4711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150" b="0" i="1">
                <a:solidFill>
                  <a:srgbClr val="7A8291"/>
                </a:solidFill>
                <a:latin typeface="Calibri"/>
              </a:rPr>
              <a:t>Figure 4.4 Anticipatory-guidance themes across the five age blocks: infant, toddler, preschooler,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150" b="0" i="1">
                <a:solidFill>
                  <a:srgbClr val="7A8291"/>
                </a:solidFill>
                <a:latin typeface="Calibri"/>
              </a:rPr>
              <a:t>school-age, and adolescent (full adolescent assessment in Chapter 8).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1970786"/>
            <a:ext cx="10948111" cy="10529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456" b="1" i="0">
                <a:solidFill>
                  <a:srgbClr val="3E4654"/>
                </a:solidFill>
                <a:latin typeface="Calibri"/>
              </a:rPr>
              <a:t>Immunization is a central component of every preventive visit. The steps below cover the record,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456" b="1" i="0">
                <a:solidFill>
                  <a:srgbClr val="3E4654"/>
                </a:solidFill>
                <a:latin typeface="Calibri"/>
              </a:rPr>
              <a:t>the history, and the age-specific immunizations used in the clinic. Whenever a vaccine is due,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0E6B57"/>
              </a:gs>
              <a:gs pos="100000">
                <a:srgbClr val="17A67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HUMAN GROWTH AND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0E6B57"/>
                </a:solidFill>
                <a:latin typeface="Georgia"/>
              </a:rPr>
              <a:t>4.6 Milestone Quick Reference &amp; Red Flags (0-20 yr)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13 of 15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Well-Child Clinic Rotation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0E6B57"/>
                </a:solidFill>
                <a:latin typeface="Calibri"/>
              </a:rPr>
              <a:t>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8125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456" b="0" i="0">
                <a:solidFill>
                  <a:srgbClr val="3E4654"/>
                </a:solidFill>
                <a:latin typeface="Calibri"/>
              </a:rPr>
              <a:t>use the official printed schedule, which is the definitive reference for routine infant and toddler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456" b="0" i="0">
                <a:solidFill>
                  <a:srgbClr val="3E4654"/>
                </a:solidFill>
                <a:latin typeface="Calibri"/>
              </a:rPr>
              <a:t>doses.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66928" y="2312212"/>
          <a:ext cx="11057839" cy="1645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28919"/>
                <a:gridCol w="5528920"/>
              </a:tblGrid>
              <a:tr h="274319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Step</a:t>
                      </a:r>
                    </a:p>
                  </a:txBody>
                  <a:tcPr>
                    <a:solidFill>
                      <a:srgbClr val="0E6B57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Detail</a:t>
                      </a:r>
                    </a:p>
                  </a:txBody>
                  <a:tcPr>
                    <a:solidFill>
                      <a:srgbClr val="0E6B57"/>
                    </a:solidFill>
                  </a:tcPr>
                </a:tc>
              </a:tr>
              <a:tr h="274319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>Immunization record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>Essential at every visit; parents are often unaware of exact names and dates — the most reliable record is the hospital/clinic/private-practitioner record. For each immunization and booster record: disease, number of injections, dosage, ages given, and any post-immunization reaction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>History before Recent immune globulin or blood transfusion necessitates a delay in live vaccines; ask vaccinating about prior horse/foreign serum and anaphylactic reactions to neomycin, eggs, or vaccine components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</a:tr>
              <a:tr h="274319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>Stress immunization needs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>Anticipatory guidance at infant visits must stress the need for immunization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>Newborn doses Vitamin K IM 0.5-1.0 mg vastus lateralis; hepatitis B dose 1 (birth-2 months) — see (Ch. 3) Chapter 3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</a:tr>
              <a:tr h="274324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>Adolescent catch- up/boosters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>Tdap at 11-18 yr for those not yet boosted; MenACWY at 11-12 yr with booster before 16; HPV series from minimum age 9; annual influenza; varicella if no history (2 doses ≥4 wk apart, ≥13 yr); hepatitis B series; hepatitis A in targeted areas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21792" y="3939844"/>
            <a:ext cx="10948111" cy="8125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456" b="0" i="0">
                <a:solidFill>
                  <a:srgbClr val="3E4654"/>
                </a:solidFill>
                <a:latin typeface="Calibri"/>
              </a:rPr>
              <a:t>The tables below make a clinic quick-reference of the milestone ages; the Denver II remains the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456" b="0" i="0">
                <a:solidFill>
                  <a:srgbClr val="3E4654"/>
                </a:solidFill>
                <a:latin typeface="Calibri"/>
              </a:rPr>
              <a:t>definitive screening measure.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0E6B57"/>
              </a:gs>
              <a:gs pos="100000">
                <a:srgbClr val="17A67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HUMAN GROWTH AND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0E6B57"/>
                </a:solidFill>
                <a:latin typeface="Georgia"/>
              </a:rPr>
              <a:t>4.6 Milestone Quick Reference &amp; Red Flags (0-20 yr)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13 of 15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Well-Child Clinic Rotation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0E6B57"/>
                </a:solidFill>
                <a:latin typeface="Calibri"/>
              </a:rPr>
              <a:t>28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66928" y="1408176"/>
          <a:ext cx="11057839" cy="1645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28919"/>
                <a:gridCol w="5528920"/>
              </a:tblGrid>
              <a:tr h="274319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Age / period</a:t>
                      </a:r>
                    </a:p>
                  </a:txBody>
                  <a:tcPr>
                    <a:solidFill>
                      <a:srgbClr val="0E6B57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Milestone</a:t>
                      </a:r>
                    </a:p>
                  </a:txBody>
                  <a:tcPr>
                    <a:solidFill>
                      <a:srgbClr val="0E6B57"/>
                    </a:solidFill>
                  </a:tcPr>
                </a:tc>
              </a:tr>
              <a:tr h="274319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>~2 months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>First real smile at people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>3-4 months Head support expected (no head support = red flag)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</a:tr>
              <a:tr h="274319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>5-8 months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>Sits with back upright (supported) 5 mo; tripod sit 6 mo; sits alone with hand support 7 mo; sits unsupported 8 mo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>8 months Interest in peek-a-boo expected (missing = warning sign); creeping/crawling emerges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</a:tr>
              <a:tr h="274324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0E6B57"/>
              </a:gs>
              <a:gs pos="100000">
                <a:srgbClr val="17A67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HUMAN GROWTH AND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0E6B57"/>
                </a:solidFill>
                <a:latin typeface="Georgia"/>
              </a:rPr>
              <a:t>Well-Child Clinic Rotation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14 of 15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Well-Child Clinic Rotation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0E6B57"/>
                </a:solidFill>
                <a:latin typeface="Calibri"/>
              </a:rPr>
              <a:t>29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66928" y="1408176"/>
          <a:ext cx="11057839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28919"/>
                <a:gridCol w="5528920"/>
              </a:tblGrid>
              <a:tr h="274320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11-12 months</a:t>
                      </a:r>
                    </a:p>
                  </a:txBody>
                  <a:tcPr>
                    <a:solidFill>
                      <a:srgbClr val="0E6B57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Pulls to stand (missing at 11-12 mo → hip-dysplasia evaluation); walks independently ~12 mo</a:t>
                      </a:r>
                    </a:p>
                  </a:txBody>
                  <a:tcPr>
                    <a:solidFill>
                      <a:srgbClr val="0E6B57"/>
                    </a:solidFill>
                  </a:tcPr>
                </a:tc>
              </a:tr>
              <a:tr h="274320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>12 months 2-3 recognizable words with meaning; birth weight tripled; length +50%; HC +33%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>18-24 months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>Voluntary sphincter control; readiness for toilet training typically stands (average start 20.6 mo; daytime control often by 24 mo)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</a:tr>
              <a:tr h="274320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>2-5 years Vocabulary ~300 words (2 yr) grows to &gt;2100 words (5 yr); imaginary friends 2½-3 yr until school entry; most fears resolve by 5-6 yr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>5-6 years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>School readiness social maturation; school begins 5-6 yr; first deciduous tooth (central mandibular incisors) shed ~6 yr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</a:tr>
              <a:tr h="274320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>7-11 years Concrete operations; conservation of number 5-6, liquid/mass/length 6-7, weight 9-10, volume 9-12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>11-14 years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>Peak height velocity ≈12 yr (girls) and ≈14 yr (boys); menarche mean ≈12.55 yr (Caucasian), 12.06 (African-American), 12.25 (Mexican-American)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</a:tr>
              <a:tr h="274320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>12-20 years Adolescent care — see Chapter 8 (Tanner, HEEADSSS, risk behaviors)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66928" y="3511296"/>
          <a:ext cx="11057839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28919"/>
                <a:gridCol w="5528920"/>
              </a:tblGrid>
              <a:tr h="274320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Age / period</a:t>
                      </a:r>
                    </a:p>
                  </a:txBody>
                  <a:tcPr>
                    <a:solidFill>
                      <a:srgbClr val="0E6B57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Red flag — investigate or refer</a:t>
                      </a:r>
                    </a:p>
                  </a:txBody>
                  <a:tcPr>
                    <a:solidFill>
                      <a:srgbClr val="0E6B57"/>
                    </a:solidFill>
                  </a:tcPr>
                </a:tc>
              </a:tr>
              <a:tr h="274320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>0-3 months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>No smile at people at 3 months; child refuses to cuddle; no head support by 3-4 months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>4-8 months No sitting with assistance at 6 months; no interest in peek-a-boo at 8 months; strabismus / no binocularity (can cause permanent blindness)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</a:tr>
              <a:tr h="274320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>9-12 months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>No crawling or supported standing by 12 months; not pulling to stand by 11-12 months; no single words with meaning at 12 months (ma-ma, da-da)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>Toddler (1-3 Tantrums over 5 years of age, lasting over 15 minutes, or more than 5 times/day; yr) bedwetting not improving — no night dryness by age 6 suggests the need for intervention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</a:tr>
              <a:tr h="274320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>Preschool (3-6 yr)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>Severe fears disrupting family life; extreme aggression; stuttering with no improvement over more than 6 months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>School-age (6- Stress signals: stomach pains/headache, sleep problems, bed-wetting, eating-habit 12 yr) changes, aggressive/stubborn behavior, reluctance to participate, regression (thumb sucking); exposure to bullying/cyberbullying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</a:tr>
              <a:tr h="274320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0E6B57"/>
              </a:gs>
              <a:gs pos="100000">
                <a:srgbClr val="17A67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HUMAN GROWTH AND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0E6B57"/>
                </a:solidFill>
                <a:latin typeface="Georgia"/>
              </a:rPr>
              <a:t>Well-Child Clinic Rotation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15 of 15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Well-Child Clinic Rotation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0E6B57"/>
                </a:solidFill>
                <a:latin typeface="Calibri"/>
              </a:rPr>
              <a:t>30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66928" y="1408176"/>
          <a:ext cx="11057839" cy="27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28919"/>
                <a:gridCol w="5528920"/>
              </a:tblGrid>
              <a:tr h="274320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Adolescent (12-20 yr)</a:t>
                      </a:r>
                    </a:p>
                  </a:txBody>
                  <a:tcPr>
                    <a:solidFill>
                      <a:srgbClr val="0E6B57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See Chapter 8 — substance use, depression/suicidality, risky sexual behavior, safety (HEEADSSS positive screens)</a:t>
                      </a:r>
                    </a:p>
                  </a:txBody>
                  <a:tcPr>
                    <a:solidFill>
                      <a:srgbClr val="0E6B57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21792" y="1847088"/>
            <a:ext cx="10948111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Chapter 4 Learning Check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310638"/>
            <a:ext cx="10948111" cy="313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Self-assessment questions (answer in your notebook, then open)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2715412"/>
            <a:ext cx="10948111" cy="2726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97" b="1" i="0">
                <a:solidFill>
                  <a:srgbClr val="3E4654"/>
                </a:solidFill>
                <a:latin typeface="Calibri"/>
              </a:rPr>
              <a:t>End of Chapter 4.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0E6B57"/>
              </a:gs>
              <a:gs pos="100000">
                <a:srgbClr val="17A67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0"/>
            <a:ext cx="12191695" cy="2286000"/>
          </a:xfrm>
          <a:prstGeom prst="rect">
            <a:avLst/>
          </a:prstGeom>
          <a:gradFill rotWithShape="1">
            <a:gsLst>
              <a:gs pos="0">
                <a:srgbClr val="0E6B57"/>
              </a:gs>
              <a:gs pos="100000">
                <a:srgbClr val="17A67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371600"/>
            <a:ext cx="10143439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200" b="1" i="0">
                <a:solidFill>
                  <a:srgbClr val="14171C"/>
                </a:solidFill>
                <a:latin typeface="Georgia"/>
              </a:rPr>
              <a:t>Document Information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 i="0">
                <a:solidFill>
                  <a:srgbClr val="3E4654"/>
                </a:solidFill>
                <a:latin typeface="Calibri"/>
              </a:rPr>
              <a:t>Well-Child Clinic Rotation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 i="0">
                <a:solidFill>
                  <a:srgbClr val="7A8291"/>
                </a:solidFill>
                <a:latin typeface="Calibri"/>
              </a:rPr>
              <a:t>عيادة صحة الطفل (Well-Child Clinic)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3291840"/>
            <a:ext cx="58521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 i="0">
                <a:solidFill>
                  <a:srgbClr val="3E4654"/>
                </a:solidFill>
                <a:latin typeface="Calibri"/>
              </a:rPr>
              <a:t>Source file: Chapter 4 — Well-Child Clinic.pdf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 i="0">
                <a:solidFill>
                  <a:srgbClr val="3E4654"/>
                </a:solidFill>
                <a:latin typeface="Calibri"/>
              </a:rPr>
              <a:t>Pages in source: 15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 i="0">
                <a:solidFill>
                  <a:srgbClr val="3E4654"/>
                </a:solidFill>
                <a:latin typeface="Calibri"/>
              </a:rPr>
              <a:t>Slides in this deck: 32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 i="0">
                <a:solidFill>
                  <a:srgbClr val="3E4654"/>
                </a:solidFill>
                <a:latin typeface="Calibri"/>
              </a:rPr>
              <a:t>Course: Human Growth and Development — Practical Lectures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87007" y="4160520"/>
            <a:ext cx="49377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50" b="0" i="0">
                <a:solidFill>
                  <a:srgbClr val="EAF6F1"/>
                </a:solidFill>
                <a:latin typeface="Calibri"/>
              </a:rPr>
              <a:t>Full readable text and the original file are available on the lecture platform: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https://moustafaali-prog.github.io/growth-development-lectures/lectures/practical/Chapter 4 — Well-Child Clinic.html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