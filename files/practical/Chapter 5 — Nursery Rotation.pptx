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Chapter 5 — Nursery Rotation.pdf (8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assembled verbatim from page 1 and the numbered headings of Chapter 5 — Nursery Rotation.pdf.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headings exactly as numbered in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NURSERY DAYCARE</a:t>
            </a:r>
          </a:p>
          <a:p>
            <a:r>
              <a:t>Chapter 5 — Nursery Rotation</a:t>
            </a:r>
          </a:p>
          <a:p>
            <a:r>
              <a:t>Daily care and health supervision of healthy children 0-3 years in a daycare/nursery setting: intake</a:t>
            </a:r>
          </a:p>
          <a:p>
            <a:r>
              <a:t>assessment, morning health checks, feeding and hygiene procedures, growth monitoring with</a:t>
            </a:r>
          </a:p>
          <a:p>
            <a:r>
              <a:t>developmental observation, common problems, and medication/emergency readiness.</a:t>
            </a:r>
          </a:p>
          <a:p>
            <a:r>
              <a:t>Age range: Birth – 3 years</a:t>
            </a:r>
          </a:p>
          <a:p>
            <a:r>
              <a:t>5.1 Site Profile — Role of the Nursery</a:t>
            </a:r>
          </a:p>
          <a:p>
            <a:r>
              <a:t>Many mothers work outside the home, there are many single-parent families, and many families</a:t>
            </a:r>
          </a:p>
          <a:p>
            <a:r>
              <a:t>live far from relatives — in all of these circumstances infants may need to be cared for outside</a:t>
            </a:r>
          </a:p>
          <a:p>
            <a:r>
              <a:t>the home, in child care settings or home day care centers. The nursery rotation is where the</a:t>
            </a:r>
          </a:p>
          <a:p>
            <a:r>
              <a:t>nurse observes and supports that daily care.</a:t>
            </a:r>
          </a:p>
          <a:p>
            <a:r>
              <a:t>Types: sitter in the home, traditional (freestanding) day care center, or home-based day care center</a:t>
            </a:r>
          </a:p>
          <a:p>
            <a:r>
              <a:t>with fewer children.</a:t>
            </a:r>
          </a:p>
          <a:p>
            <a:r>
              <a:t>Licensing: families using a freestanding or home-based center should make sure the provider is</a:t>
            </a:r>
          </a:p>
          <a:p>
            <a:r>
              <a:t>appropriately licensed.</a:t>
            </a:r>
          </a:p>
          <a:p>
            <a:r>
              <a:t>Caregiver-to-child ratio: parents should feel comfortable with the ratio; the number of caregivers</a:t>
            </a:r>
          </a:p>
          <a:p>
            <a:r>
              <a:t>per child follows the licensed facility's staffing plan.</a:t>
            </a:r>
          </a:p>
          <a:p>
            <a:r>
              <a:t>Staff training: caregivers should be trained in infant CPR and first aid — and parents should be</a:t>
            </a:r>
          </a:p>
          <a:p>
            <a:r>
              <a:t>taught first-aid measures and infant/child CPR as well, to minimize the consequences of injury.</a:t>
            </a:r>
          </a:p>
          <a:p>
            <a:r>
              <a:t>Separation anxiety: it is helpful to visit the center once or twice beforehand so the infant gets used</a:t>
            </a:r>
          </a:p>
          <a:p>
            <a:r>
              <a:t>to the caregivers from the comfort of the parent's lap. Warn parents that separation anxiety in late</a:t>
            </a:r>
          </a:p>
          <a:p>
            <a:r>
              <a:t>infancy can cause a disturbing crying episode when the parent leaves — and reassure them the infant</a:t>
            </a:r>
          </a:p>
          <a:p>
            <a:r>
              <a:t>will not suffer harm from the separation.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NURSERY DAYCARE</a:t>
            </a:r>
          </a:p>
          <a:p>
            <a:r>
              <a:t>Chapter 5 — Nursery Rotation</a:t>
            </a:r>
          </a:p>
          <a:p>
            <a:r>
              <a:t>Daily care and health supervision of healthy children 0-3 years in a daycare/nursery setting: intake</a:t>
            </a:r>
          </a:p>
          <a:p>
            <a:r>
              <a:t>assessment, morning health checks, feeding and hygiene procedures, growth monitoring with</a:t>
            </a:r>
          </a:p>
          <a:p>
            <a:r>
              <a:t>developmental observation, common problems, and medication/emergency readiness.</a:t>
            </a:r>
          </a:p>
          <a:p>
            <a:r>
              <a:t>Age range: Birth – 3 years</a:t>
            </a:r>
          </a:p>
          <a:p>
            <a:r>
              <a:t>5.1 Site Profile — Role of the Nursery</a:t>
            </a:r>
          </a:p>
          <a:p>
            <a:r>
              <a:t>Many mothers work outside the home, there are many single-parent families, and many families</a:t>
            </a:r>
          </a:p>
          <a:p>
            <a:r>
              <a:t>live far from relatives — in all of these circumstances infants may need to be cared for outside</a:t>
            </a:r>
          </a:p>
          <a:p>
            <a:r>
              <a:t>the home, in child care settings or home day care centers. The nursery rotation is where the</a:t>
            </a:r>
          </a:p>
          <a:p>
            <a:r>
              <a:t>nurse observes and supports that daily care.</a:t>
            </a:r>
          </a:p>
          <a:p>
            <a:r>
              <a:t>Types: sitter in the home, traditional (freestanding) day care center, or home-based day care center</a:t>
            </a:r>
          </a:p>
          <a:p>
            <a:r>
              <a:t>with fewer children.</a:t>
            </a:r>
          </a:p>
          <a:p>
            <a:r>
              <a:t>Licensing: families using a freestanding or home-based center should make sure the provider is</a:t>
            </a:r>
          </a:p>
          <a:p>
            <a:r>
              <a:t>appropriately licensed.</a:t>
            </a:r>
          </a:p>
          <a:p>
            <a:r>
              <a:t>Caregiver-to-child ratio: parents should feel comfortable with the ratio; the number of caregivers</a:t>
            </a:r>
          </a:p>
          <a:p>
            <a:r>
              <a:t>per child follows the licensed facility's staffing plan.</a:t>
            </a:r>
          </a:p>
          <a:p>
            <a:r>
              <a:t>Staff training: caregivers should be trained in infant CPR and first aid — and parents should be</a:t>
            </a:r>
          </a:p>
          <a:p>
            <a:r>
              <a:t>taught first-aid measures and infant/child CPR as well, to minimize the consequences of injury.</a:t>
            </a:r>
          </a:p>
          <a:p>
            <a:r>
              <a:t>Separation anxiety: it is helpful to visit the center once or twice beforehand so the infant gets used</a:t>
            </a:r>
          </a:p>
          <a:p>
            <a:r>
              <a:t>to the caregivers from the comfort of the parent's lap. Warn parents that separation anxiety in late</a:t>
            </a:r>
          </a:p>
          <a:p>
            <a:r>
              <a:t>infancy can cause a disturbing crying episode when the parent leaves — and reassure them the infant</a:t>
            </a:r>
          </a:p>
          <a:p>
            <a:r>
              <a:t>will not suffer harm from the separation.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NURSE'S ROLE IN THE NURSERY</a:t>
            </a:r>
          </a:p>
          <a:p>
            <a:r>
              <a:t>Daily care skills the infant needs: feeding, bathing, and changing diapers.</a:t>
            </a:r>
          </a:p>
          <a:p>
            <a:r>
              <a:t>Health surveillance: morning health checks, growth monitoring, and observation of development</a:t>
            </a:r>
          </a:p>
          <a:p>
            <a:r>
              <a:t>— day care providers also play a role in support and education of the family.</a:t>
            </a:r>
          </a:p>
          <a:p>
            <a:r>
              <a:t>Teaching: anticipatory guidance on feeding, safe sleep, safety in the water, home safety, and when</a:t>
            </a:r>
          </a:p>
          <a:p>
            <a:r>
              <a:t>to call the provider (see Sections 5.3-5.6).</a:t>
            </a:r>
          </a:p>
          <a:p>
            <a:r>
              <a:t>Facility licensing, exclusion, and medication policies follow each center's written rules; this chapter</a:t>
            </a:r>
          </a:p>
          <a:p>
            <a:r>
              <a:t>covers the clinical content shared by all centers.</a:t>
            </a:r>
          </a:p>
          <a:p>
            <a:r>
              <a:t>5.2 Intake Health Assessment</a:t>
            </a:r>
          </a:p>
          <a:p>
            <a:r>
              <a:t>Admission to the nursery starts with a health history and immunization verification, a baseline</a:t>
            </a:r>
          </a:p>
          <a:p>
            <a:r>
              <a:t>physical assessment, and a written emergency plan. The same periodic-screening principle</a:t>
            </a:r>
          </a:p>
          <a:p>
            <a:r>
              <a:t>applies in the daycare as in the clinic: periodic screening for adequate growth and development,</a:t>
            </a:r>
          </a:p>
          <a:p>
            <a:r>
              <a:t>adherence to the recommended screenings, and the current immunization schedule.</a:t>
            </a:r>
          </a:p>
          <a:p>
            <a:r>
              <a:t>Intake item</a:t>
            </a:r>
          </a:p>
          <a:p>
            <a:r>
              <a:t>What to record</a:t>
            </a:r>
          </a:p>
          <a:p>
            <a:r>
              <a:t>Identification &amp;</a:t>
            </a:r>
          </a:p>
          <a:p>
            <a:r>
              <a:t>contacts</a:t>
            </a:r>
          </a:p>
          <a:p>
            <a:r>
              <a:t>Name, date of birth, age, parent(s)/guardian(s), alternative emergency contacts; who</a:t>
            </a:r>
          </a:p>
          <a:p>
            <a:r>
              <a:t>may pick the child up</a:t>
            </a:r>
          </a:p>
          <a:p>
            <a:r>
              <a:t>Health history</a:t>
            </a:r>
          </a:p>
          <a:p>
            <a:r>
              <a:t>Interval history — feeding, elimination, sleep, behavior, past illnesses, allergies,</a:t>
            </a:r>
          </a:p>
          <a:p>
            <a:r>
              <a:t>medications, and the immunization record</a:t>
            </a:r>
          </a:p>
          <a:p>
            <a:r>
              <a:t>Immunization</a:t>
            </a:r>
          </a:p>
          <a:p>
            <a:r>
              <a:t>verification</a:t>
            </a:r>
          </a:p>
          <a:p>
            <a:r>
              <a:t>Review the immunization record against the current schedule; note live-vaccine</a:t>
            </a:r>
          </a:p>
          <a:p>
            <a:r>
              <a:t>timing (see Ch. 4 §4.5) and catch-up needs</a:t>
            </a:r>
          </a:p>
          <a:p>
            <a:r>
              <a:t>Birth history &amp;</a:t>
            </a:r>
          </a:p>
          <a:p>
            <a:r>
              <a:t>newborn screens</a:t>
            </a:r>
          </a:p>
          <a:p>
            <a:r>
              <a:t>Gestational age, birth weight, newborn screen results, hearing screen (OAE) and</a:t>
            </a:r>
          </a:p>
          <a:p>
            <a:r>
              <a:t>CCHD screen results, vitamin K and HepB at birth (Ch. 3 §3.5)</a:t>
            </a:r>
          </a:p>
          <a:p>
            <a:r>
              <a:t>Baseline physical</a:t>
            </a:r>
          </a:p>
          <a:p>
            <a:r>
              <a:t>Weight, length, head circumference, vital signs; skin (rashes), eyes/ears, mouth</a:t>
            </a:r>
          </a:p>
          <a:p>
            <a:r>
              <a:t>(teeth present), abdomen, and developmental stage noted (Ch. 3 newborn exam;</a:t>
            </a:r>
          </a:p>
          <a:p>
            <a:r>
              <a:t>Ch. 4 infant/toddler exam)</a:t>
            </a:r>
          </a:p>
          <a:p>
            <a:r>
              <a:t>Special needs</a:t>
            </a:r>
          </a:p>
          <a:p>
            <a:r>
              <a:t>Diet (breast/formula/solids), allergies (food, drug, latex), medications to be given</a:t>
            </a:r>
          </a:p>
          <a:p>
            <a:r>
              <a:t>during the day, sleeping habits/routine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NURSE'S ROLE IN THE NURSERY</a:t>
            </a:r>
          </a:p>
          <a:p>
            <a:r>
              <a:t>Daily care skills the infant needs: feeding, bathing, and changing diapers.</a:t>
            </a:r>
          </a:p>
          <a:p>
            <a:r>
              <a:t>Health surveillance: morning health checks, growth monitoring, and observation of development</a:t>
            </a:r>
          </a:p>
          <a:p>
            <a:r>
              <a:t>— day care providers also play a role in support and education of the family.</a:t>
            </a:r>
          </a:p>
          <a:p>
            <a:r>
              <a:t>Teaching: anticipatory guidance on feeding, safe sleep, safety in the water, home safety, and when</a:t>
            </a:r>
          </a:p>
          <a:p>
            <a:r>
              <a:t>to call the provider (see Sections 5.3-5.6).</a:t>
            </a:r>
          </a:p>
          <a:p>
            <a:r>
              <a:t>Facility licensing, exclusion, and medication policies follow each center's written rules; this chapter</a:t>
            </a:r>
          </a:p>
          <a:p>
            <a:r>
              <a:t>covers the clinical content shared by all centers.</a:t>
            </a:r>
          </a:p>
          <a:p>
            <a:r>
              <a:t>5.2 Intake Health Assessment</a:t>
            </a:r>
          </a:p>
          <a:p>
            <a:r>
              <a:t>Admission to the nursery starts with a health history and immunization verification, a baseline</a:t>
            </a:r>
          </a:p>
          <a:p>
            <a:r>
              <a:t>physical assessment, and a written emergency plan. The same periodic-screening principle</a:t>
            </a:r>
          </a:p>
          <a:p>
            <a:r>
              <a:t>applies in the daycare as in the clinic: periodic screening for adequate growth and development,</a:t>
            </a:r>
          </a:p>
          <a:p>
            <a:r>
              <a:t>adherence to the recommended screenings, and the current immunization schedule.</a:t>
            </a:r>
          </a:p>
          <a:p>
            <a:r>
              <a:t>Intake item</a:t>
            </a:r>
          </a:p>
          <a:p>
            <a:r>
              <a:t>What to record</a:t>
            </a:r>
          </a:p>
          <a:p>
            <a:r>
              <a:t>Identification &amp;</a:t>
            </a:r>
          </a:p>
          <a:p>
            <a:r>
              <a:t>contacts</a:t>
            </a:r>
          </a:p>
          <a:p>
            <a:r>
              <a:t>Name, date of birth, age, parent(s)/guardian(s), alternative emergency contacts; who</a:t>
            </a:r>
          </a:p>
          <a:p>
            <a:r>
              <a:t>may pick the child up</a:t>
            </a:r>
          </a:p>
          <a:p>
            <a:r>
              <a:t>Health history</a:t>
            </a:r>
          </a:p>
          <a:p>
            <a:r>
              <a:t>Interval history — feeding, elimination, sleep, behavior, past illnesses, allergies,</a:t>
            </a:r>
          </a:p>
          <a:p>
            <a:r>
              <a:t>medications, and the immunization record</a:t>
            </a:r>
          </a:p>
          <a:p>
            <a:r>
              <a:t>Immunization</a:t>
            </a:r>
          </a:p>
          <a:p>
            <a:r>
              <a:t>verification</a:t>
            </a:r>
          </a:p>
          <a:p>
            <a:r>
              <a:t>Review the immunization record against the current schedule; note live-vaccine</a:t>
            </a:r>
          </a:p>
          <a:p>
            <a:r>
              <a:t>timing (see Ch. 4 §4.5) and catch-up needs</a:t>
            </a:r>
          </a:p>
          <a:p>
            <a:r>
              <a:t>Birth history &amp;</a:t>
            </a:r>
          </a:p>
          <a:p>
            <a:r>
              <a:t>newborn screens</a:t>
            </a:r>
          </a:p>
          <a:p>
            <a:r>
              <a:t>Gestational age, birth weight, newborn screen results, hearing screen (OAE) and</a:t>
            </a:r>
          </a:p>
          <a:p>
            <a:r>
              <a:t>CCHD screen results, vitamin K and HepB at birth (Ch. 3 §3.5)</a:t>
            </a:r>
          </a:p>
          <a:p>
            <a:r>
              <a:t>Baseline physical</a:t>
            </a:r>
          </a:p>
          <a:p>
            <a:r>
              <a:t>Weight, length, head circumference, vital signs; skin (rashes), eyes/ears, mouth</a:t>
            </a:r>
          </a:p>
          <a:p>
            <a:r>
              <a:t>(teeth present), abdomen, and developmental stage noted (Ch. 3 newborn exam;</a:t>
            </a:r>
          </a:p>
          <a:p>
            <a:r>
              <a:t>Ch. 4 infant/toddler exam)</a:t>
            </a:r>
          </a:p>
          <a:p>
            <a:r>
              <a:t>Special needs</a:t>
            </a:r>
          </a:p>
          <a:p>
            <a:r>
              <a:t>Diet (breast/formula/solids), allergies (food, drug, latex), medications to be given</a:t>
            </a:r>
          </a:p>
          <a:p>
            <a:r>
              <a:t>during the day, sleeping habits/routine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Emergency plan</a:t>
            </a:r>
          </a:p>
          <a:p>
            <a:r>
              <a:t>Written action plan for injury, choking, allergic reaction, and fever; staff trained in</a:t>
            </a:r>
          </a:p>
          <a:p>
            <a:r>
              <a:t>infant CPR and first aid; documentation route (Ch. 5.7, Ch. 9)</a:t>
            </a:r>
          </a:p>
          <a:p>
            <a:r>
              <a:t>FEEDING ACCOUNTABILITY</a:t>
            </a:r>
          </a:p>
          <a:p>
            <a:r>
              <a:t>If breast milk or formula is being expressed/stored at the center, apply the handling rules from Ch. 3</a:t>
            </a:r>
          </a:p>
          <a:p>
            <a:r>
              <a:t>(breast-milk: never microwave; bottle never propped; formula prepared by exact package</a:t>
            </a:r>
          </a:p>
          <a:p>
            <a:r>
              <a:t>instructions).</a:t>
            </a:r>
          </a:p>
          <a:p>
            <a:r>
              <a:t>5.3 Daily Health Checks</a:t>
            </a:r>
          </a:p>
          <a:p>
            <a:r>
              <a:t>A quick morning check before the child is accepted tells the nurse whether the child is well</a:t>
            </a:r>
          </a:p>
          <a:p>
            <a:r>
              <a:t>enough to be in the group. It observes what can be seen without invasive testing: appearance,</a:t>
            </a:r>
          </a:p>
          <a:p>
            <a:r>
              <a:t>behavior, and the first signs of illness.</a:t>
            </a:r>
          </a:p>
          <a:p>
            <a:r>
              <a:t>Check</a:t>
            </a:r>
          </a:p>
          <a:p>
            <a:r>
              <a:t>Normal focus</a:t>
            </a:r>
          </a:p>
          <a:p>
            <a:r>
              <a:t>Prompt a call home / provider (red-flag examples)</a:t>
            </a:r>
          </a:p>
          <a:p>
            <a:r>
              <a:t>Appearance &amp;</a:t>
            </a:r>
          </a:p>
          <a:p>
            <a:r>
              <a:t>behavior</a:t>
            </a:r>
          </a:p>
          <a:p>
            <a:r>
              <a:t>Alert, interactive, plays</a:t>
            </a:r>
          </a:p>
          <a:p>
            <a:r>
              <a:t>and feeds normally for</a:t>
            </a:r>
          </a:p>
          <a:p>
            <a:r>
              <a:t>age</a:t>
            </a:r>
          </a:p>
          <a:p>
            <a:r>
              <a:t>Lethargic, unresponsive, cries constantly, refusal to feed, "not</a:t>
            </a:r>
          </a:p>
          <a:p>
            <a:r>
              <a:t>acting like himself/herself"</a:t>
            </a:r>
          </a:p>
          <a:p>
            <a:r>
              <a:t>Temperature</a:t>
            </a:r>
          </a:p>
          <a:p>
            <a:r>
              <a:t>Axillary temperature in</a:t>
            </a:r>
          </a:p>
          <a:p>
            <a:r>
              <a:t>the normal range (Ch. 1,</a:t>
            </a:r>
          </a:p>
          <a:p>
            <a:r>
              <a:t>Ch. 3: axillary 36.5-</a:t>
            </a:r>
          </a:p>
          <a:p>
            <a:r>
              <a:t>37.6°C newborn)</a:t>
            </a:r>
          </a:p>
          <a:p>
            <a:r>
              <a:t>Fever by axilla; any fever in the first months — see facility</a:t>
            </a:r>
          </a:p>
          <a:p>
            <a:r>
              <a:t>policy and provider</a:t>
            </a:r>
          </a:p>
          <a:p>
            <a:r>
              <a:t>Skin / rash</a:t>
            </a:r>
          </a:p>
          <a:p>
            <a:r>
              <a:t>No new rash; clean skin</a:t>
            </a:r>
          </a:p>
          <a:p>
            <a:r>
              <a:t>New widespread rash, spreading spots, or rash with fever —</a:t>
            </a:r>
          </a:p>
          <a:p>
            <a:r>
              <a:t>evaluate (rule of thumb below)</a:t>
            </a:r>
          </a:p>
          <a:p>
            <a:r>
              <a:t>Feeding /</a:t>
            </a:r>
          </a:p>
          <a:p>
            <a:r>
              <a:t>hydration</a:t>
            </a:r>
          </a:p>
          <a:p>
            <a:r>
              <a:t>Feeds as usual; wet</a:t>
            </a:r>
          </a:p>
          <a:p>
            <a:r>
              <a:t>diapers count consistent</a:t>
            </a:r>
          </a:p>
          <a:p>
            <a:r>
              <a:t>with intake</a:t>
            </a:r>
          </a:p>
          <a:p>
            <a:r>
              <a:t>Poor feeding, forceful vomiting, diarrhea — evaluate; infants</a:t>
            </a:r>
          </a:p>
          <a:p>
            <a:r>
              <a:t>need about six wet diapers per 24 hours as an intake indicator</a:t>
            </a:r>
          </a:p>
          <a:p>
            <a:r>
              <a:t>Sleep /</a:t>
            </a:r>
          </a:p>
          <a:p>
            <a:r>
              <a:t>alertness</a:t>
            </a:r>
          </a:p>
          <a:p>
            <a:r>
              <a:t>Rested, normal appetite</a:t>
            </a:r>
          </a:p>
          <a:p>
            <a:r>
              <a:t>Sleepy all day, feverish, won't wake for feeding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OF THUMB FOR RASHES AND FEVER</a:t>
            </a:r>
          </a:p>
          <a:p>
            <a:r>
              <a:t>A fever (temperature above the normal range) together with a new generalised rash, lethargy, or</a:t>
            </a:r>
          </a:p>
          <a:p>
            <a:r>
              <a:t>poor feeding is a call-the-provider situation. Teething does not cause high fever, vomiting, or</a:t>
            </a:r>
          </a:p>
          <a:p>
            <a:r>
              <a:t>diarrhea — a temperature elevation with those signs means illness, not teeth. Exclusion criteria (for</a:t>
            </a:r>
          </a:p>
          <a:p>
            <a:r>
              <a:t>example "keep home until fever-free for 24 hours") follow each licensed facility's written policy.</a:t>
            </a:r>
          </a:p>
          <a:p>
            <a:r>
              <a:t>5.4 Daily Care Procedures</a:t>
            </a:r>
          </a:p>
          <a:p>
            <a:r>
              <a:t>Feeding by stage (0-3 years)</a:t>
            </a:r>
          </a:p>
          <a:p>
            <a:r>
              <a:t>Infant fluid &amp; calories: fluid 140-160 mL/kg/day (newborn); ~100 mL/kg/day for the first 10 kg plus</a:t>
            </a:r>
          </a:p>
          <a:p>
            <a:r>
              <a:t>50 mL/kg/day for the next 10 kg; calories 105-108 kcal/kg/day (1-6 months: 108 kcal/kg; 6-12</a:t>
            </a:r>
          </a:p>
          <a:p>
            <a:r>
              <a:t>months: 98 kcal/kg).</a:t>
            </a:r>
          </a:p>
          <a:p>
            <a:r>
              <a:t>Breastfeeding at the center: expressed breast milk fed by bottle — never microwaved; feed on the</a:t>
            </a:r>
          </a:p>
          <a:p>
            <a:r>
              <a:t>baby's cues; the properly latched infant sucks rhythmically with audible swallowing.</a:t>
            </a:r>
          </a:p>
          <a:p>
            <a:r>
              <a:t>Formula: prepare exactly per package instructions; 2-3 oz per feeding about 6×/day as a starter</a:t>
            </a:r>
          </a:p>
          <a:p>
            <a:r>
              <a:t>guide; never prop the bottle and never put juice or sweetened liquid in a bottle.</a:t>
            </a:r>
          </a:p>
          <a:p>
            <a:r>
              <a:t>Solids: begin with a single-ingredient iron-fortified cereal, then fruits and vegetables; introduce one</a:t>
            </a:r>
          </a:p>
          <a:p>
            <a:r>
              <a:t>new food at a time and watch for reactions (Ch. 4 §4.4 infant).</a:t>
            </a:r>
          </a:p>
          <a:p>
            <a:r>
              <a:t>Toddler meals: 3 meals + 2 snacks, small portions; milk 2-3 servings (24-28 oz/day equivalent); juice</a:t>
            </a:r>
          </a:p>
          <a:p>
            <a:r>
              <a:t>capped at 4-6 oz/day of 100% juice in a cup.</a:t>
            </a:r>
          </a:p>
          <a:p>
            <a:r>
              <a:t>Choking prevention while feeding: slowly add more difficult-to-chew foods as the toddler becomes</a:t>
            </a:r>
          </a:p>
          <a:p>
            <a:r>
              <a:t>adept; cut all foods into bite-size pieces; avoid nuts, gumdrops/chewy candies, raw carrots, peanut</a:t>
            </a:r>
          </a:p>
          <a:p>
            <a:r>
              <a:t>butter alone, and popcorn; cut hot dogs and grapes into quarters; cook carrots until soft or grate</a:t>
            </a:r>
          </a:p>
          <a:p>
            <a:r>
              <a:t>them; always supervise the toddler while eating.</a:t>
            </a:r>
          </a:p>
          <a:p>
            <a:r>
              <a:t>Self-feeding: child-sized spoon and fork with dull tines; seat the toddler securely with feet</a:t>
            </a:r>
          </a:p>
          <a:p>
            <a:r>
              <a:t>supported, not dangling; never leave the toddler unattended while eating; minimize distractions (turn</a:t>
            </a:r>
          </a:p>
          <a:p>
            <a:r>
              <a:t>off the TV).</a:t>
            </a:r>
          </a:p>
          <a:p>
            <a:r>
              <a:t>Hygiene, bathing &amp; diapering</a:t>
            </a:r>
          </a:p>
          <a:p>
            <a:r>
              <a:t>Bathing safety: infants can drown in a very small amount of water — never leave an infant</a:t>
            </a:r>
          </a:p>
          <a:p>
            <a:r>
              <a:t>unattended in a sink, baby bathtub, standard bathtub, swimming or wading pool, or any body of</a:t>
            </a:r>
          </a:p>
          <a:p>
            <a:r>
              <a:t>water even if shallow; keep the bathroom door closed and the toilet lid down; empty tubs, pails, and</a:t>
            </a:r>
          </a:p>
          <a:p>
            <a:r>
              <a:t>buckets immediately after use.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OF THUMB FOR RASHES AND FEVER</a:t>
            </a:r>
          </a:p>
          <a:p>
            <a:r>
              <a:t>A fever (temperature above the normal range) together with a new generalised rash, lethargy, or</a:t>
            </a:r>
          </a:p>
          <a:p>
            <a:r>
              <a:t>poor feeding is a call-the-provider situation. Teething does not cause high fever, vomiting, or</a:t>
            </a:r>
          </a:p>
          <a:p>
            <a:r>
              <a:t>diarrhea — a temperature elevation with those signs means illness, not teeth. Exclusion criteria (for</a:t>
            </a:r>
          </a:p>
          <a:p>
            <a:r>
              <a:t>example "keep home until fever-free for 24 hours") follow each licensed facility's written policy.</a:t>
            </a:r>
          </a:p>
          <a:p>
            <a:r>
              <a:t>5.4 Daily Care Procedures</a:t>
            </a:r>
          </a:p>
          <a:p>
            <a:r>
              <a:t>Feeding by stage (0-3 years)</a:t>
            </a:r>
          </a:p>
          <a:p>
            <a:r>
              <a:t>Infant fluid &amp; calories: fluid 140-160 mL/kg/day (newborn); ~100 mL/kg/day for the first 10 kg plus</a:t>
            </a:r>
          </a:p>
          <a:p>
            <a:r>
              <a:t>50 mL/kg/day for the next 10 kg; calories 105-108 kcal/kg/day (1-6 months: 108 kcal/kg; 6-12</a:t>
            </a:r>
          </a:p>
          <a:p>
            <a:r>
              <a:t>months: 98 kcal/kg).</a:t>
            </a:r>
          </a:p>
          <a:p>
            <a:r>
              <a:t>Breastfeeding at the center: expressed breast milk fed by bottle — never microwaved; feed on the</a:t>
            </a:r>
          </a:p>
          <a:p>
            <a:r>
              <a:t>baby's cues; the properly latched infant sucks rhythmically with audible swallowing.</a:t>
            </a:r>
          </a:p>
          <a:p>
            <a:r>
              <a:t>Formula: prepare exactly per package instructions; 2-3 oz per feeding about 6×/day as a starter</a:t>
            </a:r>
          </a:p>
          <a:p>
            <a:r>
              <a:t>guide; never prop the bottle and never put juice or sweetened liquid in a bottle.</a:t>
            </a:r>
          </a:p>
          <a:p>
            <a:r>
              <a:t>Solids: begin with a single-ingredient iron-fortified cereal, then fruits and vegetables; introduce one</a:t>
            </a:r>
          </a:p>
          <a:p>
            <a:r>
              <a:t>new food at a time and watch for reactions (Ch. 4 §4.4 infant).</a:t>
            </a:r>
          </a:p>
          <a:p>
            <a:r>
              <a:t>Toddler meals: 3 meals + 2 snacks, small portions; milk 2-3 servings (24-28 oz/day equivalent); juice</a:t>
            </a:r>
          </a:p>
          <a:p>
            <a:r>
              <a:t>capped at 4-6 oz/day of 100% juice in a cup.</a:t>
            </a:r>
          </a:p>
          <a:p>
            <a:r>
              <a:t>Choking prevention while feeding: slowly add more difficult-to-chew foods as the toddler becomes</a:t>
            </a:r>
          </a:p>
          <a:p>
            <a:r>
              <a:t>adept; cut all foods into bite-size pieces; avoid nuts, gumdrops/chewy candies, raw carrots, peanut</a:t>
            </a:r>
          </a:p>
          <a:p>
            <a:r>
              <a:t>butter alone, and popcorn; cut hot dogs and grapes into quarters; cook carrots until soft or grate</a:t>
            </a:r>
          </a:p>
          <a:p>
            <a:r>
              <a:t>them; always supervise the toddler while eating.</a:t>
            </a:r>
          </a:p>
          <a:p>
            <a:r>
              <a:t>Self-feeding: child-sized spoon and fork with dull tines; seat the toddler securely with feet</a:t>
            </a:r>
          </a:p>
          <a:p>
            <a:r>
              <a:t>supported, not dangling; never leave the toddler unattended while eating; minimize distractions (turn</a:t>
            </a:r>
          </a:p>
          <a:p>
            <a:r>
              <a:t>off the TV).</a:t>
            </a:r>
          </a:p>
          <a:p>
            <a:r>
              <a:t>Hygiene, bathing &amp; diapering</a:t>
            </a:r>
          </a:p>
          <a:p>
            <a:r>
              <a:t>Bathing safety: infants can drown in a very small amount of water — never leave an infant</a:t>
            </a:r>
          </a:p>
          <a:p>
            <a:r>
              <a:t>unattended in a sink, baby bathtub, standard bathtub, swimming or wading pool, or any body of</a:t>
            </a:r>
          </a:p>
          <a:p>
            <a:r>
              <a:t>water even if shallow; keep the bathroom door closed and the toilet lid down; empty tubs, pails, and</a:t>
            </a:r>
          </a:p>
          <a:p>
            <a:r>
              <a:t>buckets immediately after use.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 OF THUMB FOR RASHES AND FEVER</a:t>
            </a:r>
          </a:p>
          <a:p>
            <a:r>
              <a:t>A fever (temperature above the normal range) together with a new generalised rash, lethargy, or</a:t>
            </a:r>
          </a:p>
          <a:p>
            <a:r>
              <a:t>poor feeding is a call-the-provider situation. Teething does not cause high fever, vomiting, or</a:t>
            </a:r>
          </a:p>
          <a:p>
            <a:r>
              <a:t>diarrhea — a temperature elevation with those signs means illness, not teeth. Exclusion criteria (for</a:t>
            </a:r>
          </a:p>
          <a:p>
            <a:r>
              <a:t>example "keep home until fever-free for 24 hours") follow each licensed facility's written policy.</a:t>
            </a:r>
          </a:p>
          <a:p>
            <a:r>
              <a:t>5.4 Daily Care Procedures</a:t>
            </a:r>
          </a:p>
          <a:p>
            <a:r>
              <a:t>Feeding by stage (0-3 years)</a:t>
            </a:r>
          </a:p>
          <a:p>
            <a:r>
              <a:t>Infant fluid &amp; calories: fluid 140-160 mL/kg/day (newborn); ~100 mL/kg/day for the first 10 kg plus</a:t>
            </a:r>
          </a:p>
          <a:p>
            <a:r>
              <a:t>50 mL/kg/day for the next 10 kg; calories 105-108 kcal/kg/day (1-6 months: 108 kcal/kg; 6-12</a:t>
            </a:r>
          </a:p>
          <a:p>
            <a:r>
              <a:t>months: 98 kcal/kg).</a:t>
            </a:r>
          </a:p>
          <a:p>
            <a:r>
              <a:t>Breastfeeding at the center: expressed breast milk fed by bottle — never microwaved; feed on the</a:t>
            </a:r>
          </a:p>
          <a:p>
            <a:r>
              <a:t>baby's cues; the properly latched infant sucks rhythmically with audible swallowing.</a:t>
            </a:r>
          </a:p>
          <a:p>
            <a:r>
              <a:t>Formula: prepare exactly per package instructions; 2-3 oz per feeding about 6×/day as a starter</a:t>
            </a:r>
          </a:p>
          <a:p>
            <a:r>
              <a:t>guide; never prop the bottle and never put juice or sweetened liquid in a bottle.</a:t>
            </a:r>
          </a:p>
          <a:p>
            <a:r>
              <a:t>Solids: begin with a single-ingredient iron-fortified cereal, then fruits and vegetables; introduce one</a:t>
            </a:r>
          </a:p>
          <a:p>
            <a:r>
              <a:t>new food at a time and watch for reactions (Ch. 4 §4.4 infant).</a:t>
            </a:r>
          </a:p>
          <a:p>
            <a:r>
              <a:t>Toddler meals: 3 meals + 2 snacks, small portions; milk 2-3 servings (24-28 oz/day equivalent); juice</a:t>
            </a:r>
          </a:p>
          <a:p>
            <a:r>
              <a:t>capped at 4-6 oz/day of 100% juice in a cup.</a:t>
            </a:r>
          </a:p>
          <a:p>
            <a:r>
              <a:t>Choking prevention while feeding: slowly add more difficult-to-chew foods as the toddler becomes</a:t>
            </a:r>
          </a:p>
          <a:p>
            <a:r>
              <a:t>adept; cut all foods into bite-size pieces; avoid nuts, gumdrops/chewy candies, raw carrots, peanut</a:t>
            </a:r>
          </a:p>
          <a:p>
            <a:r>
              <a:t>butter alone, and popcorn; cut hot dogs and grapes into quarters; cook carrots until soft or grate</a:t>
            </a:r>
          </a:p>
          <a:p>
            <a:r>
              <a:t>them; always supervise the toddler while eating.</a:t>
            </a:r>
          </a:p>
          <a:p>
            <a:r>
              <a:t>Self-feeding: child-sized spoon and fork with dull tines; seat the toddler securely with feet</a:t>
            </a:r>
          </a:p>
          <a:p>
            <a:r>
              <a:t>supported, not dangling; never leave the toddler unattended while eating; minimize distractions (turn</a:t>
            </a:r>
          </a:p>
          <a:p>
            <a:r>
              <a:t>off the TV).</a:t>
            </a:r>
          </a:p>
          <a:p>
            <a:r>
              <a:t>Hygiene, bathing &amp; diapering</a:t>
            </a:r>
          </a:p>
          <a:p>
            <a:r>
              <a:t>Bathing safety: infants can drown in a very small amount of water — never leave an infant</a:t>
            </a:r>
          </a:p>
          <a:p>
            <a:r>
              <a:t>unattended in a sink, baby bathtub, standard bathtub, swimming or wading pool, or any body of</a:t>
            </a:r>
          </a:p>
          <a:p>
            <a:r>
              <a:t>water even if shallow; keep the bathroom door closed and the toilet lid down; empty tubs, pails, and</a:t>
            </a:r>
          </a:p>
          <a:p>
            <a:r>
              <a:t>buckets immediately after use.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Diapering: changing diapers is part of the infant's daily care; the wet-diaper count (about six per 24</a:t>
            </a:r>
          </a:p>
          <a:p>
            <a:r>
              <a:t>hours) is the caregiver's daily hydration check. Follow the center's universal-hygiene procedure at</a:t>
            </a:r>
          </a:p>
          <a:p>
            <a:r>
              <a:t>every change (gloves, cleaning, hand hygiene, safe disposal).</a:t>
            </a:r>
          </a:p>
          <a:p>
            <a:r>
              <a:t>Hand hygiene: handwashing is part of infant-care practice; apply standard infection-control hand</a:t>
            </a:r>
          </a:p>
          <a:p>
            <a:r>
              <a:t>hygiene before and after every child contact, meal, and diaper change.</a:t>
            </a:r>
          </a:p>
          <a:p>
            <a:r>
              <a:t>Safe sleep &amp; teething</a:t>
            </a:r>
          </a:p>
          <a:p>
            <a:r>
              <a:t>Safe sleep: place infants on the back for sleep (SIDS risk reduction); cribs must not have pillows,</a:t>
            </a:r>
          </a:p>
          <a:p>
            <a:r>
              <a:t>comforters, stuffed animals, or other soft items; keep plastic bags of any size away from infants; keep</a:t>
            </a:r>
          </a:p>
          <a:p>
            <a:r>
              <a:t>window-blind and drapery cords out of the infant's reach.</a:t>
            </a:r>
          </a:p>
          <a:p>
            <a:r>
              <a:t>Teething: first lower central incisors appear ~6-10 months (average 8 months); cold items are</a:t>
            </a:r>
          </a:p>
          <a:p>
            <a:r>
              <a:t>soothing; fever, vomiting, or diarrhea are not teething signs — treat them as illness.</a:t>
            </a:r>
          </a:p>
          <a:p>
            <a:r>
              <a:t>Play &amp; stimulation</a:t>
            </a:r>
          </a:p>
          <a:p>
            <a:r>
              <a:t>Infants: toys recommended for 0-12 months only; avoid stuffed animals with eyes or buttons that</a:t>
            </a:r>
          </a:p>
          <a:p>
            <a:r>
              <a:t>can be dislodged; keep the floor free of small dropped items.</a:t>
            </a:r>
          </a:p>
          <a:p>
            <a:r>
              <a:t>Toddlers: parallel play (alongside, not with, others) with imitation — the best "toy" is adult-child</a:t>
            </a:r>
          </a:p>
          <a:p>
            <a:r>
              <a:t>interaction.</a:t>
            </a:r>
          </a:p>
          <a:p>
            <a:r>
              <a:t>Reading, storytelling, and interactive adult-child communication positively affect language</a:t>
            </a:r>
          </a:p>
          <a:p>
            <a:r>
              <a:t>development.</a:t>
            </a:r>
          </a:p>
          <a:p>
            <a:r>
              <a:t>5.5 Growth Monitoring &amp; Developmental Observation</a:t>
            </a:r>
          </a:p>
          <a:p>
            <a:r>
              <a:t>Growth and development are monitored at every contact. The nurse weighs and measures on a</a:t>
            </a:r>
          </a:p>
          <a:p>
            <a:r>
              <a:t>routine schedule, plots on the correct chart, and observes milestones during daily care.</a:t>
            </a:r>
          </a:p>
          <a:p>
            <a:r>
              <a:t>Element</a:t>
            </a:r>
          </a:p>
          <a:p>
            <a:r>
              <a:t>Practice</a:t>
            </a:r>
          </a:p>
          <a:p>
            <a:r>
              <a:t>Length</a:t>
            </a:r>
          </a:p>
          <a:p>
            <a:r>
              <a:t>Recumbent length on a length board until 24 months (or 36 months with the birth-to-</a:t>
            </a:r>
          </a:p>
          <a:p>
            <a:r>
              <a:t>36 chart); tapes, wall charts, and flip-up bars are not used</a:t>
            </a:r>
          </a:p>
          <a:p>
            <a:r>
              <a:t>Weight</a:t>
            </a:r>
          </a:p>
          <a:p>
            <a:r>
              <a:t>Nude (or consistent clothing), balance-beam scale (Ch. 1); record the time because</a:t>
            </a:r>
          </a:p>
          <a:p>
            <a:r>
              <a:t>height/length is less in the afternoon than in the morning</a:t>
            </a:r>
          </a:p>
          <a:p>
            <a:r>
              <a:t>Head</a:t>
            </a:r>
          </a:p>
          <a:p>
            <a:r>
              <a:t>circumference</a:t>
            </a:r>
          </a:p>
          <a:p>
            <a:r>
              <a:t>Measured at every visit in the first years (Ch. 4 Fig. 4.1)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Diapering: changing diapers is part of the infant's daily care; the wet-diaper count (about six per 24</a:t>
            </a:r>
          </a:p>
          <a:p>
            <a:r>
              <a:t>hours) is the caregiver's daily hydration check. Follow the center's universal-hygiene procedure at</a:t>
            </a:r>
          </a:p>
          <a:p>
            <a:r>
              <a:t>every change (gloves, cleaning, hand hygiene, safe disposal).</a:t>
            </a:r>
          </a:p>
          <a:p>
            <a:r>
              <a:t>Hand hygiene: handwashing is part of infant-care practice; apply standard infection-control hand</a:t>
            </a:r>
          </a:p>
          <a:p>
            <a:r>
              <a:t>hygiene before and after every child contact, meal, and diaper change.</a:t>
            </a:r>
          </a:p>
          <a:p>
            <a:r>
              <a:t>Safe sleep &amp; teething</a:t>
            </a:r>
          </a:p>
          <a:p>
            <a:r>
              <a:t>Safe sleep: place infants on the back for sleep (SIDS risk reduction); cribs must not have pillows,</a:t>
            </a:r>
          </a:p>
          <a:p>
            <a:r>
              <a:t>comforters, stuffed animals, or other soft items; keep plastic bags of any size away from infants; keep</a:t>
            </a:r>
          </a:p>
          <a:p>
            <a:r>
              <a:t>window-blind and drapery cords out of the infant's reach.</a:t>
            </a:r>
          </a:p>
          <a:p>
            <a:r>
              <a:t>Teething: first lower central incisors appear ~6-10 months (average 8 months); cold items are</a:t>
            </a:r>
          </a:p>
          <a:p>
            <a:r>
              <a:t>soothing; fever, vomiting, or diarrhea are not teething signs — treat them as illness.</a:t>
            </a:r>
          </a:p>
          <a:p>
            <a:r>
              <a:t>Play &amp; stimulation</a:t>
            </a:r>
          </a:p>
          <a:p>
            <a:r>
              <a:t>Infants: toys recommended for 0-12 months only; avoid stuffed animals with eyes or buttons that</a:t>
            </a:r>
          </a:p>
          <a:p>
            <a:r>
              <a:t>can be dislodged; keep the floor free of small dropped items.</a:t>
            </a:r>
          </a:p>
          <a:p>
            <a:r>
              <a:t>Toddlers: parallel play (alongside, not with, others) with imitation — the best "toy" is adult-child</a:t>
            </a:r>
          </a:p>
          <a:p>
            <a:r>
              <a:t>interaction.</a:t>
            </a:r>
          </a:p>
          <a:p>
            <a:r>
              <a:t>Reading, storytelling, and interactive adult-child communication positively affect language</a:t>
            </a:r>
          </a:p>
          <a:p>
            <a:r>
              <a:t>development.</a:t>
            </a:r>
          </a:p>
          <a:p>
            <a:r>
              <a:t>5.5 Growth Monitoring &amp; Developmental Observation</a:t>
            </a:r>
          </a:p>
          <a:p>
            <a:r>
              <a:t>Growth and development are monitored at every contact. The nurse weighs and measures on a</a:t>
            </a:r>
          </a:p>
          <a:p>
            <a:r>
              <a:t>routine schedule, plots on the correct chart, and observes milestones during daily care.</a:t>
            </a:r>
          </a:p>
          <a:p>
            <a:r>
              <a:t>Element</a:t>
            </a:r>
          </a:p>
          <a:p>
            <a:r>
              <a:t>Practice</a:t>
            </a:r>
          </a:p>
          <a:p>
            <a:r>
              <a:t>Length</a:t>
            </a:r>
          </a:p>
          <a:p>
            <a:r>
              <a:t>Recumbent length on a length board until 24 months (or 36 months with the birth-to-</a:t>
            </a:r>
          </a:p>
          <a:p>
            <a:r>
              <a:t>36 chart); tapes, wall charts, and flip-up bars are not used</a:t>
            </a:r>
          </a:p>
          <a:p>
            <a:r>
              <a:t>Weight</a:t>
            </a:r>
          </a:p>
          <a:p>
            <a:r>
              <a:t>Nude (or consistent clothing), balance-beam scale (Ch. 1); record the time because</a:t>
            </a:r>
          </a:p>
          <a:p>
            <a:r>
              <a:t>height/length is less in the afternoon than in the morning</a:t>
            </a:r>
          </a:p>
          <a:p>
            <a:r>
              <a:t>Head</a:t>
            </a:r>
          </a:p>
          <a:p>
            <a:r>
              <a:t>circumference</a:t>
            </a:r>
          </a:p>
          <a:p>
            <a:r>
              <a:t>Measured at every visit in the first years (Ch. 4 Fig. 4.1)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Charts</a:t>
            </a:r>
          </a:p>
          <a:p>
            <a:r>
              <a:t>WHO growth standards 0-2 years; CDC charts beyond 2 years (Ch. 1, Ch. 4 §4.2)</a:t>
            </a:r>
          </a:p>
          <a:p>
            <a:r>
              <a:t>Plotting rule</a:t>
            </a:r>
          </a:p>
          <a:p>
            <a:r>
              <a:t>Compare against the child's own previous curve — a single low percentile is not</a:t>
            </a:r>
          </a:p>
          <a:p>
            <a:r>
              <a:t>abnormal by itself (Ch. 4 §4.2)</a:t>
            </a:r>
          </a:p>
          <a:p>
            <a:r>
              <a:t>Milestone</a:t>
            </a:r>
          </a:p>
          <a:p>
            <a:r>
              <a:t>observation</a:t>
            </a:r>
          </a:p>
          <a:p>
            <a:r>
              <a:t>Noted during routine care: smile, head control, sitting, pulling to stand, crawling, first</a:t>
            </a:r>
          </a:p>
          <a:p>
            <a:r>
              <a:t>words, tantrums, toilet-training markers (see Ch. 4 §4.4 and §4.6)</a:t>
            </a:r>
          </a:p>
          <a:p>
            <a:r>
              <a:t>Red flags</a:t>
            </a:r>
          </a:p>
          <a:p>
            <a:r>
              <a:t>No smile at people by 3 months; no head support by 3-4 months; no sitting with</a:t>
            </a:r>
          </a:p>
          <a:p>
            <a:r>
              <a:t>assistance at 6 months; no creeping/crawling and no interest in peek-a-boo at 8 months;</a:t>
            </a:r>
          </a:p>
          <a:p>
            <a:r>
              <a:t>not pulling to stand by 11-12 months; no single words with meaning at 12 months</a:t>
            </a:r>
          </a:p>
          <a:p>
            <a:r>
              <a:t>Figure 5.1 charts the morning-check decision: a child with a normal appearance, behavior,</a:t>
            </a:r>
          </a:p>
          <a:p>
            <a:r>
              <a:t>temperature, skin, and appetite is accepted into the group, while red flags in appearance,</a:t>
            </a:r>
          </a:p>
          <a:p>
            <a:r>
              <a:t>temperature, skin, feeding, or alertness send the child to evaluation and a call home. Exclusion</a:t>
            </a:r>
          </a:p>
          <a:p>
            <a:r>
              <a:t>specifics follow the licensed center's written policy.</a:t>
            </a:r>
          </a:p>
          <a:p>
            <a:r>
              <a:t>Figure 5.1 Nursery acceptance decision flow after the documented morning check.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Charts</a:t>
            </a:r>
          </a:p>
          <a:p>
            <a:r>
              <a:t>WHO growth standards 0-2 years; CDC charts beyond 2 years (Ch. 1, Ch. 4 §4.2)</a:t>
            </a:r>
          </a:p>
          <a:p>
            <a:r>
              <a:t>Plotting rule</a:t>
            </a:r>
          </a:p>
          <a:p>
            <a:r>
              <a:t>Compare against the child's own previous curve — a single low percentile is not</a:t>
            </a:r>
          </a:p>
          <a:p>
            <a:r>
              <a:t>abnormal by itself (Ch. 4 §4.2)</a:t>
            </a:r>
          </a:p>
          <a:p>
            <a:r>
              <a:t>Milestone</a:t>
            </a:r>
          </a:p>
          <a:p>
            <a:r>
              <a:t>observation</a:t>
            </a:r>
          </a:p>
          <a:p>
            <a:r>
              <a:t>Noted during routine care: smile, head control, sitting, pulling to stand, crawling, first</a:t>
            </a:r>
          </a:p>
          <a:p>
            <a:r>
              <a:t>words, tantrums, toilet-training markers (see Ch. 4 §4.4 and §4.6)</a:t>
            </a:r>
          </a:p>
          <a:p>
            <a:r>
              <a:t>Red flags</a:t>
            </a:r>
          </a:p>
          <a:p>
            <a:r>
              <a:t>No smile at people by 3 months; no head support by 3-4 months; no sitting with</a:t>
            </a:r>
          </a:p>
          <a:p>
            <a:r>
              <a:t>assistance at 6 months; no creeping/crawling and no interest in peek-a-boo at 8 months;</a:t>
            </a:r>
          </a:p>
          <a:p>
            <a:r>
              <a:t>not pulling to stand by 11-12 months; no single words with meaning at 12 months</a:t>
            </a:r>
          </a:p>
          <a:p>
            <a:r>
              <a:t>Figure 5.1 charts the morning-check decision: a child with a normal appearance, behavior,</a:t>
            </a:r>
          </a:p>
          <a:p>
            <a:r>
              <a:t>temperature, skin, and appetite is accepted into the group, while red flags in appearance,</a:t>
            </a:r>
          </a:p>
          <a:p>
            <a:r>
              <a:t>temperature, skin, feeding, or alertness send the child to evaluation and a call home. Exclusion</a:t>
            </a:r>
          </a:p>
          <a:p>
            <a:r>
              <a:t>specifics follow the licensed center's written policy.</a:t>
            </a:r>
          </a:p>
          <a:p>
            <a:r>
              <a:t>Figure 5.1 Nursery acceptance decision flow after the documented morning check.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5.6 Common Problems in the Nursery</a:t>
            </a:r>
          </a:p>
          <a:p>
            <a:r>
              <a:t>Problem</a:t>
            </a:r>
          </a:p>
          <a:p>
            <a:r>
              <a:t>Guidance</a:t>
            </a:r>
          </a:p>
          <a:p>
            <a:r>
              <a:t>Infections</a:t>
            </a:r>
          </a:p>
          <a:p>
            <a:r>
              <a:t>Infants/children commonly develop infections when entering day care or preschool</a:t>
            </a:r>
          </a:p>
          <a:p>
            <a:r>
              <a:t>because of new exposure; apply routine hygiene and exclusion policy; hand hygiene at</a:t>
            </a:r>
          </a:p>
          <a:p>
            <a:r>
              <a:t>every contact</a:t>
            </a:r>
          </a:p>
          <a:p>
            <a:r>
              <a:t>Dehydration</a:t>
            </a:r>
          </a:p>
          <a:p>
            <a:r>
              <a:t>risk</a:t>
            </a:r>
          </a:p>
          <a:p>
            <a:r>
              <a:t>Poor feeding, forceful vomiting, or diarrhea warrant evaluation; monitor intake/output (wet</a:t>
            </a:r>
          </a:p>
          <a:p>
            <a:r>
              <a:t>diapers count)</a:t>
            </a:r>
          </a:p>
          <a:p>
            <a:r>
              <a:t>Diaper-area</a:t>
            </a:r>
          </a:p>
          <a:p>
            <a:r>
              <a:t>care</a:t>
            </a:r>
          </a:p>
          <a:p>
            <a:r>
              <a:t>Clean and dry with each change (daily-care skill); creams per pediatrician advice</a:t>
            </a:r>
          </a:p>
          <a:p>
            <a:r>
              <a:t>Choking</a:t>
            </a:r>
          </a:p>
          <a:p>
            <a:r>
              <a:t>Infants bring small items to the mouth — only 0-12-month toys, no dislodgable</a:t>
            </a:r>
          </a:p>
          <a:p>
            <a:r>
              <a:t>eyes/buttons, floor kept clear; toddlers have the food-avoidance list above and must be</a:t>
            </a:r>
          </a:p>
          <a:p>
            <a:r>
              <a:t>supervised while eating</a:t>
            </a:r>
          </a:p>
          <a:p>
            <a:r>
              <a:t>SIDS</a:t>
            </a:r>
          </a:p>
          <a:p>
            <a:r>
              <a:t>prevention</a:t>
            </a:r>
          </a:p>
          <a:p>
            <a:r>
              <a:t>Back-to-sleep; empty crib (no pillows/comforters/stuffed animals); cords out of reach</a:t>
            </a:r>
          </a:p>
          <a:p>
            <a:r>
              <a:t>Poisoning</a:t>
            </a:r>
          </a:p>
          <a:p>
            <a:r>
              <a:t>prevention</a:t>
            </a:r>
          </a:p>
          <a:p>
            <a:r>
              <a:t>Medications, household cleaning supplies, and hazardous substances stored completely</a:t>
            </a:r>
          </a:p>
          <a:p>
            <a:r>
              <a:t>out of reach; cabinets and drawers secured with child safety latches; approved safety</a:t>
            </a:r>
          </a:p>
          <a:p>
            <a:r>
              <a:t>covers on electrical outlets; all medications have child-safety caps and none within the</a:t>
            </a:r>
          </a:p>
          <a:p>
            <a:r>
              <a:t>toddler's reach</a:t>
            </a:r>
          </a:p>
          <a:p>
            <a:r>
              <a:t>Drowning risk</a:t>
            </a:r>
          </a:p>
          <a:p>
            <a:r>
              <a:t>Never leave an infant unattended in any water; bathroom door closed, toilet lid down,</a:t>
            </a:r>
          </a:p>
          <a:p>
            <a:r>
              <a:t>tubs/pails/buckets emptied; the highest drowning rate occurs in 1- to 2-year-olds —</a:t>
            </a:r>
          </a:p>
          <a:p>
            <a:r>
              <a:t>constant supervision in and around all water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5.7 Medication &amp; Emergencies</a:t>
            </a:r>
          </a:p>
          <a:p>
            <a:r>
              <a:t>SAFE MEDICATION HANDLING IN THE NURSERY</a:t>
            </a:r>
          </a:p>
          <a:p>
            <a:r>
              <a:t>All medications have child-safety caps; never leave any medication within the toddler's reach.</a:t>
            </a:r>
          </a:p>
          <a:p>
            <a:r>
              <a:t>Medications, household cleaning supplies, and other hazardous substances are stored completely</a:t>
            </a:r>
          </a:p>
          <a:p>
            <a:r>
              <a:t>out of reach.</a:t>
            </a:r>
          </a:p>
          <a:p>
            <a:r>
              <a:t>Be especially careful with medications provided in child-resistant containers — "child-resistant" is</a:t>
            </a:r>
          </a:p>
          <a:p>
            <a:r>
              <a:t>not "child-proof".</a:t>
            </a:r>
          </a:p>
          <a:p>
            <a:r>
              <a:t>Administration, dose check, documentation, and parent permission follow the licensed center's</a:t>
            </a:r>
          </a:p>
          <a:p>
            <a:r>
              <a:t>written policy.</a:t>
            </a:r>
          </a:p>
          <a:p>
            <a:r>
              <a:t>First-aid &amp; CPR readiness: providers/caregivers should be trained in infant CPR and first aid, and</a:t>
            </a:r>
          </a:p>
          <a:p>
            <a:r>
              <a:t>parents should be taught first-aid measures and infant/child CPR to minimize the consequences of</a:t>
            </a:r>
          </a:p>
          <a:p>
            <a:r>
              <a:t>injury.</a:t>
            </a:r>
          </a:p>
          <a:p>
            <a:r>
              <a:t>Emergency action plan: a written plan covering choking, injury, allergic reaction, and fever; staff</a:t>
            </a:r>
          </a:p>
          <a:p>
            <a:r>
              <a:t>roles, call sequence, who documents, and parent notification. Call-for-help numbers follow the</a:t>
            </a:r>
          </a:p>
          <a:p>
            <a:r>
              <a:t>facility's emergency plan.</a:t>
            </a:r>
          </a:p>
          <a:p>
            <a:r>
              <a:t>Documentation: incident reports, medication records, and daily observation logs (report templates</a:t>
            </a:r>
          </a:p>
          <a:p>
            <a:r>
              <a:t>in Ch. 9).</a:t>
            </a:r>
          </a:p>
          <a:p>
            <a:r>
              <a:t>Chapter 5 Learning Check</a:t>
            </a:r>
          </a:p>
          <a:p>
            <a:r>
              <a:t>Self-assessment questions (answer in your notebook, then open)</a:t>
            </a:r>
          </a:p>
          <a:p>
            <a:r>
              <a:t>End of Chapter 5.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5.7 Medication &amp; Emergencies</a:t>
            </a:r>
          </a:p>
          <a:p>
            <a:r>
              <a:t>SAFE MEDICATION HANDLING IN THE NURSERY</a:t>
            </a:r>
          </a:p>
          <a:p>
            <a:r>
              <a:t>All medications have child-safety caps; never leave any medication within the toddler's reach.</a:t>
            </a:r>
          </a:p>
          <a:p>
            <a:r>
              <a:t>Medications, household cleaning supplies, and other hazardous substances are stored completely</a:t>
            </a:r>
          </a:p>
          <a:p>
            <a:r>
              <a:t>out of reach.</a:t>
            </a:r>
          </a:p>
          <a:p>
            <a:r>
              <a:t>Be especially careful with medications provided in child-resistant containers — "child-resistant" is</a:t>
            </a:r>
          </a:p>
          <a:p>
            <a:r>
              <a:t>not "child-proof".</a:t>
            </a:r>
          </a:p>
          <a:p>
            <a:r>
              <a:t>Administration, dose check, documentation, and parent permission follow the licensed center's</a:t>
            </a:r>
          </a:p>
          <a:p>
            <a:r>
              <a:t>written policy.</a:t>
            </a:r>
          </a:p>
          <a:p>
            <a:r>
              <a:t>First-aid &amp; CPR readiness: providers/caregivers should be trained in infant CPR and first aid, and</a:t>
            </a:r>
          </a:p>
          <a:p>
            <a:r>
              <a:t>parents should be taught first-aid measures and infant/child CPR to minimize the consequences of</a:t>
            </a:r>
          </a:p>
          <a:p>
            <a:r>
              <a:t>injury.</a:t>
            </a:r>
          </a:p>
          <a:p>
            <a:r>
              <a:t>Emergency action plan: a written plan covering choking, injury, allergic reaction, and fever; staff</a:t>
            </a:r>
          </a:p>
          <a:p>
            <a:r>
              <a:t>roles, call sequence, who documents, and parent notification. Call-for-help numbers follow the</a:t>
            </a:r>
          </a:p>
          <a:p>
            <a:r>
              <a:t>facility's emergency plan.</a:t>
            </a:r>
          </a:p>
          <a:p>
            <a:r>
              <a:t>Documentation: incident reports, medication records, and daily observation logs (report templates</a:t>
            </a:r>
          </a:p>
          <a:p>
            <a:r>
              <a:t>in Ch. 9).</a:t>
            </a:r>
          </a:p>
          <a:p>
            <a:r>
              <a:t>Chapter 5 Learning Check</a:t>
            </a:r>
          </a:p>
          <a:p>
            <a:r>
              <a:t>Self-assessment questions (answer in your notebook, then open)</a:t>
            </a:r>
          </a:p>
          <a:p>
            <a:r>
              <a:t>End of Chapter 5.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Chapter 5 — Nursery Rotation.pdf.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Nursery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المناوبة في حضانة الأطفال (Nursery Rotation)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Human Growth and Development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Chapter 5 — Nursery Rotation.pdf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8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Chapter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Scope of this chapter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50" b="0" i="0">
                <a:solidFill>
                  <a:srgbClr val="3E4654"/>
                </a:solidFill>
                <a:latin typeface="Calibri"/>
              </a:rPr>
              <a:t>Daily care and health supervision of healthy children 0-3 years in a daycare/nursery setting: intake assessment, morning health checks, feeding and hygiene procedures, growth monitoring with developmental observation, common problems, and medication/emergency readiness.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Learning outcomes — the document's own sections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5.1 Site Profile — Role of the Nursery   (p. 1)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5.2 Intake Health Assessment   (p. 2)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5.3 Daily Health Checks   (p. 3)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5.4 Daily Care Procedures   (p. 4)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5.5 Growth Monitoring &amp; Developmental Observation   (p. 5)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5.6 Common Problems in the Nursery   (p. 7)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5.7 Medication &amp; Emergencies   (p. 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5.1   5.1 Site Profile — Role of the Nursery   —  p.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5.2   5.2 Intake Health Assessment   —  p.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5.3   5.3 Daily Health Checks   —  p. 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5.4   5.4 Daily Care Procedures   —  p.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5.5   5.5 Growth Monitoring &amp; Developmental Observation   —  p. 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5.6   5.6 Common Problems in the Nursery   —  p. 7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5.7   5.7 Medication &amp; Emergencies   —  p.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5.1 Site Profile — Role of the Nursery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ROTATION: NURSERY DAYCARE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64411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5 — Nursery 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27961"/>
            <a:ext cx="10948111" cy="96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Daily care and health supervision of healthy children 0-3 years in a daycare/nursery setting: intake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assessment, morning health checks, feeding and hygiene procedures, growth monitoring with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developmental observation, common problems, and medication/emergency readiness.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83625"/>
            <a:ext cx="10948111" cy="268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75" b="0" i="0">
                <a:solidFill>
                  <a:srgbClr val="3E4654"/>
                </a:solidFill>
                <a:latin typeface="Calibri"/>
              </a:rPr>
              <a:t>Age range: Birth – 3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44021"/>
            <a:ext cx="10948111" cy="1774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Many mothers work outside the home, there are many single-parent families, and many families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live far from relatives — in all of these circumstances infants may need to be cared for outside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the home, in child care settings or home day care centers. The nursery rotation is where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nurse observes and supports that daily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5.1 Site Profile — Role of the Nursery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64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Types: sitter in the home, traditional (freestanding) day care center, or home-based day care center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with fewer children.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Licensing: families using a freestanding or home-based center should make sure the provider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appropriately licensed.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Caregiver-to-child ratio: parents should feel comfortable with the ratio; the number of caregivers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per child follows the licensed facility's staffing plan.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Staff training: caregivers should be trained in infant CPR and first aid — and parents should be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taught first-aid measures and infant/child CPR as well, to minimize the consequences of injury.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Separation anxiety: it is helpful to visit the center once or twice beforehand so the infant gets used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 the caregivers from the comfort of the parent's lap. Warn parents that separation anxiety in late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infancy can cause a disturbing crying episode when the parent leaves — and reassure them the infant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will not suffer harm from the separation.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5.2 Intake Health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NURSE'S ROLE IN THE NURSERY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99907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Daily care skills the infant needs: feeding, bathing, and changing diapers.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Health surveillance: morning health checks, growth monitoring, and observation of development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— day care providers also play a role in support and education of the family.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Teaching: anticipatory guidance on feeding, safe sleep, safety in the water, home safety, and when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 call the provider (see Sections 5.3-5.6).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Facility licensing, exclusion, and medication policies follow each center's written rules; this chapter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covers the clinical content shared by all centers.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57942"/>
            <a:ext cx="10948111" cy="15337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Admission to the nursery starts with a health history and immunization verification, a baseline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physical assessment, and a written emergency plan. The same periodic-screening principle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applies in the daycare as in the clinic: periodic screening for adequate growth and development,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adherence to the recommended screenings, and the current immunization schedule.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5.2 Intake Health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Intake item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to record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Identification &amp;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Name, date of birth, age, parent(s)/guardian(s), alternative emergency contacts; who may pick the child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Health history Interval history — feeding, elimination, sleep, behavior, past illnesses, allergies, medications, and the immunization record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Immunization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Review the immunization record against the current schedule; note live-vaccine timing (see Ch. 4 §4.5) and catch-up needs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Birth history &amp; Gestational age, birth weight, newborn screen results, hearing screen (OAE) and newborn screens CCHD screen results, vitamin K and HepB at birth (Ch. 3 §3.5)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Baseline physical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Weight, length, head circumference, vital signs; skin (rashes), eyes/ears, mouth (teeth present), abdomen, and developmental stage noted (Ch. 3 newborn exam; Ch. 4 infant/toddler exam)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Special needs Diet (breast/formula/solids), allergies (food, drug, latex), medications to be given during the day, sleeping habits/routine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5.3 Daily Health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Emergency plan Written action plan for injury, choking, allergic reaction, and fever; staff trained in infant CPR and first aid; documentation route (Ch. 5.7, Ch. 9)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FEEDING ACCOUNTABILITY If breast milk or formula is being expressed/stored at the center, apply the handling rules from Ch. 3 (breast-milk: never microwave; bottle never propped; formula prepared by exact package instructions).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084832"/>
          <a:ext cx="11057839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Emergency plan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Written action plan for injury, choking, allergic reaction, and fever; staff trained in infant CPR and first aid; documentation route (Ch. 5.7, Ch. 9)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2523744"/>
            <a:ext cx="10948111" cy="1293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A quick morning check before the child is accepted tells the nurse whether the child is well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enough to be in the group. It observes what can be seen without invasive testing: appearance,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behavior, and the first signs of illness.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3908552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Normal focus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Prompt a call home / provider (red-flag examples)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Appearance &amp;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Alert, interactive, plays and feeds normally for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Lethargic, unresponsive, cries constantly, refusal to feed, "not acting like himself/herself"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Temperature Axillary temperature in Fever by axilla; any fever in the first months — see facility the normal range (Ch. 1, policy and provider Ch. 3: axillary 36.5- 37.6°C newborn)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Skin / 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No new rash; clean skin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New widespread rash, spreading spots, or rash with fever — evaluate (rule of thumb below)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Feeding / Feeds as usual; wet Poor feeding, forceful vomiting, diarrhea — evaluate; infants hydration diapers count consistent need about six wet diapers per 24 hours as an intake indicator with intake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Sleep / alertness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Rested, normal appetite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Sleepy all day, feverish, won't wake for feeding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5.4 Daily Care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RULE OF THUMB FOR RASHES AND FEVER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99907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A fever (temperature above the normal range) together with a new generalised rash, lethargy,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poor feeding is a call-the-provider situation. Teething does not cause high fever, vomiting, 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diarrhea — a temperature elevation with those signs means illness, not teeth. Exclusion criteria (for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0" i="0">
                <a:solidFill>
                  <a:srgbClr val="3E4654"/>
                </a:solidFill>
                <a:latin typeface="Calibri"/>
              </a:rPr>
              <a:t>example "keep home until fever-free for 24 hours") follow each licensed facility's written policy.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92259"/>
            <a:ext cx="10948111" cy="335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78" b="1" i="0">
                <a:solidFill>
                  <a:srgbClr val="3E4654"/>
                </a:solidFill>
                <a:latin typeface="Calibri"/>
              </a:rPr>
              <a:t>Feeding by stage (0-3 years)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5.4 Daily Care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1950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Infant fluid &amp; calories: fluid 140-160 mL/kg/day (newborn); ~100 mL/kg/day for the first 10 kg plus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50 mL/kg/day for the next 10 kg; calories 105-108 kcal/kg/day (1-6 months: 108 kcal/kg; 6-12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months: 98 kcal/kg).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Breastfeeding at the center: expressed breast milk fed by bottle — never microwaved; feed on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baby's cues; the properly latched infant sucks rhythmically with audible swallowing.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Formula: prepare exactly per package instructions; 2-3 oz per feeding about 6×/day as a starter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guide; never prop the bottle and never put juice or sweetened liquid in a bottle.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Solids: begin with a single-ingredient iron-fortified cereal, then fruits and vegetables; introduce one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new food at a time and watch for reactions (Ch. 4 §4.4 infant).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Toddler meals: 3 meals + 2 snacks, small portions; milk 2-3 servings (24-28 oz/day equivalent); juice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capped at 4-6 oz/day of 100% juice in a cup.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Choking prevention while feeding: slowly add more difficult-to-chew foods as the toddler becomes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adept; cut all foods into bite-size pieces; avoid nuts, gumdrops/chewy candies, raw carrots, peanut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butter alone, and popcorn; cut hot dogs and grapes into quarters; cook carrots until soft or grate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them; always supervise the toddler while eating.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Self-feeding: child-sized spoon and fork with dull tines; seat the toddler securely with feet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supported, not dangling; never leave the toddler unattended while eating; minimize distractions (turn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off the TV).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5.4 Daily Care Procedures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35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78" b="1" i="0">
                <a:solidFill>
                  <a:srgbClr val="3E4654"/>
                </a:solidFill>
                <a:latin typeface="Calibri"/>
              </a:rPr>
              <a:t>Hygiene, bathing &amp; diapering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35139"/>
            <a:ext cx="10948111" cy="120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Bathing safety: infants can drown in a very small amount of water — never leave an infant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unattended in a sink, baby bathtub, standard bathtub, swimming or wading pool, or any body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water even if shallow; keep the bathroom door closed and the toilet lid down; empty tubs, pails,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buckets immediately after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Safe sleep &amp; teething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Diapering: changing diapers is part of the infant's daily care; the wet-diaper count (about six per 24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hours) is the caregiver's daily hydration check. Follow the center's universal-hygiene procedure 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every change (gloves, cleaning, hand hygiene, safe disposal).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Hand hygiene: handwashing is part of infant-care practice; apply standard infection-control hand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hygiene before and after every child contact, meal, and diaper change.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Safe sleep: place infants on the back for sleep (SIDS risk reduction); cribs must not have pillows,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comforters, stuffed animals, or other soft items; keep plastic bags of any size away from infants; keep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window-blind and drapery cords out of the infant's reach.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Teething: first lower central incisors appear ~6-10 months (average 8 months); cold items are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soothing; fever, vomiting, or diarrhea are not teething signs — treat them as illness.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880457"/>
            <a:ext cx="10948111" cy="335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78" b="1" i="0">
                <a:solidFill>
                  <a:srgbClr val="3E4654"/>
                </a:solidFill>
                <a:latin typeface="Calibri"/>
              </a:rPr>
              <a:t>Play &amp; stimulation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Safe sleep &amp; teething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Infants: toys recommended for 0-12 months only; avoid stuffed animals with eyes or buttons that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can be dislodged; keep the floor free of small dropped items.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Toddlers: parallel play (alongside, not with, others) with imitation — the best "toy" is adult-child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interaction.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Reading, storytelling, and interactive adult-child communication positively affect language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development.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5.5 Growth Monitoring &amp; Developmental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607866"/>
            <a:ext cx="10948111" cy="572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Growth and development are monitored at every contact. The nurse weighs and measures on a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routine schedule, plots on the correct chart, and observes milestones during daily care.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271518"/>
          <a:ext cx="110578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Recumbent length on a length board until 24 months (or 36 months with the birth-to- 36 chart); tapes, wall charts, and flip-up bars are not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Weight Nude (or consistent clothing), balance-beam scale (Ch. 1); record the time because height/length is less in the afternoon than in the morning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Head circumference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Measured at every visit in the first years (Ch. 4 Fig. 4.1)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Nursery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Charts WHO growth standards 0-2 years; CDC charts beyond 2 years (Ch. 1, Ch. 4 §4.2)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Plotting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Compare against the child's own previous curve — a single low percentile is not abnormal by itself (Ch. 4 §4.2)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Milestone Noted during routine care: smile, head control, sitting, pulling to stand, crawling, first observation words, tantrums, toilet-training markers (see Ch. 4 §4.4 and §4.6)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Red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No smile at people by 3 months; no head support by 3-4 months; no sitting with assistance at 6 months; no creeping/crawling and no interest in peek-a-boo at 8 months; not pulling to stand by 11-12 months; no single words with meaning at 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" y="2560320"/>
            <a:ext cx="10948111" cy="850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5.1 charts the morning-check decision: a child with a normal appearance, behavior,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temperature, skin, and appetite is accepted into the group, while red flags in appearance,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temperature, skin, feeding, or alertness send the child to evaluation and a call home. Exclusion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specifics follow the licensed center's written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Nursery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14</a:t>
            </a:r>
          </a:p>
        </p:txBody>
      </p:sp>
      <p:pic>
        <p:nvPicPr>
          <p:cNvPr id="10" name="Picture 9" descr="p0005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83" y="1408176"/>
            <a:ext cx="5000928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5.1 Nursery acceptance decision flow after the documented morning check.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5.6 Common Problems in the Nursery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Guidance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Infections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Infants/children commonly develop infections when entering day care or preschool because of new exposure; apply routine hygiene and exclusion policy; hand hygiene at every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Dehydration Poor feeding, forceful vomiting, or diarrhea warrant evaluation; monitor intake/output (wet risk diapers count)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Diaper-area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Clean and dry with each change (daily-care skill); creams per pediatrician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Choking Infants bring small items to the mouth — only 0-12-month toys, no dislodgable eyes/buttons, floor kept clear; toddlers have the food-avoidance list above and must be supervised while eating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SIDS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Back-to-sleep; empty crib (no pillows/comforters/stuffed animals); cords out of 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Poisoning Medications, household cleaning supplies, and hazardous substances stored completely prevention out of reach; cabinets and drawers secured with child safety latches; approved safety covers on electrical outlets; all medications have child-safety caps and none within the toddler's reach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Drowning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Never leave an infant unattended in any water; bathroom door closed, toilet lid down, tubs/pails/buckets emptied; the highest drowning rate occurs in 1- to 2-year-olds — constant supervision in and around all 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5.7 Medication &amp; Emergencies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 of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SAFE MEDICATION HANDLING IN THE NURSERY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99907"/>
            <a:ext cx="10948111" cy="18665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All medications have child-safety caps; never leave any medication within the toddler's reach.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Medications, household cleaning supplies, and other hazardous substances are stored completely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out of reach.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Be especially careful with medications provided in child-resistant containers — "child-resistant" is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not "child-proof".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Administration, dose check, documentation, and parent permission follow the licensed center's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written policy.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57942"/>
            <a:ext cx="10948111" cy="20884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First-aid &amp; CPR readiness: providers/caregivers should be trained in infant CPR and first aid,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parents should be taught first-aid measures and infant/child CPR to minimize the consequences of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injury.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Emergency action plan: a written plan covering choking, injury, allergic reaction, and fever; staff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roles, call sequence, who documents, and parent notification. Call-for-help numbers follow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facility's emergency plan.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Documentation: incident reports, medication records, and daily observation logs (report templates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 Ch. 9).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5.7 Medication &amp; Emergencies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8 of 8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Nursery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5 Learning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71726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Self-assessment questions (answer in your notebook, then open)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76500"/>
            <a:ext cx="10948111" cy="272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97" b="1" i="0">
                <a:solidFill>
                  <a:srgbClr val="3E4654"/>
                </a:solidFill>
                <a:latin typeface="Calibri"/>
              </a:rPr>
              <a:t>End of Chapter 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Nursery Rotation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المناوبة في حضانة الأطفال (Nursery Rotation)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Chapter 5 — Nursery Rotation.pdf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19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Human Growth and Development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https://moustafaali-prog.github.io/growth-development-lectures/lectures/practical/Chapter 5 — Nursery Rotation.html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