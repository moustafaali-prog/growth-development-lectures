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334" r:id="rId2"/>
    <p:sldId id="266" r:id="rId3"/>
    <p:sldId id="258" r:id="rId4"/>
    <p:sldId id="272" r:id="rId5"/>
    <p:sldId id="265" r:id="rId6"/>
    <p:sldId id="259" r:id="rId7"/>
    <p:sldId id="268" r:id="rId8"/>
    <p:sldId id="269" r:id="rId9"/>
    <p:sldId id="270" r:id="rId10"/>
    <p:sldId id="296" r:id="rId11"/>
    <p:sldId id="297" r:id="rId12"/>
    <p:sldId id="271" r:id="rId13"/>
    <p:sldId id="273" r:id="rId14"/>
    <p:sldId id="276" r:id="rId15"/>
    <p:sldId id="277" r:id="rId16"/>
    <p:sldId id="279" r:id="rId17"/>
    <p:sldId id="280" r:id="rId18"/>
    <p:sldId id="278" r:id="rId19"/>
    <p:sldId id="281" r:id="rId20"/>
    <p:sldId id="282" r:id="rId21"/>
    <p:sldId id="293" r:id="rId22"/>
    <p:sldId id="283" r:id="rId23"/>
    <p:sldId id="294" r:id="rId24"/>
    <p:sldId id="284" r:id="rId25"/>
    <p:sldId id="285" r:id="rId26"/>
    <p:sldId id="289" r:id="rId27"/>
    <p:sldId id="286" r:id="rId28"/>
    <p:sldId id="287" r:id="rId29"/>
    <p:sldId id="292" r:id="rId30"/>
    <p:sldId id="288" r:id="rId31"/>
    <p:sldId id="295" r:id="rId32"/>
    <p:sldId id="335" r:id="rId33"/>
    <p:sldId id="336" r:id="rId34"/>
    <p:sldId id="337"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1503" autoAdjust="0"/>
  </p:normalViewPr>
  <p:slideViewPr>
    <p:cSldViewPr snapToGrid="0">
      <p:cViewPr varScale="1">
        <p:scale>
          <a:sx n="72" d="100"/>
          <a:sy n="72" d="100"/>
        </p:scale>
        <p:origin x="998" y="58"/>
      </p:cViewPr>
      <p:guideLst/>
    </p:cSldViewPr>
  </p:slideViewPr>
  <p:outlineViewPr>
    <p:cViewPr>
      <p:scale>
        <a:sx n="33" d="100"/>
        <a:sy n="33" d="100"/>
      </p:scale>
      <p:origin x="0" y="-1554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CE411-5C12-418B-8535-DCB23B0AC56F}" type="datetimeFigureOut">
              <a:rPr lang="en-US" smtClean="0"/>
              <a:t>10/5/2025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642D3A-E1C1-4B16-A576-1BC8DB5D45C2}" type="slidenum">
              <a:rPr lang="en-US" smtClean="0"/>
              <a:t>‹#›</a:t>
            </a:fld>
            <a:endParaRPr lang="en-US"/>
          </a:p>
        </p:txBody>
      </p:sp>
    </p:spTree>
    <p:extLst>
      <p:ext uri="{BB962C8B-B14F-4D97-AF65-F5344CB8AC3E}">
        <p14:creationId xmlns:p14="http://schemas.microsoft.com/office/powerpoint/2010/main" val="347894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A973774F-7D33-165D-AC76-B1B5FDD468AD}"/>
              </a:ext>
            </a:extLst>
          </p:cNvPr>
          <p:cNvSpPr>
            <a:spLocks noGrp="1" noRot="1" noChangeAspect="1" noChangeArrowheads="1" noTextEdit="1"/>
          </p:cNvSpPr>
          <p:nvPr>
            <p:ph type="sldImg"/>
          </p:nvPr>
        </p:nvSpPr>
        <p:spPr>
          <a:ln/>
        </p:spPr>
      </p:sp>
      <p:sp>
        <p:nvSpPr>
          <p:cNvPr id="173059" name="Notes Placeholder 2">
            <a:extLst>
              <a:ext uri="{FF2B5EF4-FFF2-40B4-BE49-F238E27FC236}">
                <a16:creationId xmlns:a16="http://schemas.microsoft.com/office/drawing/2014/main" id="{DE167C5B-1858-5ACF-15D6-4A98C6DD00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3B52B41A-4DF5-2B8D-78D0-B97A7D2AF378}"/>
              </a:ext>
            </a:extLst>
          </p:cNvPr>
          <p:cNvSpPr>
            <a:spLocks noGrp="1"/>
          </p:cNvSpPr>
          <p:nvPr>
            <p:ph type="sldNum" sz="quarter" idx="5"/>
          </p:nvPr>
        </p:nvSpPr>
        <p:spPr/>
        <p:txBody>
          <a:bodyPr/>
          <a:lstStyle/>
          <a:p>
            <a:pPr algn="r" rtl="0" fontAlgn="auto">
              <a:spcBef>
                <a:spcPts val="0"/>
              </a:spcBef>
              <a:spcAft>
                <a:spcPts val="0"/>
              </a:spcAft>
              <a:defRPr/>
            </a:pPr>
            <a:fld id="{0A32E486-EC48-426A-A2D9-99B37CBE1C0F}" type="slidenum">
              <a:rPr lang="en-US" smtClean="0">
                <a:solidFill>
                  <a:prstClr val="black"/>
                </a:solidFill>
                <a:latin typeface="Calibri" panose="020F0502020204030204"/>
                <a:cs typeface="+mn-cs"/>
              </a:rPr>
              <a:pPr algn="r" rtl="0" fontAlgn="auto">
                <a:spcBef>
                  <a:spcPts val="0"/>
                </a:spcBef>
                <a:spcAft>
                  <a:spcPts val="0"/>
                </a:spcAft>
                <a:defRPr/>
              </a:pPr>
              <a:t>1</a:t>
            </a:fld>
            <a:endParaRPr lang="en-US" dirty="0">
              <a:solidFill>
                <a:prstClr val="black"/>
              </a:solidFill>
              <a:latin typeface="Calibri" panose="020F0502020204030204"/>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buNone/>
            </a:pPr>
            <a:r>
              <a:rPr lang="en-US" b="1" dirty="0"/>
              <a:t>1. Height (or Length) and Head Circumference → Reflect </a:t>
            </a:r>
            <a:r>
              <a:rPr lang="en-US" b="1" i="1" dirty="0"/>
              <a:t>Past Nutrition</a:t>
            </a:r>
            <a:endParaRPr lang="en-US" b="1" dirty="0"/>
          </a:p>
          <a:p>
            <a:pPr>
              <a:buFont typeface="Arial" panose="020B0604020202020204" pitchFamily="34" charset="0"/>
              <a:buChar char="•"/>
            </a:pPr>
            <a:r>
              <a:rPr lang="en-US" b="1" dirty="0"/>
              <a:t>Reason:</a:t>
            </a:r>
            <a:br>
              <a:rPr lang="en-US" dirty="0"/>
            </a:br>
            <a:r>
              <a:rPr lang="en-US" dirty="0"/>
              <a:t>These parameters change slowly over time and represent </a:t>
            </a:r>
            <a:r>
              <a:rPr lang="en-US" b="1" dirty="0"/>
              <a:t>long-term growth</a:t>
            </a:r>
            <a:r>
              <a:rPr lang="en-US" dirty="0"/>
              <a:t>.</a:t>
            </a:r>
          </a:p>
          <a:p>
            <a:pPr marL="742950" lvl="1" indent="-285750">
              <a:buFont typeface="Arial" panose="020B0604020202020204" pitchFamily="34" charset="0"/>
              <a:buChar char="•"/>
            </a:pPr>
            <a:r>
              <a:rPr lang="en-US" b="1" dirty="0"/>
              <a:t>Height/length</a:t>
            </a:r>
            <a:r>
              <a:rPr lang="en-US" dirty="0"/>
              <a:t> indicates </a:t>
            </a:r>
            <a:r>
              <a:rPr lang="en-US" b="1" dirty="0"/>
              <a:t>chronic nutritional status</a:t>
            </a:r>
            <a:r>
              <a:rPr lang="en-US" dirty="0"/>
              <a:t>—whether the child has received adequate nutrition over months or years.</a:t>
            </a:r>
          </a:p>
          <a:p>
            <a:pPr marL="742950" lvl="1" indent="-285750">
              <a:buFont typeface="Arial" panose="020B0604020202020204" pitchFamily="34" charset="0"/>
              <a:buChar char="•"/>
            </a:pPr>
            <a:r>
              <a:rPr lang="en-US" b="1" dirty="0"/>
              <a:t>Head circumference</a:t>
            </a:r>
            <a:r>
              <a:rPr lang="en-US" dirty="0"/>
              <a:t> reflects </a:t>
            </a:r>
            <a:r>
              <a:rPr lang="en-US" b="1" dirty="0"/>
              <a:t>brain growth</a:t>
            </a:r>
            <a:r>
              <a:rPr lang="en-US" dirty="0"/>
              <a:t>, which depends on sustained nutrition during early life (especially in the first 2 years).</a:t>
            </a:r>
          </a:p>
          <a:p>
            <a:pPr>
              <a:buFont typeface="Arial" panose="020B0604020202020204" pitchFamily="34" charset="0"/>
              <a:buChar char="•"/>
            </a:pPr>
            <a:r>
              <a:rPr lang="en-US" b="1" dirty="0"/>
              <a:t>Example:</a:t>
            </a:r>
            <a:br>
              <a:rPr lang="en-US" dirty="0"/>
            </a:br>
            <a:r>
              <a:rPr lang="en-US" dirty="0"/>
              <a:t>A child who is </a:t>
            </a:r>
            <a:r>
              <a:rPr lang="en-US" b="1" dirty="0"/>
              <a:t>stunted (short for age)</a:t>
            </a:r>
            <a:r>
              <a:rPr lang="en-US" dirty="0"/>
              <a:t> usually suffered </a:t>
            </a:r>
            <a:r>
              <a:rPr lang="en-US" b="1" dirty="0"/>
              <a:t>prolonged undernutrition</a:t>
            </a:r>
            <a:r>
              <a:rPr lang="en-US" dirty="0"/>
              <a:t> or recurrent illness over a long period.</a:t>
            </a:r>
          </a:p>
          <a:p>
            <a:endParaRPr lang="ar-IQ" dirty="0"/>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2</a:t>
            </a:fld>
            <a:endParaRPr lang="en-US"/>
          </a:p>
        </p:txBody>
      </p:sp>
    </p:spTree>
    <p:extLst>
      <p:ext uri="{BB962C8B-B14F-4D97-AF65-F5344CB8AC3E}">
        <p14:creationId xmlns:p14="http://schemas.microsoft.com/office/powerpoint/2010/main" val="902562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3</a:t>
            </a:fld>
            <a:endParaRPr lang="en-US"/>
          </a:p>
        </p:txBody>
      </p:sp>
    </p:spTree>
    <p:extLst>
      <p:ext uri="{BB962C8B-B14F-4D97-AF65-F5344CB8AC3E}">
        <p14:creationId xmlns:p14="http://schemas.microsoft.com/office/powerpoint/2010/main" val="1538317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a:buNone/>
            </a:pPr>
            <a:r>
              <a:rPr lang="en-US" dirty="0"/>
              <a:t>Skinfold caliper measurements are based on the principle that a </a:t>
            </a:r>
            <a:r>
              <a:rPr lang="en-US" b="1" dirty="0"/>
              <a:t>certain proportion of total body fat</a:t>
            </a:r>
            <a:r>
              <a:rPr lang="en-US" dirty="0"/>
              <a:t> lies just beneath the skin. Therefore, by measuring the </a:t>
            </a:r>
            <a:r>
              <a:rPr lang="en-US" b="1" dirty="0"/>
              <a:t>subcutaneous fat thickness</a:t>
            </a:r>
            <a:r>
              <a:rPr lang="en-US" dirty="0"/>
              <a:t>, it is possible to estimate </a:t>
            </a:r>
            <a:r>
              <a:rPr lang="en-US" b="1" dirty="0"/>
              <a:t>overall body fat percentage</a:t>
            </a:r>
            <a:r>
              <a:rPr lang="en-US" dirty="0"/>
              <a:t> and assess </a:t>
            </a:r>
            <a:r>
              <a:rPr lang="en-US" b="1" dirty="0"/>
              <a:t>energy (calorie) reserves</a:t>
            </a:r>
            <a:r>
              <a:rPr lang="en-US" dirty="0"/>
              <a:t>.</a:t>
            </a:r>
          </a:p>
          <a:p>
            <a:pPr>
              <a:buFont typeface="Arial" panose="020B0604020202020204" pitchFamily="34" charset="0"/>
              <a:buChar char="•"/>
            </a:pPr>
            <a:r>
              <a:rPr lang="en-US" dirty="0"/>
              <a:t>A </a:t>
            </a:r>
            <a:r>
              <a:rPr lang="en-US" b="1" dirty="0"/>
              <a:t>thicker skinfold</a:t>
            </a:r>
            <a:r>
              <a:rPr lang="en-US" dirty="0"/>
              <a:t> indicates </a:t>
            </a:r>
            <a:r>
              <a:rPr lang="en-US" b="1" dirty="0"/>
              <a:t>greater fat stores</a:t>
            </a:r>
            <a:r>
              <a:rPr lang="en-US" dirty="0"/>
              <a:t>, suggesting adequate or excessive nutrition.</a:t>
            </a:r>
          </a:p>
          <a:p>
            <a:pPr>
              <a:buFont typeface="Arial" panose="020B0604020202020204" pitchFamily="34" charset="0"/>
              <a:buChar char="•"/>
            </a:pPr>
            <a:r>
              <a:rPr lang="en-US" dirty="0"/>
              <a:t>A </a:t>
            </a:r>
            <a:r>
              <a:rPr lang="en-US" b="1" dirty="0"/>
              <a:t>thinner skinfold</a:t>
            </a:r>
            <a:r>
              <a:rPr lang="en-US" dirty="0"/>
              <a:t> indicates </a:t>
            </a:r>
            <a:r>
              <a:rPr lang="en-US" b="1" dirty="0"/>
              <a:t>reduced fat reserves</a:t>
            </a:r>
            <a:r>
              <a:rPr lang="en-US" dirty="0"/>
              <a:t>, often seen in </a:t>
            </a:r>
            <a:r>
              <a:rPr lang="en-US" b="1" dirty="0"/>
              <a:t>malnutrition, chronic illness, or energy deficiency</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r>
              <a:rPr lang="en-US" dirty="0"/>
              <a:t>Triceps skinfold (posterior upper arm) – most commonly used site for children; reflects peripheral fat </a:t>
            </a:r>
            <a:r>
              <a:rPr lang="en-US" dirty="0" err="1"/>
              <a:t>stores.Subscapular</a:t>
            </a:r>
            <a:r>
              <a:rPr lang="en-US" dirty="0"/>
              <a:t> skinfold (below the shoulder blade) – represents central fat </a:t>
            </a:r>
            <a:r>
              <a:rPr lang="en-US" dirty="0" err="1"/>
              <a:t>deposition.Optional</a:t>
            </a:r>
            <a:r>
              <a:rPr lang="en-US" dirty="0"/>
              <a:t> additional sites: biceps, </a:t>
            </a:r>
            <a:r>
              <a:rPr lang="en-US" dirty="0" err="1"/>
              <a:t>suprailiac</a:t>
            </a:r>
            <a:r>
              <a:rPr lang="en-US" dirty="0"/>
              <a:t>, and thigh skinfolds (used in research or advanced assessments)</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1059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039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on Percentile Charts: You plot these measurements on percentile charts, which are graphs that display a range of values from the lowest (0th percentile) to the highest (100th percentile). Each percentile line represents a specific percentage of the population. For example, the 50th percentile represents the median or middle value for the general population.</a:t>
            </a:r>
          </a:p>
          <a:p>
            <a:endParaRPr lang="en-US" dirty="0"/>
          </a:p>
          <a:p>
            <a:r>
              <a:rPr lang="en-US" dirty="0"/>
              <a:t>Comparison: By plotting a child's measurements on these charts, you can see where their measurements fall in relation to the general population. For instance, if a child's height measurement is on the 75th percentile line, it means that their height is greater than or equal to 75% of children in the reference population.</a:t>
            </a:r>
          </a:p>
          <a:p>
            <a:endParaRPr lang="en-US" dirty="0"/>
          </a:p>
          <a:p>
            <a:r>
              <a:rPr lang="en-US" dirty="0"/>
              <a:t>Interpretation: The interpretation of these percentile measurements depends on the specific parameter being assessed. For example, if a child consistently falls below the 5th percentile for weight, it might indicate underweight or slow growth, while measurements consistently above the 95th percentile might indicate overweight or rapid growth. However, it's essential to consider various factors, including genetics and individual growth patterns, when interpreting percentile data.</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2214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5082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5249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2141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6526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5050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4192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230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02155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606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8054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6060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02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06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73136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2949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70184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77481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95869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11222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3683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41646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70324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21450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95537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21144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a:extLst>
              <a:ext uri="{FF2B5EF4-FFF2-40B4-BE49-F238E27FC236}">
                <a16:creationId xmlns:a16="http://schemas.microsoft.com/office/drawing/2014/main" id="{91D2B997-3B4D-AF77-080D-31FAD0FC29EF}"/>
              </a:ext>
            </a:extLst>
          </p:cNvPr>
          <p:cNvSpPr>
            <a:spLocks noGrp="1" noRot="1" noChangeAspect="1" noChangeArrowheads="1" noTextEdit="1"/>
          </p:cNvSpPr>
          <p:nvPr>
            <p:ph type="sldImg"/>
          </p:nvPr>
        </p:nvSpPr>
        <p:spPr>
          <a:xfrm>
            <a:off x="685800" y="1143000"/>
            <a:ext cx="5486400" cy="3086100"/>
          </a:xfrm>
          <a:ln/>
        </p:spPr>
      </p:sp>
      <p:sp>
        <p:nvSpPr>
          <p:cNvPr id="216067" name="Notes Placeholder 2">
            <a:extLst>
              <a:ext uri="{FF2B5EF4-FFF2-40B4-BE49-F238E27FC236}">
                <a16:creationId xmlns:a16="http://schemas.microsoft.com/office/drawing/2014/main" id="{53D4B4A4-488D-69D2-9A5B-C9B083FFB1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40F02E49-F005-C36C-207D-F001BA845B96}"/>
              </a:ext>
            </a:extLst>
          </p:cNvPr>
          <p:cNvSpPr>
            <a:spLocks noGrp="1"/>
          </p:cNvSpPr>
          <p:nvPr>
            <p:ph type="sldNum" sz="quarter" idx="5"/>
          </p:nvPr>
        </p:nvSpPr>
        <p:spPr/>
        <p:txBody>
          <a:bodyPr/>
          <a:lstStyle/>
          <a:p>
            <a:pPr algn="r" rtl="0" fontAlgn="auto">
              <a:spcBef>
                <a:spcPts val="0"/>
              </a:spcBef>
              <a:spcAft>
                <a:spcPts val="0"/>
              </a:spcAft>
              <a:defRPr/>
            </a:pPr>
            <a:fld id="{AF10E922-9527-4EBC-AF00-C6EAA99F038B}" type="slidenum">
              <a:rPr lang="en-US" smtClean="0">
                <a:solidFill>
                  <a:prstClr val="black"/>
                </a:solidFill>
                <a:latin typeface="Calibri" panose="020F0502020204030204"/>
                <a:cs typeface="+mn-cs"/>
              </a:rPr>
              <a:pPr algn="r" rtl="0" fontAlgn="auto">
                <a:spcBef>
                  <a:spcPts val="0"/>
                </a:spcBef>
                <a:spcAft>
                  <a:spcPts val="0"/>
                </a:spcAft>
                <a:defRPr/>
              </a:pPr>
              <a:t>35</a:t>
            </a:fld>
            <a:endParaRPr lang="en-US">
              <a:solidFill>
                <a:prstClr val="black"/>
              </a:solidFill>
              <a:latin typeface="Calibri" panose="020F0502020204030204"/>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331090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9658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9058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832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244442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850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9250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638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824609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10/5/2025</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3843960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10/5/2025</a:t>
            </a:fld>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253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BE479017-3D59-1D28-8765-1BF53905E1AF}"/>
              </a:ext>
            </a:extLst>
          </p:cNvPr>
          <p:cNvSpPr/>
          <p:nvPr/>
        </p:nvSpPr>
        <p:spPr>
          <a:xfrm>
            <a:off x="249238" y="250825"/>
            <a:ext cx="11679237" cy="637222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172035" name="Title 1">
            <a:extLst>
              <a:ext uri="{FF2B5EF4-FFF2-40B4-BE49-F238E27FC236}">
                <a16:creationId xmlns:a16="http://schemas.microsoft.com/office/drawing/2014/main" id="{12386A15-AA16-151B-874A-B2B4D174B2A9}"/>
              </a:ext>
            </a:extLst>
          </p:cNvPr>
          <p:cNvSpPr>
            <a:spLocks noGrp="1" noChangeArrowheads="1"/>
          </p:cNvSpPr>
          <p:nvPr>
            <p:ph type="ctrTitle"/>
          </p:nvPr>
        </p:nvSpPr>
        <p:spPr/>
        <p:txBody>
          <a:bodyPr anchor="ctr"/>
          <a:lstStyle/>
          <a:p>
            <a:pPr eaLnBrk="1" hangingPunct="1"/>
            <a:r>
              <a:rPr lang="en-US" altLang="ar-IQ" dirty="0"/>
              <a:t>Measurement of Growth and Development</a:t>
            </a:r>
            <a:endParaRPr lang="en-US" altLang="ar-IQ" sz="1800" dirty="0">
              <a:latin typeface="Segoe UI Semibold" panose="020B0702040204020203" pitchFamily="34" charset="0"/>
              <a:cs typeface="Segoe UI Semibold" panose="020B0702040204020203" pitchFamily="34" charset="0"/>
            </a:endParaRPr>
          </a:p>
        </p:txBody>
      </p:sp>
      <p:sp>
        <p:nvSpPr>
          <p:cNvPr id="2" name="عنوان فرعي 1">
            <a:extLst>
              <a:ext uri="{FF2B5EF4-FFF2-40B4-BE49-F238E27FC236}">
                <a16:creationId xmlns:a16="http://schemas.microsoft.com/office/drawing/2014/main" id="{63FD5883-290D-31E6-99C0-1E70C4D66B28}"/>
              </a:ext>
            </a:extLst>
          </p:cNvPr>
          <p:cNvSpPr>
            <a:spLocks noGrp="1"/>
          </p:cNvSpPr>
          <p:nvPr>
            <p:ph type="subTitle" idx="1"/>
          </p:nvPr>
        </p:nvSpPr>
        <p:spPr/>
        <p:txBody>
          <a:bodyPr/>
          <a:lstStyle/>
          <a:p>
            <a:r>
              <a:rPr lang="en-US" dirty="0"/>
              <a:t>Part 1 : Physical Growth </a:t>
            </a:r>
            <a:endParaRPr lang="ar-IQ" dirty="0"/>
          </a:p>
        </p:txBody>
      </p:sp>
      <p:pic>
        <p:nvPicPr>
          <p:cNvPr id="172036" name="Grid" descr="grid plane">
            <a:extLst>
              <a:ext uri="{FF2B5EF4-FFF2-40B4-BE49-F238E27FC236}">
                <a16:creationId xmlns:a16="http://schemas.microsoft.com/office/drawing/2014/main" id="{C4A1D1CB-CCF9-401C-8DB0-FC5E33BE1112}"/>
              </a:ext>
            </a:extLst>
          </p:cNvPr>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t="-307" r="-943" b="64944"/>
          <a:stretch>
            <a:fillRect/>
          </a:stretch>
        </p:blipFill>
        <p:spPr bwMode="auto">
          <a:xfrm>
            <a:off x="407988" y="5591175"/>
            <a:ext cx="115204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Subtitle 2">
            <a:extLst>
              <a:ext uri="{FF2B5EF4-FFF2-40B4-BE49-F238E27FC236}">
                <a16:creationId xmlns:a16="http://schemas.microsoft.com/office/drawing/2014/main" id="{EC70D72A-2A1A-7DDA-9ED0-A3537D29EFF9}"/>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Growth and Developments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
          <p:cNvSpPr txBox="1"/>
          <p:nvPr/>
        </p:nvSpPr>
        <p:spPr>
          <a:xfrm>
            <a:off x="244929" y="261258"/>
            <a:ext cx="11691257" cy="2127100"/>
          </a:xfrm>
          <a:prstGeom prst="rect">
            <a:avLst/>
          </a:prstGeom>
          <a:solidFill>
            <a:schemeClr val="accent6">
              <a:lumMod val="75000"/>
            </a:schemeClr>
          </a:solidFill>
          <a:ln>
            <a:solidFill>
              <a:schemeClr val="accent6">
                <a:lumMod val="75000"/>
              </a:schemeClr>
            </a:solidFill>
          </a:ln>
        </p:spPr>
        <p:txBody>
          <a:bodyPr vert="horz" wrap="square" lIns="91440" tIns="45720" rIns="91440" bIns="45720" rtlCol="0">
            <a:noAutofit/>
          </a:bodyPr>
          <a:lstStyle/>
          <a:p>
            <a:pPr marL="0" marR="0" lvl="0" indent="0" algn="l" defTabSz="914400" rtl="0" eaLnBrk="1" fontAlgn="auto" latinLnBrk="0" hangingPunct="1">
              <a:lnSpc>
                <a:spcPts val="18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endParaRPr>
          </a:p>
        </p:txBody>
      </p:sp>
      <p:sp>
        <p:nvSpPr>
          <p:cNvPr id="6" name="Title 5"/>
          <p:cNvSpPr>
            <a:spLocks noGrp="1"/>
          </p:cNvSpPr>
          <p:nvPr>
            <p:ph type="title"/>
          </p:nvPr>
        </p:nvSpPr>
        <p:spPr>
          <a:xfrm>
            <a:off x="521207" y="1536192"/>
            <a:ext cx="8273657" cy="640080"/>
          </a:xfrm>
        </p:spPr>
        <p:txBody>
          <a:bodyPr>
            <a:noAutofit/>
          </a:bodyPr>
          <a:lstStyle/>
          <a:p>
            <a:r>
              <a:rPr lang="en-US" sz="4400" dirty="0"/>
              <a:t>Anthropometric measurements </a:t>
            </a:r>
          </a:p>
        </p:txBody>
      </p:sp>
      <p:sp>
        <p:nvSpPr>
          <p:cNvPr id="7" name="Content Placeholder 6"/>
          <p:cNvSpPr>
            <a:spLocks noGrp="1"/>
          </p:cNvSpPr>
          <p:nvPr>
            <p:ph sz="quarter" idx="13"/>
          </p:nvPr>
        </p:nvSpPr>
        <p:spPr>
          <a:xfrm>
            <a:off x="539495" y="2560320"/>
            <a:ext cx="11264577" cy="4036422"/>
          </a:xfrm>
        </p:spPr>
        <p:txBody>
          <a:bodyPr>
            <a:normAutofit fontScale="85000" lnSpcReduction="20000"/>
          </a:bodyPr>
          <a:lstStyle/>
          <a:p>
            <a:pPr marL="0" indent="0">
              <a:lnSpc>
                <a:spcPct val="150000"/>
              </a:lnSpc>
              <a:buNone/>
            </a:pPr>
            <a:r>
              <a:rPr lang="en-US" sz="3600" dirty="0">
                <a:solidFill>
                  <a:schemeClr val="accent6">
                    <a:lumMod val="75000"/>
                  </a:schemeClr>
                </a:solidFill>
                <a:latin typeface="Segoe UI Semibold" panose="020B0702040204020203" pitchFamily="34" charset="0"/>
                <a:cs typeface="Segoe UI Semibold" panose="020B0702040204020203" pitchFamily="34" charset="0"/>
              </a:rPr>
              <a:t>Anthropometric measurements </a:t>
            </a:r>
            <a:r>
              <a:rPr lang="en-US" sz="2800" dirty="0">
                <a:solidFill>
                  <a:srgbClr val="3F3F3F"/>
                </a:solidFill>
                <a:latin typeface="+mn-lt"/>
                <a:cs typeface="Segoe UI Semibold" panose="020B0702040204020203" pitchFamily="34" charset="0"/>
              </a:rPr>
              <a:t>are noninvasive quantitative measurements of the body. Essential  parameter of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nutritional</a:t>
            </a:r>
            <a:r>
              <a:rPr lang="en-US" sz="2800" dirty="0">
                <a:solidFill>
                  <a:srgbClr val="3F3F3F"/>
                </a:solidFill>
                <a:latin typeface="+mn-lt"/>
                <a:cs typeface="Segoe UI Semibold" panose="020B0702040204020203" pitchFamily="34" charset="0"/>
              </a:rPr>
              <a:t> status, is the measurement of height or length, weight, head circumference, chest circumference proportions, skinfold thickness, and arm circumference in young children. Height and head circumference reflect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past nutrition</a:t>
            </a:r>
            <a:r>
              <a:rPr lang="en-US" sz="2800" dirty="0">
                <a:solidFill>
                  <a:srgbClr val="3F3F3F"/>
                </a:solidFill>
                <a:latin typeface="+mn-lt"/>
                <a:cs typeface="Segoe UI Semibold" panose="020B0702040204020203" pitchFamily="34" charset="0"/>
              </a:rPr>
              <a:t>, whereas weight, skinfold thickness, and arm circumference reflect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present nutritional </a:t>
            </a:r>
            <a:r>
              <a:rPr lang="en-US" sz="2800" dirty="0">
                <a:solidFill>
                  <a:srgbClr val="3F3F3F"/>
                </a:solidFill>
                <a:latin typeface="+mn-lt"/>
                <a:cs typeface="Segoe UI Semibold" panose="020B0702040204020203" pitchFamily="34" charset="0"/>
              </a:rPr>
              <a:t>status, especially of protein and fat reserves.</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404040"/>
                </a:solidFill>
                <a:effectLst/>
                <a:uLnTx/>
                <a:uFillTx/>
                <a:latin typeface="Segoe UI"/>
                <a:ea typeface="+mn-ea"/>
                <a:cs typeface="Times New Roman" panose="02020603050405020304" pitchFamily="18" charset="0"/>
              </a:rPr>
              <a:t>(continued)</a:t>
            </a:r>
          </a:p>
        </p:txBody>
      </p:sp>
    </p:spTree>
    <p:extLst>
      <p:ext uri="{BB962C8B-B14F-4D97-AF65-F5344CB8AC3E}">
        <p14:creationId xmlns:p14="http://schemas.microsoft.com/office/powerpoint/2010/main" val="37291112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
          <p:cNvSpPr txBox="1"/>
          <p:nvPr/>
        </p:nvSpPr>
        <p:spPr>
          <a:xfrm>
            <a:off x="244929" y="261258"/>
            <a:ext cx="11691257" cy="2127100"/>
          </a:xfrm>
          <a:prstGeom prst="rect">
            <a:avLst/>
          </a:prstGeom>
          <a:solidFill>
            <a:schemeClr val="accent6">
              <a:lumMod val="75000"/>
            </a:schemeClr>
          </a:solidFill>
          <a:ln>
            <a:solidFill>
              <a:schemeClr val="accent6">
                <a:lumMod val="75000"/>
              </a:schemeClr>
            </a:solidFill>
          </a:ln>
        </p:spPr>
        <p:txBody>
          <a:bodyPr vert="horz" wrap="square" lIns="91440" tIns="45720" rIns="91440" bIns="45720" rtlCol="0">
            <a:noAutofit/>
          </a:bodyPr>
          <a:lstStyle/>
          <a:p>
            <a:pPr marL="0" marR="0" lvl="0" indent="0" algn="l" defTabSz="914400" rtl="0" eaLnBrk="1" fontAlgn="auto" latinLnBrk="0" hangingPunct="1">
              <a:lnSpc>
                <a:spcPts val="18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endParaRPr>
          </a:p>
        </p:txBody>
      </p:sp>
      <p:sp>
        <p:nvSpPr>
          <p:cNvPr id="6" name="Title 5"/>
          <p:cNvSpPr>
            <a:spLocks noGrp="1"/>
          </p:cNvSpPr>
          <p:nvPr>
            <p:ph type="title"/>
          </p:nvPr>
        </p:nvSpPr>
        <p:spPr>
          <a:xfrm>
            <a:off x="521207" y="1536192"/>
            <a:ext cx="8273657" cy="640080"/>
          </a:xfrm>
        </p:spPr>
        <p:txBody>
          <a:bodyPr>
            <a:noAutofit/>
          </a:bodyPr>
          <a:lstStyle/>
          <a:p>
            <a:r>
              <a:rPr lang="en-US" sz="4400" dirty="0"/>
              <a:t>Growth Measurements</a:t>
            </a:r>
          </a:p>
        </p:txBody>
      </p:sp>
      <p:sp>
        <p:nvSpPr>
          <p:cNvPr id="7" name="Content Placeholder 6"/>
          <p:cNvSpPr>
            <a:spLocks noGrp="1"/>
          </p:cNvSpPr>
          <p:nvPr>
            <p:ph sz="quarter" idx="13"/>
          </p:nvPr>
        </p:nvSpPr>
        <p:spPr>
          <a:xfrm>
            <a:off x="539495" y="2560320"/>
            <a:ext cx="11264577" cy="3792354"/>
          </a:xfrm>
        </p:spPr>
        <p:txBody>
          <a:bodyPr>
            <a:normAutofit lnSpcReduction="10000"/>
          </a:bodyPr>
          <a:lstStyle/>
          <a:p>
            <a:pPr marL="0" indent="0">
              <a:lnSpc>
                <a:spcPct val="150000"/>
              </a:lnSpc>
              <a:buNone/>
            </a:pPr>
            <a:r>
              <a:rPr lang="en-US" sz="3600" dirty="0">
                <a:solidFill>
                  <a:schemeClr val="accent6">
                    <a:lumMod val="75000"/>
                  </a:schemeClr>
                </a:solidFill>
                <a:latin typeface="Segoe UI Semibold" panose="020B0702040204020203" pitchFamily="34" charset="0"/>
                <a:cs typeface="Segoe UI Semibold" panose="020B0702040204020203" pitchFamily="34" charset="0"/>
              </a:rPr>
              <a:t>Measurement</a:t>
            </a:r>
            <a:r>
              <a:rPr lang="en-US" sz="2800" dirty="0">
                <a:solidFill>
                  <a:srgbClr val="3F3F3F"/>
                </a:solidFill>
                <a:latin typeface="+mn-lt"/>
                <a:cs typeface="Segoe UI Semibold" panose="020B0702040204020203" pitchFamily="34" charset="0"/>
              </a:rPr>
              <a:t> of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physical</a:t>
            </a:r>
            <a:r>
              <a:rPr lang="en-US" sz="2800" dirty="0">
                <a:solidFill>
                  <a:srgbClr val="3F3F3F"/>
                </a:solidFill>
                <a:latin typeface="+mn-lt"/>
                <a:cs typeface="Segoe UI Semibold" panose="020B0702040204020203" pitchFamily="34" charset="0"/>
              </a:rPr>
              <a: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growth</a:t>
            </a:r>
            <a:r>
              <a:rPr lang="en-US" sz="2800" dirty="0">
                <a:solidFill>
                  <a:srgbClr val="3F3F3F"/>
                </a:solidFill>
                <a:latin typeface="+mn-lt"/>
                <a:cs typeface="Segoe UI Semibold" panose="020B0702040204020203" pitchFamily="34" charset="0"/>
              </a:rPr>
              <a:t> in children is a key element in evaluating their health status. Physical growth parameters include weight, height (length), skinfold thickness, arm circumference, and head circumference. Values for these growth parameters are plotted on percentile charts, and the child’s measurements in percentiles are compared with those of the general population.</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404040"/>
                </a:solidFill>
                <a:effectLst/>
                <a:uLnTx/>
                <a:uFillTx/>
                <a:latin typeface="Segoe UI"/>
                <a:ea typeface="+mn-ea"/>
                <a:cs typeface="Times New Roman" panose="02020603050405020304" pitchFamily="18" charset="0"/>
              </a:rPr>
              <a:t>(continued)</a:t>
            </a:r>
          </a:p>
        </p:txBody>
      </p:sp>
    </p:spTree>
    <p:extLst>
      <p:ext uri="{BB962C8B-B14F-4D97-AF65-F5344CB8AC3E}">
        <p14:creationId xmlns:p14="http://schemas.microsoft.com/office/powerpoint/2010/main" val="324884807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Weight scale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Stadiometer</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Skinfold calipers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Non-stretchable tape measure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Infantometer to measure the recumbent length</a:t>
            </a:r>
            <a:endParaRPr lang="en-US" sz="2800" dirty="0">
              <a:solidFill>
                <a:srgbClr val="3B3838"/>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Equipment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170" name="Picture 2">
            <a:extLst>
              <a:ext uri="{FF2B5EF4-FFF2-40B4-BE49-F238E27FC236}">
                <a16:creationId xmlns:a16="http://schemas.microsoft.com/office/drawing/2014/main" id="{1B39DA46-0377-5B2D-5CE2-F9277B26D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6148" y="2375768"/>
            <a:ext cx="1721304" cy="24983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E6B02AB5-DB35-477D-FC06-EFCE0B909DE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47276" y="644543"/>
            <a:ext cx="1525137" cy="2660877"/>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CC3C9186-73CC-03B6-1850-1F32DFBD19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0514" y="-22809"/>
            <a:ext cx="2873027" cy="191761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3110CC64-A359-968F-3936-4AF0D0AD18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81815" y="3890587"/>
            <a:ext cx="1896836" cy="1379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717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604211"/>
            <a:ext cx="3768062"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Growth Charts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Length</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Height</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Weight</a:t>
            </a:r>
          </a:p>
          <a:p>
            <a:pPr marL="519113">
              <a:lnSpc>
                <a:spcPct val="150000"/>
              </a:lnSpc>
              <a:buClr>
                <a:schemeClr val="accent6">
                  <a:lumMod val="75000"/>
                </a:schemeClr>
              </a:buClr>
              <a:buSzPct val="100000"/>
              <a:buNone/>
            </a:pPr>
            <a:endParaRPr lang="en-US" sz="2800" dirty="0">
              <a:solidFill>
                <a:srgbClr val="3F3F3F"/>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Technique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مربع نص 7">
            <a:extLst>
              <a:ext uri="{FF2B5EF4-FFF2-40B4-BE49-F238E27FC236}">
                <a16:creationId xmlns:a16="http://schemas.microsoft.com/office/drawing/2014/main" id="{A641DD6F-F5F2-53CE-5CA4-B21855B011AA}"/>
              </a:ext>
            </a:extLst>
          </p:cNvPr>
          <p:cNvSpPr txBox="1"/>
          <p:nvPr/>
        </p:nvSpPr>
        <p:spPr>
          <a:xfrm>
            <a:off x="4772892" y="1571515"/>
            <a:ext cx="6093228" cy="4090094"/>
          </a:xfrm>
          <a:prstGeom prst="rect">
            <a:avLst/>
          </a:prstGeom>
          <a:noFill/>
        </p:spPr>
        <p:txBody>
          <a:bodyPr wrap="square">
            <a:spAutoFit/>
          </a:bodyPr>
          <a:lstStyle/>
          <a:p>
            <a:pPr marL="1090613" marR="0" lvl="0" indent="-571500" algn="l" defTabSz="914400" rtl="0" eaLnBrk="1" fontAlgn="auto" latinLnBrk="0" hangingPunct="1">
              <a:lnSpc>
                <a:spcPct val="150000"/>
              </a:lnSpc>
              <a:spcBef>
                <a:spcPts val="1000"/>
              </a:spcBef>
              <a:spcAft>
                <a:spcPts val="1200"/>
              </a:spcAft>
              <a:buClr>
                <a:srgbClr val="F79646">
                  <a:lumMod val="75000"/>
                </a:srgbClr>
              </a:buClr>
              <a:buSzPct val="100000"/>
              <a:buFont typeface="Wingdings 2" panose="05020102010507070707" pitchFamily="18" charset="2"/>
              <a:buChar char=""/>
              <a:tabLst/>
              <a:defRPr/>
            </a:pPr>
            <a:r>
              <a:rPr kumimoji="0" lang="en-US" sz="2800" b="0" i="0" u="none" strike="noStrike" kern="1200" cap="none" spc="0" normalizeH="0" baseline="0" noProof="0" dirty="0">
                <a:ln>
                  <a:noFill/>
                </a:ln>
                <a:solidFill>
                  <a:srgbClr val="3F3F3F"/>
                </a:solidFill>
                <a:effectLst/>
                <a:uLnTx/>
                <a:uFillTx/>
                <a:latin typeface="Segoe UI"/>
                <a:ea typeface="+mn-ea"/>
                <a:cs typeface="Segoe UI Semibold" panose="020B0702040204020203" pitchFamily="34" charset="0"/>
              </a:rPr>
              <a:t>Skinfold Thickness and Arm Circumference</a:t>
            </a:r>
          </a:p>
          <a:p>
            <a:pPr marL="1090613" marR="0" lvl="0" indent="-571500" algn="l" defTabSz="914400" rtl="0" eaLnBrk="1" fontAlgn="auto" latinLnBrk="0" hangingPunct="1">
              <a:lnSpc>
                <a:spcPct val="150000"/>
              </a:lnSpc>
              <a:spcBef>
                <a:spcPts val="1000"/>
              </a:spcBef>
              <a:spcAft>
                <a:spcPts val="1200"/>
              </a:spcAft>
              <a:buClr>
                <a:srgbClr val="F79646">
                  <a:lumMod val="75000"/>
                </a:srgbClr>
              </a:buClr>
              <a:buSzPct val="100000"/>
              <a:buFont typeface="Wingdings 2" panose="05020102010507070707" pitchFamily="18" charset="2"/>
              <a:buChar char=""/>
              <a:tabLst/>
              <a:defRPr/>
            </a:pPr>
            <a:r>
              <a:rPr kumimoji="0" lang="en-US" sz="2800" b="0" i="0" u="none" strike="noStrike" kern="1200" cap="none" spc="0" normalizeH="0" baseline="0" noProof="0" dirty="0">
                <a:ln>
                  <a:noFill/>
                </a:ln>
                <a:solidFill>
                  <a:srgbClr val="3F3F3F"/>
                </a:solidFill>
                <a:effectLst/>
                <a:uLnTx/>
                <a:uFillTx/>
                <a:latin typeface="Segoe UI"/>
                <a:ea typeface="+mn-ea"/>
                <a:cs typeface="Segoe UI Semibold" panose="020B0702040204020203" pitchFamily="34" charset="0"/>
              </a:rPr>
              <a:t>Head Circumference</a:t>
            </a:r>
          </a:p>
          <a:p>
            <a:pPr marL="1090613" marR="0" lvl="0" indent="-571500" algn="l" defTabSz="914400" rtl="0" eaLnBrk="1" fontAlgn="auto" latinLnBrk="0" hangingPunct="1">
              <a:lnSpc>
                <a:spcPct val="150000"/>
              </a:lnSpc>
              <a:spcBef>
                <a:spcPts val="1000"/>
              </a:spcBef>
              <a:spcAft>
                <a:spcPts val="1200"/>
              </a:spcAft>
              <a:buClr>
                <a:srgbClr val="F79646">
                  <a:lumMod val="75000"/>
                </a:srgbClr>
              </a:buClr>
              <a:buSzPct val="100000"/>
              <a:buFont typeface="Wingdings 2" panose="05020102010507070707" pitchFamily="18" charset="2"/>
              <a:buChar char=""/>
              <a:tabLst/>
              <a:defRPr/>
            </a:pPr>
            <a:r>
              <a:rPr kumimoji="0" lang="en-US" sz="2800" b="0" i="0" u="none" strike="noStrike" kern="1200" cap="none" spc="0" normalizeH="0" baseline="0" noProof="0" dirty="0">
                <a:ln>
                  <a:noFill/>
                </a:ln>
                <a:solidFill>
                  <a:srgbClr val="3F3F3F"/>
                </a:solidFill>
                <a:effectLst/>
                <a:uLnTx/>
                <a:uFillTx/>
                <a:latin typeface="Segoe UI"/>
                <a:ea typeface="+mn-ea"/>
                <a:cs typeface="Segoe UI Semibold" panose="020B0702040204020203" pitchFamily="34" charset="0"/>
              </a:rPr>
              <a:t>Chest circumference:</a:t>
            </a:r>
          </a:p>
          <a:p>
            <a:pPr marL="1090613" marR="0" lvl="0" indent="-571500" algn="l" defTabSz="914400" rtl="0" eaLnBrk="1" fontAlgn="auto" latinLnBrk="0" hangingPunct="1">
              <a:lnSpc>
                <a:spcPct val="150000"/>
              </a:lnSpc>
              <a:spcBef>
                <a:spcPts val="1000"/>
              </a:spcBef>
              <a:spcAft>
                <a:spcPts val="1200"/>
              </a:spcAft>
              <a:buClr>
                <a:srgbClr val="F79646">
                  <a:lumMod val="75000"/>
                </a:srgbClr>
              </a:buClr>
              <a:buSzPct val="100000"/>
              <a:buFont typeface="Wingdings 2" panose="05020102010507070707" pitchFamily="18" charset="2"/>
              <a:buChar char=""/>
              <a:tabLst/>
              <a:defRPr/>
            </a:pPr>
            <a:r>
              <a:rPr kumimoji="0" lang="en-US" sz="2800" b="0" i="0" u="none" strike="noStrike" kern="1200" cap="none" spc="0" normalizeH="0" baseline="0" noProof="0" dirty="0">
                <a:ln>
                  <a:noFill/>
                </a:ln>
                <a:solidFill>
                  <a:srgbClr val="3F3F3F"/>
                </a:solidFill>
                <a:effectLst/>
                <a:uLnTx/>
                <a:uFillTx/>
                <a:latin typeface="Segoe UI"/>
                <a:ea typeface="+mn-ea"/>
                <a:cs typeface="Segoe UI Semibold" panose="020B0702040204020203" pitchFamily="34" charset="0"/>
              </a:rPr>
              <a:t>Body Mass Index</a:t>
            </a:r>
          </a:p>
        </p:txBody>
      </p:sp>
    </p:spTree>
    <p:extLst>
      <p:ext uri="{BB962C8B-B14F-4D97-AF65-F5344CB8AC3E}">
        <p14:creationId xmlns:p14="http://schemas.microsoft.com/office/powerpoint/2010/main" val="1848327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Growth charts use a series of percentile curves to demonstrate the distribution of body measurements in children. </a:t>
            </a:r>
          </a:p>
          <a:p>
            <a:pPr marL="519113">
              <a:lnSpc>
                <a:spcPct val="150000"/>
              </a:lnSpc>
              <a:buClr>
                <a:schemeClr val="accent6">
                  <a:lumMod val="75000"/>
                </a:schemeClr>
              </a:buClr>
              <a:buSzPct val="100000"/>
              <a:buNone/>
            </a:pPr>
            <a:endParaRPr lang="en-US" sz="2800" dirty="0">
              <a:solidFill>
                <a:srgbClr val="3B3838"/>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Growth Charts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620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Children whose growth may be questionable include: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Children whose height and weight percentiles are widely disparate (e.g., height in the 10th percentile and weight in the 90thercentile, especially with above-average skinfold thickness)</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Children who fail to follow the expected growth velocity in height and weight, especially during the rapid growth periods of infancy and adolescence</a:t>
            </a:r>
          </a:p>
        </p:txBody>
      </p:sp>
      <p:sp>
        <p:nvSpPr>
          <p:cNvPr id="3" name="Title 2"/>
          <p:cNvSpPr>
            <a:spLocks noGrp="1"/>
          </p:cNvSpPr>
          <p:nvPr>
            <p:ph type="title"/>
          </p:nvPr>
        </p:nvSpPr>
        <p:spPr/>
        <p:txBody>
          <a:bodyPr>
            <a:noAutofit/>
          </a:bodyPr>
          <a:lstStyle/>
          <a:p>
            <a:r>
              <a:rPr lang="en-US" sz="4000" dirty="0"/>
              <a:t>Growth Charts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75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33463" indent="-514350">
              <a:lnSpc>
                <a:spcPct val="150000"/>
              </a:lnSpc>
              <a:buClr>
                <a:schemeClr val="accent6">
                  <a:lumMod val="75000"/>
                </a:schemeClr>
              </a:buClr>
              <a:buSzPct val="100000"/>
              <a:buFont typeface="+mj-lt"/>
              <a:buAutoNum type="arabicPeriod" startAt="3"/>
            </a:pPr>
            <a:r>
              <a:rPr lang="en-US" sz="2800" dirty="0">
                <a:solidFill>
                  <a:srgbClr val="3F3F3F"/>
                </a:solidFill>
                <a:cs typeface="Segoe UI Semibold" panose="020B0702040204020203" pitchFamily="34" charset="0"/>
              </a:rPr>
              <a:t>Children who show a sudden increase (except during puberty), decrease, or no change in a previously steady growth pattern</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growth is a continuous but uneven process, the most reliable evaluation lies in comparing growth measurements over time. It is important to remember that normal growth patterns vary among children the same age</a:t>
            </a:r>
          </a:p>
        </p:txBody>
      </p:sp>
      <p:sp>
        <p:nvSpPr>
          <p:cNvPr id="3" name="Title 2"/>
          <p:cNvSpPr>
            <a:spLocks noGrp="1"/>
          </p:cNvSpPr>
          <p:nvPr>
            <p:ph type="title"/>
          </p:nvPr>
        </p:nvSpPr>
        <p:spPr/>
        <p:txBody>
          <a:bodyPr>
            <a:noAutofit/>
          </a:bodyPr>
          <a:lstStyle/>
          <a:p>
            <a:r>
              <a:rPr lang="en-US" sz="4000" dirty="0"/>
              <a:t>Growth Charts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053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عنصر نائب للمحتوى 4">
            <a:extLst>
              <a:ext uri="{FF2B5EF4-FFF2-40B4-BE49-F238E27FC236}">
                <a16:creationId xmlns:a16="http://schemas.microsoft.com/office/drawing/2014/main" id="{2E2FA2DA-13D2-43A2-8C01-3299CD057435}"/>
              </a:ext>
            </a:extLst>
          </p:cNvPr>
          <p:cNvPicPr>
            <a:picLocks noGrp="1" noChangeAspect="1"/>
          </p:cNvPicPr>
          <p:nvPr>
            <p:ph idx="1"/>
          </p:nvPr>
        </p:nvPicPr>
        <p:blipFill>
          <a:blip r:embed="rId2"/>
          <a:stretch>
            <a:fillRect/>
          </a:stretch>
        </p:blipFill>
        <p:spPr>
          <a:xfrm>
            <a:off x="299258" y="249382"/>
            <a:ext cx="3990109" cy="6301047"/>
          </a:xfrm>
        </p:spPr>
      </p:pic>
      <p:sp>
        <p:nvSpPr>
          <p:cNvPr id="7" name="مربع نص 6">
            <a:extLst>
              <a:ext uri="{FF2B5EF4-FFF2-40B4-BE49-F238E27FC236}">
                <a16:creationId xmlns:a16="http://schemas.microsoft.com/office/drawing/2014/main" id="{692EEB05-EB0F-D232-750C-8A576473B2CF}"/>
              </a:ext>
            </a:extLst>
          </p:cNvPr>
          <p:cNvSpPr txBox="1"/>
          <p:nvPr/>
        </p:nvSpPr>
        <p:spPr>
          <a:xfrm>
            <a:off x="4289367" y="1264841"/>
            <a:ext cx="7603375" cy="4536370"/>
          </a:xfrm>
          <a:prstGeom prst="rect">
            <a:avLst/>
          </a:prstGeom>
          <a:noFill/>
        </p:spPr>
        <p:txBody>
          <a:bodyPr wrap="square">
            <a:spAutoFit/>
          </a:bodyPr>
          <a:lstStyle/>
          <a:p>
            <a:pPr marL="1090613" indent="-571500">
              <a:lnSpc>
                <a:spcPct val="150000"/>
              </a:lnSpc>
              <a:spcBef>
                <a:spcPts val="1000"/>
              </a:spcBef>
              <a:spcAft>
                <a:spcPts val="1200"/>
              </a:spcAft>
              <a:buClr>
                <a:schemeClr val="accent6">
                  <a:lumMod val="75000"/>
                </a:schemeClr>
              </a:buClr>
              <a:buSzPct val="100000"/>
              <a:buFont typeface="Wingdings 2" panose="05020102010507070707" pitchFamily="18" charset="2"/>
              <a:buChar char=""/>
            </a:pPr>
            <a:r>
              <a:rPr lang="en-US" sz="2400" dirty="0">
                <a:solidFill>
                  <a:srgbClr val="3F3F3F"/>
                </a:solidFill>
                <a:cs typeface="Segoe UI Semibold" panose="020B0702040204020203" pitchFamily="34" charset="0"/>
              </a:rPr>
              <a:t>These children of identical age (8 years) are markedly  different in size. Child on left, of Asian descent, is at 5th percentile  for  height  and  weight.  Child  on  right  is  above  95th  percentile for height and weight. However, both children demonstrate normal growth patterns.  </a:t>
            </a:r>
            <a:br>
              <a:rPr lang="en-US" sz="2800" dirty="0">
                <a:solidFill>
                  <a:srgbClr val="3F3F3F"/>
                </a:solidFill>
                <a:cs typeface="Segoe UI Semibold" panose="020B0702040204020203" pitchFamily="34" charset="0"/>
              </a:rPr>
            </a:br>
            <a:endParaRPr lang="ar-IQ" sz="2800" dirty="0">
              <a:solidFill>
                <a:srgbClr val="3F3F3F"/>
              </a:solidFill>
              <a:cs typeface="Segoe UI Semibold" panose="020B0702040204020203" pitchFamily="34" charset="0"/>
            </a:endParaRPr>
          </a:p>
        </p:txBody>
      </p:sp>
    </p:spTree>
    <p:extLst>
      <p:ext uri="{BB962C8B-B14F-4D97-AF65-F5344CB8AC3E}">
        <p14:creationId xmlns:p14="http://schemas.microsoft.com/office/powerpoint/2010/main" val="3181161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Growth chart&#10;Birth to 24 months: girls&#10;length-for-age and weight-for-age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6276C7EB-CEE0-4EE1-127E-EBA46BAAD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 y="0"/>
            <a:ext cx="489426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rowth chart&#10;Birth to 36 months: girls&#10;length-for-age and weight-for-age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09FBF9FA-4376-249E-E55C-B28488A7384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75817" y="0"/>
            <a:ext cx="48942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014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owth chart&#10;Birth to 24 months: girls&#10;head circumference for age and&#10;weight for length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
            <a:extLst>
              <a:ext uri="{FF2B5EF4-FFF2-40B4-BE49-F238E27FC236}">
                <a16:creationId xmlns:a16="http://schemas.microsoft.com/office/drawing/2014/main" id="{188B3D3B-3893-1AA1-75EB-15B96BE36C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
            <a:ext cx="4754880" cy="68112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rowth chart&#10;Birth to 36 months: girls&#10;head circumference for age and&#10;weight for length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D7868905-752F-CD41-E0EF-406FCCDB6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1875" y="-46779"/>
            <a:ext cx="48101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543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079617"/>
          </a:xfrm>
        </p:spPr>
        <p:txBody>
          <a:bodyPr>
            <a:normAutofit fontScale="77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term length refers to measurements taken when children are supine</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Length in infants are measured by lying in supine position on tray or board.</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Hold the infant’s head in midline and extend the hips and knees flat on a paper-covered table, then Points are marked at the top of the head and the heels of the feet</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Birth – 6 months: Monthly gain—2.5 cm (1 inch)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6-12 month: Monthly gain—1. 5 cm (0.5 inch)</a:t>
            </a:r>
          </a:p>
        </p:txBody>
      </p:sp>
      <p:sp>
        <p:nvSpPr>
          <p:cNvPr id="3" name="Title 2"/>
          <p:cNvSpPr>
            <a:spLocks noGrp="1"/>
          </p:cNvSpPr>
          <p:nvPr>
            <p:ph type="title"/>
          </p:nvPr>
        </p:nvSpPr>
        <p:spPr/>
        <p:txBody>
          <a:bodyPr>
            <a:noAutofit/>
          </a:bodyPr>
          <a:lstStyle/>
          <a:p>
            <a:r>
              <a:rPr lang="en-US" sz="4000" dirty="0"/>
              <a:t>Length</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492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عنصر نائب للمحتوى 5">
            <a:extLst>
              <a:ext uri="{FF2B5EF4-FFF2-40B4-BE49-F238E27FC236}">
                <a16:creationId xmlns:a16="http://schemas.microsoft.com/office/drawing/2014/main" id="{DE66DD06-CC0B-515D-FC81-4DD6C15A185E}"/>
              </a:ext>
            </a:extLst>
          </p:cNvPr>
          <p:cNvPicPr>
            <a:picLocks noGrp="1" noChangeAspect="1"/>
          </p:cNvPicPr>
          <p:nvPr>
            <p:ph idx="1"/>
          </p:nvPr>
        </p:nvPicPr>
        <p:blipFill>
          <a:blip r:embed="rId3"/>
          <a:stretch>
            <a:fillRect/>
          </a:stretch>
        </p:blipFill>
        <p:spPr>
          <a:xfrm>
            <a:off x="2757488" y="1966913"/>
            <a:ext cx="6677025" cy="3848100"/>
          </a:xfrm>
        </p:spPr>
      </p:pic>
      <p:sp>
        <p:nvSpPr>
          <p:cNvPr id="3" name="Title 2"/>
          <p:cNvSpPr>
            <a:spLocks noGrp="1"/>
          </p:cNvSpPr>
          <p:nvPr>
            <p:ph type="title"/>
          </p:nvPr>
        </p:nvSpPr>
        <p:spPr/>
        <p:txBody>
          <a:bodyPr>
            <a:noAutofit/>
          </a:bodyPr>
          <a:lstStyle/>
          <a:p>
            <a:r>
              <a:rPr lang="en-US" sz="4000" dirty="0"/>
              <a:t>Measurement of Length</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441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Height  (or stature) refers to the measurement taken when a child is standing upright.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Measure height by having the child, with shoes removed, stand as tall and straight as possible, with the head in midline and the line of vision parallel to the ceiling and floor. </a:t>
            </a:r>
          </a:p>
          <a:p>
            <a:pPr marL="1090613" indent="-571500">
              <a:lnSpc>
                <a:spcPct val="170000"/>
              </a:lnSpc>
              <a:buClr>
                <a:schemeClr val="accent6">
                  <a:lumMod val="75000"/>
                </a:schemeClr>
              </a:buClr>
              <a:buSzPct val="100000"/>
              <a:buFont typeface="Wingdings 2" panose="05020102010507070707" pitchFamily="18" charset="2"/>
              <a:buChar char=""/>
            </a:pPr>
            <a:endParaRPr lang="en-US" sz="2800" dirty="0">
              <a:solidFill>
                <a:srgbClr val="3F3F3F"/>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Height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828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77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 certain the child’s back is to the wall or other vertical flat surface, with the  heels, buttocks, and back of the shoulders touching the wall.</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Check for and correct bending of the knees, slumping of the shoulders, or raising of the heels.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Normally, height is less if measured in the afternoon than in the morning. The time of day should be recorded when measurements are . For children in whom there are concerns about growth, serial measurements should be taken at the same time of day to establish an accurate growth velocity.</a:t>
            </a:r>
          </a:p>
        </p:txBody>
      </p:sp>
      <p:sp>
        <p:nvSpPr>
          <p:cNvPr id="3" name="Title 2"/>
          <p:cNvSpPr>
            <a:spLocks noGrp="1"/>
          </p:cNvSpPr>
          <p:nvPr>
            <p:ph type="title"/>
          </p:nvPr>
        </p:nvSpPr>
        <p:spPr/>
        <p:txBody>
          <a:bodyPr>
            <a:noAutofit/>
          </a:bodyPr>
          <a:lstStyle/>
          <a:p>
            <a:r>
              <a:rPr lang="en-US" sz="4000" dirty="0"/>
              <a:t>Height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4569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77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For the most accurate measurement, use a wall-mounted unit (stadiometer). The movable measuring rod of platform scales is accurate only if it remains parallel to the floor and rests securely on the topmost part of the head.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To improvise a flat surface for measuring length, attach a paper or metal tape or yardstick to the wall, position the child adjacent to the tape, and place a three-dimensional object, such as a thick book or box, on top of the head.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Rest the side of the object firmly against the wall to form a right angle. Measure length or stature to the nearest 1 mm or 1/8 inch.</a:t>
            </a:r>
          </a:p>
        </p:txBody>
      </p:sp>
      <p:sp>
        <p:nvSpPr>
          <p:cNvPr id="3" name="Title 2"/>
          <p:cNvSpPr>
            <a:spLocks noGrp="1"/>
          </p:cNvSpPr>
          <p:nvPr>
            <p:ph type="title"/>
          </p:nvPr>
        </p:nvSpPr>
        <p:spPr/>
        <p:txBody>
          <a:bodyPr>
            <a:noAutofit/>
          </a:bodyPr>
          <a:lstStyle/>
          <a:p>
            <a:r>
              <a:rPr lang="en-US" sz="4000" dirty="0"/>
              <a:t>Height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085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8502" y="3145883"/>
            <a:ext cx="4523584" cy="747763"/>
          </a:xfrm>
        </p:spPr>
        <p:txBody>
          <a:bodyPr>
            <a:noAutofit/>
          </a:bodyPr>
          <a:lstStyle/>
          <a:p>
            <a:r>
              <a:rPr lang="en-US" sz="3200" dirty="0"/>
              <a:t>Measurement of height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9B7B03BB-764C-01EF-DE6E-76BEACC3E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2085" y="223522"/>
            <a:ext cx="6785755" cy="6370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416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At birth, weight 2700 to 4000 kg (6–9 pounds).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 First, balance the scale.</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Remove the infant’s diaper and clothing.</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Depending on age, put the child is either supine or sitting.</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501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85000" lnSpcReduction="1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When precise measurements are necessary, two nurses should take the weight independently; if there is a discrepancy, take a third reading.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Take measurements in a comfortably warm room.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When birth–to–36 months growth charts are used, children should be weighed nude.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Older children are usually weighed while wearing their underpants or a light gown. </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8711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Protect the infant from an accidental fall by placing a hand over the infant without direct contact.</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At birth, weight is more variable than height and is, to a greater extent, a reflection of the intrauterine environment.</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003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lnSpcReduction="1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Normally, neonates lose about 10% of their birth weight by 3 to 4 days of age because of loss of extracellular fluid and meconium, as well as limited food intake, especially in breastfed infants.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 general, the birth weight doubles by 4 to 7 months of age, triples by the end of the first year. Quadruples by the age of 2 to 2.5 years.</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905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34109" y="1587585"/>
            <a:ext cx="6466924" cy="1039234"/>
          </a:xfrm>
        </p:spPr>
        <p:txBody>
          <a:bodyPr>
            <a:normAutofit/>
          </a:bodyPr>
          <a:lstStyle/>
          <a:p>
            <a:pPr marL="519113">
              <a:lnSpc>
                <a:spcPct val="170000"/>
              </a:lnSpc>
              <a:buClr>
                <a:schemeClr val="accent6">
                  <a:lumMod val="75000"/>
                </a:schemeClr>
              </a:buClr>
              <a:buSzPct val="100000"/>
              <a:buNone/>
            </a:pPr>
            <a:r>
              <a:rPr lang="en-US" sz="2800" dirty="0">
                <a:solidFill>
                  <a:srgbClr val="3F3F3F"/>
                </a:solidFill>
                <a:cs typeface="Segoe UI Semibold" panose="020B0702040204020203" pitchFamily="34" charset="0"/>
              </a:rPr>
              <a:t> Infant on scale.</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صورة 7">
            <a:extLst>
              <a:ext uri="{FF2B5EF4-FFF2-40B4-BE49-F238E27FC236}">
                <a16:creationId xmlns:a16="http://schemas.microsoft.com/office/drawing/2014/main" id="{A2C11DBE-85B0-2F80-5BD6-AA19EFF8A1B6}"/>
              </a:ext>
            </a:extLst>
          </p:cNvPr>
          <p:cNvPicPr>
            <a:picLocks noChangeAspect="1"/>
          </p:cNvPicPr>
          <p:nvPr/>
        </p:nvPicPr>
        <p:blipFill>
          <a:blip r:embed="rId3"/>
          <a:stretch>
            <a:fillRect/>
          </a:stretch>
        </p:blipFill>
        <p:spPr>
          <a:xfrm>
            <a:off x="614767" y="1196391"/>
            <a:ext cx="4109010" cy="2710591"/>
          </a:xfrm>
          <a:prstGeom prst="rect">
            <a:avLst/>
          </a:prstGeom>
        </p:spPr>
      </p:pic>
      <p:pic>
        <p:nvPicPr>
          <p:cNvPr id="10" name="صورة 9">
            <a:extLst>
              <a:ext uri="{FF2B5EF4-FFF2-40B4-BE49-F238E27FC236}">
                <a16:creationId xmlns:a16="http://schemas.microsoft.com/office/drawing/2014/main" id="{C05DC3DF-6065-8602-70D0-F486330A6281}"/>
              </a:ext>
            </a:extLst>
          </p:cNvPr>
          <p:cNvPicPr>
            <a:picLocks noChangeAspect="1"/>
          </p:cNvPicPr>
          <p:nvPr/>
        </p:nvPicPr>
        <p:blipFill>
          <a:blip r:embed="rId4"/>
          <a:stretch>
            <a:fillRect/>
          </a:stretch>
        </p:blipFill>
        <p:spPr>
          <a:xfrm>
            <a:off x="604435" y="3906982"/>
            <a:ext cx="4109010" cy="2809699"/>
          </a:xfrm>
          <a:prstGeom prst="rect">
            <a:avLst/>
          </a:prstGeom>
        </p:spPr>
      </p:pic>
      <p:sp>
        <p:nvSpPr>
          <p:cNvPr id="12" name="مربع نص 11">
            <a:extLst>
              <a:ext uri="{FF2B5EF4-FFF2-40B4-BE49-F238E27FC236}">
                <a16:creationId xmlns:a16="http://schemas.microsoft.com/office/drawing/2014/main" id="{F08237D3-B6A6-7683-588D-B478C3E31A20}"/>
              </a:ext>
            </a:extLst>
          </p:cNvPr>
          <p:cNvSpPr txBox="1"/>
          <p:nvPr/>
        </p:nvSpPr>
        <p:spPr>
          <a:xfrm>
            <a:off x="4920957" y="4947249"/>
            <a:ext cx="3358519" cy="1589281"/>
          </a:xfrm>
          <a:prstGeom prst="rect">
            <a:avLst/>
          </a:prstGeom>
          <a:noFill/>
        </p:spPr>
        <p:txBody>
          <a:bodyPr wrap="square">
            <a:spAutoFit/>
          </a:bodyPr>
          <a:lstStyle/>
          <a:p>
            <a:pPr marL="519113">
              <a:lnSpc>
                <a:spcPct val="170000"/>
              </a:lnSpc>
              <a:spcBef>
                <a:spcPts val="1000"/>
              </a:spcBef>
              <a:spcAft>
                <a:spcPts val="1200"/>
              </a:spcAft>
              <a:buClr>
                <a:schemeClr val="accent6">
                  <a:lumMod val="75000"/>
                </a:schemeClr>
              </a:buClr>
              <a:buSzPct val="100000"/>
            </a:pPr>
            <a:r>
              <a:rPr lang="en-US" sz="2000" dirty="0">
                <a:solidFill>
                  <a:srgbClr val="3F3F3F"/>
                </a:solidFill>
                <a:cs typeface="Segoe UI Semibold" panose="020B0702040204020203" pitchFamily="34" charset="0"/>
              </a:rPr>
              <a:t>Toddler on scale. Note presence of nurse to prevent falls.</a:t>
            </a:r>
            <a:endParaRPr lang="ar-IQ" sz="2000" dirty="0">
              <a:solidFill>
                <a:srgbClr val="3F3F3F"/>
              </a:solidFill>
              <a:cs typeface="Segoe UI Semibold" panose="020B0702040204020203" pitchFamily="34" charset="0"/>
            </a:endParaRPr>
          </a:p>
        </p:txBody>
      </p:sp>
    </p:spTree>
    <p:extLst>
      <p:ext uri="{BB962C8B-B14F-4D97-AF65-F5344CB8AC3E}">
        <p14:creationId xmlns:p14="http://schemas.microsoft.com/office/powerpoint/2010/main" val="447933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First 4 month = 750 gm /month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2nd 4 months = 500 gm /month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3rd 4 months = 250 gm/month</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Progression in year: Weight (kg/years) = (age + 4) ×2. </a:t>
            </a:r>
          </a:p>
          <a:p>
            <a:pPr marL="519113">
              <a:lnSpc>
                <a:spcPct val="170000"/>
              </a:lnSpc>
              <a:buClr>
                <a:schemeClr val="accent6">
                  <a:lumMod val="75000"/>
                </a:schemeClr>
              </a:buClr>
              <a:buSzPct val="100000"/>
              <a:buNone/>
            </a:pPr>
            <a:r>
              <a:rPr lang="en-US" sz="2800" dirty="0">
                <a:solidFill>
                  <a:srgbClr val="3F3F3F"/>
                </a:solidFill>
                <a:cs typeface="Segoe UI Semibold" panose="020B0702040204020203" pitchFamily="34" charset="0"/>
              </a:rPr>
              <a:t>Ex: 2-year-old will weigh: (2 + 4) ×2 = 12kg.</a:t>
            </a:r>
          </a:p>
        </p:txBody>
      </p:sp>
      <p:sp>
        <p:nvSpPr>
          <p:cNvPr id="3" name="Title 2"/>
          <p:cNvSpPr>
            <a:spLocks noGrp="1"/>
          </p:cNvSpPr>
          <p:nvPr>
            <p:ph type="title"/>
          </p:nvPr>
        </p:nvSpPr>
        <p:spPr/>
        <p:txBody>
          <a:bodyPr>
            <a:noAutofit/>
          </a:bodyPr>
          <a:lstStyle/>
          <a:p>
            <a:r>
              <a:rPr lang="en-US" sz="4000" dirty="0"/>
              <a:t>Weight progression (1-12 month)</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8157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925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Measures of relative weight and stature cannot distinguish between adipose (fat) tissue and muscle. One convenient measure of body fat is skinfold thickness,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Measure skinfold thickness with special calipers, such as the Lange calipers. The most common sites for measuring skinfold thickness are the triceps (most practical for routine clinical use), </a:t>
            </a:r>
            <a:r>
              <a:rPr lang="en-US" sz="2800" dirty="0" err="1">
                <a:solidFill>
                  <a:srgbClr val="3F3F3F"/>
                </a:solidFill>
                <a:cs typeface="Segoe UI Semibold" panose="020B0702040204020203" pitchFamily="34" charset="0"/>
              </a:rPr>
              <a:t>subscapula</a:t>
            </a:r>
            <a:r>
              <a:rPr lang="en-US" sz="2800" dirty="0">
                <a:solidFill>
                  <a:srgbClr val="3F3F3F"/>
                </a:solidFill>
                <a:cs typeface="Segoe UI Semibold" panose="020B0702040204020203" pitchFamily="34" charset="0"/>
              </a:rPr>
              <a:t>, </a:t>
            </a:r>
            <a:r>
              <a:rPr lang="en-US" sz="2800" dirty="0" err="1">
                <a:solidFill>
                  <a:srgbClr val="3F3F3F"/>
                </a:solidFill>
                <a:cs typeface="Segoe UI Semibold" panose="020B0702040204020203" pitchFamily="34" charset="0"/>
              </a:rPr>
              <a:t>suprailiac</a:t>
            </a:r>
            <a:r>
              <a:rPr lang="en-US" sz="2800" dirty="0">
                <a:solidFill>
                  <a:srgbClr val="3F3F3F"/>
                </a:solidFill>
                <a:cs typeface="Segoe UI Semibold" panose="020B0702040204020203" pitchFamily="34" charset="0"/>
              </a:rPr>
              <a:t>, abdomen, and upper thigh. </a:t>
            </a:r>
          </a:p>
        </p:txBody>
      </p:sp>
      <p:sp>
        <p:nvSpPr>
          <p:cNvPr id="3" name="Title 2"/>
          <p:cNvSpPr>
            <a:spLocks noGrp="1"/>
          </p:cNvSpPr>
          <p:nvPr>
            <p:ph type="title"/>
          </p:nvPr>
        </p:nvSpPr>
        <p:spPr/>
        <p:txBody>
          <a:bodyPr>
            <a:noAutofit/>
          </a:bodyPr>
          <a:lstStyle/>
          <a:p>
            <a:r>
              <a:rPr lang="en-US" sz="4000" dirty="0"/>
              <a:t>Skinfold Thickness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4929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For greatest reliability, follow the exact procedure for measurement, and record the average of at least two measurements of one site. </a:t>
            </a:r>
          </a:p>
        </p:txBody>
      </p:sp>
      <p:sp>
        <p:nvSpPr>
          <p:cNvPr id="3" name="Title 2"/>
          <p:cNvSpPr>
            <a:spLocks noGrp="1"/>
          </p:cNvSpPr>
          <p:nvPr>
            <p:ph type="title"/>
          </p:nvPr>
        </p:nvSpPr>
        <p:spPr/>
        <p:txBody>
          <a:bodyPr>
            <a:noAutofit/>
          </a:bodyPr>
          <a:lstStyle/>
          <a:p>
            <a:r>
              <a:rPr lang="en-US" sz="4000" dirty="0"/>
              <a:t>Skinfold Thickness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980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77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Head circumference is a critical indicator of brain growth in infants and toddlers.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Full-term infants, average head circumference is between 33 and 35.5 cm (13 and 14 inches).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Measure head circumference in children up to 36 months of age</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rate of increase in head circumference slows somewhat by the end of infancy, and head circumference is usually equal to chest circumference by 1 to 2 years of age.</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364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lnSpcReduction="1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usual total increase in head circumference during the second year is 2.5 cm (1 inch). Then the rate of increase slows until at age 5 years, the increase is less than 1.25 cm (0.5 inch) per year.</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head’s largest circumference is measured by placing the tape over the lower forehead, above the pinna of the ears, and over the occipital prominence.</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4503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92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Head circumference is usually about 2 to 3 cm (≈1 inch) greater than chest circumference.</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of the molding of the head during delivery, these measurements may initially appear equal. </a:t>
            </a:r>
            <a:r>
              <a:rPr lang="en-US" sz="2800" b="1" dirty="0">
                <a:solidFill>
                  <a:srgbClr val="3F3F3F"/>
                </a:solidFill>
                <a:cs typeface="Segoe UI Semibold" panose="020B0702040204020203" pitchFamily="34" charset="0"/>
              </a:rPr>
              <a:t>microcephaly</a:t>
            </a:r>
            <a:r>
              <a:rPr lang="en-US" sz="2800" dirty="0">
                <a:solidFill>
                  <a:srgbClr val="3F3F3F"/>
                </a:solidFill>
                <a:cs typeface="Segoe UI Semibold" panose="020B0702040204020203" pitchFamily="34" charset="0"/>
              </a:rPr>
              <a:t> or premature closure of the sutures (</a:t>
            </a:r>
            <a:r>
              <a:rPr lang="en-US" sz="2800" b="1" dirty="0">
                <a:solidFill>
                  <a:srgbClr val="3F3F3F"/>
                </a:solidFill>
                <a:cs typeface="Segoe UI Semibold" panose="020B0702040204020203" pitchFamily="34" charset="0"/>
              </a:rPr>
              <a:t>craniosynostosis</a:t>
            </a:r>
            <a:r>
              <a:rPr lang="en-US" sz="2800" dirty="0">
                <a:solidFill>
                  <a:srgbClr val="3F3F3F"/>
                </a:solidFill>
                <a:cs typeface="Segoe UI Semibold" panose="020B0702040204020203" pitchFamily="34" charset="0"/>
              </a:rPr>
              <a:t>) is a possibility. The head is more </a:t>
            </a:r>
            <a:r>
              <a:rPr lang="en-US" sz="2800" b="1" dirty="0">
                <a:solidFill>
                  <a:srgbClr val="3F3F3F"/>
                </a:solidFill>
                <a:cs typeface="Segoe UI Semibold" panose="020B0702040204020203" pitchFamily="34" charset="0"/>
              </a:rPr>
              <a:t>than 4 cm (1.6 inches) larger</a:t>
            </a:r>
            <a:r>
              <a:rPr lang="en-US" sz="2800" dirty="0">
                <a:solidFill>
                  <a:srgbClr val="3F3F3F"/>
                </a:solidFill>
                <a:cs typeface="Segoe UI Semibold" panose="020B0702040204020203" pitchFamily="34" charset="0"/>
              </a:rPr>
              <a:t> than the chest and this remains constant or increases over several days, then </a:t>
            </a:r>
            <a:r>
              <a:rPr lang="en-US" sz="2800" b="1" dirty="0">
                <a:solidFill>
                  <a:srgbClr val="3F3F3F"/>
                </a:solidFill>
                <a:cs typeface="Segoe UI Semibold" panose="020B0702040204020203" pitchFamily="34" charset="0"/>
              </a:rPr>
              <a:t>hydrocephalus</a:t>
            </a:r>
            <a:r>
              <a:rPr lang="en-US" sz="2800" dirty="0">
                <a:solidFill>
                  <a:srgbClr val="3F3F3F"/>
                </a:solidFill>
                <a:cs typeface="Segoe UI Semibold" panose="020B0702040204020203" pitchFamily="34" charset="0"/>
              </a:rPr>
              <a:t> must be considered.</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5380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85000" lnSpcReduction="1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During the first 6 months, head circumference increases approximately 1.5 cm (0.6 inch) per month, but the rate of growth declines to only 0.5 cm (0.2 inch) monthly during the second 6 months.</a:t>
            </a:r>
          </a:p>
          <a:p>
            <a:pPr marL="1090613" indent="-571500">
              <a:lnSpc>
                <a:spcPct val="12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Closure of the cranial sutures occurs, with the </a:t>
            </a:r>
          </a:p>
          <a:p>
            <a:pPr marL="519113">
              <a:lnSpc>
                <a:spcPct val="120000"/>
              </a:lnSpc>
              <a:buClr>
                <a:schemeClr val="accent6">
                  <a:lumMod val="75000"/>
                </a:schemeClr>
              </a:buClr>
              <a:buSzPct val="100000"/>
              <a:buNone/>
            </a:pPr>
            <a:r>
              <a:rPr lang="en-US" sz="2800" dirty="0">
                <a:solidFill>
                  <a:srgbClr val="3F3F3F"/>
                </a:solidFill>
                <a:cs typeface="Segoe UI Semibold" panose="020B0702040204020203" pitchFamily="34" charset="0"/>
              </a:rPr>
              <a:t>posterior fontanel fusing by 6 to 8 weeks of age</a:t>
            </a:r>
          </a:p>
          <a:p>
            <a:pPr marL="519113">
              <a:lnSpc>
                <a:spcPct val="120000"/>
              </a:lnSpc>
              <a:buClr>
                <a:schemeClr val="accent6">
                  <a:lumMod val="75000"/>
                </a:schemeClr>
              </a:buClr>
              <a:buSzPct val="100000"/>
              <a:buNone/>
            </a:pPr>
            <a:r>
              <a:rPr lang="en-US" sz="2800" dirty="0">
                <a:solidFill>
                  <a:srgbClr val="3F3F3F"/>
                </a:solidFill>
                <a:cs typeface="Segoe UI Semibold" panose="020B0702040204020203" pitchFamily="34" charset="0"/>
              </a:rPr>
              <a:t> and the anterior fontanel closing by 12 to 18 months </a:t>
            </a:r>
          </a:p>
          <a:p>
            <a:pPr marL="519113">
              <a:lnSpc>
                <a:spcPct val="120000"/>
              </a:lnSpc>
              <a:buClr>
                <a:schemeClr val="accent6">
                  <a:lumMod val="75000"/>
                </a:schemeClr>
              </a:buClr>
              <a:buSzPct val="100000"/>
              <a:buNone/>
            </a:pPr>
            <a:r>
              <a:rPr lang="en-US" sz="2800" dirty="0">
                <a:solidFill>
                  <a:srgbClr val="3F3F3F"/>
                </a:solidFill>
                <a:cs typeface="Segoe UI Semibold" panose="020B0702040204020203" pitchFamily="34" charset="0"/>
              </a:rPr>
              <a:t>of age (average, 14 months).</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صورة 4">
            <a:extLst>
              <a:ext uri="{FF2B5EF4-FFF2-40B4-BE49-F238E27FC236}">
                <a16:creationId xmlns:a16="http://schemas.microsoft.com/office/drawing/2014/main" id="{9105E3A0-318E-419E-3F7B-193F46EB58E8}"/>
              </a:ext>
            </a:extLst>
          </p:cNvPr>
          <p:cNvPicPr>
            <a:picLocks noChangeAspect="1"/>
          </p:cNvPicPr>
          <p:nvPr/>
        </p:nvPicPr>
        <p:blipFill>
          <a:blip r:embed="rId3"/>
          <a:stretch>
            <a:fillRect/>
          </a:stretch>
        </p:blipFill>
        <p:spPr>
          <a:xfrm>
            <a:off x="8739963" y="3428999"/>
            <a:ext cx="3235398" cy="3235398"/>
          </a:xfrm>
          <a:prstGeom prst="rect">
            <a:avLst/>
          </a:prstGeom>
        </p:spPr>
      </p:pic>
    </p:spTree>
    <p:extLst>
      <p:ext uri="{BB962C8B-B14F-4D97-AF65-F5344CB8AC3E}">
        <p14:creationId xmlns:p14="http://schemas.microsoft.com/office/powerpoint/2010/main" val="1037346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2668855"/>
            <a:ext cx="5491564" cy="2657577"/>
          </a:xfrm>
        </p:spPr>
        <p:txBody>
          <a:bodyPr>
            <a:normAutofit/>
          </a:bodyPr>
          <a:lstStyle/>
          <a:p>
            <a:pPr marL="519113">
              <a:lnSpc>
                <a:spcPct val="170000"/>
              </a:lnSpc>
              <a:buClr>
                <a:schemeClr val="accent6">
                  <a:lumMod val="75000"/>
                </a:schemeClr>
              </a:buClr>
              <a:buSzPct val="100000"/>
              <a:buNone/>
            </a:pPr>
            <a:r>
              <a:rPr lang="en-US" sz="2400" dirty="0">
                <a:solidFill>
                  <a:srgbClr val="3F3F3F"/>
                </a:solidFill>
                <a:cs typeface="Segoe UI Semibold" panose="020B0702040204020203" pitchFamily="34" charset="0"/>
              </a:rPr>
              <a:t> Measurement of head, chest, and abdominal circumference and crown-to-heel (recumbent) length.</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صورة 5">
            <a:extLst>
              <a:ext uri="{FF2B5EF4-FFF2-40B4-BE49-F238E27FC236}">
                <a16:creationId xmlns:a16="http://schemas.microsoft.com/office/drawing/2014/main" id="{9B28167B-EE47-399A-31D0-759DC26EB1A0}"/>
              </a:ext>
            </a:extLst>
          </p:cNvPr>
          <p:cNvPicPr>
            <a:picLocks noChangeAspect="1"/>
          </p:cNvPicPr>
          <p:nvPr/>
        </p:nvPicPr>
        <p:blipFill>
          <a:blip r:embed="rId3"/>
          <a:stretch>
            <a:fillRect/>
          </a:stretch>
        </p:blipFill>
        <p:spPr>
          <a:xfrm>
            <a:off x="6306920" y="2111841"/>
            <a:ext cx="5491564" cy="3331549"/>
          </a:xfrm>
          <a:prstGeom prst="rect">
            <a:avLst/>
          </a:prstGeom>
        </p:spPr>
      </p:pic>
    </p:spTree>
    <p:extLst>
      <p:ext uri="{BB962C8B-B14F-4D97-AF65-F5344CB8AC3E}">
        <p14:creationId xmlns:p14="http://schemas.microsoft.com/office/powerpoint/2010/main" val="2621495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931685"/>
            <a:ext cx="5491564" cy="1005370"/>
          </a:xfrm>
        </p:spPr>
        <p:txBody>
          <a:bodyPr>
            <a:normAutofit/>
          </a:bodyPr>
          <a:lstStyle/>
          <a:p>
            <a:pPr marL="519113">
              <a:lnSpc>
                <a:spcPct val="170000"/>
              </a:lnSpc>
              <a:buClr>
                <a:schemeClr val="accent6">
                  <a:lumMod val="75000"/>
                </a:schemeClr>
              </a:buClr>
              <a:buSzPct val="100000"/>
              <a:buNone/>
            </a:pPr>
            <a:r>
              <a:rPr lang="en-US" sz="2400" dirty="0">
                <a:solidFill>
                  <a:srgbClr val="3F3F3F"/>
                </a:solidFill>
                <a:cs typeface="Segoe UI Semibold" panose="020B0702040204020203" pitchFamily="34" charset="0"/>
              </a:rPr>
              <a:t> Measurement of head,</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image49.jpeg">
            <a:extLst>
              <a:ext uri="{FF2B5EF4-FFF2-40B4-BE49-F238E27FC236}">
                <a16:creationId xmlns:a16="http://schemas.microsoft.com/office/drawing/2014/main" id="{0597411D-A6CD-A232-CB81-2F4E4A03E9BC}"/>
              </a:ext>
            </a:extLst>
          </p:cNvPr>
          <p:cNvPicPr>
            <a:picLocks noChangeAspect="1"/>
          </p:cNvPicPr>
          <p:nvPr/>
        </p:nvPicPr>
        <p:blipFill>
          <a:blip r:embed="rId3" cstate="print"/>
          <a:stretch>
            <a:fillRect/>
          </a:stretch>
        </p:blipFill>
        <p:spPr>
          <a:xfrm>
            <a:off x="7690312" y="1196391"/>
            <a:ext cx="3162300" cy="2548255"/>
          </a:xfrm>
          <a:prstGeom prst="rect">
            <a:avLst/>
          </a:prstGeom>
        </p:spPr>
      </p:pic>
      <p:sp>
        <p:nvSpPr>
          <p:cNvPr id="10" name="مربع نص 9">
            <a:extLst>
              <a:ext uri="{FF2B5EF4-FFF2-40B4-BE49-F238E27FC236}">
                <a16:creationId xmlns:a16="http://schemas.microsoft.com/office/drawing/2014/main" id="{21A2DB8A-F5C2-6A55-5285-1E5D6AAC850B}"/>
              </a:ext>
            </a:extLst>
          </p:cNvPr>
          <p:cNvSpPr txBox="1"/>
          <p:nvPr/>
        </p:nvSpPr>
        <p:spPr>
          <a:xfrm>
            <a:off x="169612" y="3656630"/>
            <a:ext cx="10021792" cy="1640257"/>
          </a:xfrm>
          <a:prstGeom prst="rect">
            <a:avLst/>
          </a:prstGeom>
          <a:noFill/>
        </p:spPr>
        <p:txBody>
          <a:bodyPr wrap="square">
            <a:spAutoFit/>
          </a:bodyPr>
          <a:lstStyle/>
          <a:p>
            <a:pPr marL="1090613" marR="0" indent="-571500">
              <a:lnSpc>
                <a:spcPct val="170000"/>
              </a:lnSpc>
              <a:spcBef>
                <a:spcPts val="1000"/>
              </a:spcBef>
              <a:spcAft>
                <a:spcPts val="1200"/>
              </a:spcAft>
              <a:buClr>
                <a:schemeClr val="accent6">
                  <a:lumMod val="75000"/>
                </a:schemeClr>
              </a:buClr>
              <a:buSzPct val="100000"/>
              <a:buFont typeface="Wingdings 2" panose="05020102010507070707" pitchFamily="18" charset="2"/>
              <a:buChar char=""/>
            </a:pPr>
            <a:r>
              <a:rPr lang="en-US" sz="2600" dirty="0">
                <a:solidFill>
                  <a:srgbClr val="3F3F3F"/>
                </a:solidFill>
                <a:cs typeface="Segoe UI Semibold" panose="020B0702040204020203" pitchFamily="34" charset="0"/>
              </a:rPr>
              <a:t>H.C (Birth – 6 months): Monthly gain—1.5 cm</a:t>
            </a:r>
          </a:p>
          <a:p>
            <a:pPr marL="1090613" marR="0" indent="-571500">
              <a:lnSpc>
                <a:spcPct val="170000"/>
              </a:lnSpc>
              <a:spcBef>
                <a:spcPts val="1000"/>
              </a:spcBef>
              <a:spcAft>
                <a:spcPts val="1200"/>
              </a:spcAft>
              <a:buClr>
                <a:schemeClr val="accent6">
                  <a:lumMod val="75000"/>
                </a:schemeClr>
              </a:buClr>
              <a:buSzPct val="100000"/>
              <a:buFont typeface="Wingdings 2" panose="05020102010507070707" pitchFamily="18" charset="2"/>
              <a:buChar char=""/>
            </a:pPr>
            <a:r>
              <a:rPr lang="en-US" sz="2600" dirty="0">
                <a:solidFill>
                  <a:srgbClr val="3F3F3F"/>
                </a:solidFill>
                <a:cs typeface="Segoe UI Semibold" panose="020B0702040204020203" pitchFamily="34" charset="0"/>
              </a:rPr>
              <a:t>H.C (6-12 month): Monthly gain—0. 25 cm</a:t>
            </a:r>
          </a:p>
        </p:txBody>
      </p:sp>
    </p:spTree>
    <p:extLst>
      <p:ext uri="{BB962C8B-B14F-4D97-AF65-F5344CB8AC3E}">
        <p14:creationId xmlns:p14="http://schemas.microsoft.com/office/powerpoint/2010/main" val="38220399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BMI is also a part of assessing growth and can be tracked over time.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BMI is the number calculated from the child’s weight and height that correlates to the percentage of body fat. The higher the child’s BMI, the higher the percentage of body fat.</a:t>
            </a:r>
          </a:p>
        </p:txBody>
      </p:sp>
      <p:sp>
        <p:nvSpPr>
          <p:cNvPr id="3" name="Title 2"/>
          <p:cNvSpPr>
            <a:spLocks noGrp="1"/>
          </p:cNvSpPr>
          <p:nvPr>
            <p:ph type="title"/>
          </p:nvPr>
        </p:nvSpPr>
        <p:spPr/>
        <p:txBody>
          <a:bodyPr>
            <a:noAutofit/>
          </a:bodyPr>
          <a:lstStyle/>
          <a:p>
            <a:r>
              <a:rPr lang="en-US" sz="4000" dirty="0"/>
              <a:t>Body Mass Index</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7320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Underweight: BMI of less than 18.5</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Normal weight: BMI of 18.5 to 24.9</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Overweight: BMI of 25 to 29.9</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Obesity: BMI of 30 or greater</a:t>
            </a:r>
          </a:p>
        </p:txBody>
      </p:sp>
      <p:sp>
        <p:nvSpPr>
          <p:cNvPr id="3" name="Title 2"/>
          <p:cNvSpPr>
            <a:spLocks noGrp="1"/>
          </p:cNvSpPr>
          <p:nvPr>
            <p:ph type="title"/>
          </p:nvPr>
        </p:nvSpPr>
        <p:spPr/>
        <p:txBody>
          <a:bodyPr>
            <a:noAutofit/>
          </a:bodyPr>
          <a:lstStyle/>
          <a:p>
            <a:r>
              <a:rPr lang="en-US" sz="4000" dirty="0"/>
              <a:t>Parameters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83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426210" marR="0">
              <a:spcBef>
                <a:spcPts val="1220"/>
              </a:spcBef>
              <a:spcAft>
                <a:spcPts val="0"/>
              </a:spcAft>
              <a:buNone/>
            </a:pPr>
            <a:r>
              <a:rPr lang="en-US" sz="2800" dirty="0">
                <a:effectLst/>
                <a:latin typeface="Times New Roman" panose="02020603050405020304" pitchFamily="18" charset="0"/>
                <a:ea typeface="Times New Roman" panose="02020603050405020304" pitchFamily="18" charset="0"/>
              </a:rPr>
              <a:t>(BMI [weight in kilograms divided by height in meters squared])</a:t>
            </a:r>
          </a:p>
          <a:p>
            <a:pPr marL="1426210" marR="0">
              <a:spcBef>
                <a:spcPts val="1220"/>
              </a:spcBef>
              <a:spcAft>
                <a:spcPts val="0"/>
              </a:spcAft>
            </a:pPr>
            <a:endParaRPr lang="en-US" sz="2800" dirty="0">
              <a:effectLst/>
              <a:latin typeface="Times New Roman" panose="02020603050405020304" pitchFamily="18" charset="0"/>
              <a:ea typeface="Times New Roman" panose="02020603050405020304" pitchFamily="18" charset="0"/>
            </a:endParaRPr>
          </a:p>
          <a:p>
            <a:pPr marL="1426210" marR="0">
              <a:spcBef>
                <a:spcPts val="1220"/>
              </a:spcBef>
              <a:spcAft>
                <a:spcPts val="0"/>
              </a:spcAft>
            </a:pPr>
            <a:r>
              <a:rPr lang="en-US" sz="2800" dirty="0">
                <a:effectLst/>
                <a:latin typeface="Times New Roman" panose="02020603050405020304" pitchFamily="18" charset="0"/>
                <a:ea typeface="Times New Roman" panose="02020603050405020304" pitchFamily="18" charset="0"/>
              </a:rPr>
              <a:t>BMI=</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Weight</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in</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kilograms÷</a:t>
            </a:r>
            <a:r>
              <a:rPr lang="en-US" sz="2800" spc="1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(Height</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in</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meters)</a:t>
            </a:r>
            <a:r>
              <a:rPr lang="en-US" sz="2800" baseline="30000" dirty="0">
                <a:effectLst/>
                <a:latin typeface="Times New Roman" panose="02020603050405020304" pitchFamily="18" charset="0"/>
                <a:ea typeface="Times New Roman" panose="02020603050405020304" pitchFamily="18" charset="0"/>
              </a:rPr>
              <a:t>2</a:t>
            </a:r>
            <a:endParaRPr lang="en-US" sz="2800" dirty="0">
              <a:effectLst/>
              <a:latin typeface="Times New Roman" panose="02020603050405020304" pitchFamily="18" charset="0"/>
              <a:ea typeface="Times New Roman" panose="02020603050405020304" pitchFamily="18" charset="0"/>
            </a:endParaRPr>
          </a:p>
        </p:txBody>
      </p:sp>
      <p:sp>
        <p:nvSpPr>
          <p:cNvPr id="3" name="Title 2"/>
          <p:cNvSpPr>
            <a:spLocks noGrp="1"/>
          </p:cNvSpPr>
          <p:nvPr>
            <p:ph type="title"/>
          </p:nvPr>
        </p:nvSpPr>
        <p:spPr/>
        <p:txBody>
          <a:bodyPr>
            <a:noAutofit/>
          </a:bodyPr>
          <a:lstStyle/>
          <a:p>
            <a:r>
              <a:rPr lang="en-US" sz="4000" dirty="0"/>
              <a:t>Body Mass Index Formula</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179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2BFA77-7F13-59F8-014E-C1C67DC6EA6E}"/>
              </a:ext>
            </a:extLst>
          </p:cNvPr>
          <p:cNvSpPr txBox="1"/>
          <p:nvPr/>
        </p:nvSpPr>
        <p:spPr>
          <a:xfrm>
            <a:off x="244475" y="261938"/>
            <a:ext cx="11691938" cy="2125662"/>
          </a:xfrm>
          <a:prstGeom prst="rect">
            <a:avLst/>
          </a:prstGeom>
          <a:solidFill>
            <a:schemeClr val="accent6">
              <a:lumMod val="75000"/>
            </a:schemeClr>
          </a:solidFill>
          <a:ln>
            <a:solidFill>
              <a:schemeClr val="accent6">
                <a:lumMod val="75000"/>
              </a:schemeClr>
            </a:solidFill>
          </a:ln>
        </p:spPr>
        <p:txBody>
          <a:bodyPr/>
          <a:lstStyle/>
          <a:p>
            <a:pPr eaLnBrk="1" fontAlgn="auto" hangingPunct="1">
              <a:lnSpc>
                <a:spcPts val="1800"/>
              </a:lnSpc>
              <a:spcBef>
                <a:spcPts val="0"/>
              </a:spcBef>
              <a:spcAft>
                <a:spcPts val="600"/>
              </a:spcAft>
              <a:defRP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15043" name="Text Placeholder 1">
            <a:extLst>
              <a:ext uri="{FF2B5EF4-FFF2-40B4-BE49-F238E27FC236}">
                <a16:creationId xmlns:a16="http://schemas.microsoft.com/office/drawing/2014/main" id="{51192D33-4BD6-8803-6162-4BCD070998D6}"/>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Tree>
  </p:cSld>
  <p:clrMapOvr>
    <a:masterClrMapping/>
  </p:clrMapOvr>
  <p:transition spd="slow">
    <p:fade/>
  </p:transition>
</p:sld>
</file>

<file path=ppt/theme/theme1.xml><?xml version="1.0" encoding="utf-8"?>
<a:theme xmlns:a="http://schemas.openxmlformats.org/drawingml/2006/main" name="Get Started with 3D">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460</TotalTime>
  <Words>2113</Words>
  <Application>Microsoft Office PowerPoint</Application>
  <PresentationFormat>شاشة عريضة</PresentationFormat>
  <Paragraphs>170</Paragraphs>
  <Slides>35</Slides>
  <Notes>32</Notes>
  <HiddenSlides>0</HiddenSlides>
  <MMClips>0</MMClips>
  <ScaleCrop>false</ScaleCrop>
  <HeadingPairs>
    <vt:vector size="6" baseType="variant">
      <vt:variant>
        <vt:lpstr>الخطوط المستخدمة</vt:lpstr>
      </vt:variant>
      <vt:variant>
        <vt:i4>9</vt:i4>
      </vt:variant>
      <vt:variant>
        <vt:lpstr>نسق</vt:lpstr>
      </vt:variant>
      <vt:variant>
        <vt:i4>1</vt:i4>
      </vt:variant>
      <vt:variant>
        <vt:lpstr>عناوين الشرائح</vt:lpstr>
      </vt:variant>
      <vt:variant>
        <vt:i4>35</vt:i4>
      </vt:variant>
    </vt:vector>
  </HeadingPairs>
  <TitlesOfParts>
    <vt:vector size="45" baseType="lpstr">
      <vt:lpstr>굴림</vt:lpstr>
      <vt:lpstr>Arial</vt:lpstr>
      <vt:lpstr>Calibri</vt:lpstr>
      <vt:lpstr>Segoe UI</vt:lpstr>
      <vt:lpstr>Segoe UI Light</vt:lpstr>
      <vt:lpstr>Segoe UI Semibold</vt:lpstr>
      <vt:lpstr>Segoe UI Variable Small Semibol</vt:lpstr>
      <vt:lpstr>Times New Roman</vt:lpstr>
      <vt:lpstr>Wingdings 2</vt:lpstr>
      <vt:lpstr>Get Started with 3D</vt:lpstr>
      <vt:lpstr>Measurement of Growth and Development</vt:lpstr>
      <vt:lpstr>Anthropometric measurements </vt:lpstr>
      <vt:lpstr>Growth Measurements</vt:lpstr>
      <vt:lpstr>Equipment</vt:lpstr>
      <vt:lpstr>Technique</vt:lpstr>
      <vt:lpstr>Growth Charts</vt:lpstr>
      <vt:lpstr>Growth Charts</vt:lpstr>
      <vt:lpstr>Growth Charts</vt:lpstr>
      <vt:lpstr>عرض تقديمي في PowerPoint</vt:lpstr>
      <vt:lpstr>عرض تقديمي في PowerPoint</vt:lpstr>
      <vt:lpstr>عرض تقديمي في PowerPoint</vt:lpstr>
      <vt:lpstr>Length</vt:lpstr>
      <vt:lpstr>Measurement of Length</vt:lpstr>
      <vt:lpstr>Height</vt:lpstr>
      <vt:lpstr>Height</vt:lpstr>
      <vt:lpstr>Height</vt:lpstr>
      <vt:lpstr>Measurement of height</vt:lpstr>
      <vt:lpstr>Weight</vt:lpstr>
      <vt:lpstr>Weight</vt:lpstr>
      <vt:lpstr>Weight</vt:lpstr>
      <vt:lpstr>Weight</vt:lpstr>
      <vt:lpstr>Weight</vt:lpstr>
      <vt:lpstr>Weight progression (1-12 month)</vt:lpstr>
      <vt:lpstr>Skinfold Thickness</vt:lpstr>
      <vt:lpstr>Skinfold Thickness</vt:lpstr>
      <vt:lpstr>Head Circumference</vt:lpstr>
      <vt:lpstr>Head Circumference</vt:lpstr>
      <vt:lpstr>Head Circumference</vt:lpstr>
      <vt:lpstr>Head Circumference</vt:lpstr>
      <vt:lpstr>Head Circumference</vt:lpstr>
      <vt:lpstr>Head Circumference</vt:lpstr>
      <vt:lpstr>Body Mass Index</vt:lpstr>
      <vt:lpstr>Parameters</vt:lpstr>
      <vt:lpstr>Body Mass Index Formula</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Defects of the Genitourinary Tract Nursing management of pediatric patients with Genetic disorders | The Child with Gastrointestinal Dysfunction</dc:title>
  <dc:creator>green lanter</dc:creator>
  <cp:lastModifiedBy>green lanter</cp:lastModifiedBy>
  <cp:revision>24</cp:revision>
  <dcterms:created xsi:type="dcterms:W3CDTF">2019-03-12T20:57:07Z</dcterms:created>
  <dcterms:modified xsi:type="dcterms:W3CDTF">2025-10-05T18:09:28Z</dcterms:modified>
</cp:coreProperties>
</file>