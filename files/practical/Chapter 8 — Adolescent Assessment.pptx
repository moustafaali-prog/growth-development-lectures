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 generated from Chapter 8 — Adolescent Assessment.pdf (7 pages). Source text is reproduced verbatim in the notes of every content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assembled verbatim from page 1 and the numbered headings of Chapter 8 — Adolescent Assessment.pdf.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headings exactly as numbered in the source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ROTATION: ADOLESCENT ASSESSMENT</a:t>
            </a:r>
          </a:p>
          <a:p>
            <a:r>
              <a:t>Chapter 8 — Adolescent Assessment (12-20 years)</a:t>
            </a:r>
          </a:p>
          <a:p>
            <a:r>
              <a:t>Health promotion of the adolescent and family: growth during puberty, sexual maturation,</a:t>
            </a:r>
          </a:p>
          <a:p>
            <a:r>
              <a:t>nutrition needs, body image and eating disorders, injury prevention, immunization and special</a:t>
            </a:r>
          </a:p>
          <a:p>
            <a:r>
              <a:t>screens, and psychosocial assessment.</a:t>
            </a:r>
          </a:p>
          <a:p>
            <a:r>
              <a:t>Age range: 12 – 20 years</a:t>
            </a:r>
          </a:p>
          <a:p>
            <a:r>
              <a:t>8.1 Site Profile — Adolescent Health Supervision</a:t>
            </a:r>
          </a:p>
          <a:p>
            <a:r>
              <a:t>The AAP, American Academy of Family Physicians, American Medical Association, and the U.S.</a:t>
            </a:r>
          </a:p>
          <a:p>
            <a:r>
              <a:t>Preventive Services Task Force publish similar guidelines for health supervision of adolescents;</a:t>
            </a:r>
          </a:p>
          <a:p>
            <a:r>
              <a:t>services must meet physical and emotional needs and are best delivered by providers trained in</a:t>
            </a:r>
          </a:p>
          <a:p>
            <a:r>
              <a:t>adolescent care.</a:t>
            </a:r>
          </a:p>
          <a:p>
            <a:r>
              <a:t>BRIGHT FUTURES — ISSUES TO ADDRESS AT EVERY ADOLESCENT HEALTH VISIT</a:t>
            </a:r>
          </a:p>
          <a:p>
            <a:r>
              <a:t>Physical growth and development — physical and dental health, body image, healthy nutrition,</a:t>
            </a:r>
          </a:p>
          <a:p>
            <a:r>
              <a:t>physical activity.</a:t>
            </a:r>
          </a:p>
          <a:p>
            <a:r>
              <a:t>Social and academic competence — relationships with peers and family, school performance,</a:t>
            </a:r>
          </a:p>
          <a:p>
            <a:r>
              <a:t>interpersonal relationships.</a:t>
            </a:r>
          </a:p>
          <a:p>
            <a:r>
              <a:t>Emotional well-being — mental health and sexuality.</a:t>
            </a:r>
          </a:p>
          <a:p>
            <a:r>
              <a:t>Risk reduction — tobacco, alcohol, other drugs, pregnancy, sexually transmitted infections.</a:t>
            </a:r>
          </a:p>
          <a:p>
            <a:r>
              <a:t>Violence and injury prevention.</a:t>
            </a:r>
          </a:p>
          <a:p>
            <a:r>
              <a:t>CONFIDENTIALITY</a:t>
            </a:r>
          </a:p>
          <a:p>
            <a:r>
              <a:t>The availability of confidential services is particularly important for adolescents; most states have</a:t>
            </a:r>
          </a:p>
          <a:p>
            <a:r>
              <a:t>provisions for confidential care, and laws vary by state. Establish the age-related policy for your</a:t>
            </a:r>
          </a:p>
          <a:p>
            <a:r>
              <a:t>clinical setting before the interview and explain it to the adolescent and family.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ROTATION: ADOLESCENT ASSESSMENT</a:t>
            </a:r>
          </a:p>
          <a:p>
            <a:r>
              <a:t>Chapter 8 — Adolescent Assessment (12-20 years)</a:t>
            </a:r>
          </a:p>
          <a:p>
            <a:r>
              <a:t>Health promotion of the adolescent and family: growth during puberty, sexual maturation,</a:t>
            </a:r>
          </a:p>
          <a:p>
            <a:r>
              <a:t>nutrition needs, body image and eating disorders, injury prevention, immunization and special</a:t>
            </a:r>
          </a:p>
          <a:p>
            <a:r>
              <a:t>screens, and psychosocial assessment.</a:t>
            </a:r>
          </a:p>
          <a:p>
            <a:r>
              <a:t>Age range: 12 – 20 years</a:t>
            </a:r>
          </a:p>
          <a:p>
            <a:r>
              <a:t>8.1 Site Profile — Adolescent Health Supervision</a:t>
            </a:r>
          </a:p>
          <a:p>
            <a:r>
              <a:t>The AAP, American Academy of Family Physicians, American Medical Association, and the U.S.</a:t>
            </a:r>
          </a:p>
          <a:p>
            <a:r>
              <a:t>Preventive Services Task Force publish similar guidelines for health supervision of adolescents;</a:t>
            </a:r>
          </a:p>
          <a:p>
            <a:r>
              <a:t>services must meet physical and emotional needs and are best delivered by providers trained in</a:t>
            </a:r>
          </a:p>
          <a:p>
            <a:r>
              <a:t>adolescent care.</a:t>
            </a:r>
          </a:p>
          <a:p>
            <a:r>
              <a:t>BRIGHT FUTURES — ISSUES TO ADDRESS AT EVERY ADOLESCENT HEALTH VISIT</a:t>
            </a:r>
          </a:p>
          <a:p>
            <a:r>
              <a:t>Physical growth and development — physical and dental health, body image, healthy nutrition,</a:t>
            </a:r>
          </a:p>
          <a:p>
            <a:r>
              <a:t>physical activity.</a:t>
            </a:r>
          </a:p>
          <a:p>
            <a:r>
              <a:t>Social and academic competence — relationships with peers and family, school performance,</a:t>
            </a:r>
          </a:p>
          <a:p>
            <a:r>
              <a:t>interpersonal relationships.</a:t>
            </a:r>
          </a:p>
          <a:p>
            <a:r>
              <a:t>Emotional well-being — mental health and sexuality.</a:t>
            </a:r>
          </a:p>
          <a:p>
            <a:r>
              <a:t>Risk reduction — tobacco, alcohol, other drugs, pregnancy, sexually transmitted infections.</a:t>
            </a:r>
          </a:p>
          <a:p>
            <a:r>
              <a:t>Violence and injury prevention.</a:t>
            </a:r>
          </a:p>
          <a:p>
            <a:r>
              <a:t>CONFIDENTIALITY</a:t>
            </a:r>
          </a:p>
          <a:p>
            <a:r>
              <a:t>The availability of confidential services is particularly important for adolescents; most states have</a:t>
            </a:r>
          </a:p>
          <a:p>
            <a:r>
              <a:t>provisions for confidential care, and laws vary by state. Establish the age-related policy for your</a:t>
            </a:r>
          </a:p>
          <a:p>
            <a:r>
              <a:t>clinical setting before the interview and explain it to the adolescent and family.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8.2 Physical Growth During Puberty</a:t>
            </a:r>
          </a:p>
          <a:p>
            <a:r>
              <a:t>The final 20% to 25% of linear growth is achieved during puberty, and up to 50% of ideal adult</a:t>
            </a:r>
          </a:p>
          <a:p>
            <a:r>
              <a:t>body weight is gained during this time.</a:t>
            </a:r>
          </a:p>
          <a:p>
            <a:r>
              <a:t>Girls begin puberty and reach maturity about 1½ to 2 years earlier than boys; the pubertal growth</a:t>
            </a:r>
          </a:p>
          <a:p>
            <a:r>
              <a:t>spurt begins as early as 9½ or as late as 14½ years in girls, and as early as 10½ and as late as 16</a:t>
            </a:r>
          </a:p>
          <a:p>
            <a:r>
              <a:t>years in boys.</a:t>
            </a:r>
          </a:p>
          <a:p>
            <a:r>
              <a:t>The growth spurt reaches its peak at about 12 years in girls and about 14 years in boys.</a:t>
            </a:r>
          </a:p>
          <a:p>
            <a:r>
              <a:t>Peak height velocity (PHV) occurs at about 12 years of age in girls, around 6 to 12 months before</a:t>
            </a:r>
          </a:p>
          <a:p>
            <a:r>
              <a:t>menarche; PHV is used as a predictor of menarche, and height at menarche predicts ultimate adult</a:t>
            </a:r>
          </a:p>
          <a:p>
            <a:r>
              <a:t>height. Few girls grow more than 5 cm (2 inches) after menarche; growth in girls' height usually</a:t>
            </a:r>
          </a:p>
          <a:p>
            <a:r>
              <a:t>ceases 2 to 2½ years after menarche.</a:t>
            </a:r>
          </a:p>
          <a:p>
            <a:r>
              <a:t>Boys typically reach PHV at about 14 years, after growth of the testicles and penis and appearance of</a:t>
            </a:r>
          </a:p>
          <a:p>
            <a:r>
              <a:t>axillary and mature pubic hair; growth in height ceases at 18 or 20 years.</a:t>
            </a:r>
          </a:p>
          <a:p>
            <a:r>
              <a:t>Peak weight velocity occurs about 6 months after PHV in girls (and about 6 months after menarche);</a:t>
            </a:r>
          </a:p>
          <a:p>
            <a:r>
              <a:t>in boys the weight and height spurts occur simultaneously.</a:t>
            </a:r>
          </a:p>
          <a:p>
            <a:r>
              <a:t>Leg-length increase precedes trunk growth by about 6 to 9 months and shoulders/chest by about 1</a:t>
            </a:r>
          </a:p>
          <a:p>
            <a:r>
              <a:t>year: "outgrow shoes first, then pants, then shirts".</a:t>
            </a:r>
          </a:p>
          <a:p>
            <a:r>
              <a:t>Body composition: girls' fat mass increases markedly in early puberty and continues to increase after</a:t>
            </a:r>
          </a:p>
          <a:p>
            <a:r>
              <a:t>menarche; boys have a peak deceleration in fat-mass accumulation at the growth spurt, with</a:t>
            </a:r>
          </a:p>
          <a:p>
            <a:r>
              <a:t>significantly higher lean body mass overall.</a:t>
            </a:r>
          </a:p>
          <a:p>
            <a:r>
              <a:t>On average, girls gain 5-20 cm (2-8 inches) in height and 7-25 kg (15.5-55 lb) in weight during</a:t>
            </a:r>
          </a:p>
          <a:p>
            <a:r>
              <a:t>adolescence. In the U.S., onset of Tanner stage 2 genital development in boys (mean): non-Hispanic</a:t>
            </a:r>
          </a:p>
          <a:p>
            <a:r>
              <a:t>white 10.14 yr, African-American 9.14 yr, Hispanic 10.04 yr.</a:t>
            </a:r>
          </a:p>
          <a:p>
            <a:r>
              <a:t>Figure 8.1 places the pubertal events described above on a single timeline: peak height velocity</a:t>
            </a:r>
          </a:p>
          <a:p>
            <a:r>
              <a:t>at about 12 years in girls and 14 years in boys, the menarche band, and the growth-spurt details</a:t>
            </a:r>
          </a:p>
          <a:p>
            <a:r>
              <a:t>for each sex.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8.2 Physical Growth During Puberty</a:t>
            </a:r>
          </a:p>
          <a:p>
            <a:r>
              <a:t>The final 20% to 25% of linear growth is achieved during puberty, and up to 50% of ideal adult</a:t>
            </a:r>
          </a:p>
          <a:p>
            <a:r>
              <a:t>body weight is gained during this time.</a:t>
            </a:r>
          </a:p>
          <a:p>
            <a:r>
              <a:t>Girls begin puberty and reach maturity about 1½ to 2 years earlier than boys; the pubertal growth</a:t>
            </a:r>
          </a:p>
          <a:p>
            <a:r>
              <a:t>spurt begins as early as 9½ or as late as 14½ years in girls, and as early as 10½ and as late as 16</a:t>
            </a:r>
          </a:p>
          <a:p>
            <a:r>
              <a:t>years in boys.</a:t>
            </a:r>
          </a:p>
          <a:p>
            <a:r>
              <a:t>The growth spurt reaches its peak at about 12 years in girls and about 14 years in boys.</a:t>
            </a:r>
          </a:p>
          <a:p>
            <a:r>
              <a:t>Peak height velocity (PHV) occurs at about 12 years of age in girls, around 6 to 12 months before</a:t>
            </a:r>
          </a:p>
          <a:p>
            <a:r>
              <a:t>menarche; PHV is used as a predictor of menarche, and height at menarche predicts ultimate adult</a:t>
            </a:r>
          </a:p>
          <a:p>
            <a:r>
              <a:t>height. Few girls grow more than 5 cm (2 inches) after menarche; growth in girls' height usually</a:t>
            </a:r>
          </a:p>
          <a:p>
            <a:r>
              <a:t>ceases 2 to 2½ years after menarche.</a:t>
            </a:r>
          </a:p>
          <a:p>
            <a:r>
              <a:t>Boys typically reach PHV at about 14 years, after growth of the testicles and penis and appearance of</a:t>
            </a:r>
          </a:p>
          <a:p>
            <a:r>
              <a:t>axillary and mature pubic hair; growth in height ceases at 18 or 20 years.</a:t>
            </a:r>
          </a:p>
          <a:p>
            <a:r>
              <a:t>Peak weight velocity occurs about 6 months after PHV in girls (and about 6 months after menarche);</a:t>
            </a:r>
          </a:p>
          <a:p>
            <a:r>
              <a:t>in boys the weight and height spurts occur simultaneously.</a:t>
            </a:r>
          </a:p>
          <a:p>
            <a:r>
              <a:t>Leg-length increase precedes trunk growth by about 6 to 9 months and shoulders/chest by about 1</a:t>
            </a:r>
          </a:p>
          <a:p>
            <a:r>
              <a:t>year: "outgrow shoes first, then pants, then shirts".</a:t>
            </a:r>
          </a:p>
          <a:p>
            <a:r>
              <a:t>Body composition: girls' fat mass increases markedly in early puberty and continues to increase after</a:t>
            </a:r>
          </a:p>
          <a:p>
            <a:r>
              <a:t>menarche; boys have a peak deceleration in fat-mass accumulation at the growth spurt, with</a:t>
            </a:r>
          </a:p>
          <a:p>
            <a:r>
              <a:t>significantly higher lean body mass overall.</a:t>
            </a:r>
          </a:p>
          <a:p>
            <a:r>
              <a:t>On average, girls gain 5-20 cm (2-8 inches) in height and 7-25 kg (15.5-55 lb) in weight during</a:t>
            </a:r>
          </a:p>
          <a:p>
            <a:r>
              <a:t>adolescence. In the U.S., onset of Tanner stage 2 genital development in boys (mean): non-Hispanic</a:t>
            </a:r>
          </a:p>
          <a:p>
            <a:r>
              <a:t>white 10.14 yr, African-American 9.14 yr, Hispanic 10.04 yr.</a:t>
            </a:r>
          </a:p>
          <a:p>
            <a:r>
              <a:t>Figure 8.1 places the pubertal events described above on a single timeline: peak height velocity</a:t>
            </a:r>
          </a:p>
          <a:p>
            <a:r>
              <a:t>at about 12 years in girls and 14 years in boys, the menarche band, and the growth-spurt details</a:t>
            </a:r>
          </a:p>
          <a:p>
            <a:r>
              <a:t>for each sex.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8.1 Timeline of the pubertal growth spurt in girls and boys.</a:t>
            </a:r>
          </a:p>
          <a:p>
            <a:r>
              <a:t>8.3 Sexual Maturation — Tanner Staging</a:t>
            </a:r>
          </a:p>
          <a:p>
            <a:r>
              <a:t>Tanner stages describe pubertal development in numbered stages; in females they describe</a:t>
            </a:r>
          </a:p>
          <a:p>
            <a:r>
              <a:t>development based on breast size and the shape and distribution of pubic hair, in males on</a:t>
            </a:r>
          </a:p>
          <a:p>
            <a:r>
              <a:t>genital development and pubic hair; stage 1 = prepubertal, stage 5 = adult.</a:t>
            </a:r>
          </a:p>
          <a:p>
            <a:r>
              <a:t>Example entries (boys): Stage 1 (prepubertal): no pubic hair — essentially the same as during</a:t>
            </a:r>
          </a:p>
          <a:p>
            <a:r>
              <a:t>childhood, no distinction between hair on the pubis and over the abdomen. Stage 4: increased size of</a:t>
            </a:r>
          </a:p>
          <a:p>
            <a:r>
              <a:t>the penis with growth in diameter and development of the glans; glans larger and broader; scrotum</a:t>
            </a:r>
          </a:p>
          <a:p>
            <a:r>
              <a:t>darker; pubic hair more abundant with curling.</a:t>
            </a:r>
          </a:p>
          <a:p>
            <a:r>
              <a:t>Fertility: from a clinical perspective an adolescent should be considered potentially fertile with a first</a:t>
            </a:r>
          </a:p>
          <a:p>
            <a:r>
              <a:t>menstrual period or a first ejaculation; viable sperm production tends to follow the first ejaculation by</a:t>
            </a:r>
          </a:p>
          <a:p>
            <a:r>
              <a:t>about 1 year.</a:t>
            </a:r>
          </a:p>
          <a:p>
            <a:r>
              <a:t>Boys do not experience a discrete event analogous to menstruation; the capacity to ejaculate appears</a:t>
            </a:r>
          </a:p>
          <a:p>
            <a:r>
              <a:t>approximately 1 year after initial testicular enlargement and the appearance of pubic hair.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8.1 Timeline of the pubertal growth spurt in girls and boys.</a:t>
            </a:r>
          </a:p>
          <a:p>
            <a:r>
              <a:t>8.3 Sexual Maturation — Tanner Staging</a:t>
            </a:r>
          </a:p>
          <a:p>
            <a:r>
              <a:t>Tanner stages describe pubertal development in numbered stages; in females they describe</a:t>
            </a:r>
          </a:p>
          <a:p>
            <a:r>
              <a:t>development based on breast size and the shape and distribution of pubic hair, in males on</a:t>
            </a:r>
          </a:p>
          <a:p>
            <a:r>
              <a:t>genital development and pubic hair; stage 1 = prepubertal, stage 5 = adult.</a:t>
            </a:r>
          </a:p>
          <a:p>
            <a:r>
              <a:t>Example entries (boys): Stage 1 (prepubertal): no pubic hair — essentially the same as during</a:t>
            </a:r>
          </a:p>
          <a:p>
            <a:r>
              <a:t>childhood, no distinction between hair on the pubis and over the abdomen. Stage 4: increased size of</a:t>
            </a:r>
          </a:p>
          <a:p>
            <a:r>
              <a:t>the penis with growth in diameter and development of the glans; glans larger and broader; scrotum</a:t>
            </a:r>
          </a:p>
          <a:p>
            <a:r>
              <a:t>darker; pubic hair more abundant with curling.</a:t>
            </a:r>
          </a:p>
          <a:p>
            <a:r>
              <a:t>Fertility: from a clinical perspective an adolescent should be considered potentially fertile with a first</a:t>
            </a:r>
          </a:p>
          <a:p>
            <a:r>
              <a:t>menstrual period or a first ejaculation; viable sperm production tends to follow the first ejaculation by</a:t>
            </a:r>
          </a:p>
          <a:p>
            <a:r>
              <a:t>about 1 year.</a:t>
            </a:r>
          </a:p>
          <a:p>
            <a:r>
              <a:t>Boys do not experience a discrete event analogous to menstruation; the capacity to ejaculate appears</a:t>
            </a:r>
          </a:p>
          <a:p>
            <a:r>
              <a:t>approximately 1 year after initial testicular enlargement and the appearance of pubic hair.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full breast-and-pubic-hair staging tables are not reproduced here; consult your course's printed</a:t>
            </a:r>
          </a:p>
          <a:p>
            <a:r>
              <a:t>staging charts for the complete figures while practising the examination.</a:t>
            </a:r>
          </a:p>
          <a:p>
            <a:r>
              <a:t>8.4 Nutrition in Adolescence</a:t>
            </a:r>
          </a:p>
          <a:p>
            <a:r>
              <a:t>Point</a:t>
            </a:r>
          </a:p>
          <a:p>
            <a:r>
              <a:t>Practice implication</a:t>
            </a:r>
          </a:p>
          <a:p>
            <a:r>
              <a:t>Puberty can double nutritional requirements for iron,</a:t>
            </a:r>
          </a:p>
          <a:p>
            <a:r>
              <a:t>calcium, zinc, and protein</a:t>
            </a:r>
          </a:p>
          <a:p>
            <a:r>
              <a:t>Assess intake at every visit; high-need foods</a:t>
            </a:r>
          </a:p>
          <a:p>
            <a:r>
              <a:t>first (dairy, protein, whole grains, fruits,</a:t>
            </a:r>
          </a:p>
          <a:p>
            <a:r>
              <a:t>vegetables)</a:t>
            </a:r>
          </a:p>
          <a:p>
            <a:r>
              <a:t>Girls are particularly susceptible to iron deficiency at</a:t>
            </a:r>
          </a:p>
          <a:p>
            <a:r>
              <a:t>menarche</a:t>
            </a:r>
          </a:p>
          <a:p>
            <a:r>
              <a:t>Screen dietary iron; anemia signs; encourage</a:t>
            </a:r>
          </a:p>
          <a:p>
            <a:r>
              <a:t>iron-rich foods with vitamin C</a:t>
            </a:r>
          </a:p>
          <a:p>
            <a:r>
              <a:t>Maximum bone mass is acquired during adolescence;</a:t>
            </a:r>
          </a:p>
          <a:p>
            <a:r>
              <a:t>calcium deposited now determines later osteoporosis risk</a:t>
            </a:r>
          </a:p>
          <a:p>
            <a:r>
              <a:t>Encourage calcium-rich intake; discourage</a:t>
            </a:r>
          </a:p>
          <a:p>
            <a:r>
              <a:t>dietary substitutes that displace dairy</a:t>
            </a:r>
          </a:p>
          <a:p>
            <a:r>
              <a:t>Common pattern: excess calories, sugar, fat, cholesterol,</a:t>
            </a:r>
          </a:p>
          <a:p>
            <a:r>
              <a:t>sodium; inadequate folic acid, vitamin B6, vitamin A, iron,</a:t>
            </a:r>
          </a:p>
          <a:p>
            <a:r>
              <a:t>calcium, zinc — especially girls and low-SES teens</a:t>
            </a:r>
          </a:p>
          <a:p>
            <a:r>
              <a:t>Teach balanced food choices (as in the school-</a:t>
            </a:r>
          </a:p>
          <a:p>
            <a:r>
              <a:t>age nutrition section); watch fast-food and soft-</a:t>
            </a:r>
          </a:p>
          <a:p>
            <a:r>
              <a:t>drink displacement</a:t>
            </a:r>
          </a:p>
          <a:p>
            <a:r>
              <a:t>Weight-conscious behavior and overweight have</a:t>
            </a:r>
          </a:p>
          <a:p>
            <a:r>
              <a:t>increased among adolescents</a:t>
            </a:r>
          </a:p>
          <a:p>
            <a:r>
              <a:t>Plot growth on CDC charts; discuss weight</a:t>
            </a:r>
          </a:p>
          <a:p>
            <a:r>
              <a:t>status without body shaming</a:t>
            </a:r>
          </a:p>
          <a:p>
            <a:r>
              <a:t>8.5 Body Image &amp; Eating Disorders</a:t>
            </a:r>
          </a:p>
          <a:p>
            <a:r>
              <a:t>Body image is important for adolescent girls; a common behaviour is extensive dieting at a time</a:t>
            </a:r>
          </a:p>
          <a:p>
            <a:r>
              <a:t>when physical changes are occurring, and a focus on slimness and dieting may trigger the</a:t>
            </a:r>
          </a:p>
          <a:p>
            <a:r>
              <a:t>development of eating disorders.</a:t>
            </a:r>
          </a:p>
          <a:p>
            <a:r>
              <a:t>Anorexia nervosa and bulimia nervosa occur among adolescents; screen with non-judgmental</a:t>
            </a:r>
          </a:p>
          <a:p>
            <a:r>
              <a:t>questions about meal patterns, dieting behaviour, and weight concerns.</a:t>
            </a:r>
          </a:p>
          <a:p>
            <a:r>
              <a:t>Body image and gender-role definition are nearly secured by late adolescence; identity consolidates.</a:t>
            </a:r>
          </a:p>
          <a:p>
            <a:r>
              <a:t>Acne and feelings of sadness or depression are among the health concerns adolescents report.</a:t>
            </a:r>
          </a:p>
          <a:p>
            <a:r>
              <a:t>This guide covers the detection and referral signals for eating disorders; diagnosis and treatment</a:t>
            </a:r>
          </a:p>
          <a:p>
            <a:r>
              <a:t>follow specialist protocols.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full breast-and-pubic-hair staging tables are not reproduced here; consult your course's printed</a:t>
            </a:r>
          </a:p>
          <a:p>
            <a:r>
              <a:t>staging charts for the complete figures while practising the examination.</a:t>
            </a:r>
          </a:p>
          <a:p>
            <a:r>
              <a:t>8.4 Nutrition in Adolescence</a:t>
            </a:r>
          </a:p>
          <a:p>
            <a:r>
              <a:t>Point</a:t>
            </a:r>
          </a:p>
          <a:p>
            <a:r>
              <a:t>Practice implication</a:t>
            </a:r>
          </a:p>
          <a:p>
            <a:r>
              <a:t>Puberty can double nutritional requirements for iron,</a:t>
            </a:r>
          </a:p>
          <a:p>
            <a:r>
              <a:t>calcium, zinc, and protein</a:t>
            </a:r>
          </a:p>
          <a:p>
            <a:r>
              <a:t>Assess intake at every visit; high-need foods</a:t>
            </a:r>
          </a:p>
          <a:p>
            <a:r>
              <a:t>first (dairy, protein, whole grains, fruits,</a:t>
            </a:r>
          </a:p>
          <a:p>
            <a:r>
              <a:t>vegetables)</a:t>
            </a:r>
          </a:p>
          <a:p>
            <a:r>
              <a:t>Girls are particularly susceptible to iron deficiency at</a:t>
            </a:r>
          </a:p>
          <a:p>
            <a:r>
              <a:t>menarche</a:t>
            </a:r>
          </a:p>
          <a:p>
            <a:r>
              <a:t>Screen dietary iron; anemia signs; encourage</a:t>
            </a:r>
          </a:p>
          <a:p>
            <a:r>
              <a:t>iron-rich foods with vitamin C</a:t>
            </a:r>
          </a:p>
          <a:p>
            <a:r>
              <a:t>Maximum bone mass is acquired during adolescence;</a:t>
            </a:r>
          </a:p>
          <a:p>
            <a:r>
              <a:t>calcium deposited now determines later osteoporosis risk</a:t>
            </a:r>
          </a:p>
          <a:p>
            <a:r>
              <a:t>Encourage calcium-rich intake; discourage</a:t>
            </a:r>
          </a:p>
          <a:p>
            <a:r>
              <a:t>dietary substitutes that displace dairy</a:t>
            </a:r>
          </a:p>
          <a:p>
            <a:r>
              <a:t>Common pattern: excess calories, sugar, fat, cholesterol,</a:t>
            </a:r>
          </a:p>
          <a:p>
            <a:r>
              <a:t>sodium; inadequate folic acid, vitamin B6, vitamin A, iron,</a:t>
            </a:r>
          </a:p>
          <a:p>
            <a:r>
              <a:t>calcium, zinc — especially girls and low-SES teens</a:t>
            </a:r>
          </a:p>
          <a:p>
            <a:r>
              <a:t>Teach balanced food choices (as in the school-</a:t>
            </a:r>
          </a:p>
          <a:p>
            <a:r>
              <a:t>age nutrition section); watch fast-food and soft-</a:t>
            </a:r>
          </a:p>
          <a:p>
            <a:r>
              <a:t>drink displacement</a:t>
            </a:r>
          </a:p>
          <a:p>
            <a:r>
              <a:t>Weight-conscious behavior and overweight have</a:t>
            </a:r>
          </a:p>
          <a:p>
            <a:r>
              <a:t>increased among adolescents</a:t>
            </a:r>
          </a:p>
          <a:p>
            <a:r>
              <a:t>Plot growth on CDC charts; discuss weight</a:t>
            </a:r>
          </a:p>
          <a:p>
            <a:r>
              <a:t>status without body shaming</a:t>
            </a:r>
          </a:p>
          <a:p>
            <a:r>
              <a:t>8.5 Body Image &amp; Eating Disorders</a:t>
            </a:r>
          </a:p>
          <a:p>
            <a:r>
              <a:t>Body image is important for adolescent girls; a common behaviour is extensive dieting at a time</a:t>
            </a:r>
          </a:p>
          <a:p>
            <a:r>
              <a:t>when physical changes are occurring, and a focus on slimness and dieting may trigger the</a:t>
            </a:r>
          </a:p>
          <a:p>
            <a:r>
              <a:t>development of eating disorders.</a:t>
            </a:r>
          </a:p>
          <a:p>
            <a:r>
              <a:t>Anorexia nervosa and bulimia nervosa occur among adolescents; screen with non-judgmental</a:t>
            </a:r>
          </a:p>
          <a:p>
            <a:r>
              <a:t>questions about meal patterns, dieting behaviour, and weight concerns.</a:t>
            </a:r>
          </a:p>
          <a:p>
            <a:r>
              <a:t>Body image and gender-role definition are nearly secured by late adolescence; identity consolidates.</a:t>
            </a:r>
          </a:p>
          <a:p>
            <a:r>
              <a:t>Acne and feelings of sadness or depression are among the health concerns adolescents report.</a:t>
            </a:r>
          </a:p>
          <a:p>
            <a:r>
              <a:t>This guide covers the detection and referral signals for eating disorders; diagnosis and treatment</a:t>
            </a:r>
          </a:p>
          <a:p>
            <a:r>
              <a:t>follow specialist protocols.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8.6 Injury Prevention &amp; Safety</a:t>
            </a:r>
          </a:p>
          <a:p>
            <a:r>
              <a:t>Injuries kill more U.S. adolescents than any other single cause; unintentional injury accounted for</a:t>
            </a:r>
          </a:p>
          <a:p>
            <a:r>
              <a:t>48% of deaths among 12-19-year-olds (1996-2005), and its share rose with age.</a:t>
            </a:r>
          </a:p>
          <a:p>
            <a:r>
              <a:t>Motor-vehicle crashes are the single greatest source of unintentional injury and death in young</a:t>
            </a:r>
          </a:p>
          <a:p>
            <a:r>
              <a:t>people; contributory factors: lacking driving experience and maturity, following too closely, speeding,</a:t>
            </a:r>
          </a:p>
          <a:p>
            <a:r>
              <a:t>other teen passengers in the car, alcohol use.</a:t>
            </a:r>
          </a:p>
          <a:p>
            <a:r>
              <a:t>Homicide is the second leading cause of death among all U.S. adolescents and the most likely cause</a:t>
            </a:r>
          </a:p>
          <a:p>
            <a:r>
              <a:t>for African-American teenagers; in 2007, 82% of homicides among 13-19-year-olds were firearm-</a:t>
            </a:r>
          </a:p>
          <a:p>
            <a:r>
              <a:t>related.</a:t>
            </a:r>
          </a:p>
          <a:p>
            <a:r>
              <a:t>In 2011, 5.1% of adolescents nationwide reported carrying a weapon on one or more days in the past</a:t>
            </a:r>
          </a:p>
          <a:p>
            <a:r>
              <a:t>month (down from 27% in 1991); teens targeted for repeated teasing/harassment are more likely to</a:t>
            </a:r>
          </a:p>
          <a:p>
            <a:r>
              <a:t>skip school, report depression symptoms, attempt suicide, and bring weapons to school.</a:t>
            </a:r>
          </a:p>
          <a:p>
            <a:r>
              <a:t>Sports: participation physical examinations at least every 2 years; teach and model helmet use for</a:t>
            </a:r>
          </a:p>
          <a:p>
            <a:r>
              <a:t>cycling, skating, and helmeted sports (a helmet reduces head injury ~45% and brain injury ~33%).</a:t>
            </a:r>
          </a:p>
          <a:p>
            <a:r>
              <a:t>Cover injury-prevention counseling at every visit per the Bright Futures "violence and injury</a:t>
            </a:r>
          </a:p>
          <a:p>
            <a:r>
              <a:t>prevention" item.</a:t>
            </a:r>
          </a:p>
          <a:p>
            <a:r>
              <a:t>8.7 Adolescent Immunizations &amp; Special Screens</a:t>
            </a:r>
          </a:p>
          <a:p>
            <a:r>
              <a:t>Vaccine / screen</a:t>
            </a:r>
          </a:p>
          <a:p>
            <a:r>
              <a:t>Recommendation</a:t>
            </a:r>
          </a:p>
          <a:p>
            <a:r>
              <a:t>Meningococcal</a:t>
            </a:r>
          </a:p>
          <a:p>
            <a:r>
              <a:t>(MenACWY)</a:t>
            </a:r>
          </a:p>
          <a:p>
            <a:r>
              <a:t>Adolescents 11-12 years with a booster dose before age 16; if not previously</a:t>
            </a:r>
          </a:p>
          <a:p>
            <a:r>
              <a:t>vaccinated, one dose between 13 and 18 years</a:t>
            </a:r>
          </a:p>
          <a:p>
            <a:r>
              <a:t>HPV</a:t>
            </a:r>
          </a:p>
          <a:p>
            <a:r>
              <a:t>9-valent vaccine (Gardasil 9) for girls and boys; routine at 11-12 years with a</a:t>
            </a:r>
          </a:p>
          <a:p>
            <a:r>
              <a:t>minimum age of 9; two doses if the series starts at 9-14 years, three doses if it starts</a:t>
            </a:r>
          </a:p>
          <a:p>
            <a:r>
              <a:t>at 15 years or later or in immunocompromised persons</a:t>
            </a:r>
          </a:p>
          <a:p>
            <a:r>
              <a:t>Hepatitis B</a:t>
            </a:r>
          </a:p>
          <a:p>
            <a:r>
              <a:t>Catch-up for any adolescent who has not received three doses</a:t>
            </a:r>
          </a:p>
          <a:p>
            <a:r>
              <a:t>Hepatitis A</a:t>
            </a:r>
          </a:p>
          <a:p>
            <a:r>
              <a:t>Targeted — adolescents living where programs target older children, at increased</a:t>
            </a:r>
          </a:p>
          <a:p>
            <a:r>
              <a:t>risk, or when immunity is desired</a:t>
            </a:r>
          </a:p>
          <a:p>
            <a:r>
              <a:t>Influenza</a:t>
            </a:r>
          </a:p>
          <a:p>
            <a:r>
              <a:t>Annual vaccination (live attenuated or inactivated) for all children and adolescents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8.6 Injury Prevention &amp; Safety</a:t>
            </a:r>
          </a:p>
          <a:p>
            <a:r>
              <a:t>Injuries kill more U.S. adolescents than any other single cause; unintentional injury accounted for</a:t>
            </a:r>
          </a:p>
          <a:p>
            <a:r>
              <a:t>48% of deaths among 12-19-year-olds (1996-2005), and its share rose with age.</a:t>
            </a:r>
          </a:p>
          <a:p>
            <a:r>
              <a:t>Motor-vehicle crashes are the single greatest source of unintentional injury and death in young</a:t>
            </a:r>
          </a:p>
          <a:p>
            <a:r>
              <a:t>people; contributory factors: lacking driving experience and maturity, following too closely, speeding,</a:t>
            </a:r>
          </a:p>
          <a:p>
            <a:r>
              <a:t>other teen passengers in the car, alcohol use.</a:t>
            </a:r>
          </a:p>
          <a:p>
            <a:r>
              <a:t>Homicide is the second leading cause of death among all U.S. adolescents and the most likely cause</a:t>
            </a:r>
          </a:p>
          <a:p>
            <a:r>
              <a:t>for African-American teenagers; in 2007, 82% of homicides among 13-19-year-olds were firearm-</a:t>
            </a:r>
          </a:p>
          <a:p>
            <a:r>
              <a:t>related.</a:t>
            </a:r>
          </a:p>
          <a:p>
            <a:r>
              <a:t>In 2011, 5.1% of adolescents nationwide reported carrying a weapon on one or more days in the past</a:t>
            </a:r>
          </a:p>
          <a:p>
            <a:r>
              <a:t>month (down from 27% in 1991); teens targeted for repeated teasing/harassment are more likely to</a:t>
            </a:r>
          </a:p>
          <a:p>
            <a:r>
              <a:t>skip school, report depression symptoms, attempt suicide, and bring weapons to school.</a:t>
            </a:r>
          </a:p>
          <a:p>
            <a:r>
              <a:t>Sports: participation physical examinations at least every 2 years; teach and model helmet use for</a:t>
            </a:r>
          </a:p>
          <a:p>
            <a:r>
              <a:t>cycling, skating, and helmeted sports (a helmet reduces head injury ~45% and brain injury ~33%).</a:t>
            </a:r>
          </a:p>
          <a:p>
            <a:r>
              <a:t>Cover injury-prevention counseling at every visit per the Bright Futures "violence and injury</a:t>
            </a:r>
          </a:p>
          <a:p>
            <a:r>
              <a:t>prevention" item.</a:t>
            </a:r>
          </a:p>
          <a:p>
            <a:r>
              <a:t>8.7 Adolescent Immunizations &amp; Special Screens</a:t>
            </a:r>
          </a:p>
          <a:p>
            <a:r>
              <a:t>Vaccine / screen</a:t>
            </a:r>
          </a:p>
          <a:p>
            <a:r>
              <a:t>Recommendation</a:t>
            </a:r>
          </a:p>
          <a:p>
            <a:r>
              <a:t>Meningococcal</a:t>
            </a:r>
          </a:p>
          <a:p>
            <a:r>
              <a:t>(MenACWY)</a:t>
            </a:r>
          </a:p>
          <a:p>
            <a:r>
              <a:t>Adolescents 11-12 years with a booster dose before age 16; if not previously</a:t>
            </a:r>
          </a:p>
          <a:p>
            <a:r>
              <a:t>vaccinated, one dose between 13 and 18 years</a:t>
            </a:r>
          </a:p>
          <a:p>
            <a:r>
              <a:t>HPV</a:t>
            </a:r>
          </a:p>
          <a:p>
            <a:r>
              <a:t>9-valent vaccine (Gardasil 9) for girls and boys; routine at 11-12 years with a</a:t>
            </a:r>
          </a:p>
          <a:p>
            <a:r>
              <a:t>minimum age of 9; two doses if the series starts at 9-14 years, three doses if it starts</a:t>
            </a:r>
          </a:p>
          <a:p>
            <a:r>
              <a:t>at 15 years or later or in immunocompromised persons</a:t>
            </a:r>
          </a:p>
          <a:p>
            <a:r>
              <a:t>Hepatitis B</a:t>
            </a:r>
          </a:p>
          <a:p>
            <a:r>
              <a:t>Catch-up for any adolescent who has not received three doses</a:t>
            </a:r>
          </a:p>
          <a:p>
            <a:r>
              <a:t>Hepatitis A</a:t>
            </a:r>
          </a:p>
          <a:p>
            <a:r>
              <a:t>Targeted — adolescents living where programs target older children, at increased</a:t>
            </a:r>
          </a:p>
          <a:p>
            <a:r>
              <a:t>risk, or when immunity is desired</a:t>
            </a:r>
          </a:p>
          <a:p>
            <a:r>
              <a:t>Influenza</a:t>
            </a:r>
          </a:p>
          <a:p>
            <a:r>
              <a:t>Annual vaccination (live attenuated or inactivated) for all children and adolescents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Varicella</a:t>
            </a:r>
          </a:p>
          <a:p>
            <a:r>
              <a:t>Assess history; vaccinate those with no previous infection/history — two doses ≥4</a:t>
            </a:r>
          </a:p>
          <a:p>
            <a:r>
              <a:t>weeks apart for adolescents 13 years or older</a:t>
            </a:r>
          </a:p>
          <a:p>
            <a:r>
              <a:t>Tuberculin skin test</a:t>
            </a:r>
          </a:p>
          <a:p>
            <a:r>
              <a:t>If exposed to active TB, lived in a homeless shelter, incarcerated, from/came from a</a:t>
            </a:r>
          </a:p>
          <a:p>
            <a:r>
              <a:t>high-prevalence TB area, or currently work in a health care setting</a:t>
            </a:r>
          </a:p>
          <a:p>
            <a:r>
              <a:t>Blood pressure</a:t>
            </a:r>
          </a:p>
          <a:p>
            <a:r>
              <a:t>BP rises from the onset of adolescence until the end of pubertal growth, especially in</a:t>
            </a:r>
          </a:p>
          <a:p>
            <a:r>
              <a:t>males; ~1% of adolescents have sustained hypertension — measure annually and use</a:t>
            </a:r>
          </a:p>
          <a:p>
            <a:r>
              <a:t>the appropriate-size cuff</a:t>
            </a:r>
          </a:p>
          <a:p>
            <a:r>
              <a:t>The adolescent schedule changes from time to time — verify the ages above against the current</a:t>
            </a:r>
          </a:p>
          <a:p>
            <a:r>
              <a:t>official printed schedule when you chart. The scoliosis and vision/hearing methods from Chapters 4</a:t>
            </a:r>
          </a:p>
          <a:p>
            <a:r>
              <a:t>and 7 continue to apply in the adolescent clinic.</a:t>
            </a:r>
          </a:p>
          <a:p>
            <a:r>
              <a:t>8.8 Psychosocial Assessment &amp; Health Education</a:t>
            </a:r>
          </a:p>
          <a:p>
            <a:r>
              <a:t>INTERVIEW DOMAINS</a:t>
            </a:r>
          </a:p>
          <a:p>
            <a:r>
              <a:t>School: recent grades, absences, suspensions, repeated grades; school-related strengths and</a:t>
            </a:r>
          </a:p>
          <a:p>
            <a:r>
              <a:t>deficits; involvement in activities.</a:t>
            </a:r>
          </a:p>
          <a:p>
            <a:r>
              <a:t>Peers: quality of peer relationships — may identify socially isolated teens.</a:t>
            </a:r>
          </a:p>
          <a:p>
            <a:r>
              <a:t>Future plans: education/employment and career choices — a window into sources of stress.</a:t>
            </a:r>
          </a:p>
          <a:p>
            <a:r>
              <a:t>Strengths: teach coping-with-stress skills and involvement in personally meaningful activities to</a:t>
            </a:r>
          </a:p>
          <a:p>
            <a:r>
              <a:t>support emotional health.</a:t>
            </a:r>
          </a:p>
          <a:p>
            <a:r>
              <a:t>Emotional well-being: sadness, depression, suicidal ideation; adolescents whose personal fable</a:t>
            </a:r>
          </a:p>
          <a:p>
            <a:r>
              <a:t>stresses their uniqueness are at higher risk for depression and suicidal ideation, while a strong sense</a:t>
            </a:r>
          </a:p>
          <a:p>
            <a:r>
              <a:t>of invulnerability predicts risky behaviour.</a:t>
            </a:r>
          </a:p>
          <a:p>
            <a:r>
              <a:t>Risk behaviours: below-average grades correlate with tobacco/alcohol use, unprotected</a:t>
            </a:r>
          </a:p>
          <a:p>
            <a:r>
              <a:t>intercourse, and suicide attempts; violence and harassment on the basis of race, gender, or sexual</a:t>
            </a:r>
          </a:p>
          <a:p>
            <a:r>
              <a:t>orientation affect more than half of students.</a:t>
            </a:r>
          </a:p>
          <a:p>
            <a:r>
              <a:t>These domains are commonly memorised with the HEEADSSS mnemonic used in adolescent teaching</a:t>
            </a:r>
          </a:p>
          <a:p>
            <a:r>
              <a:t>materials — Home, Education, Eating, Activities, Drugs, Sexuality, Suicide-depression, Safety — and every</a:t>
            </a:r>
          </a:p>
          <a:p>
            <a:r>
              <a:t>question it prompts maps to the content here.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Varicella</a:t>
            </a:r>
          </a:p>
          <a:p>
            <a:r>
              <a:t>Assess history; vaccinate those with no previous infection/history — two doses ≥4</a:t>
            </a:r>
          </a:p>
          <a:p>
            <a:r>
              <a:t>weeks apart for adolescents 13 years or older</a:t>
            </a:r>
          </a:p>
          <a:p>
            <a:r>
              <a:t>Tuberculin skin test</a:t>
            </a:r>
          </a:p>
          <a:p>
            <a:r>
              <a:t>If exposed to active TB, lived in a homeless shelter, incarcerated, from/came from a</a:t>
            </a:r>
          </a:p>
          <a:p>
            <a:r>
              <a:t>high-prevalence TB area, or currently work in a health care setting</a:t>
            </a:r>
          </a:p>
          <a:p>
            <a:r>
              <a:t>Blood pressure</a:t>
            </a:r>
          </a:p>
          <a:p>
            <a:r>
              <a:t>BP rises from the onset of adolescence until the end of pubertal growth, especially in</a:t>
            </a:r>
          </a:p>
          <a:p>
            <a:r>
              <a:t>males; ~1% of adolescents have sustained hypertension — measure annually and use</a:t>
            </a:r>
          </a:p>
          <a:p>
            <a:r>
              <a:t>the appropriate-size cuff</a:t>
            </a:r>
          </a:p>
          <a:p>
            <a:r>
              <a:t>The adolescent schedule changes from time to time — verify the ages above against the current</a:t>
            </a:r>
          </a:p>
          <a:p>
            <a:r>
              <a:t>official printed schedule when you chart. The scoliosis and vision/hearing methods from Chapters 4</a:t>
            </a:r>
          </a:p>
          <a:p>
            <a:r>
              <a:t>and 7 continue to apply in the adolescent clinic.</a:t>
            </a:r>
          </a:p>
          <a:p>
            <a:r>
              <a:t>8.8 Psychosocial Assessment &amp; Health Education</a:t>
            </a:r>
          </a:p>
          <a:p>
            <a:r>
              <a:t>INTERVIEW DOMAINS</a:t>
            </a:r>
          </a:p>
          <a:p>
            <a:r>
              <a:t>School: recent grades, absences, suspensions, repeated grades; school-related strengths and</a:t>
            </a:r>
          </a:p>
          <a:p>
            <a:r>
              <a:t>deficits; involvement in activities.</a:t>
            </a:r>
          </a:p>
          <a:p>
            <a:r>
              <a:t>Peers: quality of peer relationships — may identify socially isolated teens.</a:t>
            </a:r>
          </a:p>
          <a:p>
            <a:r>
              <a:t>Future plans: education/employment and career choices — a window into sources of stress.</a:t>
            </a:r>
          </a:p>
          <a:p>
            <a:r>
              <a:t>Strengths: teach coping-with-stress skills and involvement in personally meaningful activities to</a:t>
            </a:r>
          </a:p>
          <a:p>
            <a:r>
              <a:t>support emotional health.</a:t>
            </a:r>
          </a:p>
          <a:p>
            <a:r>
              <a:t>Emotional well-being: sadness, depression, suicidal ideation; adolescents whose personal fable</a:t>
            </a:r>
          </a:p>
          <a:p>
            <a:r>
              <a:t>stresses their uniqueness are at higher risk for depression and suicidal ideation, while a strong sense</a:t>
            </a:r>
          </a:p>
          <a:p>
            <a:r>
              <a:t>of invulnerability predicts risky behaviour.</a:t>
            </a:r>
          </a:p>
          <a:p>
            <a:r>
              <a:t>Risk behaviours: below-average grades correlate with tobacco/alcohol use, unprotected</a:t>
            </a:r>
          </a:p>
          <a:p>
            <a:r>
              <a:t>intercourse, and suicide attempts; violence and harassment on the basis of race, gender, or sexual</a:t>
            </a:r>
          </a:p>
          <a:p>
            <a:r>
              <a:t>orientation affect more than half of students.</a:t>
            </a:r>
          </a:p>
          <a:p>
            <a:r>
              <a:t>These domains are commonly memorised with the HEEADSSS mnemonic used in adolescent teaching</a:t>
            </a:r>
          </a:p>
          <a:p>
            <a:r>
              <a:t>materials — Home, Education, Eating, Activities, Drugs, Sexuality, Suicide-depression, Safety — and every</a:t>
            </a:r>
          </a:p>
          <a:p>
            <a:r>
              <a:t>question it prompts maps to the content here.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8 Learning Check</a:t>
            </a:r>
          </a:p>
          <a:p>
            <a:r>
              <a:t>Self-assessment questions (answer in your notebook, then open)</a:t>
            </a:r>
          </a:p>
          <a:p>
            <a:r>
              <a:t>End of Chapter 8.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slide. Content reproduced verbatim from Chapter 8 — Adolescent Assessment.pdf.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85455" y="4023360"/>
            <a:ext cx="4206240" cy="2834640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3200400" cy="310896"/>
          </a:xfrm>
          <a:prstGeom prst="rect">
            <a:avLst/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1307592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 i="0">
                <a:solidFill>
                  <a:srgbClr val="0E6B57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996055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14171C"/>
                </a:solidFill>
                <a:latin typeface="Georgia"/>
              </a:rPr>
              <a:t>Adolescent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27248"/>
            <a:ext cx="99605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7A8291"/>
                </a:solidFill>
                <a:latin typeface="Georgia"/>
              </a:rPr>
              <a:t>تقييم المراهق (Adolescent Assessment)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703320"/>
            <a:ext cx="1463040" cy="32004"/>
          </a:xfrm>
          <a:prstGeom prst="rect">
            <a:avLst/>
          </a:prstGeom>
          <a:solidFill>
            <a:srgbClr val="0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3931920"/>
            <a:ext cx="7863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3E4654"/>
                </a:solidFill>
                <a:latin typeface="Calibri"/>
              </a:rPr>
              <a:t>Human Growth and Development  ·  Practical Lectures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7A8291"/>
                </a:solidFill>
                <a:latin typeface="Calibri"/>
              </a:rPr>
              <a:t>Source document: Chapter 8 — Adolescent Assessment.pdf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7A8291"/>
                </a:solidFill>
                <a:latin typeface="Calibri"/>
              </a:rPr>
              <a:t>7 pages  ·  Nursing Lectures  ·  Level 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Chapter Overview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Adolescent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10874959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1" i="0">
                <a:solidFill>
                  <a:srgbClr val="0E6B57"/>
                </a:solidFill>
                <a:latin typeface="Calibri"/>
              </a:rPr>
              <a:t>Scope of this chapter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350" b="0" i="0">
                <a:solidFill>
                  <a:srgbClr val="3E4654"/>
                </a:solidFill>
                <a:latin typeface="Calibri"/>
              </a:rPr>
              <a:t>Health promotion of the adolescent and family: growth during puberty, sexual maturation, nutrition needs, body image and eating disorders, injury prevention, immunization and special screens, and psychosocial assessment.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1" i="0">
                <a:solidFill>
                  <a:srgbClr val="0E6B57"/>
                </a:solidFill>
                <a:latin typeface="Calibri"/>
              </a:rPr>
              <a:t>Learning outcomes — the document's own sections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8.1 Site Profile — Adolescent Health Supervision   (p. 1)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8.2 Physical Growth During Puberty   (p. 2)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8.3 Sexual Maturation — Tanner Staging   (p. 3)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8.4 Nutrition in Adolescence   (p. 4)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8.5 Body Image &amp; Eating Disorders   (p. 4)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8.6 Injury Prevention &amp; Safety   (p. 5)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8.7 Adolescent Immunizations &amp; Special Screens   (p. 5)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8.8 Psychosocial Assessment &amp; Health Education   (p. 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Adolescent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10874959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8.1   8.1 Site Profile — Adolescent Health Supervision   —  p. 1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8.2   8.2 Physical Growth During Puberty   —  p. 2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8.3   8.3 Sexual Maturation — Tanner Staging   —  p. 3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8.4   8.4 Nutrition in Adolescence   —  p. 4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8.5   8.5 Body Image &amp; Eating Disorders   —  p. 4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8.6   8.6 Injury Prevention &amp; Safety   —  p. 5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8.7   8.7 Adolescent Immunizations &amp; Special Screens   —  p. 5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8.8   8.8 Psychosocial Assessment &amp; Health Education   —  p.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8.1 Site Profile — Adolescent Health Supervision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 of 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Adolescent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3E4654"/>
                </a:solidFill>
                <a:latin typeface="Calibri"/>
              </a:rPr>
              <a:t>ROTATION: ADOLESCENT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764411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Chapter 8 — Adolescent Assessment (12-20 years)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27961"/>
            <a:ext cx="10948111" cy="746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21" b="0" i="0">
                <a:solidFill>
                  <a:srgbClr val="3E4654"/>
                </a:solidFill>
                <a:latin typeface="Calibri"/>
              </a:rPr>
              <a:t>Health promotion of the adolescent and family: growth during puberty, sexual maturation,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21" b="0" i="0">
                <a:solidFill>
                  <a:srgbClr val="3E4654"/>
                </a:solidFill>
                <a:latin typeface="Calibri"/>
              </a:rPr>
              <a:t>nutrition needs, body image and eating disorders, injury prevention, immunization and special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21" b="0" i="0">
                <a:solidFill>
                  <a:srgbClr val="3E4654"/>
                </a:solidFill>
                <a:latin typeface="Calibri"/>
              </a:rPr>
              <a:t>screens, and psychosocial assessment.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065429"/>
            <a:ext cx="10948111" cy="2689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75" b="0" i="0">
                <a:solidFill>
                  <a:srgbClr val="3E4654"/>
                </a:solidFill>
                <a:latin typeface="Calibri"/>
              </a:rPr>
              <a:t>Age range: 12 – 20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425825"/>
            <a:ext cx="10948111" cy="15337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The AAP, American Academy of Family Physicians, American Medical Association, and the U.S.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Preventive Services Task Force publish similar guidelines for health supervision of adolescents;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services must meet physical and emotional needs and are best delivered by providers trained 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adolescent care.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051018"/>
            <a:ext cx="10948111" cy="294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32" b="1" i="0">
                <a:solidFill>
                  <a:srgbClr val="3E4654"/>
                </a:solidFill>
                <a:latin typeface="Calibri"/>
              </a:rPr>
              <a:t>BRIGHT FUTURES — ISSUES TO ADDRESS AT EVERY ADOLESCENT HEALTH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8.1 Site Profile — Adolescent Health Supervision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 of 7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Adolescent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64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Physical growth and development — physical and dental health, body image, healthy nutrition,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physical activity.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Social and academic competence — relationships with peers and family, school performance,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interpersonal relationships.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Emotional well-being — mental health and sexuality.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Risk reduction — tobacco, alcohol, other drugs, pregnancy, sexually transmitted infections.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Violence and injury prevention.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144316"/>
            <a:ext cx="10948111" cy="300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64" b="1" i="0">
                <a:solidFill>
                  <a:srgbClr val="0E6B57"/>
                </a:solidFill>
                <a:latin typeface="Calibri"/>
              </a:rPr>
              <a:t>CONFIDENTIALITY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536048"/>
            <a:ext cx="10948111" cy="1200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The availability of confidential services is particularly important for adolescents; most states have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provisions for confidential care, and laws vary by state. Establish the age-related policy for your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clinical setting before the interview and explain it to the adolescent and family.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8.2 Physical Growth During Puberty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 of 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Adolescent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563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The final 20% to 25% of linear growth is achieved during puberty, and up to 50% of ideal adult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body weight is gained during this time.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Girls begin puberty and reach maturity about 1½ to 2 years earlier than boys; the pubertal growth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spurt begins as early as 9½ or as late as 14½ years in girls, and as early as 10½ and as late as 16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years in boys.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The growth spurt reaches its peak at about 12 years in girls and about 14 years in boys.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Peak height velocity (PHV) occurs at about 12 years of age in girls, around 6 to 12 months before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menarche; PHV is used as a predictor of menarche, and height at menarche predicts ultimate adult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height. Few girls grow more than 5 cm (2 inches) after menarche; growth in girls' height usually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ceases 2 to 2½ years after menarche.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Boys typically reach PHV at about 14 years, after growth of the testicles and penis and appearance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axillary and mature pubic hair; growth in height ceases at 18 or 20 years.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Peak weight velocity occurs about 6 months after PHV in girls (and about 6 months after menarche);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in boys the weight and height spurts occur simultaneously.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Leg-length increase precedes trunk growth by about 6 to 9 months and shoulders/chest by about 1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year: "outgrow shoes first, then pants, then shirts".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Body composition: girls' fat mass increases markedly in early puberty and continues to increase after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menarche; boys have a peak deceleration in fat-mass accumulation at the growth spurt, with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significantly higher lean body mass overall.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On average, girls gain 5-20 cm (2-8 inches) in height and 7-25 kg (15.5-55 lb) in weight during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adolescence. In the U.S., onset of Tanner stage 2 genital development in boys (mean): non-Hispanic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white 10.14 yr, African-American 9.14 yr, Hispanic 10.04 yr.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8.2 Physical Growth During Puberty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 of 7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Adolescent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610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1">
                <a:solidFill>
                  <a:srgbClr val="7A8291"/>
                </a:solidFill>
                <a:latin typeface="Calibri"/>
              </a:rPr>
              <a:t>Figure 8.1 places the pubertal events described above on a single timeline: peak height velocity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1">
                <a:solidFill>
                  <a:srgbClr val="7A8291"/>
                </a:solidFill>
                <a:latin typeface="Calibri"/>
              </a:rPr>
              <a:t>at about 12 years in girls and 14 years in boys, the menarche band, and the growth-spurt details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1">
                <a:solidFill>
                  <a:srgbClr val="7A8291"/>
                </a:solidFill>
                <a:latin typeface="Calibri"/>
              </a:rPr>
              <a:t>for each sex.</a:t>
            </a:r>
          </a:p>
        </p:txBody>
      </p:sp>
      <p:pic>
        <p:nvPicPr>
          <p:cNvPr id="11" name="Picture 10" descr="p0001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160651"/>
            <a:ext cx="10692079" cy="5292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8.3 Sexual Maturation — Tanner Staging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 of 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Adolescent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7</a:t>
            </a:r>
          </a:p>
        </p:txBody>
      </p:sp>
      <p:pic>
        <p:nvPicPr>
          <p:cNvPr id="10" name="Picture 9" descr="p0002_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903" y="1408176"/>
            <a:ext cx="4989888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4306824"/>
            <a:ext cx="10948111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1">
                <a:solidFill>
                  <a:srgbClr val="7A8291"/>
                </a:solidFill>
                <a:latin typeface="Calibri"/>
              </a:rPr>
              <a:t>Figure 8.1 Timeline of the pubertal growth spurt in girls and boys.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8.3 Sexual Maturation — Tanner Staging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 of 7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Adolescent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641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Tanner stages describe pubertal development in numbered stages; in females they describe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development based on breast size and the shape and distribution of pubic hair, in males 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genital development and pubic hair; stage 1 = prepubertal, stage 5 = adult.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Example entries (boys): Stage 1 (prepubertal): no pubic hair — essentially the same as during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childhood, no distinction between hair on the pubis and over the abdomen. Stage 4: increased size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the penis with growth in diameter and development of the glans; glans larger and broader; scrotum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darker; pubic hair more abundant with curling.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Fertility: from a clinical perspective an adolescent should be considered potentially fertile with a first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menstrual period or a first ejaculation; viable sperm production tends to follow the first ejaculation by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about 1 year.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Boys do not experience a discrete event analogous to menstruation; the capacity to ejaculate appears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approximately 1 year after initial testicular enlargement and the appearance of pubic hair.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8.4 Nutrition in Adolescence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 of 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Adolescent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7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The full breast-and-pubic-hair staging tables are not reproduced here; consult your course's printed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staging charts for the complete figures while practising the examination.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2256739"/>
          <a:ext cx="11057839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Point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Practice implication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Puberty can double nutritional requirements for iron, calcium, zinc, and protein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Assess intake at every visit; high-need foods first (dairy, protein, whole grains, fruits, vegetables)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Girls are particularly susceptible to iron deficiency at Screen dietary iron; anemia signs; encourage menarche iron-rich foods with vitamin C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Maximum bone mass is acquired during adolescence; calcium deposited now determines later osteoporosis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Encourage calcium-rich intake; discourage dietary substitutes that displace dairy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Common pattern: excess calories, sugar, fat, cholesterol, Teach balanced food choices (as in the school- sodium; inadequate folic acid, vitamin B6, vitamin A, iron, age nutrition section); watch fast-food and soft- calcium, zinc — especially girls and low-SES teens drink displacement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4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Weight-conscious behavior and overweight have increased among adolescents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Plot growth on CDC charts; discuss weight status without body shaming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1792" y="3884371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8.5 Body Image &amp; Eating Disorders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8.4 Nutrition in Adolescence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 of 7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Adolescent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310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Body image is important for adolescent girls; a common behaviour is extensive dieting at a time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when physical changes are occurring, and a focus on slimness and dieting may trigger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development of eating disorders.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Anorexia nervosa and bulimia nervosa occur among adolescents; screen with non-judgmental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questions about meal patterns, dieting behaviour, and weight concerns.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Body image and gender-role definition are nearly secured by late adolescence; identity consolidates.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Acne and feelings of sadness or depression are among the health concerns adolescents report.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This guide covers the detection and referral signals for eating disorders; diagnosis and treatment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follow specialist protocols.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8.6 Injury Prevention &amp; Safety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 of 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Adolescent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863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Injuries kill more U.S. adolescents than any other single cause; unintentional injury accounted for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48% of deaths among 12-19-year-olds (1996-2005), and its share rose with age.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Motor-vehicle crashes are the single greatest source of unintentional injury and death in young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people; contributory factors: lacking driving experience and maturity, following too closely, speeding,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other teen passengers in the car, alcohol use.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Homicide is the second leading cause of death among all U.S. adolescents and the most likely cause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for African-American teenagers; in 2007, 82% of homicides among 13-19-year-olds were firearm-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related.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In 2011, 5.1% of adolescents nationwide reported carrying a weapon on one or more days in the past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month (down from 27% in 1991); teens targeted for repeated teasing/harassment are more likely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skip school, report depression symptoms, attempt suicide, and bring weapons to school.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Sports: participation physical examinations at least every 2 years; teach and model helmet use for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cycling, skating, and helmeted sports (a helmet reduces head injury ~45% and brain injury ~33%).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Cover injury-prevention counseling at every visit per the Bright Futures "violence and injury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prevention" item.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363260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8.7 Adolescent Immunizations &amp; Special Screens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8.6 Injury Prevention &amp; Safety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 of 7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Adolescent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408176"/>
          <a:ext cx="1105783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Vaccine / screen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Recommendation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Meningococcal (MenACWY)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Adolescents 11-12 years with a booster dose before age 16; if not previously vaccinated, one dose between 13 and 18 years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HPV 9-valent vaccine (Gardasil 9) for girls and boys; routine at 11-12 years with a minimum age of 9; two doses if the series starts at 9-14 years, three doses if it starts at 15 years or later or in immunocompromised persons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Hepatitis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Catch-up for any adolescent who has not received three doses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Hepatitis A Targeted — adolescents living where programs target older children, at increased risk, or when immunity is desired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Influenza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Annual vaccination (live attenuated or inactivated) for all children and adolescents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8.8 Psychosocial Assessment &amp; Health Education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6 of 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Adolescent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408176"/>
          <a:ext cx="11057839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Varicella Assess history; vaccinate those with no previous infection/history — two doses ≥4 weeks apart for adolescents 13 years or older Tuberculin skin test If exposed to active TB, lived in a homeless shelter, incarcerated, from/came from a high-prevalence TB area, or currently work in a health care setting Blood pressure BP rises from the onset of adolescence until the end of pubertal growth, especially in males; ~1% of adolescents have sustained hypertension — measure annually and use the appropriate-size cuff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>The adolescent schedule changes from time to time — verify the ages above against the current official printed schedule when you chart. The scoliosis and vision/hearing methods from Chapters 4 and 7 continue to apply in the adolescent clinic.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2084832"/>
          <a:ext cx="11057839" cy="822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Varicella Assess history; vaccinate those with no previous infection/history — two doses ≥4 weeks apart for adolescents 13 years or older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Tuberculin skin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If exposed to active TB, lived in a homeless shelter, incarcerated, from/came from a high-prevalence TB area, or currently work in a health care setting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1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Blood pressure BP rises from the onset of adolescence until the end of pubertal growth, especially in males; ~1% of adolescents have sustained hypertension — measure annually and use the appropriate-size cuff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1792" y="2999232"/>
            <a:ext cx="10948111" cy="300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64" b="1" i="0">
                <a:solidFill>
                  <a:srgbClr val="0E6B57"/>
                </a:solidFill>
                <a:latin typeface="Calibri"/>
              </a:rPr>
              <a:t>INTERVIEW DOMAINS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8.8 Psychosocial Assessment &amp; Health Education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6 of 7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Adolescent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976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School: recent grades, absences, suspensions, repeated grades; school-related strengths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deficits; involvement in activities.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Peers: quality of peer relationships — may identify socially isolated teens.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Future plans: education/employment and career choices — a window into sources of stress.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Strengths: teach coping-with-stress skills and involvement in personally meaningful activities to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support emotional health.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Emotional well-being: sadness, depression, suicidal ideation; adolescents whose personal fable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stresses their uniqueness are at higher risk for depression and suicidal ideation, while a strong sense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of invulnerability predicts risky behaviour.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Risk behaviours: below-average grades correlate with tobacco/alcohol use, unprotected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intercourse, and suicide attempts; violence and harassment on the basis of race, gender, or sexual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orientation affect more than half of students.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475683"/>
            <a:ext cx="10948111" cy="9790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These domains are commonly memorised with the HEEADSSS mnemonic used in adolescent teaching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materials — Home, Education, Eating, Activities, Drugs, Sexuality, Suicide-depression, Safety — and every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question it prompts maps to the content here.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Adolescent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7 of 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Adolescent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Chapter 8 Learning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71726"/>
            <a:ext cx="10948111" cy="31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Self-assessment questions (answer in your notebook, then open)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76500"/>
            <a:ext cx="10948111" cy="2726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97" b="1" i="0">
                <a:solidFill>
                  <a:srgbClr val="3E4654"/>
                </a:solidFill>
                <a:latin typeface="Calibri"/>
              </a:rPr>
              <a:t>End of Chapter 8.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101434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 i="0">
                <a:solidFill>
                  <a:srgbClr val="14171C"/>
                </a:solidFill>
                <a:latin typeface="Georgia"/>
              </a:rPr>
              <a:t>Document Information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3E4654"/>
                </a:solidFill>
                <a:latin typeface="Calibri"/>
              </a:rPr>
              <a:t>Adolescent Assessment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7A8291"/>
                </a:solidFill>
                <a:latin typeface="Calibri"/>
              </a:rPr>
              <a:t>تقييم المراهق (Adolescent Assessment)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291840"/>
            <a:ext cx="5852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3E4654"/>
                </a:solidFill>
                <a:latin typeface="Calibri"/>
              </a:rPr>
              <a:t>Source file: Chapter 8 — Adolescent Assessment.pdf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3E4654"/>
                </a:solidFill>
                <a:latin typeface="Calibri"/>
              </a:rPr>
              <a:t>Pages in source: 7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3E4654"/>
                </a:solidFill>
                <a:latin typeface="Calibri"/>
              </a:rPr>
              <a:t>Slides in this deck: 17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3E4654"/>
                </a:solidFill>
                <a:latin typeface="Calibri"/>
              </a:rPr>
              <a:t>Course: Human Growth and Development — Practical Lectures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87007" y="416052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 i="0">
                <a:solidFill>
                  <a:srgbClr val="EAF6F1"/>
                </a:solidFill>
                <a:latin typeface="Calibri"/>
              </a:rPr>
              <a:t>Full readable text and the original file are available on the lecture platform: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https://moustafaali-prog.github.io/growth-development-lectures/lectures/practical/Chapter 8 — Adolescent Assessment.html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