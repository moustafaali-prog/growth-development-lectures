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Chapter 7 — School Health Rotation.pdf (5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Chapter 7 — School Health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headings exactly as numbered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SCHOOL HEALTH</a:t>
            </a:r>
          </a:p>
          <a:p>
            <a:r>
              <a:t>Chapter 7 — School Health Rotation</a:t>
            </a:r>
          </a:p>
          <a:p>
            <a:r>
              <a:t>Health services for the school-age child (6-12 years): the school nurse's roles, school entry</a:t>
            </a:r>
          </a:p>
          <a:p>
            <a:r>
              <a:t>appraisal, screening programs (vision, hearing, scoliosis, dental, weight status), immunization</a:t>
            </a:r>
          </a:p>
          <a:p>
            <a:r>
              <a:t>compliance, emergency care and first aid, in-school medication, and communicable-disease</a:t>
            </a:r>
          </a:p>
          <a:p>
            <a:r>
              <a:t>control.</a:t>
            </a:r>
          </a:p>
          <a:p>
            <a:r>
              <a:t>Age range: 6 – 12 years</a:t>
            </a:r>
          </a:p>
          <a:p>
            <a:r>
              <a:t>7.1 Site Profile — The School Health Program</a:t>
            </a:r>
          </a:p>
          <a:p>
            <a:r>
              <a:t>School nurses assume a major role in the school health program and can significantly affect the</a:t>
            </a:r>
          </a:p>
          <a:p>
            <a:r>
              <a:t>lives of school-age children. Working collaboratively with the school and community, they</a:t>
            </a:r>
          </a:p>
          <a:p>
            <a:r>
              <a:t>provide health supervision, health counseling, and health education.</a:t>
            </a:r>
          </a:p>
          <a:p>
            <a:r>
              <a:t>RESPONSIBILITIES OF THE SCHOOL NURSE</a:t>
            </a:r>
          </a:p>
          <a:p>
            <a:r>
              <a:t>Education and interventions for acute and chronic illness, safety, health promotion, nutrition,</a:t>
            </a:r>
          </a:p>
          <a:p>
            <a:r>
              <a:t>mental health, dental disease, and sexually transmitted infections.</a:t>
            </a:r>
          </a:p>
          <a:p>
            <a:r>
              <a:t>For some children, especially those in poverty, the school nurse may be the only contact with illness</a:t>
            </a:r>
          </a:p>
          <a:p>
            <a:r>
              <a:t>prevention and health promotion.</a:t>
            </a:r>
          </a:p>
          <a:p>
            <a:r>
              <a:t>For children with chronic conditions: leadership within the school health team, assessing health</a:t>
            </a:r>
          </a:p>
          <a:p>
            <a:r>
              <a:t>status, identifying barriers to learning, and developing an individualized health care plan.</a:t>
            </a:r>
          </a:p>
          <a:p>
            <a:r>
              <a:t>In school-based health centers, nurse practitioners provide primary care — treatment of acute</a:t>
            </a:r>
          </a:p>
          <a:p>
            <a:r>
              <a:t>illness, vision/hearing screening, sports participation examinations, nutrition counseling, and</a:t>
            </a:r>
          </a:p>
          <a:p>
            <a:r>
              <a:t>anticipatory guidance.</a:t>
            </a:r>
          </a:p>
          <a:p>
            <a:r>
              <a:t>Unlicensed assistive personnel (UAP) may be part of the team — state-certified paraprofessionals</a:t>
            </a:r>
          </a:p>
          <a:p>
            <a:r>
              <a:t>who assist a professional under supervision.</a:t>
            </a:r>
          </a:p>
          <a:p>
            <a:r>
              <a:t>Figure 7.1 shows the coordinated school health program and the core services that sit inside its</a:t>
            </a:r>
          </a:p>
          <a:p>
            <a:r>
              <a:t>health-services component — appraisal, emergency care, immunization compliance,</a:t>
            </a:r>
          </a:p>
          <a:p>
            <a:r>
              <a:t>communicable-disease control, and referral.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SCHOOL HEALTH</a:t>
            </a:r>
          </a:p>
          <a:p>
            <a:r>
              <a:t>Chapter 7 — School Health Rotation</a:t>
            </a:r>
          </a:p>
          <a:p>
            <a:r>
              <a:t>Health services for the school-age child (6-12 years): the school nurse's roles, school entry</a:t>
            </a:r>
          </a:p>
          <a:p>
            <a:r>
              <a:t>appraisal, screening programs (vision, hearing, scoliosis, dental, weight status), immunization</a:t>
            </a:r>
          </a:p>
          <a:p>
            <a:r>
              <a:t>compliance, emergency care and first aid, in-school medication, and communicable-disease</a:t>
            </a:r>
          </a:p>
          <a:p>
            <a:r>
              <a:t>control.</a:t>
            </a:r>
          </a:p>
          <a:p>
            <a:r>
              <a:t>Age range: 6 – 12 years</a:t>
            </a:r>
          </a:p>
          <a:p>
            <a:r>
              <a:t>7.1 Site Profile — The School Health Program</a:t>
            </a:r>
          </a:p>
          <a:p>
            <a:r>
              <a:t>School nurses assume a major role in the school health program and can significantly affect the</a:t>
            </a:r>
          </a:p>
          <a:p>
            <a:r>
              <a:t>lives of school-age children. Working collaboratively with the school and community, they</a:t>
            </a:r>
          </a:p>
          <a:p>
            <a:r>
              <a:t>provide health supervision, health counseling, and health education.</a:t>
            </a:r>
          </a:p>
          <a:p>
            <a:r>
              <a:t>RESPONSIBILITIES OF THE SCHOOL NURSE</a:t>
            </a:r>
          </a:p>
          <a:p>
            <a:r>
              <a:t>Education and interventions for acute and chronic illness, safety, health promotion, nutrition,</a:t>
            </a:r>
          </a:p>
          <a:p>
            <a:r>
              <a:t>mental health, dental disease, and sexually transmitted infections.</a:t>
            </a:r>
          </a:p>
          <a:p>
            <a:r>
              <a:t>For some children, especially those in poverty, the school nurse may be the only contact with illness</a:t>
            </a:r>
          </a:p>
          <a:p>
            <a:r>
              <a:t>prevention and health promotion.</a:t>
            </a:r>
          </a:p>
          <a:p>
            <a:r>
              <a:t>For children with chronic conditions: leadership within the school health team, assessing health</a:t>
            </a:r>
          </a:p>
          <a:p>
            <a:r>
              <a:t>status, identifying barriers to learning, and developing an individualized health care plan.</a:t>
            </a:r>
          </a:p>
          <a:p>
            <a:r>
              <a:t>In school-based health centers, nurse practitioners provide primary care — treatment of acute</a:t>
            </a:r>
          </a:p>
          <a:p>
            <a:r>
              <a:t>illness, vision/hearing screening, sports participation examinations, nutrition counseling, and</a:t>
            </a:r>
          </a:p>
          <a:p>
            <a:r>
              <a:t>anticipatory guidance.</a:t>
            </a:r>
          </a:p>
          <a:p>
            <a:r>
              <a:t>Unlicensed assistive personnel (UAP) may be part of the team — state-certified paraprofessionals</a:t>
            </a:r>
          </a:p>
          <a:p>
            <a:r>
              <a:t>who assist a professional under supervision.</a:t>
            </a:r>
          </a:p>
          <a:p>
            <a:r>
              <a:t>Figure 7.1 shows the coordinated school health program and the core services that sit inside its</a:t>
            </a:r>
          </a:p>
          <a:p>
            <a:r>
              <a:t>health-services component — appraisal, emergency care, immunization compliance,</a:t>
            </a:r>
          </a:p>
          <a:p>
            <a:r>
              <a:t>communicable-disease control, and referral.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7.1 The coordinated school health program and the core services of its health-services</a:t>
            </a:r>
          </a:p>
          <a:p>
            <a:r>
              <a:t>component.</a:t>
            </a:r>
          </a:p>
          <a:p>
            <a:r>
              <a:t>7.2 School Entry Health Screening</a:t>
            </a:r>
          </a:p>
          <a:p>
            <a:r>
              <a:t>Health appraisal at school entry covers screening tests (vision, hearing), measurements (height,</a:t>
            </a:r>
          </a:p>
          <a:p>
            <a:r>
              <a:t>weight), and medical, dental, and psychologic examinations.</a:t>
            </a:r>
          </a:p>
          <a:p>
            <a:r>
              <a:t>Appraisal item</a:t>
            </a:r>
          </a:p>
          <a:p>
            <a:r>
              <a:t>Content</a:t>
            </a:r>
          </a:p>
          <a:p>
            <a:r>
              <a:t>History</a:t>
            </a:r>
          </a:p>
          <a:p>
            <a:r>
              <a:t>Interval history (feeding, elimination, sleep, behavior, past illness, allergies,</a:t>
            </a:r>
          </a:p>
          <a:p>
            <a:r>
              <a:t>medications), immunization record; family health and psychosocial history</a:t>
            </a:r>
          </a:p>
          <a:p>
            <a:r>
              <a:t>Measurements</a:t>
            </a:r>
          </a:p>
          <a:p>
            <a:r>
              <a:t>Height and weight on CDC charts (2-20 yr); BMI for weight status — school-age</a:t>
            </a:r>
          </a:p>
          <a:p>
            <a:r>
              <a:t>obesity prevalence ~17%; blood pressure annually</a:t>
            </a:r>
          </a:p>
          <a:p>
            <a:r>
              <a:t>Physical exam</a:t>
            </a:r>
          </a:p>
          <a:p>
            <a:r>
              <a:t>Head-to-toe (eye acuity — Snellen letters for school-age; ear/hearing — pure-tone</a:t>
            </a:r>
          </a:p>
          <a:p>
            <a:r>
              <a:t>audiometry; spine — scoliosis screening §7.3; skin; teeth; abdomen; extremities)</a:t>
            </a:r>
          </a:p>
          <a:p>
            <a:r>
              <a:t>Immunization</a:t>
            </a:r>
          </a:p>
          <a:p>
            <a:r>
              <a:t>review</a:t>
            </a:r>
          </a:p>
          <a:p>
            <a:r>
              <a:t>Check the record against the printed schedule (see Ch. 4 §4.5); vaccines are required</a:t>
            </a:r>
          </a:p>
          <a:p>
            <a:r>
              <a:t>in most states before school entry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7.1 The coordinated school health program and the core services of its health-services</a:t>
            </a:r>
          </a:p>
          <a:p>
            <a:r>
              <a:t>component.</a:t>
            </a:r>
          </a:p>
          <a:p>
            <a:r>
              <a:t>7.2 School Entry Health Screening</a:t>
            </a:r>
          </a:p>
          <a:p>
            <a:r>
              <a:t>Health appraisal at school entry covers screening tests (vision, hearing), measurements (height,</a:t>
            </a:r>
          </a:p>
          <a:p>
            <a:r>
              <a:t>weight), and medical, dental, and psychologic examinations.</a:t>
            </a:r>
          </a:p>
          <a:p>
            <a:r>
              <a:t>Appraisal item</a:t>
            </a:r>
          </a:p>
          <a:p>
            <a:r>
              <a:t>Content</a:t>
            </a:r>
          </a:p>
          <a:p>
            <a:r>
              <a:t>History</a:t>
            </a:r>
          </a:p>
          <a:p>
            <a:r>
              <a:t>Interval history (feeding, elimination, sleep, behavior, past illness, allergies,</a:t>
            </a:r>
          </a:p>
          <a:p>
            <a:r>
              <a:t>medications), immunization record; family health and psychosocial history</a:t>
            </a:r>
          </a:p>
          <a:p>
            <a:r>
              <a:t>Measurements</a:t>
            </a:r>
          </a:p>
          <a:p>
            <a:r>
              <a:t>Height and weight on CDC charts (2-20 yr); BMI for weight status — school-age</a:t>
            </a:r>
          </a:p>
          <a:p>
            <a:r>
              <a:t>obesity prevalence ~17%; blood pressure annually</a:t>
            </a:r>
          </a:p>
          <a:p>
            <a:r>
              <a:t>Physical exam</a:t>
            </a:r>
          </a:p>
          <a:p>
            <a:r>
              <a:t>Head-to-toe (eye acuity — Snellen letters for school-age; ear/hearing — pure-tone</a:t>
            </a:r>
          </a:p>
          <a:p>
            <a:r>
              <a:t>audiometry; spine — scoliosis screening §7.3; skin; teeth; abdomen; extremities)</a:t>
            </a:r>
          </a:p>
          <a:p>
            <a:r>
              <a:t>Immunization</a:t>
            </a:r>
          </a:p>
          <a:p>
            <a:r>
              <a:t>review</a:t>
            </a:r>
          </a:p>
          <a:p>
            <a:r>
              <a:t>Check the record against the printed schedule (see Ch. 4 §4.5); vaccines are required</a:t>
            </a:r>
          </a:p>
          <a:p>
            <a:r>
              <a:t>in most states before school entry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Tuberculosis /</a:t>
            </a:r>
          </a:p>
          <a:p>
            <a:r>
              <a:t>special screens</a:t>
            </a:r>
          </a:p>
          <a:p>
            <a:r>
              <a:t>Follow the ministry/school regulatory screening requirements</a:t>
            </a:r>
          </a:p>
          <a:p>
            <a:r>
              <a:t>Psychologic / social</a:t>
            </a:r>
          </a:p>
          <a:p>
            <a:r>
              <a:t>Stress signals to explore: stomach pains/headache, sleep problems, bed-wetting,</a:t>
            </a:r>
          </a:p>
          <a:p>
            <a:r>
              <a:t>eating-habit changes, aggressive/stubborn behavior, reluctance to participate,</a:t>
            </a:r>
          </a:p>
          <a:p>
            <a:r>
              <a:t>regression; domestic-violence exposure risk awareness</a:t>
            </a:r>
          </a:p>
          <a:p>
            <a:r>
              <a:t>7.3 Screening Programs</a:t>
            </a:r>
          </a:p>
          <a:p>
            <a:r>
              <a:t>Screen</a:t>
            </a:r>
          </a:p>
          <a:p>
            <a:r>
              <a:t>Method and referral</a:t>
            </a:r>
          </a:p>
          <a:p>
            <a:r>
              <a:t>Vision</a:t>
            </a:r>
          </a:p>
          <a:p>
            <a:r>
              <a:t>Distance acuity with Snellen letters (or numbers, tumbling E, HOTV) — referral: fewer than 4 of</a:t>
            </a:r>
          </a:p>
          <a:p>
            <a:r>
              <a:t>6 correct on the 20-foot (6-m) line; alignment: corneal light reflex + cover test at near (33 cm)</a:t>
            </a:r>
          </a:p>
          <a:p>
            <a:r>
              <a:t>and far (6 m)</a:t>
            </a:r>
          </a:p>
          <a:p>
            <a:r>
              <a:t>Hearing</a:t>
            </a:r>
          </a:p>
          <a:p>
            <a:r>
              <a:t>Pure-tone audiometry at 0.5, 1, 2, and 4 kHz; fails if tones cannot be heard at 20 dB HL;</a:t>
            </a:r>
          </a:p>
          <a:p>
            <a:r>
              <a:t>tympanometry for middle-ear function</a:t>
            </a:r>
          </a:p>
          <a:p>
            <a:r>
              <a:t>Scoliosis</a:t>
            </a:r>
          </a:p>
          <a:p>
            <a:r>
              <a:t>With the child standing in underpants (bra for older girls) observe from behind — asymmetry</a:t>
            </a:r>
          </a:p>
          <a:p>
            <a:r>
              <a:t>of shoulders and hips; with forward bend (back parallel to the floor) observe from the side for</a:t>
            </a:r>
          </a:p>
          <a:p>
            <a:r>
              <a:t>rib-cage asymmetry/prominence; investigate a slight limp, crooked hemline, or sore back;</a:t>
            </a:r>
          </a:p>
          <a:p>
            <a:r>
              <a:t>inspect the spine for tufts of hair, dimples, or discoloration. Scoliosis is especially important in</a:t>
            </a:r>
          </a:p>
          <a:p>
            <a:r>
              <a:t>girls</a:t>
            </a:r>
          </a:p>
          <a:p>
            <a:r>
              <a:t>Weight</a:t>
            </a:r>
          </a:p>
          <a:p>
            <a:r>
              <a:t>status /</a:t>
            </a:r>
          </a:p>
          <a:p>
            <a:r>
              <a:t>BMI</a:t>
            </a:r>
          </a:p>
          <a:p>
            <a:r>
              <a:t>Plot height and weight on CDC charts; BMI for age; school-age obesity prevalence ~17%,</a:t>
            </a:r>
          </a:p>
          <a:p>
            <a:r>
              <a:t>higher in rural/socioeconomically distressed families; the school nurse takes an active role in</a:t>
            </a:r>
          </a:p>
          <a:p>
            <a:r>
              <a:t>nutrition</a:t>
            </a:r>
          </a:p>
          <a:p>
            <a:r>
              <a:t>Dental</a:t>
            </a:r>
          </a:p>
          <a:p>
            <a:r>
              <a:t>Brush 2-3×/day for 2-3 minutes with fluoridated toothpaste; floss at least once daily; soft</a:t>
            </a:r>
          </a:p>
          <a:p>
            <a:r>
              <a:t>toothbrush changed every 3-4 months; dental examinations every 6 months; dental sealants</a:t>
            </a:r>
          </a:p>
          <a:p>
            <a:r>
              <a:t>recommended for all school-age children</a:t>
            </a:r>
          </a:p>
          <a:p>
            <a:r>
              <a:t>7.4 Immunization Compliance &amp; Records</a:t>
            </a:r>
          </a:p>
          <a:p>
            <a:r>
              <a:t>Before school entry: immunizations are required in most states before entry, part of communicable-</a:t>
            </a:r>
          </a:p>
          <a:p>
            <a:r>
              <a:t>disease-control attendance policy.</a:t>
            </a:r>
          </a:p>
          <a:p>
            <a:r>
              <a:t>At every contact: verify the record, check live-vaccine timing, and arrange catch-up (Ch. 4 §4.5).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Routine boosters: the booster ages for this age band follow the official printed schedule; the</a:t>
            </a:r>
          </a:p>
          <a:p>
            <a:r>
              <a:t>adolescent items (MenACWY, Tdap, HPV, annual influenza, HepB/HepA, varicella) are covered in</a:t>
            </a:r>
          </a:p>
          <a:p>
            <a:r>
              <a:t>Chapter 8.</a:t>
            </a:r>
          </a:p>
          <a:p>
            <a:r>
              <a:t>7.5 Emergency Care &amp; First Aid</a:t>
            </a:r>
          </a:p>
          <a:p>
            <a:r>
              <a:t>Emergency care &amp; safety: emergency treatment (first aid), notification of parents, and transportation</a:t>
            </a:r>
          </a:p>
          <a:p>
            <a:r>
              <a:t>of the ill or injured child to home or hospital.</a:t>
            </a:r>
          </a:p>
          <a:p>
            <a:r>
              <a:t>Chronic conditions: develop an individualized health care plan (IHP) — the nurse assesses health</a:t>
            </a:r>
          </a:p>
          <a:p>
            <a:r>
              <a:t>status and identifies barriers to education; known allergy/asthma/seizure students follow their IHP</a:t>
            </a:r>
          </a:p>
          <a:p>
            <a:r>
              <a:t>and facility protocol.</a:t>
            </a:r>
          </a:p>
          <a:p>
            <a:r>
              <a:t>Sports: participation physical examinations at least every 2 years; the school nurse practitioner</a:t>
            </a:r>
          </a:p>
          <a:p>
            <a:r>
              <a:t>performs them in school-based centers.</a:t>
            </a:r>
          </a:p>
          <a:p>
            <a:r>
              <a:t>First-aid training: first-aid measures and child CPR are taught to parents; facility drills and kit</a:t>
            </a:r>
          </a:p>
          <a:p>
            <a:r>
              <a:t>contents follow school/ministry policy.</a:t>
            </a:r>
          </a:p>
          <a:p>
            <a:r>
              <a:t>Injury-prevention baseline: accidental injury remains the leading cause of death for children 1-14</a:t>
            </a:r>
          </a:p>
          <a:p>
            <a:r>
              <a:t>years; motor-vehicle crashes are the most common cause of severe accidental injury/death for</a:t>
            </a:r>
          </a:p>
          <a:p>
            <a:r>
              <a:t>school-age children.</a:t>
            </a:r>
          </a:p>
          <a:p>
            <a:r>
              <a:t>7.6 Medication Administration at School</a:t>
            </a:r>
          </a:p>
          <a:p>
            <a:r>
              <a:t>SAFETY ANCHORS AND POLICY LABELS</a:t>
            </a:r>
          </a:p>
          <a:p>
            <a:r>
              <a:t>Medications must have child-safety caps; never leave any medication within a child's reach; "child-</a:t>
            </a:r>
          </a:p>
          <a:p>
            <a:r>
              <a:t>resistant" is not "child-proof".</a:t>
            </a:r>
          </a:p>
          <a:p>
            <a:r>
              <a:t>Children with chronic conditions receive care coordinated through the individualized health care</a:t>
            </a:r>
          </a:p>
          <a:p>
            <a:r>
              <a:t>plan.</a:t>
            </a:r>
          </a:p>
          <a:p>
            <a:r>
              <a:t>UAP assist a professional under supervision — who may administer, storage, dose verification,</a:t>
            </a:r>
          </a:p>
          <a:p>
            <a:r>
              <a:t>parental permission, and documentation follow the school's written policy and local law.</a:t>
            </a:r>
          </a:p>
          <a:p>
            <a:r>
              <a:t>7.7 Health Education &amp; Communicable Disease Control</a:t>
            </a:r>
          </a:p>
          <a:p>
            <a:r>
              <a:t>Health education: the school curriculum is a planned, sequential kindergarten-to-grade-12 program</a:t>
            </a:r>
          </a:p>
          <a:p>
            <a:r>
              <a:t>addressing physical, mental, emotional, and social dimensions of health.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Routine boosters: the booster ages for this age band follow the official printed schedule; the</a:t>
            </a:r>
          </a:p>
          <a:p>
            <a:r>
              <a:t>adolescent items (MenACWY, Tdap, HPV, annual influenza, HepB/HepA, varicella) are covered in</a:t>
            </a:r>
          </a:p>
          <a:p>
            <a:r>
              <a:t>Chapter 8.</a:t>
            </a:r>
          </a:p>
          <a:p>
            <a:r>
              <a:t>7.5 Emergency Care &amp; First Aid</a:t>
            </a:r>
          </a:p>
          <a:p>
            <a:r>
              <a:t>Emergency care &amp; safety: emergency treatment (first aid), notification of parents, and transportation</a:t>
            </a:r>
          </a:p>
          <a:p>
            <a:r>
              <a:t>of the ill or injured child to home or hospital.</a:t>
            </a:r>
          </a:p>
          <a:p>
            <a:r>
              <a:t>Chronic conditions: develop an individualized health care plan (IHP) — the nurse assesses health</a:t>
            </a:r>
          </a:p>
          <a:p>
            <a:r>
              <a:t>status and identifies barriers to education; known allergy/asthma/seizure students follow their IHP</a:t>
            </a:r>
          </a:p>
          <a:p>
            <a:r>
              <a:t>and facility protocol.</a:t>
            </a:r>
          </a:p>
          <a:p>
            <a:r>
              <a:t>Sports: participation physical examinations at least every 2 years; the school nurse practitioner</a:t>
            </a:r>
          </a:p>
          <a:p>
            <a:r>
              <a:t>performs them in school-based centers.</a:t>
            </a:r>
          </a:p>
          <a:p>
            <a:r>
              <a:t>First-aid training: first-aid measures and child CPR are taught to parents; facility drills and kit</a:t>
            </a:r>
          </a:p>
          <a:p>
            <a:r>
              <a:t>contents follow school/ministry policy.</a:t>
            </a:r>
          </a:p>
          <a:p>
            <a:r>
              <a:t>Injury-prevention baseline: accidental injury remains the leading cause of death for children 1-14</a:t>
            </a:r>
          </a:p>
          <a:p>
            <a:r>
              <a:t>years; motor-vehicle crashes are the most common cause of severe accidental injury/death for</a:t>
            </a:r>
          </a:p>
          <a:p>
            <a:r>
              <a:t>school-age children.</a:t>
            </a:r>
          </a:p>
          <a:p>
            <a:r>
              <a:t>7.6 Medication Administration at School</a:t>
            </a:r>
          </a:p>
          <a:p>
            <a:r>
              <a:t>SAFETY ANCHORS AND POLICY LABELS</a:t>
            </a:r>
          </a:p>
          <a:p>
            <a:r>
              <a:t>Medications must have child-safety caps; never leave any medication within a child's reach; "child-</a:t>
            </a:r>
          </a:p>
          <a:p>
            <a:r>
              <a:t>resistant" is not "child-proof".</a:t>
            </a:r>
          </a:p>
          <a:p>
            <a:r>
              <a:t>Children with chronic conditions receive care coordinated through the individualized health care</a:t>
            </a:r>
          </a:p>
          <a:p>
            <a:r>
              <a:t>plan.</a:t>
            </a:r>
          </a:p>
          <a:p>
            <a:r>
              <a:t>UAP assist a professional under supervision — who may administer, storage, dose verification,</a:t>
            </a:r>
          </a:p>
          <a:p>
            <a:r>
              <a:t>parental permission, and documentation follow the school's written policy and local law.</a:t>
            </a:r>
          </a:p>
          <a:p>
            <a:r>
              <a:t>7.7 Health Education &amp; Communicable Disease Control</a:t>
            </a:r>
          </a:p>
          <a:p>
            <a:r>
              <a:t>Health education: the school curriculum is a planned, sequential kindergarten-to-grade-12 program</a:t>
            </a:r>
          </a:p>
          <a:p>
            <a:r>
              <a:t>addressing physical, mental, emotional, and social dimensions of health.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Communicable-disease control: detection and exclusion of affected children, with policies for</a:t>
            </a:r>
          </a:p>
          <a:p>
            <a:r>
              <a:t>readmission and attendance.</a:t>
            </a:r>
          </a:p>
          <a:p>
            <a:r>
              <a:t>Nutrition services: school meal programs furnish one third of the daily recommended allowance; the</a:t>
            </a:r>
          </a:p>
          <a:p>
            <a:r>
              <a:t>average school lunch may exceed guidelines for saturated and total fat — healthful choices (fruits,</a:t>
            </a:r>
          </a:p>
          <a:p>
            <a:r>
              <a:t>vegetables, low-fat milk) are reinforced.</a:t>
            </a:r>
          </a:p>
          <a:p>
            <a:r>
              <a:t>Hand hygiene: routine handwashing before and after every meal, toileting, and child contact.</a:t>
            </a:r>
          </a:p>
          <a:p>
            <a:r>
              <a:t>Head lice, absentee surveillance, and reporting: school policies for detection,</a:t>
            </a:r>
          </a:p>
          <a:p>
            <a:r>
              <a:t>exclusion/readmission, and disease reporting follow local regulations.</a:t>
            </a:r>
          </a:p>
          <a:p>
            <a:r>
              <a:t>Chapter 7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7.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Chapter 7 — School Health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School Health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صحة المدارس (School Health Rotation)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Chapter 7 — School Health Rotation.pdf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5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Health services for the school-age child (6-12 years): the school nurse's roles, school entry appraisal, screening programs (vision, hearing, scoliosis, dental, weight status), immunization compliance, emergency care and first aid, in-school medication, and communicable-disease control.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7.1 Site Profile — The School Health Program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7.2 School Entry Health Screening   (p. 2)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7.3 Screening Programs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7.4 Immunization Compliance &amp; Records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7.5 Emergency Care &amp; First Aid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7.6 Medication Administration at School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7.7 Health Education &amp; Communicable Disease Control   (p. 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7.1   7.1 Site Profile — The School Health Program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7.2   7.2 School Entry Health Screening   —  p.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7.3   7.3 Screening Programs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7.4   7.4 Immunization Compliance &amp; Records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7.5   7.5 Emergency Care &amp; First Aid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7.6   7.6 Medication Administration at School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7.7   7.7 Health Education &amp; Communicable Disease Control   —  p.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7.1 Site Profile — The School Health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ROTATION: SCHOOL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6441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7 — School Health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27961"/>
            <a:ext cx="10948111" cy="96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Health services for the school-age child (6-12 years): the school nurse's roles, school entry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appraisal, screening programs (vision, hearing, scoliosis, dental, weight status), immunization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compliance, emergency care and first aid, in-school medication, and communicable-disease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83625"/>
            <a:ext cx="10948111" cy="268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75" b="0" i="0">
                <a:solidFill>
                  <a:srgbClr val="3E4654"/>
                </a:solidFill>
                <a:latin typeface="Calibri"/>
              </a:rPr>
              <a:t>Age range: 6 – 12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44021"/>
            <a:ext cx="10948111" cy="1052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School nurses assume a major role in the school health program and can significantly affect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lives of school-age children. Working collaboratively with the school and community, they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provide health supervision, health counseling, and health education.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788443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RESPONSIBILITIES OF THE SCHOOL NURSE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7.1 Site Profile — The School Health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754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Education and interventions for acute and chronic illness, safety, health promotion, nutrition,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mental health, dental disease, and sexually transmitted infections.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 some children, especially those in poverty, the school nurse may be the only contact with illness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prevention and health promotion.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 children with chronic conditions: leadership within the school health team, assessing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status, identifying barriers to learning, and developing an individualized health care plan.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 school-based health centers, nurse practitioners provide primary care — treatment of acute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illness, vision/hearing screening, sports participation examinations, nutrition counseling,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anticipatory guidance.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Unlicensed assistive personnel (UAP) may be part of the team — state-certified paraprofessionals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who assist a professional under supervision.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253788"/>
            <a:ext cx="10948111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7.1 shows the coordinated school health program and the core services that sit inside its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health-services component — appraisal, emergency care, immunization compliance,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communicable-disease control, and referral.</a:t>
            </a:r>
          </a:p>
        </p:txBody>
      </p:sp>
      <p:pic>
        <p:nvPicPr>
          <p:cNvPr id="12" name="Picture 11" descr="p0000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06263"/>
            <a:ext cx="10692079" cy="529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7.2 School Entry Health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5</a:t>
            </a:r>
          </a:p>
        </p:txBody>
      </p:sp>
      <p:pic>
        <p:nvPicPr>
          <p:cNvPr id="10" name="Picture 9" descr="p0001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3" y="1408176"/>
            <a:ext cx="498988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47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7.1 The coordinated school health program and the core services of its health-services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component.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69434"/>
            <a:ext cx="10948111" cy="812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Health appraisal at school entry covers screening tests (vision, hearing), measurements (height,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weight), and medical, dental, and psychologic examinations.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7.2 School Entry Health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Appraisal item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Interval history (feeding, elimination, sleep, behavior, past illness, allergies, medications), immunization record; family health and psychosocial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Measurements Height and weight on CDC charts (2-20 yr); BMI for weight status — school-age obesity prevalence ~17%; blood pressure annually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Physical 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Head-to-toe (eye acuity — Snellen letters for school-age; ear/hearing — pure-tone audiometry; spine — scoliosis screening §7.3; skin; teeth; abdomen; extremities)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Immunization Check the record against the printed schedule (see Ch. 4 §4.5); vaccines are required review in most states before school entry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7.3 Screening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Tuberculosis / special screens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 the ministry/school regulatory screening requirements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Psychologic / social Stress signals to explore: stomach pains/headache, sleep problems, bed-wetting, eating-habit changes, aggressive/stubborn behavior, reluctance to participate, regression; domestic-violence exposure risk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084832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Screen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 and referral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Distance acuity with Snellen letters (or numbers, tumbling E, HOTV) — referral: fewer than 4 of 6 correct on the 20-foot (6-m) line; alignment: corneal light reflex + cover test at near (33 cm) and far (6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Hearing Pure-tone audiometry at 0.5, 1, 2, and 4 kHz; fails if tones cannot be heard at 20 dB HL; tympanometry for middle-ear function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Scoliosis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With the child standing in underpants (bra for older girls) observe from behind — asymmetry of shoulders and hips; with forward bend (back parallel to the floor) observe from the side for rib-cage asymmetry/prominence; investigate a slight limp, crooked hemline, or sore back; inspect the spine for tufts of hair, dimples, or discoloration. Scoliosis is especially important in girls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Weight Plot height and weight on CDC charts; BMI for age; school-age obesity prevalence ~17%, status / higher in rural/socioeconomically distressed families; the school nurse takes an active role in BMI nutrition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Brush 2-3×/day for 2-3 minutes with fluoridated toothpaste; floss at least once daily; soft toothbrush changed every 3-4 months; dental examinations every 6 months; dental sealants recommended for all school-age 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371246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7.4 Immunization Compliance &amp;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76014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Before school entry: immunizations are required in most states before entry, part of communicable-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disease-control attendance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At every contact: verify the record, check live-vaccine timing, and arrange catch-up (Ch. 4 §4.5).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7.5 Emergency Care &amp; First 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7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Routine boosters: the booster ages for this age band follow the official printed schedule;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adolescent items (MenACWY, Tdap, HPV, annual influenza, HepB/HepA, varicella) are covered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Chapter 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56739"/>
            <a:ext cx="10948111" cy="34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Emergency care &amp; safety: emergency treatment (first aid), notification of parents, and transportation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of the ill or injured child to home or hospital.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Chronic conditions: develop an individualized health care plan (IHP) — the nurse assesses health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status and identifies barriers to education; known allergy/asthma/seizure students follow their IHP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and facility protocol.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Sports: participation physical examinations at least every 2 years; the school nurse practitioner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performs them in school-based centers.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First-aid training: first-aid measures and child CPR are taught to parents; facility drills and kit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contents follow school/ministry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Injury-prevention baseline: accidental injury remains the leading cause of death for children 1-14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years; motor-vehicle crashes are the most common cause of severe accidental injury/death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school-age children.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768035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7.6 Medication Administration at School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7.5 Emergency Care &amp; First 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5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SAFETY ANCHORS AND POLICY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99907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Medications must have child-safety caps; never leave any medication within a child's reach; "child-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resistant" is not "child-proof".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Children with chronic conditions receive care coordinated through the individualized health care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plan.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UAP assist a professional under supervision — who may administer, storage, dose verification,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parental permission, and documentation follow the school's written policy and local law.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36048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7.7 Health Education &amp; Communicable Disease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999598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Health education: the school curriculum is a planned, sequential kindergarten-to-grade-12 program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addressing physical, mental, emotional, and social dimensions of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School Health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School Health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088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Communicable-disease control: detection and exclusion of affected children, with policies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readmission and attendance.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Nutrition services: school meal programs furnish one third of the daily recommended allowance;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average school lunch may exceed guidelines for saturated and total fat — healthful choices (fruits,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vegetables, low-fat milk) are reinforced.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Hand hygiene: routine handwashing before and after every meal, toileting, and child contact.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Head lice, absentee surveillance, and reporting: school policies for detection,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exclusion/readmission, and disease reporting follow local regulations.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88105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7 Learning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051655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Self-assessment questions (answer in your notebook, then open)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456430"/>
            <a:ext cx="10948111" cy="272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97" b="1" i="0">
                <a:solidFill>
                  <a:srgbClr val="3E4654"/>
                </a:solidFill>
                <a:latin typeface="Calibri"/>
              </a:rPr>
              <a:t>End of Chapter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School Health Rotation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صحة المدارس (School Health Rotation)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Chapter 7 — School Health Rotation.pdf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12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https://moustafaali-prog.github.io/growth-development-lectures/lectures/practical/Chapter 7 — School Health Rotation.html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